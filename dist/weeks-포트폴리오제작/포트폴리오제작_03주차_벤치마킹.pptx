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포트폴리오제작 세 번째 시간입니다.
1주차에 포트폴리오가 어디서 어떻게 읽히는지 봤고, 2주차에 각자 강점과 목표 직무를 정했습니다.
오늘은 잘 만든 사례를 뜯어봅니다. 감상하려고 보는 게 아니라, 내 것에 쓸 구조를 가져오려고 봅니다.
오늘 끝나면 가져올 것 세 가지와 가져오지 않을 것 한 가지를, 이유와 함께 손에 쥐고 가시게 됩니다. 다음 주 이야기 흐름이 이걸로 시작합니다.
시작 전에 하나. 1주차 스크랩 과제 세 개, 지금 창 하나에 열어 두세요. 오늘은 그게 재료입니다.
[운영 메모]
플립러닝 구조다. 1주차 스크랩 과제를 안 해온 학생은 오늘 조별 분석에 참여할 재료가 없다. 시작 전에 확인하고, 없으면 조원 자료를 함께 보게 배치할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무엇을 보는지부터 맞추겠습니다.
여러분이 가져온 걸 그냥 좋다 · 별로다로 보면 오늘 두 시간이 감상회가 됩니다.
감상하지 말고 기준을 가지고 봅니다. 같은 기준으로 세 개를 보면 그때부터 공통점이 보입니다.
제가 먼저 하나 띄워서 직접 뜯어 보이겠습니다. 이 순서 그대로 조별 실습에서 하시면 됩니다.
[운영 메모]
강의 30분 중 앞 15분. 강사가 사례 하나를 화면에 띄우고 직접 분해해 보이는 것이 가장 빠르다.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기억하실 문장입니다.
참고한다는 것은 카피하는 것이 아니라 구조를 읽는 것.
이 레이아웃 예쁘네, 에서 멈추면 남는 게 없어요. 화면 캡처만 쌓입니다.
물어야 할 건 두 개입니다. 왜 소개를 두 번째에 뒀을까. 왜 이 프로젝트를 맨 앞에 뒀을까.
이 두 질문을 채팅창에 고정해 두겠습니다. 조별 분석 내내 이걸 붙들고 계세요. 답이 안 나오는 사례도 있습니다. 그것도 발견이에요.
[운영 메모]
학생들이 화면 캡처만 모아오는 것을 막는 슬라이드. 질문 두 개를 채팅에 고정해 두고 조별 토론 내내 남겨둘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어떤 포트폴리오든 크게 네 영역으로 나뉩니다.
표지와 첫 화면. 이름 · 분야 · 한 줄 소개. 몇 초 안에 무슨 일을 하는 사람인지 보여 줄 수 있는가.
소개. 얼마나 길게 썼고 어디에 넣었는가를 보세요. 맨 앞에 둔 것과 프로젝트 뒤에 둔 것은 의도가 다릅니다.
프로젝트. 몇 개인지, 어떤 기준으로 순서를 정했는지, 각각 몇 장인지. 여기는 반드시 숫자로 세십시오. 오늘 실습에서 제일 중요한 칸입니다.
마무리와 연락처. 어떻게 끝맺는가. 연락할 방법과 이력서 링크가 있는가.
아래 줄을 보세요. 프로젝트가 전체 분량의 70~80%입니다. 그런데 매년 학생들이 표지와 소개에 제일 오래 매달립니다. 거기는 짧고 정확하면 됩니다.
[운영 메모]
학생들이 1·2번에 과도하게 공을 들이다 정작 프로젝트가 부실해지는 경우가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구성 요소가 같아도 이야기를 풀어가는 방식은 다릅니다. 세 유형으로 나눠 보겠습니다.
이건 정답을 외우는 게 아니라, 여러분이 가져온 사례가 어느 쪽인지 골라 보려고 쓰는 틀입니다.
[운영 메모]
강의 30분 중 뒤 15분.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가지입니다.
문제 해결형. 무엇이 문제였고 어떻게 풀었다. UX나 서비스 직무에 가장 잘 맞습니다. 대신 과정이 허술하면 제일 크게 무너져요. 문제만 거창하고 확인 과정이 없으면 바로 보입니다.
프로세스형. 어떻게 만들어 갔는가를 보여줍니다. 제품이나 공간 쪽에 맞고, 스케치 · 목업 · 도면이 그대로 큰 자산이 됩니다. 다만 결론이 흐리면 그냥 나열처럼 보입니다.
컨셉형. 나는 이렇게 본다, 가 가장 먼저 옵니다. 그래픽이나 브랜딩 쪽이고요. 표현 방식이 일관돼야 성립합니다. 근거가 약하면 취향으로만 보여요.
우리 전공은 프로세스형이 많습니다. 그게 자연스럽습니다.
다만 2주차에 UX로 직무를 정하신 분. 같은 프로젝트를 문제 해결형으로 다시 쓰셔야 합니다. 프로젝트를 새로 하는 게 아니라 앞세우는 걸 바꾸는 겁니다.
[운영 메모]
실내·산업디자인 전공생 대부분이 프로세스형으로 간다. 다만 UX로 지원할 학생은 문제 해결형으로 다시 써야 한다는 점을 짚을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프로젝트 페이지를 두 방식으로 만든 예입니다.
첫 장을 보세요. 왼쪽은 문제 한 문장과 대표 이미지 하나. 오른쪽은 제목과 이미지 여섯 장.
중간. 왼쪽은 고민한 부분과 그렇게 고른 이유가 있고, 오른쪽은 작업 사진이 시간순으로 있습니다.
맨 아래를 보세요. 왼쪽 다섯에서 일곱 장, 오른쪽 열두 장.
여기서 반대로 들리는 이야기를 하나 하겠습니다. 장수가 적은 쪽이 더 잘 읽힙니다. 많이 넣으면 열심히 한 걸로 보일 것 같은데, 실제로는 역할 없는 장이 섞이면서 전체가 흐려집니다.
기준은 하나예요. 장마다 역할이 있는가. 없는 장은 빼는 게 이득입니다.
[운영 메모]
장수가 적은 쪽이 더 잘 읽힌다는 점이 학생들에게는 반직관적이다. 실제 사례로 보여줄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나는 무엇이 다른가, 를 사례 분석에서 찾아냅니다. 순서가 있습니다.
먼저 공통점을 찾습니다. 세 사례가 모두 하고 있는 것. 이건 강점이 아니라 기본입니다. 하지만 빠뜨리면 감점이에요. 그래서 먼저 적습니다.
다음에 비어 있는 곳을 찾습니다. 셋 다 하지 않는 것.
그런데 여기서 많이들 무리하십니다. 아무도 안 하는 걸 찾았다고 바로 하겠다고 하시는데, 내가 못 하는 걸 고르면 소용없어요.
그래서 세 번째가 필요합니다. 2주차 워크시트에 쓴 강점 세 개와 맞춰 보세요. 겹치는 곳만 진짜 나만의 강점입니다.
아래 한 줄이 결론입니다. 강점은 남들과 다르게가 아니라, 내가 보여줄 수 있는 것 중 남들이 덜 하는 것.
[운영 메모]
02에서 학생들이 무리한 아이디어를 내는 경우가 많다. 03의 대조 단계를 반드시 거치게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여기까지가 강의입니다. 이제 남은 시간은 전부 실습이에요.
45분 조별 분석, 휴식, 그다음 20분 개인 정리입니다.
조는 미리 짜 두었습니다. 2주차에 정하신 목표 직무가 비슷한 분들끼리 묶었어요. 그래야 이야기가 굴러갑니다.
소회의실로 나눠 보내겠습니다. 제가 돌아가며 들어갈 테니, 막히면 도움 요청 눌러 주세요.
[운영 메모]
45분 + 20분. 조는 목표 직무가 비슷한 사람끼리.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실습 1, 45분입니다. 소회의실에서 진행합니다.
처음 8분은 공유입니다. 각자 가져온 사례 세 개를 차례로 소개하세요. 한 개에 1분 정도면 됩니다. 평가는 하지 마시고 왜 골랐는지만 말합니다.
다음 17분, 분해입니다. 공유 문서에 표를 올려 뒀습니다. 네 구성 요소로 나눠 적으세요. 여기서 중요한 건 숫자입니다. 프로젝트 몇 개, 각각 몇 장, 순서 기준이 뭔지. 깔끔하다 같은 말은 적지 마세요. 다음 주에 못 씁니다.
다음 15분, 유형 정하기입니다. 각 사례가 세 가지 방식 중 어디에 가까운지 조원과 정하세요.
여기서 의견이 갈리면 그게 제일 좋은 순간입니다. 서둘러 하나로 합치지 마시고 왜 그렇게 봤는지를 서로 말해 보세요. 섞여 있는 사례도 많습니다.
마지막 5분, 조에서 찾은 점 세 가지를 적어 주세요. 끝나고 채팅으로 모으겠습니다.
스크랩 과제를 못 해오신 분은 지금 채팅으로 알려 주세요. 조원 자료를 같이 보시게 배치하겠습니다.
[운영 메모]
유형을 정할 때 의견이 갈리는 순간이 가장 좋다. 서둘러 정답을 주지 말고 근거를 말하게 할 것. 분 표기는 학생용 덱에 나오지 않으므로 구간마다 남은 시간을 말로 알려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실습 2, 20분입니다. 이번엔 개인 작업이에요. 소회의실 닫고 각자 하십니다.
앞 6분. 세 사례의 공통점, 그리고 아무도 하지 않는 것을 각각 적으세요.
다음 5분. 2주차 워크시트를 꺼내서 강점 세 개와 맞춰 봅니다. 안 가져오신 분은 지금 찾으세요.
다음 5분. 가져올 것 세 가지를 정합니다. 구조 · 설명 방식 · 이미지 중에서 고르세요.
마지막 4분. 이게 오늘의 핵심입니다. 가져오지 않을 것 하나와 그 이유.
좋아 보이는데 나한테는 맞지 않는 것. 이걸 안 적으면 참고가 그대로 카피로 흐릅니다. 시간이 모자라도 이 단계는 하고 가셔야 해요.
[운영 메모]
마지막 4분이 이 실습의 핵심이다. 시간이 없어도 이 단계는 반드시 시킬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제출 점검표입니다. 4주차 수업 전까지 올려 주세요.
여덟 개인데 세 번째를 보세요. 프로젝트 개수 · 장수 · 순서 기준을 숫자로 적었는가. 숫자가 없으면 보고서가 아니라 감상문이 됩니다.
그리고 일곱 번째와 여덟 번째.
가져올 것이 레이아웃이 깔끔함 정도면 다음 주에 쓸 수가 없습니다. 무엇을 어떻게 할지까지 적으세요. 프로젝트 첫 장에 문제 한 문장을 둔다, 이 정도로요.
가져오지 않을 것 하나는 반드시 채워 오시고요. 이유까지요.
양식은 오늘 안에 클래스룸에 올리겠습니다. 표로 되어 있어서 칸만 채우시면 됩니다.
[운영 메모]
보고서 양식을 클래스룸에 올려둘 것. 표로 만들어두면 학생들이 훨씬 구체적으로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과제는 두 가지입니다. 사례 분석 보고서, 그리고 가져올 것 세 가지와 가져오지 않을 것 한 가지.
보고서는 오늘 조별로 채운 표를 그대로 옮기시면 됩니다. 사례 세 개를 네 구성 요소로 나누고, 어떤 방식으로 이야기하는지 정하고, 그렇게 본 이유를 한 줄씩. 양식은 오늘 안에 클래스룸에 올리겠습니다.
두 번째가 다음 주 재료입니다. 가져올 것 세 개는 구조 · 설명 방식 · 이미지 중에서 고르시고, 가져오지 않을 것 하나는 이유까지 꼭 쓰세요.
4주차 수업 전까지 올려 주시면 됩니다. 다음 주에는 이걸 들고 내 이야기 흐름을 짭니다. 보고서가 비어 있으면 다음 주에 앉아서 할 게 없어요.
[운영 메모]
'가져오지 않을 것'을 요구하는 것이 핵심이다. 참고가 카피로 흐르는 것을 막는 장치이므로 반드시 채워 오게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03</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03  ·  PHASE 1 방향 정하기와 계획</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잘 만든 포트폴리오 살펴보기</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국내외 좋은 사례를 하나씩 뜯어보고,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내 포트폴리오에 쓸 이야기를 찾습니다.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포트폴리오제작 · 실내·산업디자인학과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사례 분석 보고서</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기준을 가지고 분석하자.</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그냥 감상하지 말고 하나씩 뜯어봅니다. 같은 기준으로 세 개를 보면 공통점이 보입니다.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PRINCIPLE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참고한다는 것은 카피하는 것이 아니라</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구조를 읽는 것.</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"이 레이아웃 예쁘네"에서 멈추면 남는 게 없습니다. "왜 소개를 두 번째에 뒀을까?", "왜 이 프로젝트를 맨 앞에 뒀을까?"까지 물어야 내 것에 쓸 수 있습니다.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포트폴리오제작 · WEEK 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STRUCTURE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포트폴리오 구성 요소 네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어떤 포트폴리오든 크게 네 영역으로 나뉘어 집니다.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표지 · 첫 화면</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이름 · 분야 · 한 줄 소개. 무슨 일을 하는 사람인지 몇 초 안에 보여 줄 수 있는가</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첫인상</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소개 · About</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경력 · 관심 · 강점. 얼마나 길게 썼고 어디에 넣었는가</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신뢰</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프로젝트</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몇 개인가, 어떤 기준으로 순서를 정했는가, 각각 몇 장인가, 틀이 같은가</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핵심</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마무리 · 연락처</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어떻게 끝맺는가. 연락할 방법과 이력서 링크가 있는가</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행동 유도</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3번 프로젝트에 전체 분량의 70~80%가 들어갑니다. 나머지 셋은 짧고 정확하면 됩니다.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3주차 잘 만든 포트폴리오 살펴보기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어떤 방식으로 구성할 것인가?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같은 프로젝트라도 이야기를 풀어가는 방식은 다릅니다. 세 유형으로 나눠 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STORYTELLING</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이야기를 풀어가는 세 가지 방식</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사례가 어느 쪽인지 골라 보세요. 섞여 있는 경우도 많습니다.</a:t>
            </a:r>
            <a:endParaRPr lang="en-US" sz="1150" dirty="0"/>
          </a:p>
        </p:txBody>
      </p:sp>
      <p:sp>
        <p:nvSpPr>
          <p:cNvPr id="9" name="Shape 7"/>
          <p:cNvSpPr/>
          <p:nvPr/>
        </p:nvSpPr>
        <p:spPr>
          <a:xfrm>
            <a:off x="640080" y="1700784"/>
            <a:ext cx="3417722" cy="3529584"/>
          </a:xfrm>
          <a:prstGeom prst="rect">
            <a:avLst/>
          </a:prstGeom>
          <a:solidFill>
            <a:srgbClr val="111111"/>
          </a:solidFill>
          <a:ln w="12700">
            <a:solidFill>
              <a:srgbClr val="111111"/>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문제 해결형</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문제 → 과정 → 결과</a:t>
            </a:r>
            <a:endParaRPr lang="en-US" sz="1000" dirty="0"/>
          </a:p>
        </p:txBody>
      </p:sp>
      <p:sp>
        <p:nvSpPr>
          <p:cNvPr id="12" name="Shape 10"/>
          <p:cNvSpPr/>
          <p:nvPr/>
        </p:nvSpPr>
        <p:spPr>
          <a:xfrm>
            <a:off x="987552" y="2798064"/>
            <a:ext cx="2722778" cy="7315"/>
          </a:xfrm>
          <a:prstGeom prst="rect">
            <a:avLst/>
          </a:prstGeom>
          <a:solidFill>
            <a:srgbClr val="333333"/>
          </a:solidFill>
          <a:ln w="12700">
            <a:solidFill>
              <a:srgbClr val="333333"/>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"무엇이 문제였고 어떻게 풀었다"를 보여준다</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UX · 서비스 직무에 가장 잘 맞는다</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근거와 확인 과정이 있어야 설득된다</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과정이 허술하면 가장 크게 무너진다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프로세스형</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탐색 → 전개 → 완성</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"어떻게 만들어 갔는가"를 보여준다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제품 · 공간 직무에 잘 맞는다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스케치 · 목업 · 도면이 큰 자산이 된다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결론이 흐리면 그냥 나열처럼 보인다</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컨셉형</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관점 → 표현 → 전개</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"나는 이렇게 본다"가 가장 먼저 온다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그래픽 · 브랜딩 · 실험 작업에 맞는다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표현 방식이 일관돼야 성립한다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근거가 약하면 취향으로만 보인다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2주차에 정한 목표 직무와 맞는 방식을 고르면 자연스럽습니다. 우리 전공은 프로세스형이 많습니다.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3주차 잘 만든 포트폴리오 살펴보기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COMPARE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이야기가 있는 구성과 그냥 나열</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프로젝트 페이지를 두 방식으로 만든 예입니다.</a:t>
            </a:r>
            <a:endParaRPr lang="en-US" sz="1150" dirty="0"/>
          </a:p>
        </p:txBody>
      </p:sp>
      <p:sp>
        <p:nvSpPr>
          <p:cNvPr id="9" name="Shape 7"/>
          <p:cNvSpPr/>
          <p:nvPr/>
        </p:nvSpPr>
        <p:spPr>
          <a:xfrm>
            <a:off x="640080" y="1627632"/>
            <a:ext cx="5254600" cy="3419856"/>
          </a:xfrm>
          <a:prstGeom prst="rect">
            <a:avLst/>
          </a:prstGeom>
          <a:solidFill>
            <a:srgbClr val="FFFFFF"/>
          </a:solidFill>
          <a:ln w="12700">
            <a:solidFill>
              <a:srgbClr val="111111"/>
            </a:solidFill>
            <a:prstDash val="solid"/>
          </a:ln>
        </p:spPr>
      </p:sp>
      <p:sp>
        <p:nvSpPr>
          <p:cNvPr id="10" name="Shape 8"/>
          <p:cNvSpPr/>
          <p:nvPr/>
        </p:nvSpPr>
        <p:spPr>
          <a:xfrm>
            <a:off x="640080" y="1627632"/>
            <a:ext cx="5254600" cy="64008"/>
          </a:xfrm>
          <a:prstGeom prst="rect">
            <a:avLst/>
          </a:prstGeom>
          <a:solidFill>
            <a:srgbClr val="111111"/>
          </a:solidFill>
          <a:ln w="12700">
            <a:solidFill>
              <a:srgbClr val="111111"/>
            </a:solidFill>
            <a:prstDash val="solid"/>
          </a:ln>
        </p:spPr>
      </p:sp>
      <p:sp>
        <p:nvSpPr>
          <p:cNvPr id="11" name="Text 9"/>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이야기가 있는 구성</a:t>
            </a:r>
            <a:endParaRPr lang="en-US" sz="1700" dirty="0"/>
          </a:p>
        </p:txBody>
      </p:sp>
      <p:sp>
        <p:nvSpPr>
          <p:cNvPr id="12" name="Shape 10"/>
          <p:cNvSpPr/>
          <p:nvPr/>
        </p:nvSpPr>
        <p:spPr>
          <a:xfrm>
            <a:off x="6297016" y="1627632"/>
            <a:ext cx="5254600" cy="3419856"/>
          </a:xfrm>
          <a:prstGeom prst="rect">
            <a:avLst/>
          </a:prstGeom>
          <a:solidFill>
            <a:srgbClr val="F2F2F2"/>
          </a:solidFill>
          <a:ln w="12700">
            <a:solidFill>
              <a:srgbClr val="DCDCDC"/>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나열</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첫 장</a:t>
            </a:r>
            <a:endParaRPr lang="en-US" sz="900" dirty="0"/>
          </a:p>
        </p:txBody>
      </p:sp>
      <p:sp>
        <p:nvSpPr>
          <p:cNvPr id="15" name="Text 13"/>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문제 한 문장과 대표 이미지 하나</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첫 장</a:t>
            </a:r>
            <a:endParaRPr lang="en-US" sz="900" dirty="0"/>
          </a:p>
        </p:txBody>
      </p:sp>
      <p:sp>
        <p:nvSpPr>
          <p:cNvPr id="17" name="Text 15"/>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프로젝트 제목과 이미지 6장</a:t>
            </a:r>
            <a:endParaRPr lang="en-US" sz="1150" dirty="0"/>
          </a:p>
        </p:txBody>
      </p:sp>
      <p:sp>
        <p:nvSpPr>
          <p:cNvPr id="18" name="Shape 16"/>
          <p:cNvSpPr/>
          <p:nvPr/>
        </p:nvSpPr>
        <p:spPr>
          <a:xfrm>
            <a:off x="1042416" y="3054096"/>
            <a:ext cx="4449928" cy="7315"/>
          </a:xfrm>
          <a:prstGeom prst="rect">
            <a:avLst/>
          </a:prstGeom>
          <a:solidFill>
            <a:srgbClr val="D2D2D2"/>
          </a:solidFill>
          <a:ln w="12700">
            <a:solidFill>
              <a:srgbClr val="D2D2D2"/>
            </a:solidFill>
            <a:prstDash val="solid"/>
          </a:ln>
        </p:spPr>
      </p:sp>
      <p:sp>
        <p:nvSpPr>
          <p:cNvPr id="19" name="Shape 17"/>
          <p:cNvSpPr/>
          <p:nvPr/>
        </p:nvSpPr>
        <p:spPr>
          <a:xfrm>
            <a:off x="6699352" y="3054096"/>
            <a:ext cx="4449928" cy="7315"/>
          </a:xfrm>
          <a:prstGeom prst="rect">
            <a:avLst/>
          </a:prstGeom>
          <a:solidFill>
            <a:srgbClr val="DCDCDC"/>
          </a:solidFill>
          <a:ln w="12700">
            <a:solidFill>
              <a:srgbClr val="DCDCDC"/>
            </a:solidFill>
            <a:prstDash val="solid"/>
          </a:ln>
        </p:spPr>
      </p:sp>
      <p:sp>
        <p:nvSpPr>
          <p:cNvPr id="20" name="Text 18"/>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중간</a:t>
            </a:r>
            <a:endParaRPr lang="en-US" sz="900" dirty="0"/>
          </a:p>
        </p:txBody>
      </p:sp>
      <p:sp>
        <p:nvSpPr>
          <p:cNvPr id="21" name="Text 19"/>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고민한 부분과 그렇게 고른 이유</a:t>
            </a:r>
            <a:endParaRPr lang="en-US" sz="1150" dirty="0"/>
          </a:p>
        </p:txBody>
      </p:sp>
      <p:sp>
        <p:nvSpPr>
          <p:cNvPr id="22" name="Text 20"/>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중간</a:t>
            </a:r>
            <a:endParaRPr lang="en-US" sz="900" dirty="0"/>
          </a:p>
        </p:txBody>
      </p:sp>
      <p:sp>
        <p:nvSpPr>
          <p:cNvPr id="23" name="Text 21"/>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작업 사진을 시간순으로</a:t>
            </a:r>
            <a:endParaRPr lang="en-US" sz="1150" dirty="0"/>
          </a:p>
        </p:txBody>
      </p:sp>
      <p:sp>
        <p:nvSpPr>
          <p:cNvPr id="24" name="Shape 22"/>
          <p:cNvSpPr/>
          <p:nvPr/>
        </p:nvSpPr>
        <p:spPr>
          <a:xfrm>
            <a:off x="1042416" y="3712464"/>
            <a:ext cx="4449928" cy="7315"/>
          </a:xfrm>
          <a:prstGeom prst="rect">
            <a:avLst/>
          </a:prstGeom>
          <a:solidFill>
            <a:srgbClr val="D2D2D2"/>
          </a:solidFill>
          <a:ln w="12700">
            <a:solidFill>
              <a:srgbClr val="D2D2D2"/>
            </a:solidFill>
            <a:prstDash val="solid"/>
          </a:ln>
        </p:spPr>
      </p:sp>
      <p:sp>
        <p:nvSpPr>
          <p:cNvPr id="25" name="Shape 23"/>
          <p:cNvSpPr/>
          <p:nvPr/>
        </p:nvSpPr>
        <p:spPr>
          <a:xfrm>
            <a:off x="6699352" y="3712464"/>
            <a:ext cx="4449928" cy="7315"/>
          </a:xfrm>
          <a:prstGeom prst="rect">
            <a:avLst/>
          </a:prstGeom>
          <a:solidFill>
            <a:srgbClr val="DCDCDC"/>
          </a:solidFill>
          <a:ln w="12700">
            <a:solidFill>
              <a:srgbClr val="DCDCDC"/>
            </a:solidFill>
            <a:prstDash val="solid"/>
          </a:ln>
        </p:spPr>
      </p:sp>
      <p:sp>
        <p:nvSpPr>
          <p:cNvPr id="26" name="Text 24"/>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끝</a:t>
            </a:r>
            <a:endParaRPr lang="en-US" sz="900" dirty="0"/>
          </a:p>
        </p:txBody>
      </p:sp>
      <p:sp>
        <p:nvSpPr>
          <p:cNvPr id="27" name="Text 25"/>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무엇이 달라졌는지, 느낀 점 한 줄</a:t>
            </a:r>
            <a:endParaRPr lang="en-US" sz="1150" dirty="0"/>
          </a:p>
        </p:txBody>
      </p:sp>
      <p:sp>
        <p:nvSpPr>
          <p:cNvPr id="28" name="Text 26"/>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끝</a:t>
            </a:r>
            <a:endParaRPr lang="en-US" sz="900" dirty="0"/>
          </a:p>
        </p:txBody>
      </p:sp>
      <p:sp>
        <p:nvSpPr>
          <p:cNvPr id="29" name="Text 27"/>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최종 이미지로 끝</a:t>
            </a:r>
            <a:endParaRPr lang="en-US" sz="1150" dirty="0"/>
          </a:p>
        </p:txBody>
      </p:sp>
      <p:sp>
        <p:nvSpPr>
          <p:cNvPr id="30" name="Shape 28"/>
          <p:cNvSpPr/>
          <p:nvPr/>
        </p:nvSpPr>
        <p:spPr>
          <a:xfrm>
            <a:off x="1042416" y="4370832"/>
            <a:ext cx="4449928" cy="7315"/>
          </a:xfrm>
          <a:prstGeom prst="rect">
            <a:avLst/>
          </a:prstGeom>
          <a:solidFill>
            <a:srgbClr val="D2D2D2"/>
          </a:solidFill>
          <a:ln w="12700">
            <a:solidFill>
              <a:srgbClr val="D2D2D2"/>
            </a:solidFill>
            <a:prstDash val="solid"/>
          </a:ln>
        </p:spPr>
      </p:sp>
      <p:sp>
        <p:nvSpPr>
          <p:cNvPr id="31" name="Shape 29"/>
          <p:cNvSpPr/>
          <p:nvPr/>
        </p:nvSpPr>
        <p:spPr>
          <a:xfrm>
            <a:off x="6699352" y="4370832"/>
            <a:ext cx="4449928" cy="7315"/>
          </a:xfrm>
          <a:prstGeom prst="rect">
            <a:avLst/>
          </a:prstGeom>
          <a:solidFill>
            <a:srgbClr val="DCDCDC"/>
          </a:solidFill>
          <a:ln w="12700">
            <a:solidFill>
              <a:srgbClr val="DCDCDC"/>
            </a:solidFill>
            <a:prstDash val="solid"/>
          </a:ln>
        </p:spPr>
      </p:sp>
      <p:sp>
        <p:nvSpPr>
          <p:cNvPr id="32" name="Text 30"/>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장수</a:t>
            </a:r>
            <a:endParaRPr lang="en-US" sz="900" dirty="0"/>
          </a:p>
        </p:txBody>
      </p:sp>
      <p:sp>
        <p:nvSpPr>
          <p:cNvPr id="33" name="Text 31"/>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5~7장, 장마다 역할이 있다</a:t>
            </a:r>
            <a:endParaRPr lang="en-US" sz="1150" dirty="0"/>
          </a:p>
        </p:txBody>
      </p:sp>
      <p:sp>
        <p:nvSpPr>
          <p:cNvPr id="34" name="Text 32"/>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장수</a:t>
            </a:r>
            <a:endParaRPr lang="en-US" sz="900" dirty="0"/>
          </a:p>
        </p:txBody>
      </p:sp>
      <p:sp>
        <p:nvSpPr>
          <p:cNvPr id="35" name="Text 33"/>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12장, 장마다 역할 구분이 없다</a:t>
            </a:r>
            <a:endParaRPr lang="en-US" sz="1150" dirty="0"/>
          </a:p>
        </p:txBody>
      </p:sp>
      <p:sp>
        <p:nvSpPr>
          <p:cNvPr id="36" name="Shape 34"/>
          <p:cNvSpPr/>
          <p:nvPr/>
        </p:nvSpPr>
        <p:spPr>
          <a:xfrm>
            <a:off x="640080" y="6291072"/>
            <a:ext cx="10911535" cy="7315"/>
          </a:xfrm>
          <a:prstGeom prst="rect">
            <a:avLst/>
          </a:prstGeom>
          <a:solidFill>
            <a:srgbClr val="DCDCDC"/>
          </a:solidFill>
          <a:ln w="12700">
            <a:solidFill>
              <a:srgbClr val="DCDCDC"/>
            </a:solidFill>
            <a:prstDash val="solid"/>
          </a:ln>
        </p:spPr>
      </p:sp>
      <p:sp>
        <p:nvSpPr>
          <p:cNvPr id="37" name="Text 3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3주차 잘 만든 포트폴리오 살펴보기</a:t>
            </a:r>
            <a:endParaRPr lang="en-US" sz="850" dirty="0"/>
          </a:p>
        </p:txBody>
      </p:sp>
      <p:sp>
        <p:nvSpPr>
          <p:cNvPr id="38" name="Text 3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DIFFERENTIATION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나만의 강점 찾기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"나는 무엇이 다른가"를 사례 분석에서 찾아냅니다.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공통점을 먼저 찾는다</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세 사례가 모두 하고 있는 것을 적습니다. 이건 기본이라 강점이 되지 않습니다. 하지만 빠뜨리면 감점입니다.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비어 있는 곳을 찾는다</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셋 다 하지 않는 것 중에서 내가 할 수 있는 것이 후보입니다. 내가 못 하는 것을 골라도 소용없습니다.</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내 강점과 겹치는지 본다</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2주차 워크시트에 쓴 강점 3개와 맞춰 봅니다. 겹치는 곳이 진짜 나만의 강점입니다.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강점은 '남들과 다르게'가 아니라 '내가 보여줄 수 있는 것 중 남들이 덜 하는 것'입니다.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3주차 잘 만든 포트폴리오 살펴보기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실습 · 그룹 분석과 정리</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조별로 사례를 하나씩 살펴보고, 각자 보고서로 정리합니다.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 1</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1 · 조별 사례 분석</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조별 — 각자 가져온 사례를 조원과 함께 살펴봅니다.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공유</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조원이 각자 가져온 사례 3개를 차례로 소개합니다. 왜 골랐는지만 말합니다.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분해</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사례를 네 구성 요소로 나눠 표에 적습니다. 프로젝트 개수 · 장수 · 순서 기준까지 숫자로 적습니다.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유형 정하기</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각 사례가 세 가지 방식 중 어디에 가까운지 조원과 이야기해 정합니다. 의견이 갈리면 그 이유가 중요한 힌트입니다.</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정리</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조에서 찾은 점 3가지를 적어 다른 조와 함께 나눕니다.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3주차 잘 만든 포트폴리오 살펴보기</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 2</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2 · 사례에서 배운 점 정리</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개인 — 조별 분석을 내 것으로 옮깁니다.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공통점 · 비어 있는 곳</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세 사례의 공통점과 아무도 하지 않는 것을 각각 적습니다.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내 강점과 맞춰보기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2주차에 쓴 강점 3개와 맞춰 보고 후보를 고릅니다.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가져올 것 3가지</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구조 · 설명 방식 · 이미지 중에서 내 것에 쓸 3가지를 정합니다.</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가져오지 않을 것 1가지</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좋아 보이지만 나에게는 맞지 않는 것 하나와 그 이유를 적습니다.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3주차 잘 만든 포트폴리오 살펴보기</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사례 분석 보고서 점검표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4주차 수업 전까지 올립니다. 4주차 이야기 구성의 재료입니다.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사례 3개의 링크와 화면 캡처가 있다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각 사례를 네 구성 요소로 나눴다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프로젝트 개수 · 장수 · 순서 기준을 숫자로 적었다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각 사례가 어떤 방식으로 이야기하는지 정했다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그렇게 본 이유가 한 줄씩 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세 사례의 공통점을 적었다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가져올 것 3가지를 구체적으로 적었다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가져오지 않을 것 1가지와 이유가 있다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'가져올 것'이 "레이아웃이 깔끔함" 정도면 4주차에 쓸 수 없습니다. 무엇을 어떻게 할지까지 적으세요.</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3주차 잘 만든 포트폴리오 살펴보기</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4주차에는 오늘 찾은 방식으로 내 이야기 흐름을 짭니다.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사례 분석 보고서 제출</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사례 3개를 네 구성 요소로 나누고, 각 사례가 어떤 방식으로 이야기하는지 정합니다. 양식은 클래스룸에 있습니다.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가져올 것 3가지 · 가져오지 않을 것 1가지</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내 포트폴리오에 쓸 구조나 설명 방식 3개, 그리고 좋아 보이지만 나에게는 맞지 않는 것 1개를 이유와 함께 적습니다.</a:t>
            </a:r>
            <a:endParaRPr lang="en-US" sz="1100" dirty="0"/>
          </a:p>
        </p:txBody>
      </p:sp>
      <p:sp>
        <p:nvSpPr>
          <p:cNvPr id="19" name="Shape 17"/>
          <p:cNvSpPr/>
          <p:nvPr/>
        </p:nvSpPr>
        <p:spPr>
          <a:xfrm>
            <a:off x="640080" y="3785616"/>
            <a:ext cx="6309360" cy="7315"/>
          </a:xfrm>
          <a:prstGeom prst="rect">
            <a:avLst/>
          </a:prstGeom>
          <a:solidFill>
            <a:srgbClr val="111111"/>
          </a:solidFill>
          <a:ln w="12700">
            <a:solidFill>
              <a:srgbClr val="111111"/>
            </a:solidFill>
            <a:prstDash val="solid"/>
          </a:ln>
        </p:spPr>
      </p:sp>
      <p:sp>
        <p:nvSpPr>
          <p:cNvPr id="20" name="Text 18"/>
          <p:cNvSpPr/>
          <p:nvPr/>
        </p:nvSpPr>
        <p:spPr>
          <a:xfrm>
            <a:off x="640080" y="3877056"/>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4주차 수업 전까지 · 클래스룸 업로드</a:t>
            </a:r>
            <a:endParaRPr lang="en-US" sz="1200" dirty="0"/>
          </a:p>
        </p:txBody>
      </p:sp>
      <p:sp>
        <p:nvSpPr>
          <p:cNvPr id="21" name="Shape 19"/>
          <p:cNvSpPr/>
          <p:nvPr/>
        </p:nvSpPr>
        <p:spPr>
          <a:xfrm>
            <a:off x="7351776" y="1719072"/>
            <a:ext cx="4199839" cy="3803904"/>
          </a:xfrm>
          <a:prstGeom prst="rect">
            <a:avLst/>
          </a:prstGeom>
          <a:solidFill>
            <a:srgbClr val="111111"/>
          </a:solidFill>
          <a:ln w="12700">
            <a:solidFill>
              <a:srgbClr val="111111"/>
            </a:solidFill>
            <a:prstDash val="solid"/>
          </a:ln>
        </p:spPr>
      </p:sp>
      <p:sp>
        <p:nvSpPr>
          <p:cNvPr id="22" name="Text 20"/>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3" name="Text 21"/>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04주차</a:t>
            </a:r>
            <a:endParaRPr lang="en-US" sz="2600" dirty="0"/>
          </a:p>
        </p:txBody>
      </p:sp>
      <p:sp>
        <p:nvSpPr>
          <p:cNvPr id="24" name="Text 22"/>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이야기 흐름 짜기 Ⅰ</a:t>
            </a:r>
            <a:endParaRPr lang="en-US" sz="1700" dirty="0"/>
          </a:p>
        </p:txBody>
      </p:sp>
      <p:sp>
        <p:nvSpPr>
          <p:cNvPr id="25" name="Shape 23"/>
          <p:cNvSpPr/>
          <p:nvPr/>
        </p:nvSpPr>
        <p:spPr>
          <a:xfrm>
            <a:off x="7735824" y="3346704"/>
            <a:ext cx="3431743" cy="7315"/>
          </a:xfrm>
          <a:prstGeom prst="rect">
            <a:avLst/>
          </a:prstGeom>
          <a:solidFill>
            <a:srgbClr val="333333"/>
          </a:solidFill>
          <a:ln w="12700">
            <a:solidFill>
              <a:srgbClr val="333333"/>
            </a:solidFill>
            <a:prstDash val="solid"/>
          </a:ln>
        </p:spPr>
      </p:sp>
      <p:sp>
        <p:nvSpPr>
          <p:cNvPr id="26" name="Text 24"/>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어떤 프로젝트를 먼저 넣을지 정하는 기준</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이야기 흐름 — 문제 · 과정 · 결과</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스토리보드 양식 쓰는 법</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서로 의견 주고받기</a:t>
            </a:r>
            <a:endParaRPr lang="en-US" sz="1150" dirty="0"/>
          </a:p>
        </p:txBody>
      </p:sp>
      <p:sp>
        <p:nvSpPr>
          <p:cNvPr id="27" name="Shape 25"/>
          <p:cNvSpPr/>
          <p:nvPr/>
        </p:nvSpPr>
        <p:spPr>
          <a:xfrm>
            <a:off x="7735824" y="4700016"/>
            <a:ext cx="3431743" cy="7315"/>
          </a:xfrm>
          <a:prstGeom prst="rect">
            <a:avLst/>
          </a:prstGeom>
          <a:solidFill>
            <a:srgbClr val="333333"/>
          </a:solidFill>
          <a:ln w="12700">
            <a:solidFill>
              <a:srgbClr val="333333"/>
            </a:solidFill>
            <a:prstDash val="solid"/>
          </a:ln>
        </p:spPr>
      </p:sp>
      <p:sp>
        <p:nvSpPr>
          <p:cNvPr id="28" name="Text 26"/>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29" name="Text 27"/>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사례 분석 보고서 · 지금까지 한 프로젝트 목록 · 방향 문장</a:t>
            </a:r>
            <a:endParaRPr lang="en-US" sz="110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3주차 잘 만든 포트폴리오 살펴보기</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포트폴리오제작 · 3주차 잘 만든 포트폴리오 살펴보기</dc:title>
  <dc:subject>원광대학교 2026-2 · 실내·산업디자인학과 3학년 · 15주 · 포트폴리오 완성과 발표</dc:subject>
  <dc:creator>MIN.D</dc:creator>
  <cp:lastModifiedBy>MIN.D</cp:lastModifiedBy>
  <cp:revision>1</cp:revision>
  <dcterms:created xsi:type="dcterms:W3CDTF">2026-10-06T13:04:13Z</dcterms:created>
  <dcterms:modified xsi:type="dcterms:W3CDTF">2026-10-06T13:04:13Z</dcterms:modified>
</cp:coreProperties>
</file>