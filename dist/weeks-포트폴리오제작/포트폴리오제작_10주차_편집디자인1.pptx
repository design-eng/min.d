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10~11주가 학기에서 가장 손이 많이 가는 구간이다. 실습 시간이 60분뿐이므로 수업 밖 작업이 필수라는 점을 미리 말해둘 것.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순회하면서 그리드 가이드를 켜놓고 작업하는지 확인할 것. 가이드를 끄고 눈대중으로 맞추는 학생이 많다.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오늘부터 실제 결과물이 나온다. 학생들의 동기가 올라가는 시점.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짧게. 나머지는 손으로.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6주차에서 쓴 '축소해서 보기'를 다시 활용. 일관된 검증 방법을 반복하는 것이 좋다.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'강조가 여러 개면 강조가 아니다'를 반복 강조.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짧게 하고 실습으로.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'간격 값 3~4개로 제한'은 즉시 효과가 나타나는 조언이다. 실습에서 확인할 것.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3장을 다 끝내는 학생은 드물다. 1장을 제대로 끝내고 나머지는 과제로 가는 것이 현실적이다.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해상도 부족은 11주차에 발견되면 늦다. 이번 주에 확인시킬 것.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274320"/>
            <a:ext cx="3657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포트폴리오제작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4480560" y="274320"/>
            <a:ext cx="4572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PHASE 2 콘텐츠 구조화와 비주얼 시스템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8808415" y="274320"/>
            <a:ext cx="2743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WEEK 10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640080" y="548640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894015" y="713232"/>
            <a:ext cx="3657600" cy="15179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20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10</a:t>
            </a:r>
            <a:endParaRPr lang="en-US" sz="13200" dirty="0"/>
          </a:p>
        </p:txBody>
      </p:sp>
      <p:sp>
        <p:nvSpPr>
          <p:cNvPr id="7" name="Shape 5"/>
          <p:cNvSpPr/>
          <p:nvPr/>
        </p:nvSpPr>
        <p:spPr>
          <a:xfrm>
            <a:off x="941832" y="877824"/>
            <a:ext cx="0" cy="603504"/>
          </a:xfrm>
          <a:prstGeom prst="line">
            <a:avLst/>
          </a:prstGeom>
          <a:noFill/>
          <a:ln w="15875">
            <a:solidFill>
              <a:srgbClr val="111111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640080" y="1239926"/>
            <a:ext cx="301752" cy="241402"/>
          </a:xfrm>
          <a:prstGeom prst="line">
            <a:avLst/>
          </a:prstGeom>
          <a:noFill/>
          <a:ln w="15875">
            <a:solidFill>
              <a:srgbClr val="111111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 flipV="1">
            <a:off x="941832" y="1239926"/>
            <a:ext cx="301752" cy="241402"/>
          </a:xfrm>
          <a:prstGeom prst="line">
            <a:avLst/>
          </a:prstGeom>
          <a:noFill/>
          <a:ln w="15875">
            <a:solidFill>
              <a:srgbClr val="111111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40080" y="1901952"/>
            <a:ext cx="74980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26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WEEK 10  ·  PHASE 2 콘텐츠 구조화와 비주얼 시스템</a:t>
            </a:r>
            <a:endParaRPr lang="en-US" sz="950" dirty="0"/>
          </a:p>
        </p:txBody>
      </p:sp>
      <p:sp>
        <p:nvSpPr>
          <p:cNvPr id="11" name="Text 9"/>
          <p:cNvSpPr/>
          <p:nvPr/>
        </p:nvSpPr>
        <p:spPr>
          <a:xfrm>
            <a:off x="640080" y="2194560"/>
            <a:ext cx="8595360" cy="12252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480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편집디자인 실습 Ⅰ</a:t>
            </a:r>
            <a:endParaRPr lang="en-US" sz="4800" dirty="0"/>
          </a:p>
        </p:txBody>
      </p:sp>
      <p:sp>
        <p:nvSpPr>
          <p:cNvPr id="12" name="Text 10"/>
          <p:cNvSpPr/>
          <p:nvPr/>
        </p:nvSpPr>
        <p:spPr>
          <a:xfrm>
            <a:off x="640080" y="3547872"/>
            <a:ext cx="786384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600" dirty="0">
                <a:solidFill>
                  <a:srgbClr val="6E6E6E"/>
                </a:solidFill>
                <a:latin typeface="Pretendard Light" pitchFamily="34" charset="0"/>
                <a:ea typeface="Pretendard Light" pitchFamily="34" charset="-122"/>
                <a:cs typeface="Pretendard Light" pitchFamily="34" charset="-120"/>
              </a:rPr>
              <a:t>타이포그래피 위계를 적용하고,</a:t>
            </a:r>
            <a:endParaRPr lang="en-US" sz="16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600" dirty="0">
                <a:solidFill>
                  <a:srgbClr val="6E6E6E"/>
                </a:solidFill>
                <a:latin typeface="Pretendard Light" pitchFamily="34" charset="0"/>
                <a:ea typeface="Pretendard Light" pitchFamily="34" charset="-122"/>
                <a:cs typeface="Pretendard Light" pitchFamily="34" charset="-120"/>
              </a:rPr>
              <a:t>그리드 위에 실제 페이지를 만듭니다.</a:t>
            </a:r>
            <a:endParaRPr lang="en-US" sz="1600" dirty="0"/>
          </a:p>
        </p:txBody>
      </p:sp>
      <p:sp>
        <p:nvSpPr>
          <p:cNvPr id="13" name="Shape 11"/>
          <p:cNvSpPr/>
          <p:nvPr/>
        </p:nvSpPr>
        <p:spPr>
          <a:xfrm>
            <a:off x="640080" y="4443984"/>
            <a:ext cx="2743200" cy="7315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640080" y="4645152"/>
            <a:ext cx="914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1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과목</a:t>
            </a:r>
            <a:endParaRPr lang="en-US" sz="950" dirty="0"/>
          </a:p>
        </p:txBody>
      </p:sp>
      <p:sp>
        <p:nvSpPr>
          <p:cNvPr id="15" name="Text 13"/>
          <p:cNvSpPr/>
          <p:nvPr/>
        </p:nvSpPr>
        <p:spPr>
          <a:xfrm>
            <a:off x="1645920" y="4645152"/>
            <a:ext cx="76809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F1F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포트폴리오제작 · 실내·산업디자인학과 3학년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640080" y="5029200"/>
            <a:ext cx="914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1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오늘</a:t>
            </a:r>
            <a:endParaRPr lang="en-US" sz="950" dirty="0"/>
          </a:p>
        </p:txBody>
      </p:sp>
      <p:sp>
        <p:nvSpPr>
          <p:cNvPr id="17" name="Text 15"/>
          <p:cNvSpPr/>
          <p:nvPr/>
        </p:nvSpPr>
        <p:spPr>
          <a:xfrm>
            <a:off x="1645920" y="5029200"/>
            <a:ext cx="76809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F1F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90분 — 강의 20분 · 페이지 제작 실습 60분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640080" y="5413248"/>
            <a:ext cx="914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1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제출물</a:t>
            </a:r>
            <a:endParaRPr lang="en-US" sz="950" dirty="0"/>
          </a:p>
        </p:txBody>
      </p:sp>
      <p:sp>
        <p:nvSpPr>
          <p:cNvPr id="19" name="Text 17"/>
          <p:cNvSpPr/>
          <p:nvPr/>
        </p:nvSpPr>
        <p:spPr>
          <a:xfrm>
            <a:off x="1645920" y="5413248"/>
            <a:ext cx="76809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F1F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포트폴리오 페이지 3장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 rot="16200000">
            <a:off x="10436047" y="329184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spc="26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WONKWANG UNIV · 2026-2</a:t>
            </a:r>
            <a:endParaRPr lang="en-US" sz="850" dirty="0"/>
          </a:p>
        </p:txBody>
      </p:sp>
      <p:sp>
        <p:nvSpPr>
          <p:cNvPr id="21" name="Shape 19"/>
          <p:cNvSpPr/>
          <p:nvPr/>
        </p:nvSpPr>
        <p:spPr>
          <a:xfrm>
            <a:off x="640080" y="6291072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274320"/>
            <a:ext cx="3657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포트폴리오제작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4480560" y="274320"/>
            <a:ext cx="4572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PHASE 2 콘텐츠 구조화와 비주얼 시스템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8808415" y="274320"/>
            <a:ext cx="2743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WEEK 10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640080" y="548640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40080" y="640080"/>
            <a:ext cx="1091153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26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TODAY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640080" y="859536"/>
            <a:ext cx="10911535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오늘의 90분</a:t>
            </a:r>
            <a:endParaRPr lang="en-US" sz="3000" dirty="0"/>
          </a:p>
        </p:txBody>
      </p:sp>
      <p:sp>
        <p:nvSpPr>
          <p:cNvPr id="8" name="Text 6"/>
          <p:cNvSpPr/>
          <p:nvPr/>
        </p:nvSpPr>
        <p:spPr>
          <a:xfrm>
            <a:off x="640080" y="1371600"/>
            <a:ext cx="1091153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강의 20분 · 페이지 제작 실습 60분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640080" y="1682496"/>
            <a:ext cx="10911535" cy="7315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40080" y="1719072"/>
            <a:ext cx="1600200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60" kern="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00:00–00:20</a:t>
            </a:r>
            <a:endParaRPr lang="en-US" sz="1050" dirty="0"/>
          </a:p>
        </p:txBody>
      </p:sp>
      <p:sp>
        <p:nvSpPr>
          <p:cNvPr id="11" name="Text 9"/>
          <p:cNvSpPr/>
          <p:nvPr/>
        </p:nvSpPr>
        <p:spPr>
          <a:xfrm>
            <a:off x="2377440" y="1719072"/>
            <a:ext cx="6888175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타이포그래피 위계 강의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9265615" y="1719072"/>
            <a:ext cx="2286000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강의</a:t>
            </a:r>
            <a:endParaRPr lang="en-US" sz="1050" dirty="0"/>
          </a:p>
        </p:txBody>
      </p:sp>
      <p:sp>
        <p:nvSpPr>
          <p:cNvPr id="13" name="Shape 11"/>
          <p:cNvSpPr/>
          <p:nvPr/>
        </p:nvSpPr>
        <p:spPr>
          <a:xfrm>
            <a:off x="640080" y="2633472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640080" y="2651760"/>
            <a:ext cx="1600200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60" kern="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00:20–01:20</a:t>
            </a:r>
            <a:endParaRPr lang="en-US" sz="1050" dirty="0"/>
          </a:p>
        </p:txBody>
      </p:sp>
      <p:sp>
        <p:nvSpPr>
          <p:cNvPr id="15" name="Text 13"/>
          <p:cNvSpPr/>
          <p:nvPr/>
        </p:nvSpPr>
        <p:spPr>
          <a:xfrm>
            <a:off x="2377440" y="2651760"/>
            <a:ext cx="6888175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페이지 제작 실습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9265615" y="2651760"/>
            <a:ext cx="2286000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개인 워크 + 순회</a:t>
            </a:r>
            <a:endParaRPr lang="en-US" sz="1050" dirty="0"/>
          </a:p>
        </p:txBody>
      </p:sp>
      <p:sp>
        <p:nvSpPr>
          <p:cNvPr id="17" name="Shape 15"/>
          <p:cNvSpPr/>
          <p:nvPr/>
        </p:nvSpPr>
        <p:spPr>
          <a:xfrm>
            <a:off x="640080" y="3566160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640080" y="3584448"/>
            <a:ext cx="1600200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60" kern="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01:20–01:30</a:t>
            </a:r>
            <a:endParaRPr lang="en-US" sz="1050" dirty="0"/>
          </a:p>
        </p:txBody>
      </p:sp>
      <p:sp>
        <p:nvSpPr>
          <p:cNvPr id="19" name="Text 17"/>
          <p:cNvSpPr/>
          <p:nvPr/>
        </p:nvSpPr>
        <p:spPr>
          <a:xfrm>
            <a:off x="2377440" y="3584448"/>
            <a:ext cx="6888175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진행 확인 · 과제 안내</a:t>
            </a:r>
            <a:endParaRPr lang="en-US" sz="1300" dirty="0"/>
          </a:p>
        </p:txBody>
      </p:sp>
      <p:sp>
        <p:nvSpPr>
          <p:cNvPr id="20" name="Text 18"/>
          <p:cNvSpPr/>
          <p:nvPr/>
        </p:nvSpPr>
        <p:spPr>
          <a:xfrm>
            <a:off x="9265615" y="3584448"/>
            <a:ext cx="2286000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개별 확인</a:t>
            </a:r>
            <a:endParaRPr lang="en-US" sz="1050" dirty="0"/>
          </a:p>
        </p:txBody>
      </p:sp>
      <p:sp>
        <p:nvSpPr>
          <p:cNvPr id="21" name="Shape 19"/>
          <p:cNvSpPr/>
          <p:nvPr/>
        </p:nvSpPr>
        <p:spPr>
          <a:xfrm>
            <a:off x="640080" y="4828032"/>
            <a:ext cx="10911535" cy="969264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1097280" y="5010912"/>
            <a:ext cx="2743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240" kern="0" dirty="0">
                <a:solidFill>
                  <a:srgbClr val="9A9A9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오늘 끝나면</a:t>
            </a:r>
            <a:endParaRPr lang="en-US" sz="950" dirty="0"/>
          </a:p>
        </p:txBody>
      </p:sp>
      <p:sp>
        <p:nvSpPr>
          <p:cNvPr id="23" name="Text 21"/>
          <p:cNvSpPr/>
          <p:nvPr/>
        </p:nvSpPr>
        <p:spPr>
          <a:xfrm>
            <a:off x="1097280" y="5285232"/>
            <a:ext cx="999713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6000"/>
              </a:lnSpc>
              <a:buNone/>
            </a:pPr>
            <a:r>
              <a:rPr lang="en-US" sz="1600" dirty="0">
                <a:solidFill>
                  <a:srgbClr val="FFFFFF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그리드와 타이포 시스템을 적용한 페이지가 실제로 나오기 시작합니다.</a:t>
            </a:r>
            <a:endParaRPr lang="en-US" sz="1600" dirty="0"/>
          </a:p>
        </p:txBody>
      </p:sp>
      <p:sp>
        <p:nvSpPr>
          <p:cNvPr id="24" name="Shape 22"/>
          <p:cNvSpPr/>
          <p:nvPr/>
        </p:nvSpPr>
        <p:spPr>
          <a:xfrm>
            <a:off x="640080" y="6291072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640080" y="6382512"/>
            <a:ext cx="7772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포트폴리오제작 · 10주차 편집디자인 실습 Ⅰ</a:t>
            </a:r>
            <a:endParaRPr lang="en-US" sz="850" dirty="0"/>
          </a:p>
        </p:txBody>
      </p:sp>
      <p:sp>
        <p:nvSpPr>
          <p:cNvPr id="26" name="Text 24"/>
          <p:cNvSpPr/>
          <p:nvPr/>
        </p:nvSpPr>
        <p:spPr>
          <a:xfrm>
            <a:off x="10271455" y="6382512"/>
            <a:ext cx="1280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spc="1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P.01</a:t>
            </a:r>
            <a:endParaRPr lang="en-US" sz="8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274320"/>
            <a:ext cx="3657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포트폴리오제작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4480560" y="274320"/>
            <a:ext cx="4572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PHASE 2 콘텐츠 구조화와 비주얼 시스템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8808415" y="274320"/>
            <a:ext cx="2743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WEEK 10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640080" y="548640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40080" y="640080"/>
            <a:ext cx="1091153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26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OBJECTIVES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640080" y="859536"/>
            <a:ext cx="10911535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오늘 끝나면 여러분은</a:t>
            </a:r>
            <a:endParaRPr lang="en-US" sz="3000" dirty="0"/>
          </a:p>
        </p:txBody>
      </p:sp>
      <p:sp>
        <p:nvSpPr>
          <p:cNvPr id="8" name="Shape 6"/>
          <p:cNvSpPr/>
          <p:nvPr/>
        </p:nvSpPr>
        <p:spPr>
          <a:xfrm>
            <a:off x="640080" y="1664208"/>
            <a:ext cx="10911535" cy="7315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640080" y="1810512"/>
            <a:ext cx="310896" cy="31089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40080" y="1810512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1188720" y="1719072"/>
            <a:ext cx="98755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세 단계 위계를 실제 지면에 적용할 수 있다</a:t>
            </a:r>
            <a:endParaRPr lang="en-US" sz="1450" dirty="0"/>
          </a:p>
        </p:txBody>
      </p:sp>
      <p:sp>
        <p:nvSpPr>
          <p:cNvPr id="12" name="Text 10"/>
          <p:cNvSpPr/>
          <p:nvPr/>
        </p:nvSpPr>
        <p:spPr>
          <a:xfrm>
            <a:off x="1188720" y="2029968"/>
            <a:ext cx="98755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크기 · 굵기 · 색으로 차이를 만듭니다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640080" y="2670048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640080" y="2834640"/>
            <a:ext cx="310896" cy="31089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640080" y="283464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1188720" y="2743200"/>
            <a:ext cx="98755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그리드를 지키며 배치할 수 있다</a:t>
            </a:r>
            <a:endParaRPr lang="en-US" sz="1450" dirty="0"/>
          </a:p>
        </p:txBody>
      </p:sp>
      <p:sp>
        <p:nvSpPr>
          <p:cNvPr id="17" name="Text 15"/>
          <p:cNvSpPr/>
          <p:nvPr/>
        </p:nvSpPr>
        <p:spPr>
          <a:xfrm>
            <a:off x="1188720" y="3054096"/>
            <a:ext cx="98755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눈대중이 아니라 가이드에 맞춥니다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640080" y="3694176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640080" y="3858768"/>
            <a:ext cx="310896" cy="31089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640080" y="385876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</a:t>
            </a:r>
            <a:endParaRPr lang="en-US" sz="1000" dirty="0"/>
          </a:p>
        </p:txBody>
      </p:sp>
      <p:sp>
        <p:nvSpPr>
          <p:cNvPr id="21" name="Text 19"/>
          <p:cNvSpPr/>
          <p:nvPr/>
        </p:nvSpPr>
        <p:spPr>
          <a:xfrm>
            <a:off x="1188720" y="3767328"/>
            <a:ext cx="98755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여백을 규칙으로 다룰 수 있다</a:t>
            </a:r>
            <a:endParaRPr lang="en-US" sz="1450" dirty="0"/>
          </a:p>
        </p:txBody>
      </p:sp>
      <p:sp>
        <p:nvSpPr>
          <p:cNvPr id="22" name="Text 20"/>
          <p:cNvSpPr/>
          <p:nvPr/>
        </p:nvSpPr>
        <p:spPr>
          <a:xfrm>
            <a:off x="1188720" y="4078224"/>
            <a:ext cx="98755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남는 자리가 아니라 정한 값입니다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640080" y="6291072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640080" y="6382512"/>
            <a:ext cx="7772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포트폴리오제작 · 10주차 편집디자인 실습 Ⅰ</a:t>
            </a:r>
            <a:endParaRPr lang="en-US" sz="850" dirty="0"/>
          </a:p>
        </p:txBody>
      </p:sp>
      <p:sp>
        <p:nvSpPr>
          <p:cNvPr id="25" name="Text 23"/>
          <p:cNvSpPr/>
          <p:nvPr/>
        </p:nvSpPr>
        <p:spPr>
          <a:xfrm>
            <a:off x="10271455" y="6382512"/>
            <a:ext cx="1280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spc="1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P.02</a:t>
            </a:r>
            <a:endParaRPr lang="en-US" sz="8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274320"/>
            <a:ext cx="3657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20" kern="0" dirty="0">
                <a:solidFill>
                  <a:srgbClr val="9A9A9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포트폴리오제작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4480560" y="274320"/>
            <a:ext cx="4572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spc="120" kern="0" dirty="0">
                <a:solidFill>
                  <a:srgbClr val="9A9A9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PHASE 2 콘텐츠 구조화와 비주얼 시스템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8808415" y="274320"/>
            <a:ext cx="2743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9A9A9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WEEK 10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640080" y="548640"/>
            <a:ext cx="10911535" cy="7315"/>
          </a:xfrm>
          <a:prstGeom prst="rect">
            <a:avLst/>
          </a:prstGeom>
          <a:solidFill>
            <a:srgbClr val="33333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345375" y="1737360"/>
            <a:ext cx="4206240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0000" dirty="0">
                <a:solidFill>
                  <a:srgbClr val="1B1B1B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01</a:t>
            </a:r>
            <a:endParaRPr lang="en-US" sz="20000" dirty="0"/>
          </a:p>
        </p:txBody>
      </p:sp>
      <p:sp>
        <p:nvSpPr>
          <p:cNvPr id="7" name="Shape 5"/>
          <p:cNvSpPr/>
          <p:nvPr/>
        </p:nvSpPr>
        <p:spPr>
          <a:xfrm>
            <a:off x="941832" y="1371600"/>
            <a:ext cx="0" cy="603504"/>
          </a:xfrm>
          <a:prstGeom prst="line">
            <a:avLst/>
          </a:prstGeom>
          <a:noFill/>
          <a:ln w="15875">
            <a:solidFill>
              <a:srgbClr val="FFFFFF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640080" y="1733702"/>
            <a:ext cx="301752" cy="241402"/>
          </a:xfrm>
          <a:prstGeom prst="line">
            <a:avLst/>
          </a:prstGeom>
          <a:noFill/>
          <a:ln w="15875">
            <a:solidFill>
              <a:srgbClr val="FFFFFF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 flipV="1">
            <a:off x="941832" y="1733702"/>
            <a:ext cx="301752" cy="241402"/>
          </a:xfrm>
          <a:prstGeom prst="line">
            <a:avLst/>
          </a:prstGeom>
          <a:noFill/>
          <a:ln w="15875">
            <a:solidFill>
              <a:srgbClr val="FFFFF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40080" y="2615184"/>
            <a:ext cx="7863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280" kern="0" dirty="0">
                <a:solidFill>
                  <a:srgbClr val="9A9A9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PART 01</a:t>
            </a:r>
            <a:endParaRPr lang="en-US" sz="950" dirty="0"/>
          </a:p>
        </p:txBody>
      </p:sp>
      <p:sp>
        <p:nvSpPr>
          <p:cNvPr id="11" name="Text 9"/>
          <p:cNvSpPr/>
          <p:nvPr/>
        </p:nvSpPr>
        <p:spPr>
          <a:xfrm>
            <a:off x="640080" y="2889504"/>
            <a:ext cx="786384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600" dirty="0">
                <a:solidFill>
                  <a:srgbClr val="FFFFFF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타이포그래피 위계</a:t>
            </a:r>
            <a:endParaRPr lang="en-US" sz="4600" dirty="0"/>
          </a:p>
        </p:txBody>
      </p:sp>
      <p:sp>
        <p:nvSpPr>
          <p:cNvPr id="12" name="Shape 10"/>
          <p:cNvSpPr/>
          <p:nvPr/>
        </p:nvSpPr>
        <p:spPr>
          <a:xfrm>
            <a:off x="640080" y="3803904"/>
            <a:ext cx="2194560" cy="7315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640080" y="4005072"/>
            <a:ext cx="69494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4000"/>
              </a:lnSpc>
              <a:buNone/>
            </a:pPr>
            <a:r>
              <a:rPr lang="en-US" sz="1350" dirty="0">
                <a:solidFill>
                  <a:srgbClr val="B8B8B8"/>
                </a:solidFill>
                <a:latin typeface="Pretendard Light" pitchFamily="34" charset="0"/>
                <a:ea typeface="Pretendard Light" pitchFamily="34" charset="-122"/>
                <a:cs typeface="Pretendard Light" pitchFamily="34" charset="-120"/>
              </a:rPr>
              <a:t>20분. 9주차에 정한 세 단계를 실제 지면에 적용합니다.</a:t>
            </a:r>
            <a:endParaRPr lang="en-US" sz="1350" dirty="0"/>
          </a:p>
        </p:txBody>
      </p:sp>
      <p:sp>
        <p:nvSpPr>
          <p:cNvPr id="14" name="Text 12"/>
          <p:cNvSpPr/>
          <p:nvPr/>
        </p:nvSpPr>
        <p:spPr>
          <a:xfrm rot="16200000">
            <a:off x="10436047" y="329184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spc="260" kern="0" dirty="0">
                <a:solidFill>
                  <a:srgbClr val="7A7A7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SECTION 01</a:t>
            </a:r>
            <a:endParaRPr lang="en-US" sz="8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274320"/>
            <a:ext cx="3657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포트폴리오제작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4480560" y="274320"/>
            <a:ext cx="4572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PHASE 2 콘텐츠 구조화와 비주얼 시스템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8808415" y="274320"/>
            <a:ext cx="2743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WEEK 10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640080" y="548640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40080" y="640080"/>
            <a:ext cx="1091153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26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HIERARCHY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640080" y="859536"/>
            <a:ext cx="10911535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위계를 만드는 세 가지 수단</a:t>
            </a:r>
            <a:endParaRPr lang="en-US" sz="3000" dirty="0"/>
          </a:p>
        </p:txBody>
      </p:sp>
      <p:sp>
        <p:nvSpPr>
          <p:cNvPr id="8" name="Text 6"/>
          <p:cNvSpPr/>
          <p:nvPr/>
        </p:nvSpPr>
        <p:spPr>
          <a:xfrm>
            <a:off x="640080" y="1371600"/>
            <a:ext cx="1091153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하나만 써도 되지만, 두 개를 겹치면 확실해집니다.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640080" y="1737360"/>
            <a:ext cx="3393338" cy="3035808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1024128" y="2011680"/>
            <a:ext cx="365760" cy="365760"/>
          </a:xfrm>
          <a:prstGeom prst="ellipse">
            <a:avLst/>
          </a:prstGeom>
          <a:solidFill>
            <a:srgbClr val="111111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1024128" y="201168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01</a:t>
            </a:r>
            <a:endParaRPr lang="en-US" sz="1150" dirty="0"/>
          </a:p>
        </p:txBody>
      </p:sp>
      <p:sp>
        <p:nvSpPr>
          <p:cNvPr id="12" name="Text 10"/>
          <p:cNvSpPr/>
          <p:nvPr/>
        </p:nvSpPr>
        <p:spPr>
          <a:xfrm>
            <a:off x="1024128" y="2505456"/>
            <a:ext cx="262524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700" dirty="0">
                <a:solidFill>
                  <a:srgbClr val="FFFFFF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크기</a:t>
            </a:r>
            <a:endParaRPr lang="en-US" sz="1700" dirty="0"/>
          </a:p>
        </p:txBody>
      </p:sp>
      <p:sp>
        <p:nvSpPr>
          <p:cNvPr id="13" name="Text 11"/>
          <p:cNvSpPr/>
          <p:nvPr/>
        </p:nvSpPr>
        <p:spPr>
          <a:xfrm>
            <a:off x="1024128" y="2999232"/>
            <a:ext cx="2625242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B8B8B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가장 직관적입니다. 다만 차이가 작으면 위계가 아니라 실수처럼 보입니다. 제목과 본문은 최소 두 배 가까이 차이를 두세요.</a:t>
            </a:r>
            <a:endParaRPr lang="en-US" sz="1150" dirty="0"/>
          </a:p>
        </p:txBody>
      </p:sp>
      <p:sp>
        <p:nvSpPr>
          <p:cNvPr id="14" name="Shape 12"/>
          <p:cNvSpPr/>
          <p:nvPr/>
        </p:nvSpPr>
        <p:spPr>
          <a:xfrm>
            <a:off x="4399178" y="1737360"/>
            <a:ext cx="3393338" cy="3035808"/>
          </a:xfrm>
          <a:prstGeom prst="rect">
            <a:avLst/>
          </a:prstGeom>
          <a:solidFill>
            <a:srgbClr val="FFFFFF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4783226" y="2011680"/>
            <a:ext cx="365760" cy="36576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4783226" y="201168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02</a:t>
            </a:r>
            <a:endParaRPr lang="en-US" sz="1150" dirty="0"/>
          </a:p>
        </p:txBody>
      </p:sp>
      <p:sp>
        <p:nvSpPr>
          <p:cNvPr id="17" name="Text 15"/>
          <p:cNvSpPr/>
          <p:nvPr/>
        </p:nvSpPr>
        <p:spPr>
          <a:xfrm>
            <a:off x="4783226" y="2505456"/>
            <a:ext cx="262524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70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굵기</a:t>
            </a:r>
            <a:endParaRPr lang="en-US" sz="1700" dirty="0"/>
          </a:p>
        </p:txBody>
      </p:sp>
      <p:sp>
        <p:nvSpPr>
          <p:cNvPr id="18" name="Text 16"/>
          <p:cNvSpPr/>
          <p:nvPr/>
        </p:nvSpPr>
        <p:spPr>
          <a:xfrm>
            <a:off x="4783226" y="2999232"/>
            <a:ext cx="2625242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같은 크기에서도 위계를 만듭니다. 소제목에 특히 유용합니다. 세 단계 이상의 굵기를 섞지는 마세요.</a:t>
            </a:r>
            <a:endParaRPr lang="en-US" sz="1150" dirty="0"/>
          </a:p>
        </p:txBody>
      </p:sp>
      <p:sp>
        <p:nvSpPr>
          <p:cNvPr id="19" name="Shape 17"/>
          <p:cNvSpPr/>
          <p:nvPr/>
        </p:nvSpPr>
        <p:spPr>
          <a:xfrm>
            <a:off x="8158277" y="1737360"/>
            <a:ext cx="3393338" cy="3035808"/>
          </a:xfrm>
          <a:prstGeom prst="rect">
            <a:avLst/>
          </a:prstGeom>
          <a:solidFill>
            <a:srgbClr val="FFFFFF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8542325" y="2011680"/>
            <a:ext cx="365760" cy="36576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8542325" y="201168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03</a:t>
            </a:r>
            <a:endParaRPr lang="en-US" sz="1150" dirty="0"/>
          </a:p>
        </p:txBody>
      </p:sp>
      <p:sp>
        <p:nvSpPr>
          <p:cNvPr id="22" name="Text 20"/>
          <p:cNvSpPr/>
          <p:nvPr/>
        </p:nvSpPr>
        <p:spPr>
          <a:xfrm>
            <a:off x="8542325" y="2505456"/>
            <a:ext cx="262524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70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색 · 명도</a:t>
            </a:r>
            <a:endParaRPr lang="en-US" sz="1700" dirty="0"/>
          </a:p>
        </p:txBody>
      </p:sp>
      <p:sp>
        <p:nvSpPr>
          <p:cNvPr id="23" name="Text 21"/>
          <p:cNvSpPr/>
          <p:nvPr/>
        </p:nvSpPr>
        <p:spPr>
          <a:xfrm>
            <a:off x="8542325" y="2999232"/>
            <a:ext cx="2625242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캡션을 옅게 하면 본문이 앞으로 나옵니다. 강조색은 여기서만 씁니다. 색으로만 위계를 만들면 인쇄에서 약해집니다.</a:t>
            </a:r>
            <a:endParaRPr lang="en-US" sz="1150" dirty="0"/>
          </a:p>
        </p:txBody>
      </p:sp>
      <p:sp>
        <p:nvSpPr>
          <p:cNvPr id="24" name="Shape 22"/>
          <p:cNvSpPr/>
          <p:nvPr/>
        </p:nvSpPr>
        <p:spPr>
          <a:xfrm>
            <a:off x="640080" y="5084064"/>
            <a:ext cx="10911535" cy="7315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640080" y="5193792"/>
            <a:ext cx="10911535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3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축소해서 봤을 때 읽히는 순서가 의도한 순서와 같으면 성공입니다.</a:t>
            </a:r>
            <a:endParaRPr lang="en-US" sz="1300" dirty="0"/>
          </a:p>
        </p:txBody>
      </p:sp>
      <p:sp>
        <p:nvSpPr>
          <p:cNvPr id="26" name="Shape 24"/>
          <p:cNvSpPr/>
          <p:nvPr/>
        </p:nvSpPr>
        <p:spPr>
          <a:xfrm>
            <a:off x="640080" y="6291072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640080" y="6382512"/>
            <a:ext cx="7772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포트폴리오제작 · 10주차 편집디자인 실습 Ⅰ</a:t>
            </a:r>
            <a:endParaRPr lang="en-US" sz="850" dirty="0"/>
          </a:p>
        </p:txBody>
      </p:sp>
      <p:sp>
        <p:nvSpPr>
          <p:cNvPr id="28" name="Text 26"/>
          <p:cNvSpPr/>
          <p:nvPr/>
        </p:nvSpPr>
        <p:spPr>
          <a:xfrm>
            <a:off x="10271455" y="6382512"/>
            <a:ext cx="1280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spc="1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P.03</a:t>
            </a:r>
            <a:endParaRPr lang="en-US" sz="8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274320"/>
            <a:ext cx="3657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포트폴리오제작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4480560" y="274320"/>
            <a:ext cx="4572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PHASE 2 콘텐츠 구조화와 비주얼 시스템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8808415" y="274320"/>
            <a:ext cx="2743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WEEK 10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640080" y="548640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40080" y="640080"/>
            <a:ext cx="1091153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26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COMPARE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640080" y="859536"/>
            <a:ext cx="10911535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위계가 있는 지면과 없는 지면</a:t>
            </a:r>
            <a:endParaRPr lang="en-US" sz="3000" dirty="0"/>
          </a:p>
        </p:txBody>
      </p:sp>
      <p:sp>
        <p:nvSpPr>
          <p:cNvPr id="8" name="Shape 6"/>
          <p:cNvSpPr/>
          <p:nvPr/>
        </p:nvSpPr>
        <p:spPr>
          <a:xfrm>
            <a:off x="640080" y="1481328"/>
            <a:ext cx="5254600" cy="3419856"/>
          </a:xfrm>
          <a:prstGeom prst="rect">
            <a:avLst/>
          </a:prstGeom>
          <a:solidFill>
            <a:srgbClr val="F2F2F2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1042416" y="1755648"/>
            <a:ext cx="444992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위계가 있는 지면</a:t>
            </a:r>
            <a:endParaRPr lang="en-US" sz="1700" dirty="0"/>
          </a:p>
        </p:txBody>
      </p:sp>
      <p:sp>
        <p:nvSpPr>
          <p:cNvPr id="10" name="Shape 8"/>
          <p:cNvSpPr/>
          <p:nvPr/>
        </p:nvSpPr>
        <p:spPr>
          <a:xfrm>
            <a:off x="6297016" y="1481328"/>
            <a:ext cx="5254600" cy="3419856"/>
          </a:xfrm>
          <a:prstGeom prst="rect">
            <a:avLst/>
          </a:prstGeom>
          <a:solidFill>
            <a:srgbClr val="FFFFFF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6699352" y="1755648"/>
            <a:ext cx="444992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9B9B9B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없는 지면</a:t>
            </a:r>
            <a:endParaRPr lang="en-US" sz="1700" dirty="0"/>
          </a:p>
        </p:txBody>
      </p:sp>
      <p:sp>
        <p:nvSpPr>
          <p:cNvPr id="12" name="Text 10"/>
          <p:cNvSpPr/>
          <p:nvPr/>
        </p:nvSpPr>
        <p:spPr>
          <a:xfrm>
            <a:off x="1042416" y="2304288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60" kern="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훑어볼 때</a:t>
            </a:r>
            <a:endParaRPr lang="en-US" sz="900" dirty="0"/>
          </a:p>
        </p:txBody>
      </p:sp>
      <p:sp>
        <p:nvSpPr>
          <p:cNvPr id="13" name="Text 11"/>
          <p:cNvSpPr/>
          <p:nvPr/>
        </p:nvSpPr>
        <p:spPr>
          <a:xfrm>
            <a:off x="1042416" y="2542032"/>
            <a:ext cx="444992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1F1F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제목만 읽어도 흐름이 잡힌다</a:t>
            </a:r>
            <a:endParaRPr lang="en-US" sz="1150" dirty="0"/>
          </a:p>
        </p:txBody>
      </p:sp>
      <p:sp>
        <p:nvSpPr>
          <p:cNvPr id="14" name="Text 12"/>
          <p:cNvSpPr/>
          <p:nvPr/>
        </p:nvSpPr>
        <p:spPr>
          <a:xfrm>
            <a:off x="6699352" y="2304288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6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훑어볼 때</a:t>
            </a:r>
            <a:endParaRPr lang="en-US" sz="900" dirty="0"/>
          </a:p>
        </p:txBody>
      </p:sp>
      <p:sp>
        <p:nvSpPr>
          <p:cNvPr id="15" name="Text 13"/>
          <p:cNvSpPr/>
          <p:nvPr/>
        </p:nvSpPr>
        <p:spPr>
          <a:xfrm>
            <a:off x="6699352" y="2542032"/>
            <a:ext cx="444992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무엇부터 볼지 모르겠다</a:t>
            </a:r>
            <a:endParaRPr lang="en-US" sz="1150" dirty="0"/>
          </a:p>
        </p:txBody>
      </p:sp>
      <p:sp>
        <p:nvSpPr>
          <p:cNvPr id="16" name="Shape 14"/>
          <p:cNvSpPr/>
          <p:nvPr/>
        </p:nvSpPr>
        <p:spPr>
          <a:xfrm>
            <a:off x="1042416" y="2907792"/>
            <a:ext cx="4449928" cy="7315"/>
          </a:xfrm>
          <a:prstGeom prst="rect">
            <a:avLst/>
          </a:prstGeom>
          <a:solidFill>
            <a:srgbClr val="D2D2D2"/>
          </a:solidFill>
          <a:ln w="12700">
            <a:solidFill>
              <a:srgbClr val="D2D2D2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6699352" y="2907792"/>
            <a:ext cx="4449928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1042416" y="2962656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60" kern="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제목</a:t>
            </a:r>
            <a:endParaRPr lang="en-US" sz="900" dirty="0"/>
          </a:p>
        </p:txBody>
      </p:sp>
      <p:sp>
        <p:nvSpPr>
          <p:cNvPr id="19" name="Text 17"/>
          <p:cNvSpPr/>
          <p:nvPr/>
        </p:nvSpPr>
        <p:spPr>
          <a:xfrm>
            <a:off x="1042416" y="3200400"/>
            <a:ext cx="444992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1F1F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본문의 두 배 이상, 굵게</a:t>
            </a:r>
            <a:endParaRPr lang="en-US" sz="1150" dirty="0"/>
          </a:p>
        </p:txBody>
      </p:sp>
      <p:sp>
        <p:nvSpPr>
          <p:cNvPr id="20" name="Text 18"/>
          <p:cNvSpPr/>
          <p:nvPr/>
        </p:nvSpPr>
        <p:spPr>
          <a:xfrm>
            <a:off x="6699352" y="2962656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6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제목</a:t>
            </a:r>
            <a:endParaRPr lang="en-US" sz="900" dirty="0"/>
          </a:p>
        </p:txBody>
      </p:sp>
      <p:sp>
        <p:nvSpPr>
          <p:cNvPr id="21" name="Text 19"/>
          <p:cNvSpPr/>
          <p:nvPr/>
        </p:nvSpPr>
        <p:spPr>
          <a:xfrm>
            <a:off x="6699352" y="3200400"/>
            <a:ext cx="444992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본문보다 조금 큰 정도</a:t>
            </a:r>
            <a:endParaRPr lang="en-US" sz="1150" dirty="0"/>
          </a:p>
        </p:txBody>
      </p:sp>
      <p:sp>
        <p:nvSpPr>
          <p:cNvPr id="22" name="Shape 20"/>
          <p:cNvSpPr/>
          <p:nvPr/>
        </p:nvSpPr>
        <p:spPr>
          <a:xfrm>
            <a:off x="1042416" y="3566160"/>
            <a:ext cx="4449928" cy="7315"/>
          </a:xfrm>
          <a:prstGeom prst="rect">
            <a:avLst/>
          </a:prstGeom>
          <a:solidFill>
            <a:srgbClr val="D2D2D2"/>
          </a:solidFill>
          <a:ln w="12700">
            <a:solidFill>
              <a:srgbClr val="D2D2D2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6699352" y="3566160"/>
            <a:ext cx="4449928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1042416" y="3621024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60" kern="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캡션</a:t>
            </a:r>
            <a:endParaRPr lang="en-US" sz="900" dirty="0"/>
          </a:p>
        </p:txBody>
      </p:sp>
      <p:sp>
        <p:nvSpPr>
          <p:cNvPr id="25" name="Text 23"/>
          <p:cNvSpPr/>
          <p:nvPr/>
        </p:nvSpPr>
        <p:spPr>
          <a:xfrm>
            <a:off x="1042416" y="3858768"/>
            <a:ext cx="444992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1F1F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작고 옅게, 이미지에 붙어 있다</a:t>
            </a:r>
            <a:endParaRPr lang="en-US" sz="1150" dirty="0"/>
          </a:p>
        </p:txBody>
      </p:sp>
      <p:sp>
        <p:nvSpPr>
          <p:cNvPr id="26" name="Text 24"/>
          <p:cNvSpPr/>
          <p:nvPr/>
        </p:nvSpPr>
        <p:spPr>
          <a:xfrm>
            <a:off x="6699352" y="3621024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6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캡션</a:t>
            </a:r>
            <a:endParaRPr lang="en-US" sz="900" dirty="0"/>
          </a:p>
        </p:txBody>
      </p:sp>
      <p:sp>
        <p:nvSpPr>
          <p:cNvPr id="27" name="Text 25"/>
          <p:cNvSpPr/>
          <p:nvPr/>
        </p:nvSpPr>
        <p:spPr>
          <a:xfrm>
            <a:off x="6699352" y="3858768"/>
            <a:ext cx="444992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본문과 같은 크기</a:t>
            </a:r>
            <a:endParaRPr lang="en-US" sz="1150" dirty="0"/>
          </a:p>
        </p:txBody>
      </p:sp>
      <p:sp>
        <p:nvSpPr>
          <p:cNvPr id="28" name="Shape 26"/>
          <p:cNvSpPr/>
          <p:nvPr/>
        </p:nvSpPr>
        <p:spPr>
          <a:xfrm>
            <a:off x="1042416" y="4224528"/>
            <a:ext cx="4449928" cy="7315"/>
          </a:xfrm>
          <a:prstGeom prst="rect">
            <a:avLst/>
          </a:prstGeom>
          <a:solidFill>
            <a:srgbClr val="D2D2D2"/>
          </a:solidFill>
          <a:ln w="12700">
            <a:solidFill>
              <a:srgbClr val="D2D2D2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6699352" y="4224528"/>
            <a:ext cx="4449928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1042416" y="4279392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60" kern="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강조</a:t>
            </a:r>
            <a:endParaRPr lang="en-US" sz="900" dirty="0"/>
          </a:p>
        </p:txBody>
      </p:sp>
      <p:sp>
        <p:nvSpPr>
          <p:cNvPr id="31" name="Text 29"/>
          <p:cNvSpPr/>
          <p:nvPr/>
        </p:nvSpPr>
        <p:spPr>
          <a:xfrm>
            <a:off x="1042416" y="4517136"/>
            <a:ext cx="444992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1F1F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지면당 하나</a:t>
            </a:r>
            <a:endParaRPr lang="en-US" sz="1150" dirty="0"/>
          </a:p>
        </p:txBody>
      </p:sp>
      <p:sp>
        <p:nvSpPr>
          <p:cNvPr id="32" name="Text 30"/>
          <p:cNvSpPr/>
          <p:nvPr/>
        </p:nvSpPr>
        <p:spPr>
          <a:xfrm>
            <a:off x="6699352" y="4279392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6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강조</a:t>
            </a:r>
            <a:endParaRPr lang="en-US" sz="900" dirty="0"/>
          </a:p>
        </p:txBody>
      </p:sp>
      <p:sp>
        <p:nvSpPr>
          <p:cNvPr id="33" name="Text 31"/>
          <p:cNvSpPr/>
          <p:nvPr/>
        </p:nvSpPr>
        <p:spPr>
          <a:xfrm>
            <a:off x="6699352" y="4517136"/>
            <a:ext cx="444992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굵은 글씨가 여기저기</a:t>
            </a:r>
            <a:endParaRPr lang="en-US" sz="1150" dirty="0"/>
          </a:p>
        </p:txBody>
      </p:sp>
      <p:sp>
        <p:nvSpPr>
          <p:cNvPr id="34" name="Shape 32"/>
          <p:cNvSpPr/>
          <p:nvPr/>
        </p:nvSpPr>
        <p:spPr>
          <a:xfrm>
            <a:off x="640080" y="6291072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640080" y="6382512"/>
            <a:ext cx="7772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포트폴리오제작 · 10주차 편집디자인 실습 Ⅰ</a:t>
            </a:r>
            <a:endParaRPr lang="en-US" sz="850" dirty="0"/>
          </a:p>
        </p:txBody>
      </p:sp>
      <p:sp>
        <p:nvSpPr>
          <p:cNvPr id="36" name="Text 34"/>
          <p:cNvSpPr/>
          <p:nvPr/>
        </p:nvSpPr>
        <p:spPr>
          <a:xfrm>
            <a:off x="10271455" y="6382512"/>
            <a:ext cx="1280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spc="1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P.04</a:t>
            </a:r>
            <a:endParaRPr lang="en-US" sz="8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274320"/>
            <a:ext cx="3657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20" kern="0" dirty="0">
                <a:solidFill>
                  <a:srgbClr val="9A9A9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포트폴리오제작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4480560" y="274320"/>
            <a:ext cx="4572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spc="120" kern="0" dirty="0">
                <a:solidFill>
                  <a:srgbClr val="9A9A9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PHASE 2 콘텐츠 구조화와 비주얼 시스템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8808415" y="274320"/>
            <a:ext cx="2743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9A9A9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WEEK 10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640080" y="548640"/>
            <a:ext cx="10911535" cy="7315"/>
          </a:xfrm>
          <a:prstGeom prst="rect">
            <a:avLst/>
          </a:prstGeom>
          <a:solidFill>
            <a:srgbClr val="33333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345375" y="1737360"/>
            <a:ext cx="4206240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0000" dirty="0">
                <a:solidFill>
                  <a:srgbClr val="1B1B1B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02</a:t>
            </a:r>
            <a:endParaRPr lang="en-US" sz="20000" dirty="0"/>
          </a:p>
        </p:txBody>
      </p:sp>
      <p:sp>
        <p:nvSpPr>
          <p:cNvPr id="7" name="Shape 5"/>
          <p:cNvSpPr/>
          <p:nvPr/>
        </p:nvSpPr>
        <p:spPr>
          <a:xfrm>
            <a:off x="941832" y="1371600"/>
            <a:ext cx="0" cy="603504"/>
          </a:xfrm>
          <a:prstGeom prst="line">
            <a:avLst/>
          </a:prstGeom>
          <a:noFill/>
          <a:ln w="15875">
            <a:solidFill>
              <a:srgbClr val="FFFFFF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640080" y="1733702"/>
            <a:ext cx="301752" cy="241402"/>
          </a:xfrm>
          <a:prstGeom prst="line">
            <a:avLst/>
          </a:prstGeom>
          <a:noFill/>
          <a:ln w="15875">
            <a:solidFill>
              <a:srgbClr val="FFFFFF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 flipV="1">
            <a:off x="941832" y="1733702"/>
            <a:ext cx="301752" cy="241402"/>
          </a:xfrm>
          <a:prstGeom prst="line">
            <a:avLst/>
          </a:prstGeom>
          <a:noFill/>
          <a:ln w="15875">
            <a:solidFill>
              <a:srgbClr val="FFFFF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40080" y="2615184"/>
            <a:ext cx="7863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280" kern="0" dirty="0">
                <a:solidFill>
                  <a:srgbClr val="9A9A9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PART 02</a:t>
            </a:r>
            <a:endParaRPr lang="en-US" sz="950" dirty="0"/>
          </a:p>
        </p:txBody>
      </p:sp>
      <p:sp>
        <p:nvSpPr>
          <p:cNvPr id="11" name="Text 9"/>
          <p:cNvSpPr/>
          <p:nvPr/>
        </p:nvSpPr>
        <p:spPr>
          <a:xfrm>
            <a:off x="640080" y="2889504"/>
            <a:ext cx="786384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600" dirty="0">
                <a:solidFill>
                  <a:srgbClr val="FFFFFF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여백과 정렬</a:t>
            </a:r>
            <a:endParaRPr lang="en-US" sz="4600" dirty="0"/>
          </a:p>
        </p:txBody>
      </p:sp>
      <p:sp>
        <p:nvSpPr>
          <p:cNvPr id="12" name="Shape 10"/>
          <p:cNvSpPr/>
          <p:nvPr/>
        </p:nvSpPr>
        <p:spPr>
          <a:xfrm>
            <a:off x="640080" y="3803904"/>
            <a:ext cx="2194560" cy="7315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640080" y="4005072"/>
            <a:ext cx="69494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4000"/>
              </a:lnSpc>
              <a:buNone/>
            </a:pPr>
            <a:r>
              <a:rPr lang="en-US" sz="1350" dirty="0">
                <a:solidFill>
                  <a:srgbClr val="B8B8B8"/>
                </a:solidFill>
                <a:latin typeface="Pretendard Light" pitchFamily="34" charset="0"/>
                <a:ea typeface="Pretendard Light" pitchFamily="34" charset="-122"/>
                <a:cs typeface="Pretendard Light" pitchFamily="34" charset="-120"/>
              </a:rPr>
              <a:t>초보와 숙련의 차이가 가장 크게 드러나는 부분입니다.</a:t>
            </a:r>
            <a:endParaRPr lang="en-US" sz="1350" dirty="0"/>
          </a:p>
        </p:txBody>
      </p:sp>
      <p:sp>
        <p:nvSpPr>
          <p:cNvPr id="14" name="Text 12"/>
          <p:cNvSpPr/>
          <p:nvPr/>
        </p:nvSpPr>
        <p:spPr>
          <a:xfrm rot="16200000">
            <a:off x="10436047" y="329184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spc="260" kern="0" dirty="0">
                <a:solidFill>
                  <a:srgbClr val="7A7A7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SECTION 02</a:t>
            </a:r>
            <a:endParaRPr lang="en-US" sz="8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274320"/>
            <a:ext cx="3657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포트폴리오제작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4480560" y="274320"/>
            <a:ext cx="4572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PHASE 2 콘텐츠 구조화와 비주얼 시스템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8808415" y="274320"/>
            <a:ext cx="2743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WEEK 10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640080" y="548640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40080" y="640080"/>
            <a:ext cx="1091153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26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SPACING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640080" y="859536"/>
            <a:ext cx="10911535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여백을 규칙으로 다루기</a:t>
            </a:r>
            <a:endParaRPr lang="en-US" sz="3000" dirty="0"/>
          </a:p>
        </p:txBody>
      </p:sp>
      <p:sp>
        <p:nvSpPr>
          <p:cNvPr id="8" name="Text 6"/>
          <p:cNvSpPr/>
          <p:nvPr/>
        </p:nvSpPr>
        <p:spPr>
          <a:xfrm>
            <a:off x="640080" y="1371600"/>
            <a:ext cx="1091153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"보기 좋을 때까지"가 아니라 값을 정해 씁니다.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640080" y="1664208"/>
            <a:ext cx="10911535" cy="7315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640080" y="1810512"/>
            <a:ext cx="310896" cy="31089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640080" y="1810512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1188720" y="1719072"/>
            <a:ext cx="98755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간격 값을 3~4개로 제한한다</a:t>
            </a:r>
            <a:endParaRPr lang="en-US" sz="1450" dirty="0"/>
          </a:p>
        </p:txBody>
      </p:sp>
      <p:sp>
        <p:nvSpPr>
          <p:cNvPr id="13" name="Text 11"/>
          <p:cNvSpPr/>
          <p:nvPr/>
        </p:nvSpPr>
        <p:spPr>
          <a:xfrm>
            <a:off x="1188720" y="2029968"/>
            <a:ext cx="98755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예를 들어 8 · 16 · 32 · 64. 그 사이 값은 쓰지 않습니다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640080" y="2596896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640080" y="2761488"/>
            <a:ext cx="310896" cy="31089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40080" y="276148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</a:t>
            </a:r>
            <a:endParaRPr lang="en-US" sz="1000" dirty="0"/>
          </a:p>
        </p:txBody>
      </p:sp>
      <p:sp>
        <p:nvSpPr>
          <p:cNvPr id="17" name="Text 15"/>
          <p:cNvSpPr/>
          <p:nvPr/>
        </p:nvSpPr>
        <p:spPr>
          <a:xfrm>
            <a:off x="1188720" y="2670048"/>
            <a:ext cx="98755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관련된 것끼리 가깝게</a:t>
            </a:r>
            <a:endParaRPr lang="en-US" sz="1450" dirty="0"/>
          </a:p>
        </p:txBody>
      </p:sp>
      <p:sp>
        <p:nvSpPr>
          <p:cNvPr id="18" name="Text 16"/>
          <p:cNvSpPr/>
          <p:nvPr/>
        </p:nvSpPr>
        <p:spPr>
          <a:xfrm>
            <a:off x="1188720" y="2980944"/>
            <a:ext cx="98755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캡션은 이미지에 붙이고, 다른 덩어리와는 멀게. 거리가 관계를 말합니다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640080" y="3547872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640080" y="3712464"/>
            <a:ext cx="310896" cy="31089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640080" y="3712464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</a:t>
            </a:r>
            <a:endParaRPr lang="en-US" sz="1000" dirty="0"/>
          </a:p>
        </p:txBody>
      </p:sp>
      <p:sp>
        <p:nvSpPr>
          <p:cNvPr id="22" name="Text 20"/>
          <p:cNvSpPr/>
          <p:nvPr/>
        </p:nvSpPr>
        <p:spPr>
          <a:xfrm>
            <a:off x="1188720" y="3621024"/>
            <a:ext cx="98755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덩어리 사이는 넉넉하게</a:t>
            </a:r>
            <a:endParaRPr lang="en-US" sz="1450" dirty="0"/>
          </a:p>
        </p:txBody>
      </p:sp>
      <p:sp>
        <p:nvSpPr>
          <p:cNvPr id="23" name="Text 21"/>
          <p:cNvSpPr/>
          <p:nvPr/>
        </p:nvSpPr>
        <p:spPr>
          <a:xfrm>
            <a:off x="1188720" y="3931920"/>
            <a:ext cx="98755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요소 사이보다 덩어리 사이가 확실히 넓어야 구분됩니다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640080" y="4498848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640080" y="4663440"/>
            <a:ext cx="310896" cy="31089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640080" y="466344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4</a:t>
            </a:r>
            <a:endParaRPr lang="en-US" sz="1000" dirty="0"/>
          </a:p>
        </p:txBody>
      </p:sp>
      <p:sp>
        <p:nvSpPr>
          <p:cNvPr id="27" name="Text 25"/>
          <p:cNvSpPr/>
          <p:nvPr/>
        </p:nvSpPr>
        <p:spPr>
          <a:xfrm>
            <a:off x="1188720" y="4572000"/>
            <a:ext cx="98755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가장자리 여백을 침범하지 않는다</a:t>
            </a:r>
            <a:endParaRPr lang="en-US" sz="1450" dirty="0"/>
          </a:p>
        </p:txBody>
      </p:sp>
      <p:sp>
        <p:nvSpPr>
          <p:cNvPr id="28" name="Text 26"/>
          <p:cNvSpPr/>
          <p:nvPr/>
        </p:nvSpPr>
        <p:spPr>
          <a:xfrm>
            <a:off x="1188720" y="4882896"/>
            <a:ext cx="98755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그리드 마진은 예외 없이 지킵니다. 전면 이미지만 예외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640080" y="5522976"/>
            <a:ext cx="10911535" cy="7315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640080" y="5632704"/>
            <a:ext cx="10911535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25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여백이 부족하면 답답하고, 규칙 없이 넓으면 산만합니다. 값을 정해두면 둘 다 피할 수 있습니다.</a:t>
            </a:r>
            <a:endParaRPr lang="en-US" sz="1250" dirty="0"/>
          </a:p>
        </p:txBody>
      </p:sp>
      <p:sp>
        <p:nvSpPr>
          <p:cNvPr id="31" name="Shape 29"/>
          <p:cNvSpPr/>
          <p:nvPr/>
        </p:nvSpPr>
        <p:spPr>
          <a:xfrm>
            <a:off x="640080" y="6291072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640080" y="6382512"/>
            <a:ext cx="7772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포트폴리오제작 · 10주차 편집디자인 실습 Ⅰ</a:t>
            </a:r>
            <a:endParaRPr lang="en-US" sz="850" dirty="0"/>
          </a:p>
        </p:txBody>
      </p:sp>
      <p:sp>
        <p:nvSpPr>
          <p:cNvPr id="33" name="Text 31"/>
          <p:cNvSpPr/>
          <p:nvPr/>
        </p:nvSpPr>
        <p:spPr>
          <a:xfrm>
            <a:off x="10271455" y="6382512"/>
            <a:ext cx="1280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spc="1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P.05</a:t>
            </a:r>
            <a:endParaRPr lang="en-US" sz="8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274320"/>
            <a:ext cx="3657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포트폴리오제작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4480560" y="274320"/>
            <a:ext cx="4572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PHASE 2 콘텐츠 구조화와 비주얼 시스템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8808415" y="274320"/>
            <a:ext cx="2743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WEEK 10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640080" y="548640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40080" y="640080"/>
            <a:ext cx="1091153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26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WORKSHOP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640080" y="859536"/>
            <a:ext cx="10911535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실습 · 페이지 제작</a:t>
            </a:r>
            <a:endParaRPr lang="en-US" sz="3000" dirty="0"/>
          </a:p>
        </p:txBody>
      </p:sp>
      <p:sp>
        <p:nvSpPr>
          <p:cNvPr id="8" name="Text 6"/>
          <p:cNvSpPr/>
          <p:nvPr/>
        </p:nvSpPr>
        <p:spPr>
          <a:xfrm>
            <a:off x="640080" y="1371600"/>
            <a:ext cx="1091153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60분 · 개인 — 오늘 안에 최소 1장은 끝냅니다.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640080" y="1719072"/>
            <a:ext cx="10911535" cy="822960"/>
          </a:xfrm>
          <a:prstGeom prst="rect">
            <a:avLst/>
          </a:prstGeom>
          <a:solidFill>
            <a:srgbClr val="FFFFFF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005840" y="1810512"/>
            <a:ext cx="1188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111111"/>
                </a:solidFill>
                <a:latin typeface="Pretendard Light" pitchFamily="34" charset="0"/>
                <a:ea typeface="Pretendard Light" pitchFamily="34" charset="-122"/>
                <a:cs typeface="Pretendard Light" pitchFamily="34" charset="-120"/>
              </a:rPr>
              <a:t>5분</a:t>
            </a:r>
            <a:endParaRPr lang="en-US" sz="2200" dirty="0"/>
          </a:p>
        </p:txBody>
      </p:sp>
      <p:sp>
        <p:nvSpPr>
          <p:cNvPr id="11" name="Text 9"/>
          <p:cNvSpPr/>
          <p:nvPr/>
        </p:nvSpPr>
        <p:spPr>
          <a:xfrm>
            <a:off x="2286000" y="1810512"/>
            <a:ext cx="3291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그리드 켜기</a:t>
            </a:r>
            <a:endParaRPr lang="en-US" sz="1450" dirty="0"/>
          </a:p>
        </p:txBody>
      </p:sp>
      <p:sp>
        <p:nvSpPr>
          <p:cNvPr id="12" name="Text 10"/>
          <p:cNvSpPr/>
          <p:nvPr/>
        </p:nvSpPr>
        <p:spPr>
          <a:xfrm>
            <a:off x="5669280" y="1810512"/>
            <a:ext cx="551657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4000"/>
              </a:lnSpc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9주차에 만든 그리드를 문서에 적용하고 가이드를 켭니다. 끄고 작업하지 않습니다.</a:t>
            </a:r>
            <a:endParaRPr lang="en-US" sz="1150" dirty="0"/>
          </a:p>
        </p:txBody>
      </p:sp>
      <p:sp>
        <p:nvSpPr>
          <p:cNvPr id="13" name="Shape 11"/>
          <p:cNvSpPr/>
          <p:nvPr/>
        </p:nvSpPr>
        <p:spPr>
          <a:xfrm>
            <a:off x="640080" y="2688336"/>
            <a:ext cx="10911535" cy="822960"/>
          </a:xfrm>
          <a:prstGeom prst="rect">
            <a:avLst/>
          </a:prstGeom>
          <a:solidFill>
            <a:srgbClr val="FFFFFF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1005840" y="2779776"/>
            <a:ext cx="1188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111111"/>
                </a:solidFill>
                <a:latin typeface="Pretendard Light" pitchFamily="34" charset="0"/>
                <a:ea typeface="Pretendard Light" pitchFamily="34" charset="-122"/>
                <a:cs typeface="Pretendard Light" pitchFamily="34" charset="-120"/>
              </a:rPr>
              <a:t>15분</a:t>
            </a:r>
            <a:endParaRPr lang="en-US" sz="2200" dirty="0"/>
          </a:p>
        </p:txBody>
      </p:sp>
      <p:sp>
        <p:nvSpPr>
          <p:cNvPr id="15" name="Text 13"/>
          <p:cNvSpPr/>
          <p:nvPr/>
        </p:nvSpPr>
        <p:spPr>
          <a:xfrm>
            <a:off x="2286000" y="2779776"/>
            <a:ext cx="3291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1장 — 문제 페이지</a:t>
            </a:r>
            <a:endParaRPr lang="en-US" sz="1450" dirty="0"/>
          </a:p>
        </p:txBody>
      </p:sp>
      <p:sp>
        <p:nvSpPr>
          <p:cNvPr id="16" name="Text 14"/>
          <p:cNvSpPr/>
          <p:nvPr/>
        </p:nvSpPr>
        <p:spPr>
          <a:xfrm>
            <a:off x="5669280" y="2779776"/>
            <a:ext cx="551657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4000"/>
              </a:lnSpc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문제 문장을 1단계로 크게. 나머지는 최소한으로. 가장 조용한 페이지입니다.</a:t>
            </a:r>
            <a:endParaRPr lang="en-US" sz="1150" dirty="0"/>
          </a:p>
        </p:txBody>
      </p:sp>
      <p:sp>
        <p:nvSpPr>
          <p:cNvPr id="17" name="Shape 15"/>
          <p:cNvSpPr/>
          <p:nvPr/>
        </p:nvSpPr>
        <p:spPr>
          <a:xfrm>
            <a:off x="640080" y="3657600"/>
            <a:ext cx="10911535" cy="822960"/>
          </a:xfrm>
          <a:prstGeom prst="rect">
            <a:avLst/>
          </a:prstGeom>
          <a:solidFill>
            <a:srgbClr val="FFFFFF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1005840" y="3749040"/>
            <a:ext cx="1188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111111"/>
                </a:solidFill>
                <a:latin typeface="Pretendard Light" pitchFamily="34" charset="0"/>
                <a:ea typeface="Pretendard Light" pitchFamily="34" charset="-122"/>
                <a:cs typeface="Pretendard Light" pitchFamily="34" charset="-120"/>
              </a:rPr>
              <a:t>20분</a:t>
            </a:r>
            <a:endParaRPr lang="en-US" sz="2200" dirty="0"/>
          </a:p>
        </p:txBody>
      </p:sp>
      <p:sp>
        <p:nvSpPr>
          <p:cNvPr id="19" name="Text 17"/>
          <p:cNvSpPr/>
          <p:nvPr/>
        </p:nvSpPr>
        <p:spPr>
          <a:xfrm>
            <a:off x="2286000" y="3749040"/>
            <a:ext cx="3291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2장 — 리서치 페이지</a:t>
            </a:r>
            <a:endParaRPr lang="en-US" sz="1450" dirty="0"/>
          </a:p>
        </p:txBody>
      </p:sp>
      <p:sp>
        <p:nvSpPr>
          <p:cNvPr id="20" name="Text 18"/>
          <p:cNvSpPr/>
          <p:nvPr/>
        </p:nvSpPr>
        <p:spPr>
          <a:xfrm>
            <a:off x="5669280" y="3749040"/>
            <a:ext cx="551657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4000"/>
              </a:lnSpc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6주차에 만든 것을 그리드에 다시 얹습니다. 세 덩어리 구조를 유지합니다.</a:t>
            </a:r>
            <a:endParaRPr lang="en-US" sz="1150" dirty="0"/>
          </a:p>
        </p:txBody>
      </p:sp>
      <p:sp>
        <p:nvSpPr>
          <p:cNvPr id="21" name="Shape 19"/>
          <p:cNvSpPr/>
          <p:nvPr/>
        </p:nvSpPr>
        <p:spPr>
          <a:xfrm>
            <a:off x="640080" y="4626864"/>
            <a:ext cx="10911535" cy="822960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1005840" y="4718304"/>
            <a:ext cx="1188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FFFFFF"/>
                </a:solidFill>
                <a:latin typeface="Pretendard Light" pitchFamily="34" charset="0"/>
                <a:ea typeface="Pretendard Light" pitchFamily="34" charset="-122"/>
                <a:cs typeface="Pretendard Light" pitchFamily="34" charset="-120"/>
              </a:rPr>
              <a:t>20분</a:t>
            </a:r>
            <a:endParaRPr lang="en-US" sz="2200" dirty="0"/>
          </a:p>
        </p:txBody>
      </p:sp>
      <p:sp>
        <p:nvSpPr>
          <p:cNvPr id="23" name="Text 21"/>
          <p:cNvSpPr/>
          <p:nvPr/>
        </p:nvSpPr>
        <p:spPr>
          <a:xfrm>
            <a:off x="2286000" y="4718304"/>
            <a:ext cx="3291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FFFFFF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3장 — 과정 페이지</a:t>
            </a:r>
            <a:endParaRPr lang="en-US" sz="1450" dirty="0"/>
          </a:p>
        </p:txBody>
      </p:sp>
      <p:sp>
        <p:nvSpPr>
          <p:cNvPr id="24" name="Text 22"/>
          <p:cNvSpPr/>
          <p:nvPr/>
        </p:nvSpPr>
        <p:spPr>
          <a:xfrm>
            <a:off x="5669280" y="4718304"/>
            <a:ext cx="551657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4000"/>
              </a:lnSpc>
              <a:buNone/>
            </a:pPr>
            <a:r>
              <a:rPr lang="en-US" sz="1150" dirty="0">
                <a:solidFill>
                  <a:srgbClr val="B8B8B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7주차 초안을 지면으로 만듭니다. 갈림길 비교가 보이게 배치합니다.</a:t>
            </a:r>
            <a:endParaRPr lang="en-US" sz="1150" dirty="0"/>
          </a:p>
        </p:txBody>
      </p:sp>
      <p:sp>
        <p:nvSpPr>
          <p:cNvPr id="25" name="Shape 23"/>
          <p:cNvSpPr/>
          <p:nvPr/>
        </p:nvSpPr>
        <p:spPr>
          <a:xfrm>
            <a:off x="640080" y="6291072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640080" y="6382512"/>
            <a:ext cx="7772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포트폴리오제작 · 10주차 편집디자인 실습 Ⅰ</a:t>
            </a:r>
            <a:endParaRPr lang="en-US" sz="850" dirty="0"/>
          </a:p>
        </p:txBody>
      </p:sp>
      <p:sp>
        <p:nvSpPr>
          <p:cNvPr id="27" name="Text 25"/>
          <p:cNvSpPr/>
          <p:nvPr/>
        </p:nvSpPr>
        <p:spPr>
          <a:xfrm>
            <a:off x="10271455" y="6382512"/>
            <a:ext cx="1280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spc="1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P.06</a:t>
            </a:r>
            <a:endParaRPr lang="en-US" sz="8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274320"/>
            <a:ext cx="3657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포트폴리오제작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4480560" y="274320"/>
            <a:ext cx="4572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PHASE 2 콘텐츠 구조화와 비주얼 시스템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8808415" y="274320"/>
            <a:ext cx="2743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WEEK 10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640080" y="548640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40080" y="640080"/>
            <a:ext cx="1091153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26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HOMEWORK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640080" y="859536"/>
            <a:ext cx="10911535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과제와 다음 주</a:t>
            </a:r>
            <a:endParaRPr lang="en-US" sz="3000" dirty="0"/>
          </a:p>
        </p:txBody>
      </p:sp>
      <p:sp>
        <p:nvSpPr>
          <p:cNvPr id="8" name="Text 6"/>
          <p:cNvSpPr/>
          <p:nvPr/>
        </p:nvSpPr>
        <p:spPr>
          <a:xfrm>
            <a:off x="640080" y="1371600"/>
            <a:ext cx="1091153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11주차는 컬러와 이미지를 다룹니다.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640080" y="1719072"/>
            <a:ext cx="6309360" cy="896112"/>
          </a:xfrm>
          <a:prstGeom prst="rect">
            <a:avLst/>
          </a:prstGeom>
          <a:solidFill>
            <a:srgbClr val="FFFFFF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969264" y="1993392"/>
            <a:ext cx="329184" cy="329184"/>
          </a:xfrm>
          <a:prstGeom prst="ellipse">
            <a:avLst/>
          </a:pr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969264" y="1993392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1426464" y="1810512"/>
            <a:ext cx="517550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포트폴리오 페이지 3장 제작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1426464" y="2121408"/>
            <a:ext cx="517550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2000"/>
              </a:lnSpc>
              <a:buNone/>
            </a:pPr>
            <a:r>
              <a:rPr lang="en-US" sz="110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대표 프로젝트의 문제 · 리서치 · 과정 페이지를 그리드와 타이포 시스템을 적용해 완성합니다.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640080" y="2743200"/>
            <a:ext cx="6309360" cy="896112"/>
          </a:xfrm>
          <a:prstGeom prst="rect">
            <a:avLst/>
          </a:prstGeom>
          <a:solidFill>
            <a:srgbClr val="FFFFFF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969264" y="3017520"/>
            <a:ext cx="329184" cy="329184"/>
          </a:xfrm>
          <a:prstGeom prst="ellipse">
            <a:avLst/>
          </a:pr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969264" y="301752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1426464" y="2834640"/>
            <a:ext cx="517550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이미지 원본 정리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1426464" y="3145536"/>
            <a:ext cx="517550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2000"/>
              </a:lnSpc>
              <a:buNone/>
            </a:pPr>
            <a:r>
              <a:rPr lang="en-US" sz="110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11주차 실습 재료입니다. 쓸 이미지를 한 폴더에 모으고 해상도를 확인해 두세요.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640080" y="3785616"/>
            <a:ext cx="6309360" cy="7315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640080" y="3877056"/>
            <a:ext cx="63093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제출 — 11주차 수업 전까지 · 클래스룸 업로드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7351776" y="1719072"/>
            <a:ext cx="4199839" cy="3803904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7735824" y="1993392"/>
            <a:ext cx="3431743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260" kern="0" dirty="0">
                <a:solidFill>
                  <a:srgbClr val="9A9A9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NEXT WEEK</a:t>
            </a:r>
            <a:endParaRPr lang="en-US" sz="950" dirty="0"/>
          </a:p>
        </p:txBody>
      </p:sp>
      <p:sp>
        <p:nvSpPr>
          <p:cNvPr id="23" name="Text 21"/>
          <p:cNvSpPr/>
          <p:nvPr/>
        </p:nvSpPr>
        <p:spPr>
          <a:xfrm>
            <a:off x="7735824" y="2286000"/>
            <a:ext cx="3431743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rgbClr val="FFFFFF"/>
                </a:solidFill>
                <a:latin typeface="Pretendard Light" pitchFamily="34" charset="0"/>
                <a:ea typeface="Pretendard Light" pitchFamily="34" charset="-122"/>
                <a:cs typeface="Pretendard Light" pitchFamily="34" charset="-120"/>
              </a:rPr>
              <a:t>11주차</a:t>
            </a:r>
            <a:endParaRPr lang="en-US" sz="2600" dirty="0"/>
          </a:p>
        </p:txBody>
      </p:sp>
      <p:sp>
        <p:nvSpPr>
          <p:cNvPr id="24" name="Text 22"/>
          <p:cNvSpPr/>
          <p:nvPr/>
        </p:nvSpPr>
        <p:spPr>
          <a:xfrm>
            <a:off x="7735824" y="2743200"/>
            <a:ext cx="3431743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1700" dirty="0">
                <a:solidFill>
                  <a:srgbClr val="FFFFFF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편집디자인 실습 Ⅱ</a:t>
            </a:r>
            <a:endParaRPr lang="en-US" sz="1700" dirty="0"/>
          </a:p>
        </p:txBody>
      </p:sp>
      <p:sp>
        <p:nvSpPr>
          <p:cNvPr id="25" name="Shape 23"/>
          <p:cNvSpPr/>
          <p:nvPr/>
        </p:nvSpPr>
        <p:spPr>
          <a:xfrm>
            <a:off x="7735824" y="3346704"/>
            <a:ext cx="3431743" cy="7315"/>
          </a:xfrm>
          <a:prstGeom prst="rect">
            <a:avLst/>
          </a:prstGeom>
          <a:solidFill>
            <a:srgbClr val="33333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7735824" y="3493008"/>
            <a:ext cx="3431743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lnSpc>
                <a:spcPct val="120000"/>
              </a:lnSpc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DDDDD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컬러 시스템 적용 원칙</a:t>
            </a:r>
            <a:endParaRPr lang="en-US" sz="1150" dirty="0"/>
          </a:p>
          <a:p>
            <a:pPr marL="177800" indent="-177800">
              <a:lnSpc>
                <a:spcPct val="120000"/>
              </a:lnSpc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DDDDD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이미지 보정 기본기</a:t>
            </a:r>
            <a:endParaRPr lang="en-US" sz="1150" dirty="0"/>
          </a:p>
          <a:p>
            <a:pPr marL="177800" indent="-177800">
              <a:lnSpc>
                <a:spcPct val="120000"/>
              </a:lnSpc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DDDDD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이미지–텍스트 배치 균형</a:t>
            </a:r>
            <a:endParaRPr lang="en-US" sz="1150" dirty="0"/>
          </a:p>
          <a:p>
            <a:pPr marL="177800" indent="-177800">
              <a:lnSpc>
                <a:spcPct val="120000"/>
              </a:lnSpc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DDDDD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페이지 3장 추가 제작</a:t>
            </a:r>
            <a:endParaRPr lang="en-US" sz="1150" dirty="0"/>
          </a:p>
        </p:txBody>
      </p:sp>
      <p:sp>
        <p:nvSpPr>
          <p:cNvPr id="27" name="Shape 25"/>
          <p:cNvSpPr/>
          <p:nvPr/>
        </p:nvSpPr>
        <p:spPr>
          <a:xfrm>
            <a:off x="7735824" y="4700016"/>
            <a:ext cx="3431743" cy="7315"/>
          </a:xfrm>
          <a:prstGeom prst="rect">
            <a:avLst/>
          </a:prstGeom>
          <a:solidFill>
            <a:srgbClr val="33333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7735824" y="4809744"/>
            <a:ext cx="3431743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6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미리 준비할 것</a:t>
            </a:r>
            <a:endParaRPr lang="en-US" sz="900" dirty="0"/>
          </a:p>
        </p:txBody>
      </p:sp>
      <p:sp>
        <p:nvSpPr>
          <p:cNvPr id="29" name="Text 27"/>
          <p:cNvSpPr/>
          <p:nvPr/>
        </p:nvSpPr>
        <p:spPr>
          <a:xfrm>
            <a:off x="7735824" y="5065776"/>
            <a:ext cx="3431743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완성한 페이지 3장 · 이미지 원본 폴더 · 노트북</a:t>
            </a:r>
            <a:endParaRPr lang="en-US" sz="1100" dirty="0"/>
          </a:p>
        </p:txBody>
      </p:sp>
      <p:sp>
        <p:nvSpPr>
          <p:cNvPr id="30" name="Shape 28"/>
          <p:cNvSpPr/>
          <p:nvPr/>
        </p:nvSpPr>
        <p:spPr>
          <a:xfrm>
            <a:off x="640080" y="6291072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640080" y="6382512"/>
            <a:ext cx="7772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포트폴리오제작 · 10주차 편집디자인 실습 Ⅰ</a:t>
            </a:r>
            <a:endParaRPr lang="en-US" sz="850" dirty="0"/>
          </a:p>
        </p:txBody>
      </p:sp>
      <p:sp>
        <p:nvSpPr>
          <p:cNvPr id="32" name="Text 30"/>
          <p:cNvSpPr/>
          <p:nvPr/>
        </p:nvSpPr>
        <p:spPr>
          <a:xfrm>
            <a:off x="10271455" y="6382512"/>
            <a:ext cx="1280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spc="1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P.07</a:t>
            </a:r>
            <a:endParaRPr lang="en-US" sz="8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MIN.D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포트폴리오제작 · 10주차 편집디자인 실습 Ⅰ</dc:title>
  <dc:subject>원광대학교 2026-2 · 실내·산업디자인학과 3학년 · 15주 · 포트폴리오 완성과 발표</dc:subject>
  <dc:creator>MIN.D</dc:creator>
  <cp:lastModifiedBy>MIN.D</cp:lastModifiedBy>
  <cp:revision>1</cp:revision>
  <dcterms:created xsi:type="dcterms:W3CDTF">2026-08-31T11:45:55Z</dcterms:created>
  <dcterms:modified xsi:type="dcterms:W3CDTF">2026-08-31T11:45:55Z</dcterms:modified>
</cp:coreProperties>
</file>