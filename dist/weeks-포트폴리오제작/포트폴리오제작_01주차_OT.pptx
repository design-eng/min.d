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안녕하세요. 포트폴리오제작 첫 시간입니다.
이 수업은 15주 동안 여러분 각자의 포트폴리오를 한 벌 완성해서, 마지막 주에 발표까지 하는 과목입니다. 매주 화요일 저녁 두 시간, 온라인으로 만납니다.
오늘은 만들기 전에 '포트폴리오가 대체 뭘 하는 물건인지'부터 정리하고, 학기 운영 방식을 안내하겠습니다.
시작하기 전에 한 가지만 — 이 수업은 강의를 듣는 시간보다 여러분이 손을 움직이는 시간이 깁니다. 매주 과제가 있고, 그 과제가 다음 주 수업의 재료가 됩니다. 과제를 안 해 오시면 그 주 수업이 헛돕니다.
[운영 메모]
첫 수업이라 듣는 시간이 길다. 60분 강의를 한 번에 끌지 말고 20분마다 질문을 던져 끊을 것. 마지막 15분 과제 안내는 반드시 화면에 띄운 채로 진행한다.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만들기 전에, 이게 어디서 어떻게 읽히는지부터 보겠습니다.
이걸 모르고 만들면 예쁜데 안 읽히는 물건이 나옵니다. 매년 가장 많이 나오는 결과가 그겁니다.
[운영 메모]
20분 구간.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가장 먼저 바꿔야 할 생각입니다.
포트폴리오는 작품집이 아닙니다. 판단을 돕는 자료입니다.
작품집은 '내가 이만큼 했다'를 보여 주는 것이고, 판단 자료는 '이 사람을 뽑아도 되는가'에 답하는 것입니다. 목적이 다르면 넣을 것과 뺄 것이 완전히 달라집니다.
이 문장을 학기 내내 기준으로 쓰겠습니다. 뭘 넣을지 고민될 때마다 여기로 돌아옵니다.
[운영 메모]
여기서 학생들에게 물어볼 것 — '여러분이 채용 담당자라면 무엇을 보고 싶겠어요?' 대개 '실력'이라고 답한다. 그 실력을 어떻게 확인하느냐로 이어가면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문서인데 읽는 목적이 매번 다릅니다.
서류 단계에서는 넘길지 말지를 가릅니다. 짧은 시간에 훑으면서 '더 볼 만한가'만 판단합니다. 여기서는 첫 두세 장이 전부입니다.
면접 단계에서는 질문의 대본이 됩니다. 면접관이 여러분 포트폴리오를 펴놓고 묻습니다. 그러니 설명하지 못할 페이지는 아예 넣지 않는 편이 낫습니다.
그리고 입사 후에는 배치의 근거가 됩니다. 어느 팀에 둘지, 뭘 잘하는 사람으로 보였는지가 첫 업무를 정합니다.
오른쪽 검은 카드를 강조하는 이유는, 학생들이 보통 서류 단계만 생각하고 만들기 때문입니다.
[운영 메모]
02가 실질적으로 가장 중요하다. 면접에서 자기 페이지를 설명하지 못하는 지원자가 실제로 많다는 점을 사례로 들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스타일은 다 달라도, 잘된 것들은 이 셋을 공유합니다.
첫째, 무엇을 하는 사람인지 빨리 보입니다.
둘째, 판단할 근거가 있습니다. 결과 이미지만 있는 게 아니라 왜 그렇게 결정했는지가 적혀 있습니다.
셋째, 끝까지 읽힙니다. 분량이 아니라 밀도의 문제입니다.
이 세 가지가 오늘 실습과 이번 주 과제의 기준이 됩니다. 잠깐 메모해 두세요.
[운영 메모]
이 세 기준은 학기 내내 크리틱의 공용 언어로 쓴다. 3주차 벤치마킹에서 다시 쓰인다.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작업의 질이 아니라 서술의 질 차이입니다. 두 개만 짚어 보겠습니다.
프로젝트 수를 보세요. 3~5개로 각각 다른 강점을 보여 주는 쪽과, 가진 걸 전부 여덟 개 이상 넣은 쪽. 많이 넣으면 성실해 보일 것 같지만 실제로는 '고를 줄 모르는 사람'으로 읽힙니다.
내 역할 칸도 보세요. '팀 프로젝트'라고만 쓰면 그 프로젝트는 없는 것과 같습니다. 뭘 했는지 안 적혀 있으면 판단할 수가 없으니까요.
여러분이 이번 학기에 고칠 것의 대부분이 이 오른쪽 열에 있습니다.
[운영 메모]
왼쪽과 오른쪽이 같은 작업일 수 있다는 점을 반드시 말할 것. 이 대비가 학생들에게 가장 강하게 남는다.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요즘 채용 현장에서 실제로 뭘 요구하는지 보겠습니다.
통계는 아니고, 최근 공고들을 읽어 보면 반복해서 나타나는 것들입니다.
[운영 메모]
20분 구간. 실제 채용 공고를 한두 개 띄워 함께 읽으면 가장 효과적이다.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네 가지가 눈에 띕니다.
첫째, 링크 제출이 기본이 됐습니다. 파일 첨부만 받는 곳이 줄었어요. 그래서 12주차에 온라인 포트폴리오를 만듭니다.
둘째, 요약본을 따로 요구합니다. 전체와 별개로 짧은 버전이 필요합니다.
셋째, 과정 서술을 명시적으로 요구합니다. '결과만 말고 과정을 보여 달라'가 공고 문구에 들어갑니다.
넷째, 개인 기여도를 별도로 묻습니다. 팀 작업에서 뭘 했는지요.
이 네 가지가 이 수업 커리큘럼이 이렇게 짜인 이유입니다.
[운영 메모]
수치를 인용하지 말 것. 실제 공고 캡처를 몇 개 준비해 근거로 보여주는 편이 훨씬 설득력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어디에 올릴지도 정해야 합니다.
Behance는 프로젝트 단위로 길게 펼치기 좋습니다. 국내외 채용 담당자 접근성도 높고요. 다만 이미지 위주로 소비되니 글이 길면 안 읽힙니다.
Dribbble은 화면 한 장, 디테일 보여 주기에 맞습니다. 주 포트폴리오로 쓰기엔 정보량이 부족하고, 레퍼런스 수집처로 더 유용합니다.
개인 사이트나 Notion은 구조를 내가 정할 수 있습니다. 대신 도메인과 링크 관리가 필요합니다.
하나만 고를 필요는 없습니다. 다만 '어디를 대표로 둘지'는 정해야 링크를 하나로 낼 수 있습니다. 12주차에 이 방향으로 제작합니다.
[운영 메모]
학생들이 Dribbble을 주 포트폴리오로 쓰려는 경우가 있다. 정보량이 부족해 서류에서 불리하다는 점을 짚을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마지막으로 이 수업의 15주를 안내하겠습니다.
언제 뭘 제출해야 하는지 오늘 알고 가셔야 합니다.
[운영 메모]
15분 구간. 과제 마감이 매주 있다는 점을 여기서 못 박는다.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크게 셋으로 나뉩니다.
1~5주는 방향 설정과 기획입니다. 뭘 넣을지 정하는 구간이고, 여기서 정한 게 끝까지 갑니다.
6~10주는 콘텐츠 구조화와 비주얼 시스템입니다. 실제로 페이지를 만듭니다.
11~15주는 완성과 발표입니다.
앞에서 정하고, 가운데서 만들고, 뒤에서 끝냅니다. 8주차 중간 발표가 방향을 바꿀 수 있는 마지막 지점입니다.
[운영 메모]
PART I을 건너뛰고 바로 만들고 싶어 하는 학생이 매년 나온다. 1–5주 산출물이 6주차 이후 작업 속도를 좌우한다고 설명할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큰 마감이 다섯 개입니다.
4주차 스토리라인 초안, 8주차 중간 발표, 10주차 페이지 6장, 12주차 온라인 초안, 15주차 최종 포트폴리오와 발표.
매주 과제는 이것과 별개로 있습니다.
배점은 학과 기준이 확정되면 공지하겠습니다. 지금 확실한 건, 마지막에 몰아서 할 수 없는 구조라는 것입니다.
[운영 메모]
배점표가 아직 없다. 확정되면 이 슬라이드에 채워 넣을 것. 배점 없이 마감만 공지하면 학생들이 불안해하므로 '곧 공지한다'를 분명히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자, 이제 15분 실습입니다.
이번 주 과제가 '관심 분야 포트폴리오 3개 스크랩'인데, 집에 가서 빈손으로 시작하면 예뻐 보이는 걸로 채우게 됩니다. 그러니 여기서 후보를 좁혀 놓고 가겠습니다.
먼저 5분. 기억에 남는 포트폴리오를 이름이나 링크로 여덟 개 이상 적으세요. 좋았는지 나빴는지는 아직 따지지 마시고요. 기억이 안 나면 아까 본 플랫폼에서 바로 찾으셔도 됩니다. 적으신 건 채팅창에도 올려 주세요.
다음 4분. 웹형·PDF형·인쇄형 셋으로 나눕니다. 한 유형에만 몰려 있으면 다른 유형을 지금 두 개 더 찾으세요. 세 유형이 섞여야 다음 주 비교가 됩니다.
다음 4분. 오늘 배운 세 기준으로 O/X를 칩니다. 첫인상, 과정이 보이는가, 내 역할이 적혀 있는가. 세 개 다 X인 건 지우세요.
마지막 2분. 남은 것 중 셋을 고르고 각각 뭐가 좋았는지 한 줄씩 적으세요. 이 세 줄이 과제의 절반입니다.
[운영 메모]
이 실습이 없으면 과제를 '예뻐 보이는 것 3개'로 채워 온다. 수업 안에서 기준을 한 번 대보게 하면 2주차 자기 분석의 재료 수준이 달라진다. 온라인이므로 채팅창에 후보를 적게 하면 진행 상황이 바로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과제 체크리스트입니다. 방금 실습에서 절반은 하셨습니다.
나머지는 링크와 첫 화면 캡처를 남기고, 파일명을 규칙대로 맞추는 것입니다.
여덟 개 중에 05번이 제일 중요합니다. '예뻐서'가 아니라 구성·서술·비주얼 중 하나를 고르라는 것. 이유를 그 세 단어 중 하나로 쓰셔야 다음 주에 자기 분석의 재료가 됩니다.
그리고 세 개를 다 비슷한 스타일로 고르면 비교가 안 됩니다. 일부러 다르게 고르세요.
[운영 메모]
파일명 규칙을 첫 주에 정해두면 학기 내내 관리가 편하다.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이번 주 과제는 두 가지입니다. 관심 분야 포트폴리오 3개 스크랩, 그리고 각각 왜 골랐는지 한 문장씩. 2주차 수업 시작 전까지 클래스룸에 올려 주세요.
방금 실습에서 절반은 하셨으니, 집에서는 링크와 캡처를 남기고 이유를 다듬으시면 됩니다.
다음 주에는 SWOT으로 자기 역량을 분석하고 1:1 상담을 진행합니다. 오늘 고르신 스크랩이 그 재료가 됩니다. 노트북 꼭 준비해 주세요.
질문 있으신 분?
[운영 메모]
3개를 모두 비슷한 그래픽 포트폴리오로 골라오는 경우가 많다. 서로 다른 유형(웹형·PDF형·인쇄형 등)으로 고르라고 예시를 들어 지시할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01</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01  ·  PHASE 1 방향 정하기와 계획</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800" dirty="0">
                <a:solidFill>
                  <a:srgbClr val="111111"/>
                </a:solidFill>
                <a:latin typeface="Pretendard SemiBold" pitchFamily="34" charset="0"/>
                <a:ea typeface="Pretendard SemiBold" pitchFamily="34" charset="-122"/>
                <a:cs typeface="Pretendard SemiBold" pitchFamily="34" charset="-120"/>
              </a:rPr>
              <a:t>OT 및 포트폴리오 이해</a:t>
            </a:r>
            <a:endParaRPr lang="en-US" sz="48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포트폴리오의 역할과 최근 채용 흐름을 이해하고,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한 학기 운영 방식과 마감을 파악합니다.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포트폴리오제작 · 실내·산업디자인학과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관심 분야 우수 포트폴리오 3개 스크랩</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포트폴리오는 무엇을 하는가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만들기 전에, 이것이 어디서 어떻게 읽히는지부터 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포트폴리오는 작품집이 아니라</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판단을 돕는 자료입니다.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읽는 사람은 감상하러 오지 않습니다. '이 사람과 일할 수 있을까'를 판단하러 옵니다. 그 판단에 필요한 것을 주는 것이 포트폴리오의 일입니다.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포트폴리오제작 · WEEK 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ROLE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단계에서 각각 다르게 쓰입니다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문서인데 읽는 목적이 매번 다릅니다.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서류 단계</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넘길지 말지를 가릅니다. 짧은 시간에 훑어보며 '더 볼 만한가'만 판단합니다. 여기서는 첫 두세 장이 전부입니다.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면접 단계</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질문의 대본이 됩니다. 면접관은 포트폴리오를 펴놓고 묻습니다. 설명하지 못할 페이지는 넣지 않는 것이 낫습니다.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입사 후</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어느 팀에 배치할지의 근거가 됩니다. 무엇을 잘하는 사람으로 보였는지가 첫 업무를 결정합니다.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그래서 '분량을 채우는 것'과 '설명할 수 있는 것만 넣는 것'은 다른 전략입니다.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CRITERIA</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좋은 포트폴리오의 공통 특징 셋</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스타일은 달라도 잘된 것들은 이 셋을 공유합니다.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무엇을 하는 사람인지 빨리 보인다</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첫 화면 또는 첫 장에서 분야와 강점이 잡힙니다. 모든 걸 다 할 수 있다고 쓰면 아무것도 못 하는 사람으로 읽힙니다.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판단할 근거가 있다</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결과 이미지만이 아니라 왜 그렇게 했는지가 있습니다. 팀 작업이면 내 역할이 어디까지인지 적혀 있습니다.</a:t>
            </a:r>
            <a:endParaRPr lang="en-US" sz="1150" dirty="0"/>
          </a:p>
        </p:txBody>
      </p:sp>
      <p:sp>
        <p:nvSpPr>
          <p:cNvPr id="19" name="Shape 17"/>
          <p:cNvSpPr/>
          <p:nvPr/>
        </p:nvSpPr>
        <p:spPr>
          <a:xfrm>
            <a:off x="8158277" y="1737360"/>
            <a:ext cx="3393338" cy="3035808"/>
          </a:xfrm>
          <a:prstGeom prst="rect">
            <a:avLst/>
          </a:prstGeom>
          <a:solidFill>
            <a:srgbClr val="FFFFFF"/>
          </a:solidFill>
          <a:ln w="12700">
            <a:solidFill>
              <a:srgbClr val="DCDCDC"/>
            </a:solidFill>
            <a:prstDash val="solid"/>
          </a:ln>
        </p:spPr>
      </p:sp>
      <p:sp>
        <p:nvSpPr>
          <p:cNvPr id="20" name="Shape 18"/>
          <p:cNvSpPr/>
          <p:nvPr/>
        </p:nvSpPr>
        <p:spPr>
          <a:xfrm>
            <a:off x="8542325" y="2011680"/>
            <a:ext cx="365760" cy="365760"/>
          </a:xfrm>
          <a:prstGeom prst="ellipse">
            <a:avLst/>
          </a:prstGeom>
          <a:solidFill>
            <a:srgbClr val="FFFFFF"/>
          </a:solidFill>
          <a:ln w="12700">
            <a:solidFill>
              <a:srgbClr val="111111"/>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끝까지 읽힌다</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분량과 위계가 관리되어 있습니다. 페이지마다 무엇을 먼저 볼지 정해져 있고, 중간에 지치지 않습니다.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오늘 과제로 스크랩할 3개를 이 세 기준으로 평가해 보세요.</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COMPARE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읽히는 것과 읽히지 않는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작업의 질이 아니라 서술의 질 차이입니다.</a:t>
            </a:r>
            <a:endParaRPr lang="en-US" sz="1150" dirty="0"/>
          </a:p>
        </p:txBody>
      </p:sp>
      <p:sp>
        <p:nvSpPr>
          <p:cNvPr id="9" name="Shape 7"/>
          <p:cNvSpPr/>
          <p:nvPr/>
        </p:nvSpPr>
        <p:spPr>
          <a:xfrm>
            <a:off x="640080" y="1627632"/>
            <a:ext cx="5254600" cy="4078224"/>
          </a:xfrm>
          <a:prstGeom prst="rect">
            <a:avLst/>
          </a:prstGeom>
          <a:solidFill>
            <a:srgbClr val="FFFFFF"/>
          </a:solidFill>
          <a:ln w="12700">
            <a:solidFill>
              <a:srgbClr val="111111"/>
            </a:solidFill>
            <a:prstDash val="solid"/>
          </a:ln>
        </p:spPr>
      </p:sp>
      <p:sp>
        <p:nvSpPr>
          <p:cNvPr id="10" name="Shape 8"/>
          <p:cNvSpPr/>
          <p:nvPr/>
        </p:nvSpPr>
        <p:spPr>
          <a:xfrm>
            <a:off x="640080" y="1627632"/>
            <a:ext cx="5254600" cy="64008"/>
          </a:xfrm>
          <a:prstGeom prst="rect">
            <a:avLst/>
          </a:prstGeom>
          <a:solidFill>
            <a:srgbClr val="111111"/>
          </a:solidFill>
          <a:ln w="12700">
            <a:solidFill>
              <a:srgbClr val="111111"/>
            </a:solidFill>
            <a:prstDash val="solid"/>
          </a:ln>
        </p:spPr>
      </p:sp>
      <p:sp>
        <p:nvSpPr>
          <p:cNvPr id="11" name="Text 9"/>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읽히는 포트폴리오</a:t>
            </a:r>
            <a:endParaRPr lang="en-US" sz="1700" dirty="0"/>
          </a:p>
        </p:txBody>
      </p:sp>
      <p:sp>
        <p:nvSpPr>
          <p:cNvPr id="12" name="Shape 10"/>
          <p:cNvSpPr/>
          <p:nvPr/>
        </p:nvSpPr>
        <p:spPr>
          <a:xfrm>
            <a:off x="6297016" y="1627632"/>
            <a:ext cx="5254600" cy="4078224"/>
          </a:xfrm>
          <a:prstGeom prst="rect">
            <a:avLst/>
          </a:prstGeom>
          <a:solidFill>
            <a:srgbClr val="F2F2F2"/>
          </a:solidFill>
          <a:ln w="12700">
            <a:solidFill>
              <a:srgbClr val="DCDCDC"/>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읽히지 않는 포트폴리오</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첫인상</a:t>
            </a:r>
            <a:endParaRPr lang="en-US" sz="900" dirty="0"/>
          </a:p>
        </p:txBody>
      </p:sp>
      <p:sp>
        <p:nvSpPr>
          <p:cNvPr id="15" name="Text 13"/>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분야와 강점이 한 화면에 잡힌다</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첫인상</a:t>
            </a:r>
            <a:endParaRPr lang="en-US" sz="900" dirty="0"/>
          </a:p>
        </p:txBody>
      </p:sp>
      <p:sp>
        <p:nvSpPr>
          <p:cNvPr id="17" name="Text 15"/>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이름과 큰 이미지 한 장뿐</a:t>
            </a:r>
            <a:endParaRPr lang="en-US" sz="1150" dirty="0"/>
          </a:p>
        </p:txBody>
      </p:sp>
      <p:sp>
        <p:nvSpPr>
          <p:cNvPr id="18" name="Shape 16"/>
          <p:cNvSpPr/>
          <p:nvPr/>
        </p:nvSpPr>
        <p:spPr>
          <a:xfrm>
            <a:off x="1042416" y="3054096"/>
            <a:ext cx="4449928" cy="7315"/>
          </a:xfrm>
          <a:prstGeom prst="rect">
            <a:avLst/>
          </a:prstGeom>
          <a:solidFill>
            <a:srgbClr val="D2D2D2"/>
          </a:solidFill>
          <a:ln w="12700">
            <a:solidFill>
              <a:srgbClr val="D2D2D2"/>
            </a:solidFill>
            <a:prstDash val="solid"/>
          </a:ln>
        </p:spPr>
      </p:sp>
      <p:sp>
        <p:nvSpPr>
          <p:cNvPr id="19" name="Shape 17"/>
          <p:cNvSpPr/>
          <p:nvPr/>
        </p:nvSpPr>
        <p:spPr>
          <a:xfrm>
            <a:off x="6699352" y="3054096"/>
            <a:ext cx="4449928" cy="7315"/>
          </a:xfrm>
          <a:prstGeom prst="rect">
            <a:avLst/>
          </a:prstGeom>
          <a:solidFill>
            <a:srgbClr val="DCDCDC"/>
          </a:solidFill>
          <a:ln w="12700">
            <a:solidFill>
              <a:srgbClr val="DCDCDC"/>
            </a:solidFill>
            <a:prstDash val="solid"/>
          </a:ln>
        </p:spPr>
      </p:sp>
      <p:sp>
        <p:nvSpPr>
          <p:cNvPr id="20" name="Text 18"/>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프로젝트 수</a:t>
            </a:r>
            <a:endParaRPr lang="en-US" sz="900" dirty="0"/>
          </a:p>
        </p:txBody>
      </p:sp>
      <p:sp>
        <p:nvSpPr>
          <p:cNvPr id="21" name="Text 19"/>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3~5개, 각각 다른 강점을 보여준다</a:t>
            </a:r>
            <a:endParaRPr lang="en-US" sz="1150" dirty="0"/>
          </a:p>
        </p:txBody>
      </p:sp>
      <p:sp>
        <p:nvSpPr>
          <p:cNvPr id="22" name="Text 20"/>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프로젝트 수</a:t>
            </a:r>
            <a:endParaRPr lang="en-US" sz="900" dirty="0"/>
          </a:p>
        </p:txBody>
      </p:sp>
      <p:sp>
        <p:nvSpPr>
          <p:cNvPr id="23" name="Text 21"/>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가진 것을 전부, 8개 이상</a:t>
            </a:r>
            <a:endParaRPr lang="en-US" sz="1150" dirty="0"/>
          </a:p>
        </p:txBody>
      </p:sp>
      <p:sp>
        <p:nvSpPr>
          <p:cNvPr id="24" name="Shape 22"/>
          <p:cNvSpPr/>
          <p:nvPr/>
        </p:nvSpPr>
        <p:spPr>
          <a:xfrm>
            <a:off x="1042416" y="3712464"/>
            <a:ext cx="4449928" cy="7315"/>
          </a:xfrm>
          <a:prstGeom prst="rect">
            <a:avLst/>
          </a:prstGeom>
          <a:solidFill>
            <a:srgbClr val="D2D2D2"/>
          </a:solidFill>
          <a:ln w="12700">
            <a:solidFill>
              <a:srgbClr val="D2D2D2"/>
            </a:solidFill>
            <a:prstDash val="solid"/>
          </a:ln>
        </p:spPr>
      </p:sp>
      <p:sp>
        <p:nvSpPr>
          <p:cNvPr id="25" name="Shape 23"/>
          <p:cNvSpPr/>
          <p:nvPr/>
        </p:nvSpPr>
        <p:spPr>
          <a:xfrm>
            <a:off x="6699352" y="3712464"/>
            <a:ext cx="4449928" cy="7315"/>
          </a:xfrm>
          <a:prstGeom prst="rect">
            <a:avLst/>
          </a:prstGeom>
          <a:solidFill>
            <a:srgbClr val="DCDCDC"/>
          </a:solidFill>
          <a:ln w="12700">
            <a:solidFill>
              <a:srgbClr val="DCDCDC"/>
            </a:solidFill>
            <a:prstDash val="solid"/>
          </a:ln>
        </p:spPr>
      </p:sp>
      <p:sp>
        <p:nvSpPr>
          <p:cNvPr id="26" name="Text 24"/>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과정</a:t>
            </a:r>
            <a:endParaRPr lang="en-US" sz="900" dirty="0"/>
          </a:p>
        </p:txBody>
      </p:sp>
      <p:sp>
        <p:nvSpPr>
          <p:cNvPr id="27" name="Text 25"/>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왜 그렇게 결정했는지가 있다</a:t>
            </a:r>
            <a:endParaRPr lang="en-US" sz="1150" dirty="0"/>
          </a:p>
        </p:txBody>
      </p:sp>
      <p:sp>
        <p:nvSpPr>
          <p:cNvPr id="28" name="Text 26"/>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과정</a:t>
            </a:r>
            <a:endParaRPr lang="en-US" sz="900" dirty="0"/>
          </a:p>
        </p:txBody>
      </p:sp>
      <p:sp>
        <p:nvSpPr>
          <p:cNvPr id="29" name="Text 27"/>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최종 결과 이미지만 나열</a:t>
            </a:r>
            <a:endParaRPr lang="en-US" sz="1150" dirty="0"/>
          </a:p>
        </p:txBody>
      </p:sp>
      <p:sp>
        <p:nvSpPr>
          <p:cNvPr id="30" name="Shape 28"/>
          <p:cNvSpPr/>
          <p:nvPr/>
        </p:nvSpPr>
        <p:spPr>
          <a:xfrm>
            <a:off x="1042416" y="4370832"/>
            <a:ext cx="4449928" cy="7315"/>
          </a:xfrm>
          <a:prstGeom prst="rect">
            <a:avLst/>
          </a:prstGeom>
          <a:solidFill>
            <a:srgbClr val="D2D2D2"/>
          </a:solidFill>
          <a:ln w="12700">
            <a:solidFill>
              <a:srgbClr val="D2D2D2"/>
            </a:solidFill>
            <a:prstDash val="solid"/>
          </a:ln>
        </p:spPr>
      </p:sp>
      <p:sp>
        <p:nvSpPr>
          <p:cNvPr id="31" name="Shape 29"/>
          <p:cNvSpPr/>
          <p:nvPr/>
        </p:nvSpPr>
        <p:spPr>
          <a:xfrm>
            <a:off x="6699352" y="4370832"/>
            <a:ext cx="4449928" cy="7315"/>
          </a:xfrm>
          <a:prstGeom prst="rect">
            <a:avLst/>
          </a:prstGeom>
          <a:solidFill>
            <a:srgbClr val="DCDCDC"/>
          </a:solidFill>
          <a:ln w="12700">
            <a:solidFill>
              <a:srgbClr val="DCDCDC"/>
            </a:solidFill>
            <a:prstDash val="solid"/>
          </a:ln>
        </p:spPr>
      </p:sp>
      <p:sp>
        <p:nvSpPr>
          <p:cNvPr id="32" name="Text 30"/>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내 역할</a:t>
            </a:r>
            <a:endParaRPr lang="en-US" sz="900" dirty="0"/>
          </a:p>
        </p:txBody>
      </p:sp>
      <p:sp>
        <p:nvSpPr>
          <p:cNvPr id="33" name="Text 31"/>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팀 구성과 담당 범위가 적혀 있다</a:t>
            </a:r>
            <a:endParaRPr lang="en-US" sz="1150" dirty="0"/>
          </a:p>
        </p:txBody>
      </p:sp>
      <p:sp>
        <p:nvSpPr>
          <p:cNvPr id="34" name="Text 32"/>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내 역할</a:t>
            </a:r>
            <a:endParaRPr lang="en-US" sz="900" dirty="0"/>
          </a:p>
        </p:txBody>
      </p:sp>
      <p:sp>
        <p:nvSpPr>
          <p:cNvPr id="35" name="Text 33"/>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'팀 프로젝트'라고만</a:t>
            </a:r>
            <a:endParaRPr lang="en-US" sz="1150" dirty="0"/>
          </a:p>
        </p:txBody>
      </p:sp>
      <p:sp>
        <p:nvSpPr>
          <p:cNvPr id="36" name="Shape 34"/>
          <p:cNvSpPr/>
          <p:nvPr/>
        </p:nvSpPr>
        <p:spPr>
          <a:xfrm>
            <a:off x="1042416" y="5029200"/>
            <a:ext cx="4449928" cy="7315"/>
          </a:xfrm>
          <a:prstGeom prst="rect">
            <a:avLst/>
          </a:prstGeom>
          <a:solidFill>
            <a:srgbClr val="D2D2D2"/>
          </a:solidFill>
          <a:ln w="12700">
            <a:solidFill>
              <a:srgbClr val="D2D2D2"/>
            </a:solidFill>
            <a:prstDash val="solid"/>
          </a:ln>
        </p:spPr>
      </p:sp>
      <p:sp>
        <p:nvSpPr>
          <p:cNvPr id="37" name="Shape 35"/>
          <p:cNvSpPr/>
          <p:nvPr/>
        </p:nvSpPr>
        <p:spPr>
          <a:xfrm>
            <a:off x="6699352" y="5029200"/>
            <a:ext cx="4449928" cy="7315"/>
          </a:xfrm>
          <a:prstGeom prst="rect">
            <a:avLst/>
          </a:prstGeom>
          <a:solidFill>
            <a:srgbClr val="DCDCDC"/>
          </a:solidFill>
          <a:ln w="12700">
            <a:solidFill>
              <a:srgbClr val="DCDCDC"/>
            </a:solidFill>
            <a:prstDash val="solid"/>
          </a:ln>
        </p:spPr>
      </p:sp>
      <p:sp>
        <p:nvSpPr>
          <p:cNvPr id="38" name="Text 36"/>
          <p:cNvSpPr/>
          <p:nvPr/>
        </p:nvSpPr>
        <p:spPr>
          <a:xfrm>
            <a:off x="1042416" y="508406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읽는 시간</a:t>
            </a:r>
            <a:endParaRPr lang="en-US" sz="900" dirty="0"/>
          </a:p>
        </p:txBody>
      </p:sp>
      <p:sp>
        <p:nvSpPr>
          <p:cNvPr id="39" name="Text 37"/>
          <p:cNvSpPr/>
          <p:nvPr/>
        </p:nvSpPr>
        <p:spPr>
          <a:xfrm>
            <a:off x="1042416" y="5321808"/>
            <a:ext cx="4449928" cy="384048"/>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5분이면 판단 가능</a:t>
            </a:r>
            <a:endParaRPr lang="en-US" sz="1150" dirty="0"/>
          </a:p>
        </p:txBody>
      </p:sp>
      <p:sp>
        <p:nvSpPr>
          <p:cNvPr id="40" name="Text 38"/>
          <p:cNvSpPr/>
          <p:nvPr/>
        </p:nvSpPr>
        <p:spPr>
          <a:xfrm>
            <a:off x="6699352" y="508406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읽는 시간</a:t>
            </a:r>
            <a:endParaRPr lang="en-US" sz="900" dirty="0"/>
          </a:p>
        </p:txBody>
      </p:sp>
      <p:sp>
        <p:nvSpPr>
          <p:cNvPr id="41" name="Text 39"/>
          <p:cNvSpPr/>
          <p:nvPr/>
        </p:nvSpPr>
        <p:spPr>
          <a:xfrm>
            <a:off x="6699352"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스크롤이 끝나지 않는다</a:t>
            </a:r>
            <a:endParaRPr lang="en-US" sz="1150" dirty="0"/>
          </a:p>
        </p:txBody>
      </p:sp>
      <p:sp>
        <p:nvSpPr>
          <p:cNvPr id="42" name="Shape 40"/>
          <p:cNvSpPr/>
          <p:nvPr/>
        </p:nvSpPr>
        <p:spPr>
          <a:xfrm>
            <a:off x="640080" y="6291072"/>
            <a:ext cx="10911535" cy="7315"/>
          </a:xfrm>
          <a:prstGeom prst="rect">
            <a:avLst/>
          </a:prstGeom>
          <a:solidFill>
            <a:srgbClr val="DCDCDC"/>
          </a:solidFill>
          <a:ln w="12700">
            <a:solidFill>
              <a:srgbClr val="DCDCDC"/>
            </a:solidFill>
            <a:prstDash val="solid"/>
          </a:ln>
        </p:spPr>
      </p:sp>
      <p:sp>
        <p:nvSpPr>
          <p:cNvPr id="43" name="Text 41"/>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44" name="Text 42"/>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요즘은 어떻게 보나</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제출 형식과 요구 사항이 몇 년 사이 달라졌습니다.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TREND</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요즘 공고에서 자주 보이는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통계가 아니라, 최근 공고를 읽어보면 반복해서 나타나는 요구들입니다.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링크 제출이 기본이 되었다</a:t>
            </a:r>
            <a:endParaRPr lang="en-US" sz="1450" dirty="0"/>
          </a:p>
        </p:txBody>
      </p:sp>
      <p:sp>
        <p:nvSpPr>
          <p:cNvPr id="13" name="Text 11"/>
          <p:cNvSpPr/>
          <p:nvPr/>
        </p:nvSpPr>
        <p:spPr>
          <a:xfrm>
            <a:off x="1188720" y="2029968"/>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PDF 첨부만 받던 곳도 웹 링크를 함께 요구하는 경우가 늘었습니다. 두 포맷을 다 준비해야 합니다.</a:t>
            </a:r>
            <a:endParaRPr lang="en-US" sz="1100" dirty="0"/>
          </a:p>
        </p:txBody>
      </p:sp>
      <p:sp>
        <p:nvSpPr>
          <p:cNvPr id="14" name="Shape 12"/>
          <p:cNvSpPr/>
          <p:nvPr/>
        </p:nvSpPr>
        <p:spPr>
          <a:xfrm>
            <a:off x="640080" y="2596896"/>
            <a:ext cx="10911535" cy="7315"/>
          </a:xfrm>
          <a:prstGeom prst="rect">
            <a:avLst/>
          </a:prstGeom>
          <a:solidFill>
            <a:srgbClr val="DCDCDC"/>
          </a:solidFill>
          <a:ln w="12700">
            <a:solidFill>
              <a:srgbClr val="DCDCDC"/>
            </a:solidFill>
            <a:prstDash val="solid"/>
          </a:ln>
        </p:spPr>
      </p:sp>
      <p:sp>
        <p:nvSpPr>
          <p:cNvPr id="15" name="Shape 13"/>
          <p:cNvSpPr/>
          <p:nvPr/>
        </p:nvSpPr>
        <p:spPr>
          <a:xfrm>
            <a:off x="640080" y="2761488"/>
            <a:ext cx="310896" cy="310896"/>
          </a:xfrm>
          <a:prstGeom prst="ellipse">
            <a:avLst/>
          </a:prstGeom>
          <a:solidFill>
            <a:srgbClr val="FFFFFF"/>
          </a:solidFill>
          <a:ln w="12700">
            <a:solidFill>
              <a:srgbClr val="111111"/>
            </a:solidFill>
            <a:prstDash val="solid"/>
          </a:ln>
        </p:spPr>
      </p:sp>
      <p:sp>
        <p:nvSpPr>
          <p:cNvPr id="16" name="Text 14"/>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7" name="Text 15"/>
          <p:cNvSpPr/>
          <p:nvPr/>
        </p:nvSpPr>
        <p:spPr>
          <a:xfrm>
            <a:off x="1188720" y="2670048"/>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요약본을 따로 요구한다</a:t>
            </a:r>
            <a:endParaRPr lang="en-US" sz="1450" dirty="0"/>
          </a:p>
        </p:txBody>
      </p:sp>
      <p:sp>
        <p:nvSpPr>
          <p:cNvPr id="18" name="Text 16"/>
          <p:cNvSpPr/>
          <p:nvPr/>
        </p:nvSpPr>
        <p:spPr>
          <a:xfrm>
            <a:off x="1188720" y="2980944"/>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전체 포트폴리오와 별도로 1~3장짜리 요약을 받는 곳이 있습니다. 무엇을 앞에 둘지 미리 정해야 합니다.</a:t>
            </a:r>
            <a:endParaRPr lang="en-US" sz="1100" dirty="0"/>
          </a:p>
        </p:txBody>
      </p:sp>
      <p:sp>
        <p:nvSpPr>
          <p:cNvPr id="19" name="Shape 17"/>
          <p:cNvSpPr/>
          <p:nvPr/>
        </p:nvSpPr>
        <p:spPr>
          <a:xfrm>
            <a:off x="640080" y="3547872"/>
            <a:ext cx="10911535" cy="7315"/>
          </a:xfrm>
          <a:prstGeom prst="rect">
            <a:avLst/>
          </a:prstGeom>
          <a:solidFill>
            <a:srgbClr val="DCDCDC"/>
          </a:solidFill>
          <a:ln w="12700">
            <a:solidFill>
              <a:srgbClr val="DCDCDC"/>
            </a:solidFill>
            <a:prstDash val="solid"/>
          </a:ln>
        </p:spPr>
      </p:sp>
      <p:sp>
        <p:nvSpPr>
          <p:cNvPr id="20" name="Shape 18"/>
          <p:cNvSpPr/>
          <p:nvPr/>
        </p:nvSpPr>
        <p:spPr>
          <a:xfrm>
            <a:off x="640080" y="3712464"/>
            <a:ext cx="310896" cy="310896"/>
          </a:xfrm>
          <a:prstGeom prst="ellipse">
            <a:avLst/>
          </a:prstGeom>
          <a:solidFill>
            <a:srgbClr val="FFFFFF"/>
          </a:solidFill>
          <a:ln w="12700">
            <a:solidFill>
              <a:srgbClr val="111111"/>
            </a:solidFill>
            <a:prstDash val="solid"/>
          </a:ln>
        </p:spPr>
      </p:sp>
      <p:sp>
        <p:nvSpPr>
          <p:cNvPr id="21" name="Text 19"/>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2" name="Text 20"/>
          <p:cNvSpPr/>
          <p:nvPr/>
        </p:nvSpPr>
        <p:spPr>
          <a:xfrm>
            <a:off x="1188720" y="3621024"/>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과정 서술을 명시적으로 요구한다</a:t>
            </a:r>
            <a:endParaRPr lang="en-US" sz="1450" dirty="0"/>
          </a:p>
        </p:txBody>
      </p:sp>
      <p:sp>
        <p:nvSpPr>
          <p:cNvPr id="23" name="Text 21"/>
          <p:cNvSpPr/>
          <p:nvPr/>
        </p:nvSpPr>
        <p:spPr>
          <a:xfrm>
            <a:off x="1188720" y="3931920"/>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"문제 정의와 해결 과정을 포함할 것"이 공고 문구로 들어옵니다. 결과만으로는 요건 미충족입니다.</a:t>
            </a:r>
            <a:endParaRPr lang="en-US" sz="1100" dirty="0"/>
          </a:p>
        </p:txBody>
      </p:sp>
      <p:sp>
        <p:nvSpPr>
          <p:cNvPr id="24" name="Shape 22"/>
          <p:cNvSpPr/>
          <p:nvPr/>
        </p:nvSpPr>
        <p:spPr>
          <a:xfrm>
            <a:off x="640080" y="4498848"/>
            <a:ext cx="10911535" cy="7315"/>
          </a:xfrm>
          <a:prstGeom prst="rect">
            <a:avLst/>
          </a:prstGeom>
          <a:solidFill>
            <a:srgbClr val="DCDCDC"/>
          </a:solidFill>
          <a:ln w="12700">
            <a:solidFill>
              <a:srgbClr val="DCDCDC"/>
            </a:solidFill>
            <a:prstDash val="solid"/>
          </a:ln>
        </p:spPr>
      </p:sp>
      <p:sp>
        <p:nvSpPr>
          <p:cNvPr id="25" name="Shape 23"/>
          <p:cNvSpPr/>
          <p:nvPr/>
        </p:nvSpPr>
        <p:spPr>
          <a:xfrm>
            <a:off x="640080" y="4663440"/>
            <a:ext cx="310896" cy="310896"/>
          </a:xfrm>
          <a:prstGeom prst="ellipse">
            <a:avLst/>
          </a:prstGeom>
          <a:solidFill>
            <a:srgbClr val="FFFFFF"/>
          </a:solidFill>
          <a:ln w="12700">
            <a:solidFill>
              <a:srgbClr val="111111"/>
            </a:solidFill>
            <a:prstDash val="solid"/>
          </a:ln>
        </p:spPr>
      </p:sp>
      <p:sp>
        <p:nvSpPr>
          <p:cNvPr id="26" name="Text 24"/>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27" name="Text 25"/>
          <p:cNvSpPr/>
          <p:nvPr/>
        </p:nvSpPr>
        <p:spPr>
          <a:xfrm>
            <a:off x="1188720" y="4572000"/>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개인 기여도를 별도로 묻는다</a:t>
            </a:r>
            <a:endParaRPr lang="en-US" sz="1450" dirty="0"/>
          </a:p>
        </p:txBody>
      </p:sp>
      <p:sp>
        <p:nvSpPr>
          <p:cNvPr id="28" name="Text 26"/>
          <p:cNvSpPr/>
          <p:nvPr/>
        </p:nvSpPr>
        <p:spPr>
          <a:xfrm>
            <a:off x="1188720" y="4882896"/>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팀 프로젝트에 대해 "본인 담당 범위를 명시"를 요구합니다. 흐릿하게 두면 감점 요인이 됩니다.</a:t>
            </a:r>
            <a:endParaRPr lang="en-US" sz="1100" dirty="0"/>
          </a:p>
        </p:txBody>
      </p:sp>
      <p:sp>
        <p:nvSpPr>
          <p:cNvPr id="29" name="Shape 27"/>
          <p:cNvSpPr/>
          <p:nvPr/>
        </p:nvSpPr>
        <p:spPr>
          <a:xfrm>
            <a:off x="640080" y="5522976"/>
            <a:ext cx="10911535" cy="7315"/>
          </a:xfrm>
          <a:prstGeom prst="rect">
            <a:avLst/>
          </a:prstGeom>
          <a:solidFill>
            <a:srgbClr val="111111"/>
          </a:solidFill>
          <a:ln w="12700">
            <a:solidFill>
              <a:srgbClr val="111111"/>
            </a:solidFill>
            <a:prstDash val="solid"/>
          </a:ln>
        </p:spPr>
      </p:sp>
      <p:sp>
        <p:nvSpPr>
          <p:cNvPr id="30" name="Text 2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네 가지 모두 '보기 좋게'가 아니라 '확인 가능하게'를 요구하는 방향입니다.</a:t>
            </a:r>
            <a:endParaRPr lang="en-US" sz="125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PLATFORM</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어디에 올리나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플랫폼마다 잘 맞는 작업과 주의할 점이 다릅니다.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Behance</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프로젝트 단위 · 긴 서술에 적합</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케이스 스터디를 길게 펼치기 좋다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국내외 채용 담당자 접근성이 높다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이미지 위주 소비 — 글이 길면 안 읽힌다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프로젝트별 커버 이미지가 사실상 첫인상</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Dribbble</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단면 · 비주얼 중심</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 한 장, 디테일 보여주기에 적합</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과정 서술에는 맞지 않는다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주 포트폴리오로 쓰기엔 정보량이 부족</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레퍼런스 수집처로 더 유용</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개인 사이트 · Notion</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구조를 내가 정한다</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순서와 위계를 직접 통제할 수 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Notion은 빠르게 시작 가능</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도메인·링크 관리가 필요하다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12주차에 이 방향으로 제작합니다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하나만 고를 필요는 없습니다. 다만 '어디를 대표로 둘지'는 정해야 링크를 하나로 낼 수 있습니다.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이 수업의 15주</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세 파트로 나눠 진행합니다. 매주 결과물이 쌓이는 구조입니다.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STRUCTURE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개의 파트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앞에서 정하고, 가운데서 만들고, 뒤에서 끝냅니다.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I</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방향 설정과 기획 · 1–5주</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포트폴리오의 개념을 이해하고 자기 분석과 벤치마킹을 거쳐 스토리라인을 기획합니다. 5주차 1:1 튜터링으로 구성을 확정합니다.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II</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콘텐츠 구조화와 비주얼 시스템 · 6–10주</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리서치와 프로세스를 구조화하고 비주얼 아이덴티티와 편집 시스템을 세웁니다. 8주차 중간 발표가 분기점입니다.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III</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완성과 발표 · 11–15주</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편집 디자인을 완성하고 온라인 포트폴리오와 피칭을 준비해 15주차 기말 발표로 마무리합니다.</a:t>
            </a:r>
            <a:endParaRPr lang="en-US" sz="1150" dirty="0"/>
          </a:p>
        </p:txBody>
      </p:sp>
      <p:sp>
        <p:nvSpPr>
          <p:cNvPr id="24" name="Shape 22"/>
          <p:cNvSpPr/>
          <p:nvPr/>
        </p:nvSpPr>
        <p:spPr>
          <a:xfrm>
            <a:off x="640080" y="6291072"/>
            <a:ext cx="10911535" cy="7315"/>
          </a:xfrm>
          <a:prstGeom prst="rect">
            <a:avLst/>
          </a:prstGeom>
          <a:solidFill>
            <a:srgbClr val="DCDCDC"/>
          </a:solidFill>
          <a:ln w="12700">
            <a:solidFill>
              <a:srgbClr val="DCDCDC"/>
            </a:solidFill>
            <a:prstDash val="solid"/>
          </a:ln>
        </p:spPr>
      </p:sp>
      <p:sp>
        <p:nvSpPr>
          <p:cNvPr id="25" name="Text 2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26" name="Text 2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DEADLINE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학기 운영과 마감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매주 과제가 있고, 아래 다섯 개가 큰 마감입니다.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스토리라인 초안</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수록 프로젝트 선정과 전체 구성을 확정합니다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4–5주</a:t>
            </a:r>
            <a:endParaRPr lang="en-US" sz="1050" dirty="0"/>
          </a:p>
        </p:txBody>
      </p:sp>
      <p:sp>
        <p:nvSpPr>
          <p:cNvPr id="15" name="Shape 13"/>
          <p:cNvSpPr/>
          <p:nvPr/>
        </p:nvSpPr>
        <p:spPr>
          <a:xfrm>
            <a:off x="640080" y="2406701"/>
            <a:ext cx="10911535" cy="7315"/>
          </a:xfrm>
          <a:prstGeom prst="rect">
            <a:avLst/>
          </a:prstGeom>
          <a:solidFill>
            <a:srgbClr val="DCDCDC"/>
          </a:solidFill>
          <a:ln w="12700">
            <a:solidFill>
              <a:srgbClr val="DCDCDC"/>
            </a:solidFill>
            <a:prstDash val="solid"/>
          </a:ln>
        </p:spPr>
      </p:sp>
      <p:sp>
        <p:nvSpPr>
          <p:cNvPr id="16" name="Shape 14"/>
          <p:cNvSpPr/>
          <p:nvPr/>
        </p:nvSpPr>
        <p:spPr>
          <a:xfrm>
            <a:off x="640080" y="2571293"/>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571293"/>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479853"/>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중간 발표</a:t>
            </a:r>
            <a:endParaRPr lang="en-US" sz="1450" dirty="0"/>
          </a:p>
        </p:txBody>
      </p:sp>
      <p:sp>
        <p:nvSpPr>
          <p:cNvPr id="19" name="Text 17"/>
          <p:cNvSpPr/>
          <p:nvPr/>
        </p:nvSpPr>
        <p:spPr>
          <a:xfrm>
            <a:off x="1188720" y="2790749"/>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진행 상황을 발표하고 방향을 점검합니다</a:t>
            </a:r>
            <a:endParaRPr lang="en-US" sz="1100" dirty="0"/>
          </a:p>
        </p:txBody>
      </p:sp>
      <p:sp>
        <p:nvSpPr>
          <p:cNvPr id="20" name="Text 18"/>
          <p:cNvSpPr/>
          <p:nvPr/>
        </p:nvSpPr>
        <p:spPr>
          <a:xfrm>
            <a:off x="9357055" y="2571293"/>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8주</a:t>
            </a:r>
            <a:endParaRPr lang="en-US" sz="1050" dirty="0"/>
          </a:p>
        </p:txBody>
      </p:sp>
      <p:sp>
        <p:nvSpPr>
          <p:cNvPr id="21" name="Shape 19"/>
          <p:cNvSpPr/>
          <p:nvPr/>
        </p:nvSpPr>
        <p:spPr>
          <a:xfrm>
            <a:off x="640080" y="316748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33207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33207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24063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포트폴리오 페이지 6장</a:t>
            </a:r>
            <a:endParaRPr lang="en-US" sz="1450" dirty="0"/>
          </a:p>
        </p:txBody>
      </p:sp>
      <p:sp>
        <p:nvSpPr>
          <p:cNvPr id="25" name="Text 23"/>
          <p:cNvSpPr/>
          <p:nvPr/>
        </p:nvSpPr>
        <p:spPr>
          <a:xfrm>
            <a:off x="1188720" y="355153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편집디자인 실습 Ⅰ·Ⅱ에서 3장씩 제작합니다</a:t>
            </a:r>
            <a:endParaRPr lang="en-US" sz="1100" dirty="0"/>
          </a:p>
        </p:txBody>
      </p:sp>
      <p:sp>
        <p:nvSpPr>
          <p:cNvPr id="26" name="Text 24"/>
          <p:cNvSpPr/>
          <p:nvPr/>
        </p:nvSpPr>
        <p:spPr>
          <a:xfrm>
            <a:off x="9357055" y="333207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10–11주</a:t>
            </a:r>
            <a:endParaRPr lang="en-US" sz="1050" dirty="0"/>
          </a:p>
        </p:txBody>
      </p:sp>
      <p:sp>
        <p:nvSpPr>
          <p:cNvPr id="27" name="Shape 25"/>
          <p:cNvSpPr/>
          <p:nvPr/>
        </p:nvSpPr>
        <p:spPr>
          <a:xfrm>
            <a:off x="640080" y="3928262"/>
            <a:ext cx="10911535" cy="7315"/>
          </a:xfrm>
          <a:prstGeom prst="rect">
            <a:avLst/>
          </a:prstGeom>
          <a:solidFill>
            <a:srgbClr val="DCDCDC"/>
          </a:solidFill>
          <a:ln w="12700">
            <a:solidFill>
              <a:srgbClr val="DCDCDC"/>
            </a:solidFill>
            <a:prstDash val="solid"/>
          </a:ln>
        </p:spPr>
      </p:sp>
      <p:sp>
        <p:nvSpPr>
          <p:cNvPr id="28" name="Shape 26"/>
          <p:cNvSpPr/>
          <p:nvPr/>
        </p:nvSpPr>
        <p:spPr>
          <a:xfrm>
            <a:off x="640080" y="409285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09285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00141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온라인 포트폴리오 초안</a:t>
            </a:r>
            <a:endParaRPr lang="en-US" sz="1450" dirty="0"/>
          </a:p>
        </p:txBody>
      </p:sp>
      <p:sp>
        <p:nvSpPr>
          <p:cNvPr id="31" name="Text 29"/>
          <p:cNvSpPr/>
          <p:nvPr/>
        </p:nvSpPr>
        <p:spPr>
          <a:xfrm>
            <a:off x="1188720" y="431231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플랫폼을 정하고 실제로 업로드합니다</a:t>
            </a:r>
            <a:endParaRPr lang="en-US" sz="1100" dirty="0"/>
          </a:p>
        </p:txBody>
      </p:sp>
      <p:sp>
        <p:nvSpPr>
          <p:cNvPr id="32" name="Text 30"/>
          <p:cNvSpPr/>
          <p:nvPr/>
        </p:nvSpPr>
        <p:spPr>
          <a:xfrm>
            <a:off x="9357055" y="409285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12주</a:t>
            </a:r>
            <a:endParaRPr lang="en-US" sz="1050" dirty="0"/>
          </a:p>
        </p:txBody>
      </p:sp>
      <p:sp>
        <p:nvSpPr>
          <p:cNvPr id="33" name="Shape 31"/>
          <p:cNvSpPr/>
          <p:nvPr/>
        </p:nvSpPr>
        <p:spPr>
          <a:xfrm>
            <a:off x="640080" y="4689043"/>
            <a:ext cx="10911535" cy="7315"/>
          </a:xfrm>
          <a:prstGeom prst="rect">
            <a:avLst/>
          </a:prstGeom>
          <a:solidFill>
            <a:srgbClr val="DCDCDC"/>
          </a:solidFill>
          <a:ln w="12700">
            <a:solidFill>
              <a:srgbClr val="DCDCDC"/>
            </a:solidFill>
            <a:prstDash val="solid"/>
          </a:ln>
        </p:spPr>
      </p:sp>
      <p:sp>
        <p:nvSpPr>
          <p:cNvPr id="34" name="Shape 32"/>
          <p:cNvSpPr/>
          <p:nvPr/>
        </p:nvSpPr>
        <p:spPr>
          <a:xfrm>
            <a:off x="640080" y="4853635"/>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853635"/>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762195"/>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최종 포트폴리오 + 발표</a:t>
            </a:r>
            <a:endParaRPr lang="en-US" sz="1450" dirty="0"/>
          </a:p>
        </p:txBody>
      </p:sp>
      <p:sp>
        <p:nvSpPr>
          <p:cNvPr id="37" name="Text 35"/>
          <p:cNvSpPr/>
          <p:nvPr/>
        </p:nvSpPr>
        <p:spPr>
          <a:xfrm>
            <a:off x="1188720" y="5073091"/>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기말 발표 각 7분, 최종본 제출</a:t>
            </a:r>
            <a:endParaRPr lang="en-US" sz="1100" dirty="0"/>
          </a:p>
        </p:txBody>
      </p:sp>
      <p:sp>
        <p:nvSpPr>
          <p:cNvPr id="38" name="Text 36"/>
          <p:cNvSpPr/>
          <p:nvPr/>
        </p:nvSpPr>
        <p:spPr>
          <a:xfrm>
            <a:off x="9357055" y="4853635"/>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15주</a:t>
            </a:r>
            <a:endParaRPr lang="en-US" sz="1050" dirty="0"/>
          </a:p>
        </p:txBody>
      </p:sp>
      <p:sp>
        <p:nvSpPr>
          <p:cNvPr id="39" name="Shape 37"/>
          <p:cNvSpPr/>
          <p:nvPr/>
        </p:nvSpPr>
        <p:spPr>
          <a:xfrm>
            <a:off x="640080" y="5522976"/>
            <a:ext cx="10911535" cy="7315"/>
          </a:xfrm>
          <a:prstGeom prst="rect">
            <a:avLst/>
          </a:prstGeom>
          <a:solidFill>
            <a:srgbClr val="111111"/>
          </a:solidFill>
          <a:ln w="12700">
            <a:solidFill>
              <a:srgbClr val="111111"/>
            </a:solidFill>
            <a:prstDash val="solid"/>
          </a:ln>
        </p:spPr>
      </p:sp>
      <p:sp>
        <p:nvSpPr>
          <p:cNvPr id="40" name="Text 38"/>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평가 배점은 학과 기준 확정 후 공지합니다. 오늘은 마감 일정만 확인하세요.</a:t>
            </a:r>
            <a:endParaRPr lang="en-US" sz="12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스크랩 후보 고르기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개인 작업 — 과제를 집에서 처음부터 하지 않도록, 후보를 여기서 좁혀 놓고 갑니다.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흩뿌리기</a:t>
            </a:r>
            <a:endParaRPr lang="en-US" sz="1450" dirty="0"/>
          </a:p>
        </p:txBody>
      </p:sp>
      <p:sp>
        <p:nvSpPr>
          <p:cNvPr id="11" name="Text 9"/>
          <p:cNvSpPr/>
          <p:nvPr/>
        </p:nvSpPr>
        <p:spPr>
          <a:xfrm>
            <a:off x="4480560" y="1810512"/>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지금까지 본 포트폴리오 중 기억에 남는 것을 이름이나 링크로 8개 이상 적습니다. 좋았는지 나빴는지는 아직 따지지 않습니다. 기억이 안 나면 오늘 본 플랫폼에서 바로 찾아도 됩니다.</a:t>
            </a:r>
            <a:endParaRPr lang="en-US" sz="1150" dirty="0"/>
          </a:p>
        </p:txBody>
      </p:sp>
      <p:sp>
        <p:nvSpPr>
          <p:cNvPr id="12" name="Shape 10"/>
          <p:cNvSpPr/>
          <p:nvPr/>
        </p:nvSpPr>
        <p:spPr>
          <a:xfrm>
            <a:off x="640080" y="2688336"/>
            <a:ext cx="10911535" cy="822960"/>
          </a:xfrm>
          <a:prstGeom prst="rect">
            <a:avLst/>
          </a:prstGeom>
          <a:solidFill>
            <a:srgbClr val="FFFFFF"/>
          </a:solidFill>
          <a:ln w="12700">
            <a:solidFill>
              <a:srgbClr val="DCDCDC"/>
            </a:solidFill>
            <a:prstDash val="solid"/>
          </a:ln>
        </p:spPr>
      </p:sp>
      <p:sp>
        <p:nvSpPr>
          <p:cNvPr id="13" name="Text 11"/>
          <p:cNvSpPr/>
          <p:nvPr/>
        </p:nvSpPr>
        <p:spPr>
          <a:xfrm>
            <a:off x="109728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유형 나누기</a:t>
            </a:r>
            <a:endParaRPr lang="en-US" sz="1450" dirty="0"/>
          </a:p>
        </p:txBody>
      </p:sp>
      <p:sp>
        <p:nvSpPr>
          <p:cNvPr id="14" name="Text 12"/>
          <p:cNvSpPr/>
          <p:nvPr/>
        </p:nvSpPr>
        <p:spPr>
          <a:xfrm>
            <a:off x="4480560" y="2779776"/>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웹형 · PDF형 · 인쇄형 셋으로 나눕니다. 한 유형에만 몰려 있으면 다른 유형을 지금 두 개 더 찾습니다. 세 유형이 섞여야 다음 주 비교가 됩니다.</a:t>
            </a:r>
            <a:endParaRPr lang="en-US" sz="1150" dirty="0"/>
          </a:p>
        </p:txBody>
      </p:sp>
      <p:sp>
        <p:nvSpPr>
          <p:cNvPr id="15" name="Shape 13"/>
          <p:cNvSpPr/>
          <p:nvPr/>
        </p:nvSpPr>
        <p:spPr>
          <a:xfrm>
            <a:off x="640080" y="3657600"/>
            <a:ext cx="10911535" cy="822960"/>
          </a:xfrm>
          <a:prstGeom prst="rect">
            <a:avLst/>
          </a:prstGeom>
          <a:solidFill>
            <a:srgbClr val="FFFFFF"/>
          </a:solidFill>
          <a:ln w="12700">
            <a:solidFill>
              <a:srgbClr val="DCDCDC"/>
            </a:solidFill>
            <a:prstDash val="solid"/>
          </a:ln>
        </p:spPr>
      </p:sp>
      <p:sp>
        <p:nvSpPr>
          <p:cNvPr id="16" name="Text 14"/>
          <p:cNvSpPr/>
          <p:nvPr/>
        </p:nvSpPr>
        <p:spPr>
          <a:xfrm>
            <a:off x="109728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오늘 기준으로 대보기</a:t>
            </a:r>
            <a:endParaRPr lang="en-US" sz="1450" dirty="0"/>
          </a:p>
        </p:txBody>
      </p:sp>
      <p:sp>
        <p:nvSpPr>
          <p:cNvPr id="17" name="Text 15"/>
          <p:cNvSpPr/>
          <p:nvPr/>
        </p:nvSpPr>
        <p:spPr>
          <a:xfrm>
            <a:off x="4480560" y="3749040"/>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오늘 배운 세 기준 — 첫인상 · 과정이 보이는가 · 내 역할이 적혀 있는가 — 로 후보마다 O/X를 칩니다. 세 개 다 X인 것은 지웁니다.</a:t>
            </a:r>
            <a:endParaRPr lang="en-US" sz="1150" dirty="0"/>
          </a:p>
        </p:txBody>
      </p:sp>
      <p:sp>
        <p:nvSpPr>
          <p:cNvPr id="18" name="Shape 16"/>
          <p:cNvSpPr/>
          <p:nvPr/>
        </p:nvSpPr>
        <p:spPr>
          <a:xfrm>
            <a:off x="640080" y="4626864"/>
            <a:ext cx="10911535" cy="822960"/>
          </a:xfrm>
          <a:prstGeom prst="rect">
            <a:avLst/>
          </a:prstGeom>
          <a:solidFill>
            <a:srgbClr val="111111"/>
          </a:solidFill>
          <a:ln w="12700">
            <a:solidFill>
              <a:srgbClr val="111111"/>
            </a:solidFill>
            <a:prstDash val="solid"/>
          </a:ln>
        </p:spPr>
      </p:sp>
      <p:sp>
        <p:nvSpPr>
          <p:cNvPr id="19" name="Text 17"/>
          <p:cNvSpPr/>
          <p:nvPr/>
        </p:nvSpPr>
        <p:spPr>
          <a:xfrm>
            <a:off x="109728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세 개 확정</a:t>
            </a:r>
            <a:endParaRPr lang="en-US" sz="1450" dirty="0"/>
          </a:p>
        </p:txBody>
      </p:sp>
      <p:sp>
        <p:nvSpPr>
          <p:cNvPr id="20" name="Text 18"/>
          <p:cNvSpPr/>
          <p:nvPr/>
        </p:nvSpPr>
        <p:spPr>
          <a:xfrm>
            <a:off x="4480560" y="4718304"/>
            <a:ext cx="670529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남은 것 중 셋을 고르고, 각각 무엇이 좋았는지 한 줄씩 적습니다. 이 세 줄이 과제의 절반입니다.</a:t>
            </a:r>
            <a:endParaRPr lang="en-US" sz="11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
        <p:nvSpPr>
          <p:cNvPr id="22" name="Text 2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23" name="Text 2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스크랩 과제, 이렇게 하세요</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주 자기 분석의 재료가 됩니다. 대충 모으면 2주차가 헛돕니다.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관심 분야의 포트폴리오 3개를 고른다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셋을 서로 다른 유형으로 고른다 (웹형 · PDF형 · 인쇄형 등)</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각각 링크와 첫 화면 캡처를 남긴다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무엇이 좋았는지 한 줄씩 적는다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'예뻐서'가 아니라 구성 · 서술 · 비주얼 중 하나를 고른다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오늘 배운 세 기준으로 각각 점검한다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가장 참고하고 싶은 하나를 고르고 이유를 적는다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파일명을 '학번_이름_1주차'로 한다</a:t>
            </a:r>
            <a:endParaRPr lang="en-US" sz="1200" dirty="0"/>
          </a:p>
        </p:txBody>
      </p:sp>
      <p:sp>
        <p:nvSpPr>
          <p:cNvPr id="41" name="Shape 39"/>
          <p:cNvSpPr/>
          <p:nvPr/>
        </p:nvSpPr>
        <p:spPr>
          <a:xfrm>
            <a:off x="640080" y="4736592"/>
            <a:ext cx="10911535" cy="7315"/>
          </a:xfrm>
          <a:prstGeom prst="rect">
            <a:avLst/>
          </a:prstGeom>
          <a:solidFill>
            <a:srgbClr val="111111"/>
          </a:solidFill>
          <a:ln w="12700">
            <a:solidFill>
              <a:srgbClr val="111111"/>
            </a:solidFill>
            <a:prstDash val="solid"/>
          </a:ln>
        </p:spPr>
      </p:sp>
      <p:sp>
        <p:nvSpPr>
          <p:cNvPr id="42" name="Text 40"/>
          <p:cNvSpPr/>
          <p:nvPr/>
        </p:nvSpPr>
        <p:spPr>
          <a:xfrm>
            <a:off x="640080" y="484632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3개 모두 비슷한 스타일로 고르면 비교가 되지 않습니다. 일부러 다르게 고르세요.</a:t>
            </a:r>
            <a:endParaRPr lang="en-US" sz="1250" dirty="0"/>
          </a:p>
        </p:txBody>
      </p:sp>
      <p:sp>
        <p:nvSpPr>
          <p:cNvPr id="43" name="Shape 41"/>
          <p:cNvSpPr/>
          <p:nvPr/>
        </p:nvSpPr>
        <p:spPr>
          <a:xfrm>
            <a:off x="640080" y="6291072"/>
            <a:ext cx="10911535" cy="7315"/>
          </a:xfrm>
          <a:prstGeom prst="rect">
            <a:avLst/>
          </a:prstGeom>
          <a:solidFill>
            <a:srgbClr val="DCDCDC"/>
          </a:solidFill>
          <a:ln w="12700">
            <a:solidFill>
              <a:srgbClr val="DCDCDC"/>
            </a:solidFill>
            <a:prstDash val="solid"/>
          </a:ln>
        </p:spPr>
      </p:sp>
      <p:sp>
        <p:nvSpPr>
          <p:cNvPr id="44" name="Text 4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45" name="Text 4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포트폴리오제작</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방향 정하기와 계획</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01</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2주차는 오늘 스크랩한 포트폴리오에서 시작합니다.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관심 분야 우수 포트폴리오 3개 스크랩</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국내외 무관. 각각 링크와 캡처를 남기고, '무엇이 좋았는지' 한 줄씩 적습니다. 셋 다 같은 스타일로 고르지 마세요.</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고른 이유 한 문장</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'예뻐서'는 이유가 아닙니다. 구성 · 서술 · 비주얼 중 무엇이 좋았는지 골라 씁니다.</a:t>
            </a:r>
            <a:endParaRPr lang="en-US" sz="1100" dirty="0"/>
          </a:p>
        </p:txBody>
      </p:sp>
      <p:sp>
        <p:nvSpPr>
          <p:cNvPr id="19" name="Shape 17"/>
          <p:cNvSpPr/>
          <p:nvPr/>
        </p:nvSpPr>
        <p:spPr>
          <a:xfrm>
            <a:off x="640080" y="3785616"/>
            <a:ext cx="6309360" cy="7315"/>
          </a:xfrm>
          <a:prstGeom prst="rect">
            <a:avLst/>
          </a:prstGeom>
          <a:solidFill>
            <a:srgbClr val="111111"/>
          </a:solidFill>
          <a:ln w="12700">
            <a:solidFill>
              <a:srgbClr val="111111"/>
            </a:solidFill>
            <a:prstDash val="solid"/>
          </a:ln>
        </p:spPr>
      </p:sp>
      <p:sp>
        <p:nvSpPr>
          <p:cNvPr id="20" name="Text 18"/>
          <p:cNvSpPr/>
          <p:nvPr/>
        </p:nvSpPr>
        <p:spPr>
          <a:xfrm>
            <a:off x="640080" y="3877056"/>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2주차 수업 전까지 · 클래스룸 업로드</a:t>
            </a:r>
            <a:endParaRPr lang="en-US" sz="1200" dirty="0"/>
          </a:p>
        </p:txBody>
      </p:sp>
      <p:sp>
        <p:nvSpPr>
          <p:cNvPr id="21" name="Shape 19"/>
          <p:cNvSpPr/>
          <p:nvPr/>
        </p:nvSpPr>
        <p:spPr>
          <a:xfrm>
            <a:off x="7351776" y="1719072"/>
            <a:ext cx="4199839" cy="3803904"/>
          </a:xfrm>
          <a:prstGeom prst="rect">
            <a:avLst/>
          </a:prstGeom>
          <a:solidFill>
            <a:srgbClr val="111111"/>
          </a:solidFill>
          <a:ln w="12700">
            <a:solidFill>
              <a:srgbClr val="111111"/>
            </a:solidFill>
            <a:prstDash val="solid"/>
          </a:ln>
        </p:spPr>
      </p:sp>
      <p:sp>
        <p:nvSpPr>
          <p:cNvPr id="22" name="Text 20"/>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3" name="Text 21"/>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02주차</a:t>
            </a:r>
            <a:endParaRPr lang="en-US" sz="2600" dirty="0"/>
          </a:p>
        </p:txBody>
      </p:sp>
      <p:sp>
        <p:nvSpPr>
          <p:cNvPr id="24" name="Text 22"/>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자기 역량 분석 및 방향 설정</a:t>
            </a:r>
            <a:endParaRPr lang="en-US" sz="1700" dirty="0"/>
          </a:p>
        </p:txBody>
      </p:sp>
      <p:sp>
        <p:nvSpPr>
          <p:cNvPr id="25" name="Shape 23"/>
          <p:cNvSpPr/>
          <p:nvPr/>
        </p:nvSpPr>
        <p:spPr>
          <a:xfrm>
            <a:off x="7735824" y="3346704"/>
            <a:ext cx="3431743" cy="7315"/>
          </a:xfrm>
          <a:prstGeom prst="rect">
            <a:avLst/>
          </a:prstGeom>
          <a:solidFill>
            <a:srgbClr val="333333"/>
          </a:solidFill>
          <a:ln w="12700">
            <a:solidFill>
              <a:srgbClr val="333333"/>
            </a:solidFill>
            <a:prstDash val="solid"/>
          </a:ln>
        </p:spPr>
      </p:sp>
      <p:sp>
        <p:nvSpPr>
          <p:cNvPr id="26" name="Text 24"/>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SWOT 기반 자기 역량 분석</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직무별 요구 역량 비교</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포트폴리오 방향 설정 기준</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1:1 상담</a:t>
            </a:r>
            <a:endParaRPr lang="en-US" sz="1150" dirty="0"/>
          </a:p>
        </p:txBody>
      </p:sp>
      <p:sp>
        <p:nvSpPr>
          <p:cNvPr id="27" name="Shape 25"/>
          <p:cNvSpPr/>
          <p:nvPr/>
        </p:nvSpPr>
        <p:spPr>
          <a:xfrm>
            <a:off x="7735824" y="4700016"/>
            <a:ext cx="3431743" cy="7315"/>
          </a:xfrm>
          <a:prstGeom prst="rect">
            <a:avLst/>
          </a:prstGeom>
          <a:solidFill>
            <a:srgbClr val="333333"/>
          </a:solidFill>
          <a:ln w="12700">
            <a:solidFill>
              <a:srgbClr val="333333"/>
            </a:solidFill>
            <a:prstDash val="solid"/>
          </a:ln>
        </p:spPr>
      </p:sp>
      <p:sp>
        <p:nvSpPr>
          <p:cNvPr id="28" name="Text 26"/>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29" name="Text 27"/>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스크랩한 포트폴리오 3개 · 노트북</a:t>
            </a:r>
            <a:endParaRPr lang="en-US" sz="110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포트폴리오제작 · 1주차 OT 및 포트폴리오 이해</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포트폴리오제작 · 1주차 OT 및 포트폴리오 이해</dc:title>
  <dc:subject>원광대학교 2026-2 · 실내·산업디자인학과 3학년 · 15주 · 포트폴리오 완성과 발표</dc:subject>
  <dc:creator>MIN.D</dc:creator>
  <cp:lastModifiedBy>MIN.D</cp:lastModifiedBy>
  <cp:revision>1</cp:revision>
  <dcterms:created xsi:type="dcterms:W3CDTF">2026-10-06T13:04:13Z</dcterms:created>
  <dcterms:modified xsi:type="dcterms:W3CDTF">2026-10-06T13:04:13Z</dcterms:modified>
</cp:coreProperties>
</file>