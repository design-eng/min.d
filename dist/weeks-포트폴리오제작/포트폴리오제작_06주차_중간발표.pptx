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포트폴리오제작 여섯 번째 시간입니다.
오늘은 중간 발표예요. 학기에 큰 마감이 셋인데 그중 둘째입니다.
한 가지 먼저 말씀드릴게요. 오늘 새로 만들어 오실 건 없었습니다. 지금까지 정리하신 자료를 순서대로 엮어 5분 동안 발표하시면 됩니다.
완성도를 보기 위함은 아닙니다. 지금까지 진행을 확인합니다.
덜 된 게 있으면 덜 됐다고 말씀하시면 됩니다. 그게 오늘 제일 중요한 정보입니다.
그리고 오늘 발표만 하고 끝내지 않겠습니다. 뒤쪽 15분에 남은 세 회차를 어떻게 쓸지 같이 정하겠습니다.
남은 수업이 세 번입니다. 11월 10일, 11월 24일, 그리고 12월 8일 기말 발표.
세 번 안에 끝내야 하니까 오늘 우선순위를 정해 두는 게 낫습니다.
[운영 메모]
'완성도를 보기 위함이 아니다'를 반드시 먼저 말할 것. 덜 된 상태로 오는 것을 부끄러워해 아예 안 들어오는 학생이 나온다. 온라인이라 더 그렇다. 발표 못 하겠다는 학생도 화면 공유만 시키고 교수가 물어 가며 끌어낸다.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오늘 진행 순서를 말씀드리겠습니다.
각자 정리한 자료를 5분씩 발표하십니다. 완성본을 보이는 것이 아니라 지금 어디까지 정리되었는지를 보이는 겁니다.
그다음은 다른 분들 발표를 보시는 시간입니다. 이게 생각보다 얻는 것이 많습니다. 나만 덜 된 것이 아니라는 것도 알게 되고, 저 방법은 괜찮다 싶은 것도 보입니다.
발표가 끝나면 남은 세 회차에 무엇을 할지 함께 정하겠습니다.
오늘 마치실 때는 각자 고칠 것 목록을 들고 가시게 됩니다.
[운영 메모]
10분. 둘째를 강조할 것 — 온라인이라 남의 발표 때 딴짓하기 쉽다. 적을 것을 주면 집중한다.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5분 동안 담으실 내용은 네 가지입니다.
누구를 위한 포트폴리오인지부터 말씀해 주십시오. 어느 회사 어느 직무에 낼 자료인지요. 한 문장이면 충분합니다.
그다음은 어떤 프로젝트를 어떤 순서로 넣으시는지입니다. 네 번째 시간에 정하신 이야기 흐름이요. 목록만 띄워 주셔도 됩니다.
세 번째가 오늘의 중심입니다. 대표 프로젝트 세 지면, 지난 회차에 만드신 것입니다.
화면을 띄워 놓고 '여기가 문제, 여기가 과정, 여기가 결과'라고 짚어 주세요. 읽지는 마시고요.
마지막이 지금 막혀 있는 부분입니다. 이것이 오늘 제일 중요합니다.
'자료가 없어서 과정 지면을 못 채웠다'든가 '프로젝트가 두 개뿐이라 모자란 것 같다'든가. 숨기지 마세요.
막힌 걸 말씀하셔야 제가 뭘 도와드릴지 압니다. 잘된 것만 보여 주시면 오늘 얻어 가실 게 없어요.
[운영 메모]
넷째를 건너뛰는 학생이 반이다. 앞사람이 말하면 따라 말하므로, 첫 발표자를 비교적 솔직한 학생으로 배치할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발표하실 때 쓰실 문장 이야기입니다.\n\n말하듯 쓰시면 안 됩니다. 보고서 문장으로 쓰셔야 해요.\n\n첫 줄을 보십시오. '레이아웃을 만들었다.' 틀린 말은 아닙니다. 그런데 무엇을 했는지만 있고 왜 했는지, 무엇이 나왔는지가 없습니다.\n\n오른쪽은 '일관된 레이아웃 시스템을 설계하였다'입니다. 같은 일을 했는데 읽는 사람이 받는 인상이 다릅니다.\n\n둘째 줄. '어떤 사람에게 보여줄 것인지 정하였다.' 누구인지가 없지요. 오른쪽은 목표 직무와 채용 담당자라고 적었습니다.\n\n셋째 줄. '비슷한 사례를 찾아서 분석하였다'에서 끝나면 분석해서 무엇이 나왔는지를 모릅니다. 구성 방식과 표현 전략을 도출하였다까지 적으십시오.\n\n넷째 줄이 제일 많이 나오는 문장입니다. '많은 것을 배우게 되었다.' 이건 아무 내용이 없습니다. 무엇을 경험해서 어떤 역량이 늘었는지 적으셔야 합니다.
[운영 메모]
넷째 줄('많은 것을 배우게 되었다')은 매년 전원이 쓴다. 이 문장을 그 자리에서 한 명 것으로 고쳐 보이면 나머지가 따라온다.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정리하면 다섯 가지입니다.\n\n어미를 '~하였다'로 통일하십시오. 했다, 만들었다 같은 말은 발표문에 쓰지 않습니다.\n\n한 문장에 과정과 결과를 함께 담으십시오. 무엇을 해서 무엇이 나왔는지까지요.\n\n말을 전문 용어로 바꾸십시오. 정리하였다, 구축하였다, 설계하였다, 도출하였다. 같은 일인데 다르게 읽힙니다.\n\n길이는 한 줄로 줄이십시오. 발표하면서 숨 쉬지 않고 읽을 수 있는 길이입니다.\n\n마지막으로 읽는 사람을 생각하십시오. 교수와 심사위원이 읽습니다. 그분들이 읽기 좋은 보고서 톤으로 쓰시면 됩니다.
[운영 메모]
마지막 결론 문장을 꼭 읽어 줄 것. 문장만 다듬어 오려다 내용이 비어 있다는 것을 스스로 발견하게 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같은 5분인데 쓰는 법이 갈립니다.
첫 줄. 왼쪽은 앞에서부터 차례로 넘깁니다. 표지부터요. 그러다 5분이 끝나고 대표 프로젝트를 못 보여 줍니다.
오른쪽은 세 지면부터 띄워 놓고 시작합니다. 제일 보여 주고 싶은 걸 먼저요.
둘째 줄. 왼쪽은 지면에 적힌 글을 읽습니다. 듣는 사람은 이미 읽었어요. 읽는 동안 아무 정보도 안 늘어납니다.
오른쪽은 적힌 것 말고 다른 걸 말합니다. 왜 이 순서로 놨는지 같은 거요.
셋째 줄. 왼쪽은 변명으로 시작합니다. '시간이 없어서' '아직 덜 해서'. 5분 중에 1분을 여기 씁니다.
오른쪽은 어디까지 했는지를 먼저 말하고 넘어갑니다.
넷째 줄. 왼쪽은 잘된 것만 보입니다. 그러면 제가 드릴 말씀이 없어요. 오른쪽은 막힌 걸 묻습니다.
[운영 메모]
셋째 줄을 먼저 말해 둘 것. 변명으로 1분을 쓰는 학생이 매년 절반이다.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듣기만 하시면 안 됩니다. 적으면서 들으세요.
왼쪽이 적으실 내용입니다.
저 분 포트폴리오를 한마디로 하면 무엇인지 먼저 적어 보십시오. 듣고 나서 한마디가 안 나오면, 그것 자체가 발표자에게 중요한 정보입니다.
그다음은 제일 눈에 들어온 지면 하나와 그 까닭입니다.
세 번째가 얻는 것이 제일 많습니다. 나는 안 하고 있는데 저 분은 하고 있는 것이요.
마지막으로 묻고 싶은 것 하나를 적어 주십시오.
오른쪽은 말할 때 지킬 것입니다.
좋다 나쁘다로 말하지 마세요. '어느 지면이 무엇 때문에 안 읽혔다' 이렇게요.
고쳐 주려고 하지 마시고요. 어디서 걸렸는지만 말씀하시면 됩니다. 어떻게 고칠지는 본인이 정합니다.
한 사람당 한 줄이면 충분합니다. 길게 안 쓰셔도 돼요.
[운영 메모]
온라인이라 채팅으로 받는 편이 빠르다. 발표 끝날 때마다 바로 올리게 할 것 — 몰아서 받으면 앞사람 것을 아무도 못 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발표가 끝났으니 남은 일정을 보겠습니다.
세 번 남았습니다.
11월 10일이 색과 편집이에요. 색과 글자를 한 벌로 정하고 지면끼리 통일하는 회차입니다. 오늘 과제인 레퍼런스 20장이 그날 재료고요.
11월 24일이 마무리입니다. 편집을 끝내고 온라인에 올립니다. 그리고 뒤쪽에 발표 연습을 넣었습니다.
12월 8일이 기말 발표고요.
보시면 아시겠지만 만들 시간은 두 번뿐입니다. 그사이가 2주씩이라 실제로는 4주고요.
그러니까 오늘 받으신 말 중에 무엇을 고칠지 골라야 합니다. 다 못 고칩니다.
[운영 메모]
'다 못 고친다'를 분명히 말할 것. 이 말이 없으면 수정 계획표에 받은 의견을 전부 적어 온다.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과제인 수정 계획표를 어떻게 만드는지 말씀드리겠습니다.
오늘 받으신 말을 전부 적는 것부터 하십시오. 제 말, 동료분들 채팅, 전부요. 거르지 말고 일단 다 적습니다.
그다음 고칠 것과 안 고칠 것으로 나누십시오.
여기서 많이들 전부 고칠 것으로 넣으세요. 그러면 계획표가 아니라 그냥 목록입니다.
안 고칠 것에는 왜 안 고치는지 한 줄 붙이세요. '이건 다른 직무를 노린 조언이라 내 방향과 안 맞는다' 이런 식으로요.
그렇게 나누신 다음, 고칠 것을 7회차와 8회차에 나눠 적으십시오.
색과 글자에 관한 건 7회차입니다. 지면을 더 만들거나 구조를 바꾸는 건 7회차 전에 하셔야 하고요.
마지막으로 7회차 전까지 할 것에 표시해 두십시오. 그것이 앞으로 2주 동안 하실 일입니다.
[운영 메모]
둘째 단계가 핵심이다. '안 고칠 것'이 비어 있는 계획표는 돌려보낼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마치기 전에 여섯 줄을 확인하시겠습니다.
앞의 두 줄은 발표에 관한 것입니다.
세 번째 줄을 꼭 보십시오. 동료분들 의견을 다 받아 적으셨는지요. 채팅 내용은 수업이 끝나면 사라지니 지금 복사해 두셔야 합니다.
네 번째가 제일 중요합니다. 고칠 것 가운데 7회차 전에 할 것을 고르셨는지요.
그 아래 줄도 함께 보십시오. 안 고칠 것이 하나라도 있는지입니다. 하나도 없으면 아직 고르지 않으신 겁니다.
마지막은 레퍼런스 폴더입니다. 오늘 만들어 두시고 2주 동안 채우시면 됩니다.
[운영 메모]
셋째 줄을 꼭 짚을 것. 온라인 채팅은 수업이 끝나면 사라져 동료 의견을 통째로 잃는 학생이 매년 나온다.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정리하겠습니다.
과제는 세 가지입니다.
수정 계획표부터 말씀드리겠습니다. 오늘 받으신 말을 전부 적으십시오. 제 말도 적고 동료분들 말도 적으시고요.
그다음이 중요합니다. 고칠 것과 안 고칠 것으로 나누세요.
전부 고치려고 하지 마세요. 그러다 방향이 흔들립니다. 안 고칠 것에는 왜 안 고치는지 한 줄만 붙여 두시면 됩니다.
그리고 고칠 것은 7회차에 할지 8회차에 할지 적어 두세요. 남은 게 두 번뿐이니까요.
두 번째는 남은 프로젝트 지면입니다. 대표 프로젝트는 세 지면 만드셨지요. 나머지도 같은 구조로 만드세요.
색과 서체는 아직 안 하셔도 됩니다. 다음 회차에 합니다.
세 번째는 레퍼런스 20장입니다. 7회차 재료가 됩니다.
포트폴리오 사례를 모으시는 게 아닙니다. 색, 글자, 사진 분위기를 보는 자료예요. 잡지도 되고 브랜드 홈페이지도 됩니다.
세 가지 다 11월 10일 수업 전까지입니다. 2주 있습니다.
[운영 메모]
'안 고칠 것'을 반드시 적게 할 것. 모든 의견을 반영하려다 방향이 흔들리는 경우가 가장 많다. 레퍼런스를 '잘 만든 포트폴리오'로 모아 오는 학생이 매년 있으므로 3회차와 다르다는 점을 분명히 말한다.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2 콘텐츠 구조화와 비주얼 시스템</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06</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7894015" y="713232"/>
            <a:ext cx="3657600" cy="1517904"/>
          </a:xfrm>
          <a:prstGeom prst="rect">
            <a:avLst/>
          </a:prstGeom>
          <a:noFill/>
          <a:ln/>
        </p:spPr>
        <p:txBody>
          <a:bodyPr wrap="square" lIns="0" tIns="0" rIns="0" bIns="0" rtlCol="0" anchor="ctr"/>
          <a:lstStyle/>
          <a:p>
            <a:pPr algn="r" indent="0" marL="0">
              <a:buNone/>
            </a:pPr>
            <a:r>
              <a:rPr lang="en-US" sz="13200" dirty="0">
                <a:solidFill>
                  <a:srgbClr val="111111"/>
                </a:solidFill>
                <a:latin typeface="Pretendard SemiBold" pitchFamily="34" charset="0"/>
                <a:ea typeface="Pretendard SemiBold" pitchFamily="34" charset="-122"/>
                <a:cs typeface="Pretendard SemiBold" pitchFamily="34" charset="-120"/>
              </a:rPr>
              <a:t>06</a:t>
            </a:r>
            <a:endParaRPr lang="en-US" sz="13200" dirty="0"/>
          </a:p>
        </p:txBody>
      </p:sp>
      <p:sp>
        <p:nvSpPr>
          <p:cNvPr id="7" name="Shape 5"/>
          <p:cNvSpPr/>
          <p:nvPr/>
        </p:nvSpPr>
        <p:spPr>
          <a:xfrm>
            <a:off x="941832" y="877824"/>
            <a:ext cx="0" cy="603504"/>
          </a:xfrm>
          <a:prstGeom prst="line">
            <a:avLst/>
          </a:prstGeom>
          <a:noFill/>
          <a:ln w="15875">
            <a:solidFill>
              <a:srgbClr val="111111"/>
            </a:solidFill>
            <a:prstDash val="solid"/>
          </a:ln>
        </p:spPr>
      </p:sp>
      <p:sp>
        <p:nvSpPr>
          <p:cNvPr id="8" name="Shape 6"/>
          <p:cNvSpPr/>
          <p:nvPr/>
        </p:nvSpPr>
        <p:spPr>
          <a:xfrm>
            <a:off x="640080" y="1239926"/>
            <a:ext cx="301752" cy="241402"/>
          </a:xfrm>
          <a:prstGeom prst="line">
            <a:avLst/>
          </a:prstGeom>
          <a:noFill/>
          <a:ln w="15875">
            <a:solidFill>
              <a:srgbClr val="111111"/>
            </a:solidFill>
            <a:prstDash val="solid"/>
          </a:ln>
        </p:spPr>
      </p:sp>
      <p:sp>
        <p:nvSpPr>
          <p:cNvPr id="9" name="Shape 7"/>
          <p:cNvSpPr/>
          <p:nvPr/>
        </p:nvSpPr>
        <p:spPr>
          <a:xfrm flipV="1">
            <a:off x="941832" y="1239926"/>
            <a:ext cx="301752" cy="241402"/>
          </a:xfrm>
          <a:prstGeom prst="line">
            <a:avLst/>
          </a:prstGeom>
          <a:noFill/>
          <a:ln w="15875">
            <a:solidFill>
              <a:srgbClr val="111111"/>
            </a:solidFill>
            <a:prstDash val="solid"/>
          </a:ln>
        </p:spPr>
      </p:sp>
      <p:sp>
        <p:nvSpPr>
          <p:cNvPr id="10" name="Text 8"/>
          <p:cNvSpPr/>
          <p:nvPr/>
        </p:nvSpPr>
        <p:spPr>
          <a:xfrm>
            <a:off x="640080" y="1901952"/>
            <a:ext cx="7498080" cy="237744"/>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WEEK 06  ·  PHASE 2 콘텐츠 구조화와 비주얼 시스템</a:t>
            </a:r>
            <a:endParaRPr lang="en-US" sz="950" dirty="0"/>
          </a:p>
        </p:txBody>
      </p:sp>
      <p:sp>
        <p:nvSpPr>
          <p:cNvPr id="11" name="Text 9"/>
          <p:cNvSpPr/>
          <p:nvPr/>
        </p:nvSpPr>
        <p:spPr>
          <a:xfrm>
            <a:off x="640080" y="2194560"/>
            <a:ext cx="8595360" cy="1225296"/>
          </a:xfrm>
          <a:prstGeom prst="rect">
            <a:avLst/>
          </a:prstGeom>
          <a:noFill/>
          <a:ln/>
        </p:spPr>
        <p:txBody>
          <a:bodyPr wrap="square" lIns="0" tIns="0" rIns="0" bIns="0" rtlCol="0" anchor="t"/>
          <a:lstStyle/>
          <a:p>
            <a:pPr indent="0" marL="0">
              <a:lnSpc>
                <a:spcPct val="112000"/>
              </a:lnSpc>
              <a:buNone/>
            </a:pPr>
            <a:r>
              <a:rPr lang="en-US" sz="3400" dirty="0">
                <a:solidFill>
                  <a:srgbClr val="111111"/>
                </a:solidFill>
                <a:latin typeface="Pretendard SemiBold" pitchFamily="34" charset="0"/>
                <a:ea typeface="Pretendard SemiBold" pitchFamily="34" charset="-122"/>
                <a:cs typeface="Pretendard SemiBold" pitchFamily="34" charset="-120"/>
              </a:rPr>
              <a:t>중간 발표 — 지금까지 정리된 포트폴리오를 발표합니다</a:t>
            </a:r>
            <a:endParaRPr lang="en-US" sz="3400" dirty="0"/>
          </a:p>
        </p:txBody>
      </p:sp>
      <p:sp>
        <p:nvSpPr>
          <p:cNvPr id="12" name="Text 10"/>
          <p:cNvSpPr/>
          <p:nvPr/>
        </p:nvSpPr>
        <p:spPr>
          <a:xfrm>
            <a:off x="640080" y="3547872"/>
            <a:ext cx="7863840" cy="694944"/>
          </a:xfrm>
          <a:prstGeom prst="rect">
            <a:avLst/>
          </a:prstGeom>
          <a:noFill/>
          <a:ln/>
        </p:spPr>
        <p:txBody>
          <a:bodyPr wrap="square" lIns="0" tIns="0" rIns="0" bIns="0" rtlCol="0" anchor="t"/>
          <a:lstStyle/>
          <a:p>
            <a:pPr indent="0" marL="0">
              <a:lnSpc>
                <a:spcPct val="130000"/>
              </a:lnSpc>
              <a:buNone/>
            </a:pPr>
            <a:r>
              <a:rPr lang="en-US" sz="1600" dirty="0">
                <a:solidFill>
                  <a:srgbClr val="6E6E6E"/>
                </a:solidFill>
                <a:latin typeface="Pretendard Light" pitchFamily="34" charset="0"/>
                <a:ea typeface="Pretendard Light" pitchFamily="34" charset="-122"/>
                <a:cs typeface="Pretendard Light" pitchFamily="34" charset="-120"/>
              </a:rPr>
              <a:t>본인의 자료를 5분 동안 발표하며,</a:t>
            </a:r>
            <a:endParaRPr lang="en-US" sz="1600" dirty="0"/>
          </a:p>
          <a:p>
            <a:pPr indent="0" marL="0">
              <a:lnSpc>
                <a:spcPct val="130000"/>
              </a:lnSpc>
              <a:buNone/>
            </a:pPr>
            <a:r>
              <a:rPr lang="en-US" sz="1600" dirty="0">
                <a:solidFill>
                  <a:srgbClr val="6E6E6E"/>
                </a:solidFill>
                <a:latin typeface="Pretendard Light" pitchFamily="34" charset="0"/>
                <a:ea typeface="Pretendard Light" pitchFamily="34" charset="-122"/>
                <a:cs typeface="Pretendard Light" pitchFamily="34" charset="-120"/>
              </a:rPr>
              <a:t>남은 수업 기간 동안 최종 수정하여 제출합니다.</a:t>
            </a:r>
            <a:endParaRPr lang="en-US" sz="1600" dirty="0"/>
          </a:p>
        </p:txBody>
      </p:sp>
      <p:sp>
        <p:nvSpPr>
          <p:cNvPr id="13" name="Shape 11"/>
          <p:cNvSpPr/>
          <p:nvPr/>
        </p:nvSpPr>
        <p:spPr>
          <a:xfrm>
            <a:off x="640080" y="4443984"/>
            <a:ext cx="2743200" cy="7315"/>
          </a:xfrm>
          <a:prstGeom prst="rect">
            <a:avLst/>
          </a:prstGeom>
          <a:solidFill>
            <a:srgbClr val="111111"/>
          </a:solidFill>
          <a:ln w="12700">
            <a:solidFill>
              <a:srgbClr val="111111"/>
            </a:solidFill>
            <a:prstDash val="solid"/>
          </a:ln>
        </p:spPr>
      </p:sp>
      <p:sp>
        <p:nvSpPr>
          <p:cNvPr id="14" name="Text 12"/>
          <p:cNvSpPr/>
          <p:nvPr/>
        </p:nvSpPr>
        <p:spPr>
          <a:xfrm>
            <a:off x="640080" y="4645152"/>
            <a:ext cx="914400" cy="292608"/>
          </a:xfrm>
          <a:prstGeom prst="rect">
            <a:avLst/>
          </a:prstGeom>
          <a:noFill/>
          <a:ln/>
        </p:spPr>
        <p:txBody>
          <a:bodyPr wrap="square" lIns="0" tIns="0" rIns="0" bIns="0" rtlCol="0" anchor="ctr"/>
          <a:lstStyle/>
          <a:p>
            <a:pPr indent="0" marL="0">
              <a:buNone/>
            </a:pPr>
            <a:r>
              <a:rPr lang="en-US" sz="950" spc="140" kern="0" dirty="0">
                <a:solidFill>
                  <a:srgbClr val="9B9B9B"/>
                </a:solidFill>
                <a:latin typeface="Pretendard" pitchFamily="34" charset="0"/>
                <a:ea typeface="Pretendard" pitchFamily="34" charset="-122"/>
                <a:cs typeface="Pretendard" pitchFamily="34" charset="-120"/>
              </a:rPr>
              <a:t>과목</a:t>
            </a:r>
            <a:endParaRPr lang="en-US" sz="950" dirty="0"/>
          </a:p>
        </p:txBody>
      </p:sp>
      <p:sp>
        <p:nvSpPr>
          <p:cNvPr id="15" name="Text 13"/>
          <p:cNvSpPr/>
          <p:nvPr/>
        </p:nvSpPr>
        <p:spPr>
          <a:xfrm>
            <a:off x="1645920" y="4645152"/>
            <a:ext cx="7680960" cy="292608"/>
          </a:xfrm>
          <a:prstGeom prst="rect">
            <a:avLst/>
          </a:prstGeom>
          <a:noFill/>
          <a:ln/>
        </p:spPr>
        <p:txBody>
          <a:bodyPr wrap="square" lIns="0" tIns="0" rIns="0" bIns="0" rtlCol="0" anchor="ctr"/>
          <a:lstStyle/>
          <a:p>
            <a:pPr indent="0" marL="0">
              <a:buNone/>
            </a:pPr>
            <a:r>
              <a:rPr lang="en-US" sz="1200" dirty="0">
                <a:solidFill>
                  <a:srgbClr val="1F1F1F"/>
                </a:solidFill>
                <a:latin typeface="Pretendard" pitchFamily="34" charset="0"/>
                <a:ea typeface="Pretendard" pitchFamily="34" charset="-122"/>
                <a:cs typeface="Pretendard" pitchFamily="34" charset="-120"/>
              </a:rPr>
              <a:t>포트폴리오제작 · 실내·산업디자인학과 3학년</a:t>
            </a:r>
            <a:endParaRPr lang="en-US" sz="1200" dirty="0"/>
          </a:p>
        </p:txBody>
      </p:sp>
      <p:sp>
        <p:nvSpPr>
          <p:cNvPr id="16" name="Text 14"/>
          <p:cNvSpPr/>
          <p:nvPr/>
        </p:nvSpPr>
        <p:spPr>
          <a:xfrm>
            <a:off x="640080" y="5029200"/>
            <a:ext cx="914400" cy="292608"/>
          </a:xfrm>
          <a:prstGeom prst="rect">
            <a:avLst/>
          </a:prstGeom>
          <a:noFill/>
          <a:ln/>
        </p:spPr>
        <p:txBody>
          <a:bodyPr wrap="square" lIns="0" tIns="0" rIns="0" bIns="0" rtlCol="0" anchor="ctr"/>
          <a:lstStyle/>
          <a:p>
            <a:pPr indent="0" marL="0">
              <a:buNone/>
            </a:pPr>
            <a:r>
              <a:rPr lang="en-US" sz="950" spc="140" kern="0" dirty="0">
                <a:solidFill>
                  <a:srgbClr val="9B9B9B"/>
                </a:solidFill>
                <a:latin typeface="Pretendard" pitchFamily="34" charset="0"/>
                <a:ea typeface="Pretendard" pitchFamily="34" charset="-122"/>
                <a:cs typeface="Pretendard" pitchFamily="34" charset="-120"/>
              </a:rPr>
              <a:t>수업일</a:t>
            </a:r>
            <a:endParaRPr lang="en-US" sz="950" dirty="0"/>
          </a:p>
        </p:txBody>
      </p:sp>
      <p:sp>
        <p:nvSpPr>
          <p:cNvPr id="17" name="Text 15"/>
          <p:cNvSpPr/>
          <p:nvPr/>
        </p:nvSpPr>
        <p:spPr>
          <a:xfrm>
            <a:off x="1645920" y="5029200"/>
            <a:ext cx="7680960" cy="292608"/>
          </a:xfrm>
          <a:prstGeom prst="rect">
            <a:avLst/>
          </a:prstGeom>
          <a:noFill/>
          <a:ln/>
        </p:spPr>
        <p:txBody>
          <a:bodyPr wrap="square" lIns="0" tIns="0" rIns="0" bIns="0" rtlCol="0" anchor="ctr"/>
          <a:lstStyle/>
          <a:p>
            <a:pPr indent="0" marL="0">
              <a:buNone/>
            </a:pPr>
            <a:r>
              <a:rPr lang="en-US" sz="1200" dirty="0">
                <a:solidFill>
                  <a:srgbClr val="1F1F1F"/>
                </a:solidFill>
                <a:latin typeface="Pretendard" pitchFamily="34" charset="0"/>
                <a:ea typeface="Pretendard" pitchFamily="34" charset="-122"/>
                <a:cs typeface="Pretendard" pitchFamily="34" charset="-120"/>
              </a:rPr>
              <a:t>2026-10-27(화)</a:t>
            </a:r>
            <a:endParaRPr lang="en-US" sz="1200" dirty="0"/>
          </a:p>
        </p:txBody>
      </p:sp>
      <p:sp>
        <p:nvSpPr>
          <p:cNvPr id="18" name="Text 16"/>
          <p:cNvSpPr/>
          <p:nvPr/>
        </p:nvSpPr>
        <p:spPr>
          <a:xfrm>
            <a:off x="640080" y="5413248"/>
            <a:ext cx="914400" cy="292608"/>
          </a:xfrm>
          <a:prstGeom prst="rect">
            <a:avLst/>
          </a:prstGeom>
          <a:noFill/>
          <a:ln/>
        </p:spPr>
        <p:txBody>
          <a:bodyPr wrap="square" lIns="0" tIns="0" rIns="0" bIns="0" rtlCol="0" anchor="ctr"/>
          <a:lstStyle/>
          <a:p>
            <a:pPr indent="0" marL="0">
              <a:buNone/>
            </a:pPr>
            <a:r>
              <a:rPr lang="en-US" sz="950" spc="140" kern="0" dirty="0">
                <a:solidFill>
                  <a:srgbClr val="9B9B9B"/>
                </a:solidFill>
                <a:latin typeface="Pretendard" pitchFamily="34" charset="0"/>
                <a:ea typeface="Pretendard" pitchFamily="34" charset="-122"/>
                <a:cs typeface="Pretendard" pitchFamily="34" charset="-120"/>
              </a:rPr>
              <a:t>제출물</a:t>
            </a:r>
            <a:endParaRPr lang="en-US" sz="950" dirty="0"/>
          </a:p>
        </p:txBody>
      </p:sp>
      <p:sp>
        <p:nvSpPr>
          <p:cNvPr id="19" name="Text 17"/>
          <p:cNvSpPr/>
          <p:nvPr/>
        </p:nvSpPr>
        <p:spPr>
          <a:xfrm>
            <a:off x="1645920" y="5413248"/>
            <a:ext cx="7680960" cy="292608"/>
          </a:xfrm>
          <a:prstGeom prst="rect">
            <a:avLst/>
          </a:prstGeom>
          <a:noFill/>
          <a:ln/>
        </p:spPr>
        <p:txBody>
          <a:bodyPr wrap="square" lIns="0" tIns="0" rIns="0" bIns="0" rtlCol="0" anchor="ctr"/>
          <a:lstStyle/>
          <a:p>
            <a:pPr indent="0" marL="0">
              <a:buNone/>
            </a:pPr>
            <a:r>
              <a:rPr lang="en-US" sz="1200" dirty="0">
                <a:solidFill>
                  <a:srgbClr val="1F1F1F"/>
                </a:solidFill>
                <a:latin typeface="Pretendard" pitchFamily="34" charset="0"/>
                <a:ea typeface="Pretendard" pitchFamily="34" charset="-122"/>
                <a:cs typeface="Pretendard" pitchFamily="34" charset="-120"/>
              </a:rPr>
              <a:t>5분 발표 · 동료 의견 기록 · 수정 계획표</a:t>
            </a:r>
            <a:endParaRPr lang="en-US" sz="1200" dirty="0"/>
          </a:p>
        </p:txBody>
      </p:sp>
      <p:sp>
        <p:nvSpPr>
          <p:cNvPr id="20" name="Text 18"/>
          <p:cNvSpPr/>
          <p:nvPr/>
        </p:nvSpPr>
        <p:spPr>
          <a:xfrm>
            <a:off x="640080" y="5797296"/>
            <a:ext cx="914400" cy="292608"/>
          </a:xfrm>
          <a:prstGeom prst="rect">
            <a:avLst/>
          </a:prstGeom>
          <a:noFill/>
          <a:ln/>
        </p:spPr>
        <p:txBody>
          <a:bodyPr wrap="square" lIns="0" tIns="0" rIns="0" bIns="0" rtlCol="0" anchor="ctr"/>
          <a:lstStyle/>
          <a:p>
            <a:pPr indent="0" marL="0">
              <a:buNone/>
            </a:pPr>
            <a:r>
              <a:rPr lang="en-US" sz="950" spc="140" kern="0" dirty="0">
                <a:solidFill>
                  <a:srgbClr val="9B9B9B"/>
                </a:solidFill>
                <a:latin typeface="Pretendard" pitchFamily="34" charset="0"/>
                <a:ea typeface="Pretendard" pitchFamily="34" charset="-122"/>
                <a:cs typeface="Pretendard" pitchFamily="34" charset="-120"/>
              </a:rPr>
              <a:t>작성일</a:t>
            </a:r>
            <a:endParaRPr lang="en-US" sz="950" dirty="0"/>
          </a:p>
        </p:txBody>
      </p:sp>
      <p:sp>
        <p:nvSpPr>
          <p:cNvPr id="21" name="Text 19"/>
          <p:cNvSpPr/>
          <p:nvPr/>
        </p:nvSpPr>
        <p:spPr>
          <a:xfrm>
            <a:off x="1645920" y="5797296"/>
            <a:ext cx="7680960" cy="292608"/>
          </a:xfrm>
          <a:prstGeom prst="rect">
            <a:avLst/>
          </a:prstGeom>
          <a:noFill/>
          <a:ln/>
        </p:spPr>
        <p:txBody>
          <a:bodyPr wrap="square" lIns="0" tIns="0" rIns="0" bIns="0" rtlCol="0" anchor="ctr"/>
          <a:lstStyle/>
          <a:p>
            <a:pPr indent="0" marL="0">
              <a:buNone/>
            </a:pPr>
            <a:r>
              <a:rPr lang="en-US" sz="1200" dirty="0">
                <a:solidFill>
                  <a:srgbClr val="1F1F1F"/>
                </a:solidFill>
                <a:latin typeface="Pretendard" pitchFamily="34" charset="0"/>
                <a:ea typeface="Pretendard" pitchFamily="34" charset="-122"/>
                <a:cs typeface="Pretendard" pitchFamily="34" charset="-120"/>
              </a:rPr>
              <a:t>2026-10-27</a:t>
            </a:r>
            <a:endParaRPr lang="en-US" sz="1200" dirty="0"/>
          </a:p>
        </p:txBody>
      </p:sp>
      <p:sp>
        <p:nvSpPr>
          <p:cNvPr id="22" name="Text 20"/>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9B9B9B"/>
                </a:solidFill>
                <a:latin typeface="Pretendard" pitchFamily="34" charset="0"/>
                <a:ea typeface="Pretendard" pitchFamily="34" charset="-122"/>
                <a:cs typeface="Pretendard" pitchFamily="34" charset="-120"/>
              </a:rPr>
              <a:t>WONKWANG UNIV · 2026-2</a:t>
            </a:r>
            <a:endParaRPr lang="en-US" sz="850" dirty="0"/>
          </a:p>
        </p:txBody>
      </p:sp>
      <p:sp>
        <p:nvSpPr>
          <p:cNvPr id="23" name="Shape 21"/>
          <p:cNvSpPr/>
          <p:nvPr/>
        </p:nvSpPr>
        <p:spPr>
          <a:xfrm>
            <a:off x="640080" y="6291072"/>
            <a:ext cx="10911535" cy="7315"/>
          </a:xfrm>
          <a:prstGeom prst="rect">
            <a:avLst/>
          </a:prstGeom>
          <a:solidFill>
            <a:srgbClr val="DCDCDC"/>
          </a:solidFill>
          <a:ln w="12700">
            <a:solidFill>
              <a:srgbClr val="DCDCDC"/>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2 콘텐츠 구조화와 비주얼 시스템</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06</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TODAY</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오늘 진행 순서</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완성도를 보기 위함은 아닙니다. 지금까지 진행을 확인합니다.</a:t>
            </a:r>
            <a:endParaRPr lang="en-US" sz="1150" dirty="0"/>
          </a:p>
        </p:txBody>
      </p:sp>
      <p:sp>
        <p:nvSpPr>
          <p:cNvPr id="9" name="Shape 7"/>
          <p:cNvSpPr/>
          <p:nvPr/>
        </p:nvSpPr>
        <p:spPr>
          <a:xfrm>
            <a:off x="640080" y="1664208"/>
            <a:ext cx="10911535" cy="7315"/>
          </a:xfrm>
          <a:prstGeom prst="rect">
            <a:avLst/>
          </a:prstGeom>
          <a:solidFill>
            <a:srgbClr val="111111"/>
          </a:solidFill>
          <a:ln w="12700">
            <a:solidFill>
              <a:srgbClr val="111111"/>
            </a:solidFill>
            <a:prstDash val="solid"/>
          </a:ln>
        </p:spPr>
      </p:sp>
      <p:sp>
        <p:nvSpPr>
          <p:cNvPr id="10" name="Shape 8"/>
          <p:cNvSpPr/>
          <p:nvPr/>
        </p:nvSpPr>
        <p:spPr>
          <a:xfrm>
            <a:off x="640080" y="1810512"/>
            <a:ext cx="310896" cy="310896"/>
          </a:xfrm>
          <a:prstGeom prst="ellipse">
            <a:avLst/>
          </a:prstGeom>
          <a:solidFill>
            <a:srgbClr val="FFFFFF"/>
          </a:solidFill>
          <a:ln w="12700">
            <a:solidFill>
              <a:srgbClr val="111111"/>
            </a:solidFill>
            <a:prstDash val="solid"/>
          </a:ln>
        </p:spPr>
      </p:sp>
      <p:sp>
        <p:nvSpPr>
          <p:cNvPr id="11" name="Text 9"/>
          <p:cNvSpPr/>
          <p:nvPr/>
        </p:nvSpPr>
        <p:spPr>
          <a:xfrm>
            <a:off x="640080" y="1810512"/>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a:t>
            </a:r>
            <a:endParaRPr lang="en-US" sz="1000" dirty="0"/>
          </a:p>
        </p:txBody>
      </p:sp>
      <p:sp>
        <p:nvSpPr>
          <p:cNvPr id="12" name="Text 10"/>
          <p:cNvSpPr/>
          <p:nvPr/>
        </p:nvSpPr>
        <p:spPr>
          <a:xfrm>
            <a:off x="1188720" y="1719072"/>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각자 정리한 포트폴리오를 5분씩 발표합니다</a:t>
            </a:r>
            <a:endParaRPr lang="en-US" sz="1450" dirty="0"/>
          </a:p>
        </p:txBody>
      </p:sp>
      <p:sp>
        <p:nvSpPr>
          <p:cNvPr id="13" name="Text 11"/>
          <p:cNvSpPr/>
          <p:nvPr/>
        </p:nvSpPr>
        <p:spPr>
          <a:xfrm>
            <a:off x="1188720" y="2029968"/>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정리한 지면을 순서대로 넘깁니다. 덜 된 것은 덜 됐다고 말하면 됩니다</a:t>
            </a:r>
            <a:endParaRPr lang="en-US" sz="1100" dirty="0"/>
          </a:p>
        </p:txBody>
      </p:sp>
      <p:sp>
        <p:nvSpPr>
          <p:cNvPr id="14" name="Shape 12"/>
          <p:cNvSpPr/>
          <p:nvPr/>
        </p:nvSpPr>
        <p:spPr>
          <a:xfrm>
            <a:off x="640080" y="2670048"/>
            <a:ext cx="10911535" cy="7315"/>
          </a:xfrm>
          <a:prstGeom prst="rect">
            <a:avLst/>
          </a:prstGeom>
          <a:solidFill>
            <a:srgbClr val="DCDCDC"/>
          </a:solidFill>
          <a:ln w="12700">
            <a:solidFill>
              <a:srgbClr val="DCDCDC"/>
            </a:solidFill>
            <a:prstDash val="solid"/>
          </a:ln>
        </p:spPr>
      </p:sp>
      <p:sp>
        <p:nvSpPr>
          <p:cNvPr id="15" name="Shape 13"/>
          <p:cNvSpPr/>
          <p:nvPr/>
        </p:nvSpPr>
        <p:spPr>
          <a:xfrm>
            <a:off x="640080" y="2834640"/>
            <a:ext cx="310896" cy="310896"/>
          </a:xfrm>
          <a:prstGeom prst="ellipse">
            <a:avLst/>
          </a:prstGeom>
          <a:solidFill>
            <a:srgbClr val="FFFFFF"/>
          </a:solidFill>
          <a:ln w="12700">
            <a:solidFill>
              <a:srgbClr val="111111"/>
            </a:solidFill>
            <a:prstDash val="solid"/>
          </a:ln>
        </p:spPr>
      </p:sp>
      <p:sp>
        <p:nvSpPr>
          <p:cNvPr id="16" name="Text 14"/>
          <p:cNvSpPr/>
          <p:nvPr/>
        </p:nvSpPr>
        <p:spPr>
          <a:xfrm>
            <a:off x="640080" y="2834640"/>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2</a:t>
            </a:r>
            <a:endParaRPr lang="en-US" sz="1000" dirty="0"/>
          </a:p>
        </p:txBody>
      </p:sp>
      <p:sp>
        <p:nvSpPr>
          <p:cNvPr id="17" name="Text 15"/>
          <p:cNvSpPr/>
          <p:nvPr/>
        </p:nvSpPr>
        <p:spPr>
          <a:xfrm>
            <a:off x="1188720" y="2743200"/>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다른 사람의 포트폴리오를 봅니다</a:t>
            </a:r>
            <a:endParaRPr lang="en-US" sz="1450" dirty="0"/>
          </a:p>
        </p:txBody>
      </p:sp>
      <p:sp>
        <p:nvSpPr>
          <p:cNvPr id="18" name="Text 16"/>
          <p:cNvSpPr/>
          <p:nvPr/>
        </p:nvSpPr>
        <p:spPr>
          <a:xfrm>
            <a:off x="1188720" y="3054096"/>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적으면서 듣습니다. 그냥 듣고만 있으면 남는 것이 없습니다</a:t>
            </a:r>
            <a:endParaRPr lang="en-US" sz="1100" dirty="0"/>
          </a:p>
        </p:txBody>
      </p:sp>
      <p:sp>
        <p:nvSpPr>
          <p:cNvPr id="19" name="Shape 17"/>
          <p:cNvSpPr/>
          <p:nvPr/>
        </p:nvSpPr>
        <p:spPr>
          <a:xfrm>
            <a:off x="640080" y="3694176"/>
            <a:ext cx="10911535" cy="7315"/>
          </a:xfrm>
          <a:prstGeom prst="rect">
            <a:avLst/>
          </a:prstGeom>
          <a:solidFill>
            <a:srgbClr val="DCDCDC"/>
          </a:solidFill>
          <a:ln w="12700">
            <a:solidFill>
              <a:srgbClr val="DCDCDC"/>
            </a:solidFill>
            <a:prstDash val="solid"/>
          </a:ln>
        </p:spPr>
      </p:sp>
      <p:sp>
        <p:nvSpPr>
          <p:cNvPr id="20" name="Shape 18"/>
          <p:cNvSpPr/>
          <p:nvPr/>
        </p:nvSpPr>
        <p:spPr>
          <a:xfrm>
            <a:off x="640080" y="3858768"/>
            <a:ext cx="310896" cy="310896"/>
          </a:xfrm>
          <a:prstGeom prst="ellipse">
            <a:avLst/>
          </a:prstGeom>
          <a:solidFill>
            <a:srgbClr val="FFFFFF"/>
          </a:solidFill>
          <a:ln w="12700">
            <a:solidFill>
              <a:srgbClr val="111111"/>
            </a:solidFill>
            <a:prstDash val="solid"/>
          </a:ln>
        </p:spPr>
      </p:sp>
      <p:sp>
        <p:nvSpPr>
          <p:cNvPr id="21" name="Text 19"/>
          <p:cNvSpPr/>
          <p:nvPr/>
        </p:nvSpPr>
        <p:spPr>
          <a:xfrm>
            <a:off x="640080" y="3858768"/>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3</a:t>
            </a:r>
            <a:endParaRPr lang="en-US" sz="1000" dirty="0"/>
          </a:p>
        </p:txBody>
      </p:sp>
      <p:sp>
        <p:nvSpPr>
          <p:cNvPr id="22" name="Text 20"/>
          <p:cNvSpPr/>
          <p:nvPr/>
        </p:nvSpPr>
        <p:spPr>
          <a:xfrm>
            <a:off x="1188720" y="3767328"/>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남은 세 회차에 할 일을 정합니다</a:t>
            </a:r>
            <a:endParaRPr lang="en-US" sz="1450" dirty="0"/>
          </a:p>
        </p:txBody>
      </p:sp>
      <p:sp>
        <p:nvSpPr>
          <p:cNvPr id="23" name="Text 21"/>
          <p:cNvSpPr/>
          <p:nvPr/>
        </p:nvSpPr>
        <p:spPr>
          <a:xfrm>
            <a:off x="1188720" y="4078224"/>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11월 10일, 11월 24일, 12월 8일. 수업이 세 번 남았습니다</a:t>
            </a:r>
            <a:endParaRPr lang="en-US" sz="1100" dirty="0"/>
          </a:p>
        </p:txBody>
      </p:sp>
      <p:sp>
        <p:nvSpPr>
          <p:cNvPr id="24" name="Shape 22"/>
          <p:cNvSpPr/>
          <p:nvPr/>
        </p:nvSpPr>
        <p:spPr>
          <a:xfrm>
            <a:off x="640080" y="6291072"/>
            <a:ext cx="10911535" cy="7315"/>
          </a:xfrm>
          <a:prstGeom prst="rect">
            <a:avLst/>
          </a:prstGeom>
          <a:solidFill>
            <a:srgbClr val="DCDCDC"/>
          </a:solidFill>
          <a:ln w="12700">
            <a:solidFill>
              <a:srgbClr val="DCDCDC"/>
            </a:solidFill>
            <a:prstDash val="solid"/>
          </a:ln>
        </p:spPr>
      </p:sp>
      <p:sp>
        <p:nvSpPr>
          <p:cNvPr id="25" name="Text 23"/>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6주차 중간 발표 — 지금까지 정리된 포트폴리오를 발표합니다</a:t>
            </a:r>
            <a:endParaRPr lang="en-US" sz="850" dirty="0"/>
          </a:p>
        </p:txBody>
      </p:sp>
      <p:sp>
        <p:nvSpPr>
          <p:cNvPr id="26" name="Text 24"/>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P.01</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2 콘텐츠 구조화와 비주얼 시스템</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06</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TALK</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5분 발표에 담을 내용</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마지막 하나를 빼지 마십시오. 오늘 제일 중요한 말입니다.</a:t>
            </a:r>
            <a:endParaRPr lang="en-US" sz="1150" dirty="0"/>
          </a:p>
        </p:txBody>
      </p:sp>
      <p:sp>
        <p:nvSpPr>
          <p:cNvPr id="9" name="Shape 7"/>
          <p:cNvSpPr/>
          <p:nvPr/>
        </p:nvSpPr>
        <p:spPr>
          <a:xfrm>
            <a:off x="640080" y="1719072"/>
            <a:ext cx="10911535" cy="777240"/>
          </a:xfrm>
          <a:prstGeom prst="rect">
            <a:avLst/>
          </a:prstGeom>
          <a:solidFill>
            <a:srgbClr val="FFFFFF"/>
          </a:solidFill>
          <a:ln w="12700">
            <a:solidFill>
              <a:srgbClr val="DCDCDC"/>
            </a:solidFill>
            <a:prstDash val="solid"/>
          </a:ln>
        </p:spPr>
      </p:sp>
      <p:sp>
        <p:nvSpPr>
          <p:cNvPr id="10" name="Text 8"/>
          <p:cNvSpPr/>
          <p:nvPr/>
        </p:nvSpPr>
        <p:spPr>
          <a:xfrm>
            <a:off x="1097280" y="1810512"/>
            <a:ext cx="3291840" cy="59436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누구를 위한 포트폴리오인가</a:t>
            </a:r>
            <a:endParaRPr lang="en-US" sz="1450" dirty="0"/>
          </a:p>
        </p:txBody>
      </p:sp>
      <p:sp>
        <p:nvSpPr>
          <p:cNvPr id="11" name="Text 9"/>
          <p:cNvSpPr/>
          <p:nvPr/>
        </p:nvSpPr>
        <p:spPr>
          <a:xfrm>
            <a:off x="4480560" y="1810512"/>
            <a:ext cx="6705295" cy="59436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어느 회사 어느 직무에 낼 건지. 한 문장이면 됩니다.</a:t>
            </a:r>
            <a:endParaRPr lang="en-US" sz="1150" dirty="0"/>
          </a:p>
        </p:txBody>
      </p:sp>
      <p:sp>
        <p:nvSpPr>
          <p:cNvPr id="12" name="Shape 10"/>
          <p:cNvSpPr/>
          <p:nvPr/>
        </p:nvSpPr>
        <p:spPr>
          <a:xfrm>
            <a:off x="640080" y="2642616"/>
            <a:ext cx="10911535" cy="777240"/>
          </a:xfrm>
          <a:prstGeom prst="rect">
            <a:avLst/>
          </a:prstGeom>
          <a:solidFill>
            <a:srgbClr val="FFFFFF"/>
          </a:solidFill>
          <a:ln w="12700">
            <a:solidFill>
              <a:srgbClr val="DCDCDC"/>
            </a:solidFill>
            <a:prstDash val="solid"/>
          </a:ln>
        </p:spPr>
      </p:sp>
      <p:sp>
        <p:nvSpPr>
          <p:cNvPr id="13" name="Text 11"/>
          <p:cNvSpPr/>
          <p:nvPr/>
        </p:nvSpPr>
        <p:spPr>
          <a:xfrm>
            <a:off x="1097280" y="2734056"/>
            <a:ext cx="3291840" cy="59436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어떤 프로젝트를 어떤 순서로</a:t>
            </a:r>
            <a:endParaRPr lang="en-US" sz="1450" dirty="0"/>
          </a:p>
        </p:txBody>
      </p:sp>
      <p:sp>
        <p:nvSpPr>
          <p:cNvPr id="14" name="Text 12"/>
          <p:cNvSpPr/>
          <p:nvPr/>
        </p:nvSpPr>
        <p:spPr>
          <a:xfrm>
            <a:off x="4480560" y="2734056"/>
            <a:ext cx="6705295" cy="59436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4회차에 정한 이야기 흐름입니다. 목록만 띄워도 됩니다.</a:t>
            </a:r>
            <a:endParaRPr lang="en-US" sz="1150" dirty="0"/>
          </a:p>
        </p:txBody>
      </p:sp>
      <p:sp>
        <p:nvSpPr>
          <p:cNvPr id="15" name="Shape 13"/>
          <p:cNvSpPr/>
          <p:nvPr/>
        </p:nvSpPr>
        <p:spPr>
          <a:xfrm>
            <a:off x="640080" y="3566160"/>
            <a:ext cx="10911535" cy="777240"/>
          </a:xfrm>
          <a:prstGeom prst="rect">
            <a:avLst/>
          </a:prstGeom>
          <a:solidFill>
            <a:srgbClr val="FFFFFF"/>
          </a:solidFill>
          <a:ln w="12700">
            <a:solidFill>
              <a:srgbClr val="DCDCDC"/>
            </a:solidFill>
            <a:prstDash val="solid"/>
          </a:ln>
        </p:spPr>
      </p:sp>
      <p:sp>
        <p:nvSpPr>
          <p:cNvPr id="16" name="Text 14"/>
          <p:cNvSpPr/>
          <p:nvPr/>
        </p:nvSpPr>
        <p:spPr>
          <a:xfrm>
            <a:off x="1097280" y="3657600"/>
            <a:ext cx="3291840" cy="59436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대표 프로젝트 세 지면</a:t>
            </a:r>
            <a:endParaRPr lang="en-US" sz="1450" dirty="0"/>
          </a:p>
        </p:txBody>
      </p:sp>
      <p:sp>
        <p:nvSpPr>
          <p:cNvPr id="17" name="Text 15"/>
          <p:cNvSpPr/>
          <p:nvPr/>
        </p:nvSpPr>
        <p:spPr>
          <a:xfrm>
            <a:off x="4480560" y="3657600"/>
            <a:ext cx="6705295" cy="59436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띄워 놓고 문제, 과정, 결과를 짚으세요. 읽지는 마시고요.</a:t>
            </a:r>
            <a:endParaRPr lang="en-US" sz="1150" dirty="0"/>
          </a:p>
        </p:txBody>
      </p:sp>
      <p:sp>
        <p:nvSpPr>
          <p:cNvPr id="18" name="Shape 16"/>
          <p:cNvSpPr/>
          <p:nvPr/>
        </p:nvSpPr>
        <p:spPr>
          <a:xfrm>
            <a:off x="640080" y="4489704"/>
            <a:ext cx="10911535" cy="777240"/>
          </a:xfrm>
          <a:prstGeom prst="rect">
            <a:avLst/>
          </a:prstGeom>
          <a:solidFill>
            <a:srgbClr val="111111"/>
          </a:solidFill>
          <a:ln w="12700">
            <a:solidFill>
              <a:srgbClr val="111111"/>
            </a:solidFill>
            <a:prstDash val="solid"/>
          </a:ln>
        </p:spPr>
      </p:sp>
      <p:sp>
        <p:nvSpPr>
          <p:cNvPr id="19" name="Text 17"/>
          <p:cNvSpPr/>
          <p:nvPr/>
        </p:nvSpPr>
        <p:spPr>
          <a:xfrm>
            <a:off x="1097280" y="4581144"/>
            <a:ext cx="3291840" cy="594360"/>
          </a:xfrm>
          <a:prstGeom prst="rect">
            <a:avLst/>
          </a:prstGeom>
          <a:noFill/>
          <a:ln/>
        </p:spPr>
        <p:txBody>
          <a:bodyPr wrap="square" lIns="0" tIns="0" rIns="0" bIns="0" rtlCol="0" anchor="ctr"/>
          <a:lstStyle/>
          <a:p>
            <a:pPr indent="0" marL="0">
              <a:buNone/>
            </a:pPr>
            <a:r>
              <a:rPr lang="en-US" sz="1450" dirty="0">
                <a:solidFill>
                  <a:srgbClr val="FFFFFF"/>
                </a:solidFill>
                <a:latin typeface="Pretendard SemiBold" pitchFamily="34" charset="0"/>
                <a:ea typeface="Pretendard SemiBold" pitchFamily="34" charset="-122"/>
                <a:cs typeface="Pretendard SemiBold" pitchFamily="34" charset="-120"/>
              </a:rPr>
              <a:t>지금 막힌 것</a:t>
            </a:r>
            <a:endParaRPr lang="en-US" sz="1450" dirty="0"/>
          </a:p>
        </p:txBody>
      </p:sp>
      <p:sp>
        <p:nvSpPr>
          <p:cNvPr id="20" name="Text 18"/>
          <p:cNvSpPr/>
          <p:nvPr/>
        </p:nvSpPr>
        <p:spPr>
          <a:xfrm>
            <a:off x="4480560" y="4581144"/>
            <a:ext cx="6705295" cy="594360"/>
          </a:xfrm>
          <a:prstGeom prst="rect">
            <a:avLst/>
          </a:prstGeom>
          <a:noFill/>
          <a:ln/>
        </p:spPr>
        <p:txBody>
          <a:bodyPr wrap="square" lIns="0" tIns="0" rIns="0" bIns="0" rtlCol="0" anchor="ctr"/>
          <a:lstStyle/>
          <a:p>
            <a:pPr indent="0" marL="0">
              <a:lnSpc>
                <a:spcPct val="124000"/>
              </a:lnSpc>
              <a:buNone/>
            </a:pPr>
            <a:r>
              <a:rPr lang="en-US" sz="1150" dirty="0">
                <a:solidFill>
                  <a:srgbClr val="B8B8B8"/>
                </a:solidFill>
                <a:latin typeface="Pretendard" pitchFamily="34" charset="0"/>
                <a:ea typeface="Pretendard" pitchFamily="34" charset="-122"/>
                <a:cs typeface="Pretendard" pitchFamily="34" charset="-120"/>
              </a:rPr>
              <a:t>자료가 없다, 프로젝트가 모자란다, 뭘 뺄지 모르겠다. 숨기지 마세요.</a:t>
            </a:r>
            <a:endParaRPr lang="en-US" sz="1150" dirty="0"/>
          </a:p>
        </p:txBody>
      </p:sp>
      <p:sp>
        <p:nvSpPr>
          <p:cNvPr id="21" name="Shape 19"/>
          <p:cNvSpPr/>
          <p:nvPr/>
        </p:nvSpPr>
        <p:spPr>
          <a:xfrm>
            <a:off x="640080" y="5577840"/>
            <a:ext cx="10911535" cy="7315"/>
          </a:xfrm>
          <a:prstGeom prst="rect">
            <a:avLst/>
          </a:prstGeom>
          <a:solidFill>
            <a:srgbClr val="111111"/>
          </a:solidFill>
          <a:ln w="12700">
            <a:solidFill>
              <a:srgbClr val="111111"/>
            </a:solidFill>
            <a:prstDash val="solid"/>
          </a:ln>
        </p:spPr>
      </p:sp>
      <p:sp>
        <p:nvSpPr>
          <p:cNvPr id="22" name="Text 20"/>
          <p:cNvSpPr/>
          <p:nvPr/>
        </p:nvSpPr>
        <p:spPr>
          <a:xfrm>
            <a:off x="640080" y="5687568"/>
            <a:ext cx="10911535" cy="402336"/>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잘된 것만 보이면 오늘 얻어 갈 것이 없습니다.</a:t>
            </a:r>
            <a:endParaRPr lang="en-US" sz="1300" dirty="0"/>
          </a:p>
        </p:txBody>
      </p:sp>
      <p:sp>
        <p:nvSpPr>
          <p:cNvPr id="23" name="Shape 21"/>
          <p:cNvSpPr/>
          <p:nvPr/>
        </p:nvSpPr>
        <p:spPr>
          <a:xfrm>
            <a:off x="640080" y="6291072"/>
            <a:ext cx="10911535" cy="7315"/>
          </a:xfrm>
          <a:prstGeom prst="rect">
            <a:avLst/>
          </a:prstGeom>
          <a:solidFill>
            <a:srgbClr val="DCDCDC"/>
          </a:solidFill>
          <a:ln w="12700">
            <a:solidFill>
              <a:srgbClr val="DCDCDC"/>
            </a:solidFill>
            <a:prstDash val="solid"/>
          </a:ln>
        </p:spPr>
      </p:sp>
      <p:sp>
        <p:nvSpPr>
          <p:cNvPr id="24" name="Text 22"/>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6주차 중간 발표 — 지금까지 정리된 포트폴리오를 발표합니다</a:t>
            </a:r>
            <a:endParaRPr lang="en-US" sz="850" dirty="0"/>
          </a:p>
        </p:txBody>
      </p:sp>
      <p:sp>
        <p:nvSpPr>
          <p:cNvPr id="25" name="Text 23"/>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P.02</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2 콘텐츠 구조화와 비주얼 시스템</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06</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WRITE</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발표 문장을 쓰는 법</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발표 문장은 말하듯 쓰지 않습니다. 보고서 문장으로 씁니다.</a:t>
            </a:r>
            <a:endParaRPr lang="en-US" sz="1150" dirty="0"/>
          </a:p>
        </p:txBody>
      </p:sp>
      <p:sp>
        <p:nvSpPr>
          <p:cNvPr id="9" name="Shape 7"/>
          <p:cNvSpPr/>
          <p:nvPr/>
        </p:nvSpPr>
        <p:spPr>
          <a:xfrm>
            <a:off x="640080" y="1627632"/>
            <a:ext cx="5254600" cy="3127248"/>
          </a:xfrm>
          <a:prstGeom prst="rect">
            <a:avLst/>
          </a:prstGeom>
          <a:solidFill>
            <a:srgbClr val="F2F2F2"/>
          </a:solidFill>
          <a:ln w="12700">
            <a:solidFill>
              <a:srgbClr val="DCDCDC"/>
            </a:solidFill>
            <a:prstDash val="solid"/>
          </a:ln>
        </p:spPr>
      </p:sp>
      <p:sp>
        <p:nvSpPr>
          <p:cNvPr id="10" name="Text 8"/>
          <p:cNvSpPr/>
          <p:nvPr/>
        </p:nvSpPr>
        <p:spPr>
          <a:xfrm>
            <a:off x="1042416" y="1901952"/>
            <a:ext cx="4449928" cy="365760"/>
          </a:xfrm>
          <a:prstGeom prst="rect">
            <a:avLst/>
          </a:prstGeom>
          <a:noFill/>
          <a:ln/>
        </p:spPr>
        <p:txBody>
          <a:bodyPr wrap="square" lIns="0" tIns="0" rIns="0" bIns="0" rtlCol="0" anchor="ctr"/>
          <a:lstStyle/>
          <a:p>
            <a:pPr indent="0" marL="0">
              <a:buNone/>
            </a:pPr>
            <a:r>
              <a:rPr lang="en-US" sz="1700" dirty="0">
                <a:solidFill>
                  <a:srgbClr val="9B9B9B"/>
                </a:solidFill>
                <a:latin typeface="Pretendard SemiBold" pitchFamily="34" charset="0"/>
                <a:ea typeface="Pretendard SemiBold" pitchFamily="34" charset="-122"/>
                <a:cs typeface="Pretendard SemiBold" pitchFamily="34" charset="-120"/>
              </a:rPr>
              <a:t>이렇게 쓰면</a:t>
            </a:r>
            <a:endParaRPr lang="en-US" sz="1700" dirty="0"/>
          </a:p>
        </p:txBody>
      </p:sp>
      <p:sp>
        <p:nvSpPr>
          <p:cNvPr id="11" name="Shape 9"/>
          <p:cNvSpPr/>
          <p:nvPr/>
        </p:nvSpPr>
        <p:spPr>
          <a:xfrm>
            <a:off x="6297016" y="1627632"/>
            <a:ext cx="5254600" cy="3127248"/>
          </a:xfrm>
          <a:prstGeom prst="rect">
            <a:avLst/>
          </a:prstGeom>
          <a:solidFill>
            <a:srgbClr val="FFFFFF"/>
          </a:solidFill>
          <a:ln w="12700">
            <a:solidFill>
              <a:srgbClr val="111111"/>
            </a:solidFill>
            <a:prstDash val="solid"/>
          </a:ln>
        </p:spPr>
      </p:sp>
      <p:sp>
        <p:nvSpPr>
          <p:cNvPr id="12" name="Shape 10"/>
          <p:cNvSpPr/>
          <p:nvPr/>
        </p:nvSpPr>
        <p:spPr>
          <a:xfrm>
            <a:off x="6297016" y="1627632"/>
            <a:ext cx="5254600" cy="64008"/>
          </a:xfrm>
          <a:prstGeom prst="rect">
            <a:avLst/>
          </a:prstGeom>
          <a:solidFill>
            <a:srgbClr val="111111"/>
          </a:solidFill>
          <a:ln w="12700">
            <a:solidFill>
              <a:srgbClr val="111111"/>
            </a:solidFill>
            <a:prstDash val="solid"/>
          </a:ln>
        </p:spPr>
      </p:sp>
      <p:sp>
        <p:nvSpPr>
          <p:cNvPr id="13" name="Text 11"/>
          <p:cNvSpPr/>
          <p:nvPr/>
        </p:nvSpPr>
        <p:spPr>
          <a:xfrm>
            <a:off x="6699352" y="1901952"/>
            <a:ext cx="4449928"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이렇게 씁니다</a:t>
            </a:r>
            <a:endParaRPr lang="en-US" sz="1700" dirty="0"/>
          </a:p>
        </p:txBody>
      </p:sp>
      <p:sp>
        <p:nvSpPr>
          <p:cNvPr id="14" name="Text 12"/>
          <p:cNvSpPr/>
          <p:nvPr/>
        </p:nvSpPr>
        <p:spPr>
          <a:xfrm>
            <a:off x="1042416" y="2450592"/>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무엇을 했는지만</a:t>
            </a:r>
            <a:endParaRPr lang="en-US" sz="900" dirty="0"/>
          </a:p>
        </p:txBody>
      </p:sp>
      <p:sp>
        <p:nvSpPr>
          <p:cNvPr id="15" name="Text 13"/>
          <p:cNvSpPr/>
          <p:nvPr/>
        </p:nvSpPr>
        <p:spPr>
          <a:xfrm>
            <a:off x="1042416" y="2688336"/>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레이아웃을 만들었다</a:t>
            </a:r>
            <a:endParaRPr lang="en-US" sz="1150" dirty="0"/>
          </a:p>
        </p:txBody>
      </p:sp>
      <p:sp>
        <p:nvSpPr>
          <p:cNvPr id="16" name="Text 14"/>
          <p:cNvSpPr/>
          <p:nvPr/>
        </p:nvSpPr>
        <p:spPr>
          <a:xfrm>
            <a:off x="6699352" y="2450592"/>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무엇을 했는지만</a:t>
            </a:r>
            <a:endParaRPr lang="en-US" sz="900" dirty="0"/>
          </a:p>
        </p:txBody>
      </p:sp>
      <p:sp>
        <p:nvSpPr>
          <p:cNvPr id="17" name="Text 15"/>
          <p:cNvSpPr/>
          <p:nvPr/>
        </p:nvSpPr>
        <p:spPr>
          <a:xfrm>
            <a:off x="6699352" y="2688336"/>
            <a:ext cx="4449928" cy="329184"/>
          </a:xfrm>
          <a:prstGeom prst="rect">
            <a:avLst/>
          </a:prstGeom>
          <a:noFill/>
          <a:ln/>
        </p:spPr>
        <p:txBody>
          <a:bodyPr wrap="square" lIns="0" tIns="0" rIns="0" bIns="0" rtlCol="0" anchor="t"/>
          <a:lstStyle/>
          <a:p>
            <a:pPr indent="0" marL="0">
              <a:lnSpc>
                <a:spcPct val="120000"/>
              </a:lnSpc>
              <a:buNone/>
            </a:pPr>
            <a:r>
              <a:rPr lang="en-US" sz="1150" b="1" dirty="0">
                <a:solidFill>
                  <a:srgbClr val="1F1F1F"/>
                </a:solidFill>
                <a:latin typeface="Pretendard" pitchFamily="34" charset="0"/>
                <a:ea typeface="Pretendard" pitchFamily="34" charset="-122"/>
                <a:cs typeface="Pretendard" pitchFamily="34" charset="-120"/>
              </a:rPr>
              <a:t>일관된 레이아웃 시스템을 설계하였다</a:t>
            </a:r>
            <a:endParaRPr lang="en-US" sz="1150" dirty="0"/>
          </a:p>
        </p:txBody>
      </p:sp>
      <p:sp>
        <p:nvSpPr>
          <p:cNvPr id="18" name="Shape 16"/>
          <p:cNvSpPr/>
          <p:nvPr/>
        </p:nvSpPr>
        <p:spPr>
          <a:xfrm>
            <a:off x="1042416" y="2980944"/>
            <a:ext cx="4449928" cy="7315"/>
          </a:xfrm>
          <a:prstGeom prst="rect">
            <a:avLst/>
          </a:prstGeom>
          <a:solidFill>
            <a:srgbClr val="DCDCDC"/>
          </a:solidFill>
          <a:ln w="12700">
            <a:solidFill>
              <a:srgbClr val="DCDCDC"/>
            </a:solidFill>
            <a:prstDash val="solid"/>
          </a:ln>
        </p:spPr>
      </p:sp>
      <p:sp>
        <p:nvSpPr>
          <p:cNvPr id="19" name="Shape 17"/>
          <p:cNvSpPr/>
          <p:nvPr/>
        </p:nvSpPr>
        <p:spPr>
          <a:xfrm>
            <a:off x="6699352" y="2980944"/>
            <a:ext cx="4449928" cy="7315"/>
          </a:xfrm>
          <a:prstGeom prst="rect">
            <a:avLst/>
          </a:prstGeom>
          <a:solidFill>
            <a:srgbClr val="D2D2D2"/>
          </a:solidFill>
          <a:ln w="12700">
            <a:solidFill>
              <a:srgbClr val="D2D2D2"/>
            </a:solidFill>
            <a:prstDash val="solid"/>
          </a:ln>
        </p:spPr>
      </p:sp>
      <p:sp>
        <p:nvSpPr>
          <p:cNvPr id="20" name="Text 18"/>
          <p:cNvSpPr/>
          <p:nvPr/>
        </p:nvSpPr>
        <p:spPr>
          <a:xfrm>
            <a:off x="1042416" y="3035808"/>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대상이 없음</a:t>
            </a:r>
            <a:endParaRPr lang="en-US" sz="900" dirty="0"/>
          </a:p>
        </p:txBody>
      </p:sp>
      <p:sp>
        <p:nvSpPr>
          <p:cNvPr id="21" name="Text 19"/>
          <p:cNvSpPr/>
          <p:nvPr/>
        </p:nvSpPr>
        <p:spPr>
          <a:xfrm>
            <a:off x="1042416" y="3273552"/>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어떤 사람에게 보여줄지 정하였다</a:t>
            </a:r>
            <a:endParaRPr lang="en-US" sz="1150" dirty="0"/>
          </a:p>
        </p:txBody>
      </p:sp>
      <p:sp>
        <p:nvSpPr>
          <p:cNvPr id="22" name="Text 20"/>
          <p:cNvSpPr/>
          <p:nvPr/>
        </p:nvSpPr>
        <p:spPr>
          <a:xfrm>
            <a:off x="6699352" y="3035808"/>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대상이 없음</a:t>
            </a:r>
            <a:endParaRPr lang="en-US" sz="900" dirty="0"/>
          </a:p>
        </p:txBody>
      </p:sp>
      <p:sp>
        <p:nvSpPr>
          <p:cNvPr id="23" name="Text 21"/>
          <p:cNvSpPr/>
          <p:nvPr/>
        </p:nvSpPr>
        <p:spPr>
          <a:xfrm>
            <a:off x="6699352" y="3273552"/>
            <a:ext cx="4449928" cy="329184"/>
          </a:xfrm>
          <a:prstGeom prst="rect">
            <a:avLst/>
          </a:prstGeom>
          <a:noFill/>
          <a:ln/>
        </p:spPr>
        <p:txBody>
          <a:bodyPr wrap="square" lIns="0" tIns="0" rIns="0" bIns="0" rtlCol="0" anchor="t"/>
          <a:lstStyle/>
          <a:p>
            <a:pPr indent="0" marL="0">
              <a:lnSpc>
                <a:spcPct val="120000"/>
              </a:lnSpc>
              <a:buNone/>
            </a:pPr>
            <a:r>
              <a:rPr lang="en-US" sz="1150" b="1" dirty="0">
                <a:solidFill>
                  <a:srgbClr val="1F1F1F"/>
                </a:solidFill>
                <a:latin typeface="Pretendard" pitchFamily="34" charset="0"/>
                <a:ea typeface="Pretendard" pitchFamily="34" charset="-122"/>
                <a:cs typeface="Pretendard" pitchFamily="34" charset="-120"/>
              </a:rPr>
              <a:t>목표 직무와 채용 담당자를 고려해 설정하였다</a:t>
            </a:r>
            <a:endParaRPr lang="en-US" sz="1150" dirty="0"/>
          </a:p>
        </p:txBody>
      </p:sp>
      <p:sp>
        <p:nvSpPr>
          <p:cNvPr id="24" name="Shape 22"/>
          <p:cNvSpPr/>
          <p:nvPr/>
        </p:nvSpPr>
        <p:spPr>
          <a:xfrm>
            <a:off x="1042416" y="3566160"/>
            <a:ext cx="4449928" cy="7315"/>
          </a:xfrm>
          <a:prstGeom prst="rect">
            <a:avLst/>
          </a:prstGeom>
          <a:solidFill>
            <a:srgbClr val="DCDCDC"/>
          </a:solidFill>
          <a:ln w="12700">
            <a:solidFill>
              <a:srgbClr val="DCDCDC"/>
            </a:solidFill>
            <a:prstDash val="solid"/>
          </a:ln>
        </p:spPr>
      </p:sp>
      <p:sp>
        <p:nvSpPr>
          <p:cNvPr id="25" name="Shape 23"/>
          <p:cNvSpPr/>
          <p:nvPr/>
        </p:nvSpPr>
        <p:spPr>
          <a:xfrm>
            <a:off x="6699352" y="3566160"/>
            <a:ext cx="4449928" cy="7315"/>
          </a:xfrm>
          <a:prstGeom prst="rect">
            <a:avLst/>
          </a:prstGeom>
          <a:solidFill>
            <a:srgbClr val="D2D2D2"/>
          </a:solidFill>
          <a:ln w="12700">
            <a:solidFill>
              <a:srgbClr val="D2D2D2"/>
            </a:solidFill>
            <a:prstDash val="solid"/>
          </a:ln>
        </p:spPr>
      </p:sp>
      <p:sp>
        <p:nvSpPr>
          <p:cNvPr id="26" name="Text 24"/>
          <p:cNvSpPr/>
          <p:nvPr/>
        </p:nvSpPr>
        <p:spPr>
          <a:xfrm>
            <a:off x="1042416" y="3621024"/>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결과가 없음</a:t>
            </a:r>
            <a:endParaRPr lang="en-US" sz="900" dirty="0"/>
          </a:p>
        </p:txBody>
      </p:sp>
      <p:sp>
        <p:nvSpPr>
          <p:cNvPr id="27" name="Text 25"/>
          <p:cNvSpPr/>
          <p:nvPr/>
        </p:nvSpPr>
        <p:spPr>
          <a:xfrm>
            <a:off x="1042416" y="3858768"/>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비슷한 사례를 찾아서 분석하였다</a:t>
            </a:r>
            <a:endParaRPr lang="en-US" sz="1150" dirty="0"/>
          </a:p>
        </p:txBody>
      </p:sp>
      <p:sp>
        <p:nvSpPr>
          <p:cNvPr id="28" name="Text 26"/>
          <p:cNvSpPr/>
          <p:nvPr/>
        </p:nvSpPr>
        <p:spPr>
          <a:xfrm>
            <a:off x="6699352" y="3621024"/>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결과가 없음</a:t>
            </a:r>
            <a:endParaRPr lang="en-US" sz="900" dirty="0"/>
          </a:p>
        </p:txBody>
      </p:sp>
      <p:sp>
        <p:nvSpPr>
          <p:cNvPr id="29" name="Text 27"/>
          <p:cNvSpPr/>
          <p:nvPr/>
        </p:nvSpPr>
        <p:spPr>
          <a:xfrm>
            <a:off x="6699352" y="3858768"/>
            <a:ext cx="4449928" cy="329184"/>
          </a:xfrm>
          <a:prstGeom prst="rect">
            <a:avLst/>
          </a:prstGeom>
          <a:noFill/>
          <a:ln/>
        </p:spPr>
        <p:txBody>
          <a:bodyPr wrap="square" lIns="0" tIns="0" rIns="0" bIns="0" rtlCol="0" anchor="t"/>
          <a:lstStyle/>
          <a:p>
            <a:pPr indent="0" marL="0">
              <a:lnSpc>
                <a:spcPct val="120000"/>
              </a:lnSpc>
              <a:buNone/>
            </a:pPr>
            <a:r>
              <a:rPr lang="en-US" sz="1150" b="1" dirty="0">
                <a:solidFill>
                  <a:srgbClr val="1F1F1F"/>
                </a:solidFill>
                <a:latin typeface="Pretendard" pitchFamily="34" charset="0"/>
                <a:ea typeface="Pretendard" pitchFamily="34" charset="-122"/>
                <a:cs typeface="Pretendard" pitchFamily="34" charset="-120"/>
              </a:rPr>
              <a:t>구성 방식과 표현 전략을 도출하였다</a:t>
            </a:r>
            <a:endParaRPr lang="en-US" sz="1150" dirty="0"/>
          </a:p>
        </p:txBody>
      </p:sp>
      <p:sp>
        <p:nvSpPr>
          <p:cNvPr id="30" name="Shape 28"/>
          <p:cNvSpPr/>
          <p:nvPr/>
        </p:nvSpPr>
        <p:spPr>
          <a:xfrm>
            <a:off x="1042416" y="4151376"/>
            <a:ext cx="4449928" cy="7315"/>
          </a:xfrm>
          <a:prstGeom prst="rect">
            <a:avLst/>
          </a:prstGeom>
          <a:solidFill>
            <a:srgbClr val="DCDCDC"/>
          </a:solidFill>
          <a:ln w="12700">
            <a:solidFill>
              <a:srgbClr val="DCDCDC"/>
            </a:solidFill>
            <a:prstDash val="solid"/>
          </a:ln>
        </p:spPr>
      </p:sp>
      <p:sp>
        <p:nvSpPr>
          <p:cNvPr id="31" name="Shape 29"/>
          <p:cNvSpPr/>
          <p:nvPr/>
        </p:nvSpPr>
        <p:spPr>
          <a:xfrm>
            <a:off x="6699352" y="4151376"/>
            <a:ext cx="4449928" cy="7315"/>
          </a:xfrm>
          <a:prstGeom prst="rect">
            <a:avLst/>
          </a:prstGeom>
          <a:solidFill>
            <a:srgbClr val="D2D2D2"/>
          </a:solidFill>
          <a:ln w="12700">
            <a:solidFill>
              <a:srgbClr val="D2D2D2"/>
            </a:solidFill>
            <a:prstDash val="solid"/>
          </a:ln>
        </p:spPr>
      </p:sp>
      <p:sp>
        <p:nvSpPr>
          <p:cNvPr id="32" name="Text 30"/>
          <p:cNvSpPr/>
          <p:nvPr/>
        </p:nvSpPr>
        <p:spPr>
          <a:xfrm>
            <a:off x="1042416" y="4206240"/>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느낌만 남음</a:t>
            </a:r>
            <a:endParaRPr lang="en-US" sz="900" dirty="0"/>
          </a:p>
        </p:txBody>
      </p:sp>
      <p:sp>
        <p:nvSpPr>
          <p:cNvPr id="33" name="Text 31"/>
          <p:cNvSpPr/>
          <p:nvPr/>
        </p:nvSpPr>
        <p:spPr>
          <a:xfrm>
            <a:off x="1042416" y="4443984"/>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많은 것을 배우게 되었다</a:t>
            </a:r>
            <a:endParaRPr lang="en-US" sz="1150" dirty="0"/>
          </a:p>
        </p:txBody>
      </p:sp>
      <p:sp>
        <p:nvSpPr>
          <p:cNvPr id="34" name="Text 32"/>
          <p:cNvSpPr/>
          <p:nvPr/>
        </p:nvSpPr>
        <p:spPr>
          <a:xfrm>
            <a:off x="6699352" y="4206240"/>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느낌만 남음</a:t>
            </a:r>
            <a:endParaRPr lang="en-US" sz="900" dirty="0"/>
          </a:p>
        </p:txBody>
      </p:sp>
      <p:sp>
        <p:nvSpPr>
          <p:cNvPr id="35" name="Text 33"/>
          <p:cNvSpPr/>
          <p:nvPr/>
        </p:nvSpPr>
        <p:spPr>
          <a:xfrm>
            <a:off x="6699352" y="4443984"/>
            <a:ext cx="4449928" cy="329184"/>
          </a:xfrm>
          <a:prstGeom prst="rect">
            <a:avLst/>
          </a:prstGeom>
          <a:noFill/>
          <a:ln/>
        </p:spPr>
        <p:txBody>
          <a:bodyPr wrap="square" lIns="0" tIns="0" rIns="0" bIns="0" rtlCol="0" anchor="t"/>
          <a:lstStyle/>
          <a:p>
            <a:pPr indent="0" marL="0">
              <a:lnSpc>
                <a:spcPct val="120000"/>
              </a:lnSpc>
              <a:buNone/>
            </a:pPr>
            <a:r>
              <a:rPr lang="en-US" sz="1150" b="1" dirty="0">
                <a:solidFill>
                  <a:srgbClr val="1F1F1F"/>
                </a:solidFill>
                <a:latin typeface="Pretendard" pitchFamily="34" charset="0"/>
                <a:ea typeface="Pretendard" pitchFamily="34" charset="-122"/>
                <a:cs typeface="Pretendard" pitchFamily="34" charset="-120"/>
              </a:rPr>
              <a:t>전 과정을 경험하며 문제 해결 역량을 높였다</a:t>
            </a:r>
            <a:endParaRPr lang="en-US" sz="1150" dirty="0"/>
          </a:p>
        </p:txBody>
      </p:sp>
      <p:sp>
        <p:nvSpPr>
          <p:cNvPr id="36" name="Shape 34"/>
          <p:cNvSpPr/>
          <p:nvPr/>
        </p:nvSpPr>
        <p:spPr>
          <a:xfrm>
            <a:off x="640080" y="5010912"/>
            <a:ext cx="10911535" cy="7315"/>
          </a:xfrm>
          <a:prstGeom prst="rect">
            <a:avLst/>
          </a:prstGeom>
          <a:solidFill>
            <a:srgbClr val="111111"/>
          </a:solidFill>
          <a:ln w="12700">
            <a:solidFill>
              <a:srgbClr val="111111"/>
            </a:solidFill>
            <a:prstDash val="solid"/>
          </a:ln>
        </p:spPr>
      </p:sp>
      <p:sp>
        <p:nvSpPr>
          <p:cNvPr id="37" name="Text 35"/>
          <p:cNvSpPr/>
          <p:nvPr/>
        </p:nvSpPr>
        <p:spPr>
          <a:xfrm>
            <a:off x="640080" y="5120640"/>
            <a:ext cx="10911535" cy="402336"/>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'~하였다'로 끝내고, 무엇을 해서 무엇이 나왔는지까지 한 문장에 담습니다.</a:t>
            </a:r>
            <a:endParaRPr lang="en-US" sz="1300" dirty="0"/>
          </a:p>
        </p:txBody>
      </p:sp>
      <p:sp>
        <p:nvSpPr>
          <p:cNvPr id="38" name="Shape 36"/>
          <p:cNvSpPr/>
          <p:nvPr/>
        </p:nvSpPr>
        <p:spPr>
          <a:xfrm>
            <a:off x="640080" y="6291072"/>
            <a:ext cx="10911535" cy="7315"/>
          </a:xfrm>
          <a:prstGeom prst="rect">
            <a:avLst/>
          </a:prstGeom>
          <a:solidFill>
            <a:srgbClr val="DCDCDC"/>
          </a:solidFill>
          <a:ln w="12700">
            <a:solidFill>
              <a:srgbClr val="DCDCDC"/>
            </a:solidFill>
            <a:prstDash val="solid"/>
          </a:ln>
        </p:spPr>
      </p:sp>
      <p:sp>
        <p:nvSpPr>
          <p:cNvPr id="39" name="Text 37"/>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6주차 중간 발표 — 지금까지 정리된 포트폴리오를 발표합니다</a:t>
            </a:r>
            <a:endParaRPr lang="en-US" sz="850" dirty="0"/>
          </a:p>
        </p:txBody>
      </p:sp>
      <p:sp>
        <p:nvSpPr>
          <p:cNvPr id="40" name="Text 38"/>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P.03</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2 콘텐츠 구조화와 비주얼 시스템</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06</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RULE</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발표 문장의 기준</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다섯 가지만 지키면 문장이 달라집니다.</a:t>
            </a:r>
            <a:endParaRPr lang="en-US" sz="1150" dirty="0"/>
          </a:p>
        </p:txBody>
      </p:sp>
      <p:sp>
        <p:nvSpPr>
          <p:cNvPr id="9" name="Shape 7"/>
          <p:cNvSpPr/>
          <p:nvPr/>
        </p:nvSpPr>
        <p:spPr>
          <a:xfrm>
            <a:off x="640080" y="1664208"/>
            <a:ext cx="10911535" cy="7315"/>
          </a:xfrm>
          <a:prstGeom prst="rect">
            <a:avLst/>
          </a:prstGeom>
          <a:solidFill>
            <a:srgbClr val="111111"/>
          </a:solidFill>
          <a:ln w="12700">
            <a:solidFill>
              <a:srgbClr val="111111"/>
            </a:solidFill>
            <a:prstDash val="solid"/>
          </a:ln>
        </p:spPr>
      </p:sp>
      <p:sp>
        <p:nvSpPr>
          <p:cNvPr id="10" name="Shape 8"/>
          <p:cNvSpPr/>
          <p:nvPr/>
        </p:nvSpPr>
        <p:spPr>
          <a:xfrm>
            <a:off x="640080" y="1810512"/>
            <a:ext cx="310896" cy="310896"/>
          </a:xfrm>
          <a:prstGeom prst="ellipse">
            <a:avLst/>
          </a:prstGeom>
          <a:solidFill>
            <a:srgbClr val="FFFFFF"/>
          </a:solidFill>
          <a:ln w="12700">
            <a:solidFill>
              <a:srgbClr val="111111"/>
            </a:solidFill>
            <a:prstDash val="solid"/>
          </a:ln>
        </p:spPr>
      </p:sp>
      <p:sp>
        <p:nvSpPr>
          <p:cNvPr id="11" name="Text 9"/>
          <p:cNvSpPr/>
          <p:nvPr/>
        </p:nvSpPr>
        <p:spPr>
          <a:xfrm>
            <a:off x="640080" y="1810512"/>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a:t>
            </a:r>
            <a:endParaRPr lang="en-US" sz="1000" dirty="0"/>
          </a:p>
        </p:txBody>
      </p:sp>
      <p:sp>
        <p:nvSpPr>
          <p:cNvPr id="12" name="Text 10"/>
          <p:cNvSpPr/>
          <p:nvPr/>
        </p:nvSpPr>
        <p:spPr>
          <a:xfrm>
            <a:off x="1188720" y="1719072"/>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어미를 '~하였다'로 통일한다</a:t>
            </a:r>
            <a:endParaRPr lang="en-US" sz="1450" dirty="0"/>
          </a:p>
        </p:txBody>
      </p:sp>
      <p:sp>
        <p:nvSpPr>
          <p:cNvPr id="13" name="Text 11"/>
          <p:cNvSpPr/>
          <p:nvPr/>
        </p:nvSpPr>
        <p:spPr>
          <a:xfrm>
            <a:off x="1188720" y="2029968"/>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했다, 만들었다 같은 말은 발표문에 쓰지 않습니다</a:t>
            </a:r>
            <a:endParaRPr lang="en-US" sz="1100" dirty="0"/>
          </a:p>
        </p:txBody>
      </p:sp>
      <p:sp>
        <p:nvSpPr>
          <p:cNvPr id="14" name="Shape 12"/>
          <p:cNvSpPr/>
          <p:nvPr/>
        </p:nvSpPr>
        <p:spPr>
          <a:xfrm>
            <a:off x="640080" y="2406701"/>
            <a:ext cx="10911535" cy="7315"/>
          </a:xfrm>
          <a:prstGeom prst="rect">
            <a:avLst/>
          </a:prstGeom>
          <a:solidFill>
            <a:srgbClr val="DCDCDC"/>
          </a:solidFill>
          <a:ln w="12700">
            <a:solidFill>
              <a:srgbClr val="DCDCDC"/>
            </a:solidFill>
            <a:prstDash val="solid"/>
          </a:ln>
        </p:spPr>
      </p:sp>
      <p:sp>
        <p:nvSpPr>
          <p:cNvPr id="15" name="Shape 13"/>
          <p:cNvSpPr/>
          <p:nvPr/>
        </p:nvSpPr>
        <p:spPr>
          <a:xfrm>
            <a:off x="640080" y="2571293"/>
            <a:ext cx="310896" cy="310896"/>
          </a:xfrm>
          <a:prstGeom prst="ellipse">
            <a:avLst/>
          </a:prstGeom>
          <a:solidFill>
            <a:srgbClr val="FFFFFF"/>
          </a:solidFill>
          <a:ln w="12700">
            <a:solidFill>
              <a:srgbClr val="111111"/>
            </a:solidFill>
            <a:prstDash val="solid"/>
          </a:ln>
        </p:spPr>
      </p:sp>
      <p:sp>
        <p:nvSpPr>
          <p:cNvPr id="16" name="Text 14"/>
          <p:cNvSpPr/>
          <p:nvPr/>
        </p:nvSpPr>
        <p:spPr>
          <a:xfrm>
            <a:off x="640080" y="2571293"/>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2</a:t>
            </a:r>
            <a:endParaRPr lang="en-US" sz="1000" dirty="0"/>
          </a:p>
        </p:txBody>
      </p:sp>
      <p:sp>
        <p:nvSpPr>
          <p:cNvPr id="17" name="Text 15"/>
          <p:cNvSpPr/>
          <p:nvPr/>
        </p:nvSpPr>
        <p:spPr>
          <a:xfrm>
            <a:off x="1188720" y="2479853"/>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과정과 결과를 한 문장에 담는다</a:t>
            </a:r>
            <a:endParaRPr lang="en-US" sz="1450" dirty="0"/>
          </a:p>
        </p:txBody>
      </p:sp>
      <p:sp>
        <p:nvSpPr>
          <p:cNvPr id="18" name="Text 16"/>
          <p:cNvSpPr/>
          <p:nvPr/>
        </p:nvSpPr>
        <p:spPr>
          <a:xfrm>
            <a:off x="1188720" y="2790749"/>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무엇을 해서 무엇이 나왔는지까지 적습니다</a:t>
            </a:r>
            <a:endParaRPr lang="en-US" sz="1100" dirty="0"/>
          </a:p>
        </p:txBody>
      </p:sp>
      <p:sp>
        <p:nvSpPr>
          <p:cNvPr id="19" name="Shape 17"/>
          <p:cNvSpPr/>
          <p:nvPr/>
        </p:nvSpPr>
        <p:spPr>
          <a:xfrm>
            <a:off x="640080" y="3167482"/>
            <a:ext cx="10911535" cy="7315"/>
          </a:xfrm>
          <a:prstGeom prst="rect">
            <a:avLst/>
          </a:prstGeom>
          <a:solidFill>
            <a:srgbClr val="DCDCDC"/>
          </a:solidFill>
          <a:ln w="12700">
            <a:solidFill>
              <a:srgbClr val="DCDCDC"/>
            </a:solidFill>
            <a:prstDash val="solid"/>
          </a:ln>
        </p:spPr>
      </p:sp>
      <p:sp>
        <p:nvSpPr>
          <p:cNvPr id="20" name="Shape 18"/>
          <p:cNvSpPr/>
          <p:nvPr/>
        </p:nvSpPr>
        <p:spPr>
          <a:xfrm>
            <a:off x="640080" y="3332074"/>
            <a:ext cx="310896" cy="310896"/>
          </a:xfrm>
          <a:prstGeom prst="ellipse">
            <a:avLst/>
          </a:prstGeom>
          <a:solidFill>
            <a:srgbClr val="FFFFFF"/>
          </a:solidFill>
          <a:ln w="12700">
            <a:solidFill>
              <a:srgbClr val="111111"/>
            </a:solidFill>
            <a:prstDash val="solid"/>
          </a:ln>
        </p:spPr>
      </p:sp>
      <p:sp>
        <p:nvSpPr>
          <p:cNvPr id="21" name="Text 19"/>
          <p:cNvSpPr/>
          <p:nvPr/>
        </p:nvSpPr>
        <p:spPr>
          <a:xfrm>
            <a:off x="640080" y="3332074"/>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3</a:t>
            </a:r>
            <a:endParaRPr lang="en-US" sz="1000" dirty="0"/>
          </a:p>
        </p:txBody>
      </p:sp>
      <p:sp>
        <p:nvSpPr>
          <p:cNvPr id="22" name="Text 20"/>
          <p:cNvSpPr/>
          <p:nvPr/>
        </p:nvSpPr>
        <p:spPr>
          <a:xfrm>
            <a:off x="1188720" y="3240634"/>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전문 용어로 바꾼다</a:t>
            </a:r>
            <a:endParaRPr lang="en-US" sz="1450" dirty="0"/>
          </a:p>
        </p:txBody>
      </p:sp>
      <p:sp>
        <p:nvSpPr>
          <p:cNvPr id="23" name="Text 21"/>
          <p:cNvSpPr/>
          <p:nvPr/>
        </p:nvSpPr>
        <p:spPr>
          <a:xfrm>
            <a:off x="1188720" y="3551530"/>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정리하였다 · 구축하였다 · 설계하였다 · 도출하였다</a:t>
            </a:r>
            <a:endParaRPr lang="en-US" sz="1100" dirty="0"/>
          </a:p>
        </p:txBody>
      </p:sp>
      <p:sp>
        <p:nvSpPr>
          <p:cNvPr id="24" name="Shape 22"/>
          <p:cNvSpPr/>
          <p:nvPr/>
        </p:nvSpPr>
        <p:spPr>
          <a:xfrm>
            <a:off x="640080" y="3928262"/>
            <a:ext cx="10911535" cy="7315"/>
          </a:xfrm>
          <a:prstGeom prst="rect">
            <a:avLst/>
          </a:prstGeom>
          <a:solidFill>
            <a:srgbClr val="DCDCDC"/>
          </a:solidFill>
          <a:ln w="12700">
            <a:solidFill>
              <a:srgbClr val="DCDCDC"/>
            </a:solidFill>
            <a:prstDash val="solid"/>
          </a:ln>
        </p:spPr>
      </p:sp>
      <p:sp>
        <p:nvSpPr>
          <p:cNvPr id="25" name="Shape 23"/>
          <p:cNvSpPr/>
          <p:nvPr/>
        </p:nvSpPr>
        <p:spPr>
          <a:xfrm>
            <a:off x="640080" y="4092854"/>
            <a:ext cx="310896" cy="310896"/>
          </a:xfrm>
          <a:prstGeom prst="ellipse">
            <a:avLst/>
          </a:prstGeom>
          <a:solidFill>
            <a:srgbClr val="FFFFFF"/>
          </a:solidFill>
          <a:ln w="12700">
            <a:solidFill>
              <a:srgbClr val="111111"/>
            </a:solidFill>
            <a:prstDash val="solid"/>
          </a:ln>
        </p:spPr>
      </p:sp>
      <p:sp>
        <p:nvSpPr>
          <p:cNvPr id="26" name="Text 24"/>
          <p:cNvSpPr/>
          <p:nvPr/>
        </p:nvSpPr>
        <p:spPr>
          <a:xfrm>
            <a:off x="640080" y="4092854"/>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4</a:t>
            </a:r>
            <a:endParaRPr lang="en-US" sz="1000" dirty="0"/>
          </a:p>
        </p:txBody>
      </p:sp>
      <p:sp>
        <p:nvSpPr>
          <p:cNvPr id="27" name="Text 25"/>
          <p:cNvSpPr/>
          <p:nvPr/>
        </p:nvSpPr>
        <p:spPr>
          <a:xfrm>
            <a:off x="1188720" y="4001414"/>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한 줄로 줄인다</a:t>
            </a:r>
            <a:endParaRPr lang="en-US" sz="1450" dirty="0"/>
          </a:p>
        </p:txBody>
      </p:sp>
      <p:sp>
        <p:nvSpPr>
          <p:cNvPr id="28" name="Text 26"/>
          <p:cNvSpPr/>
          <p:nvPr/>
        </p:nvSpPr>
        <p:spPr>
          <a:xfrm>
            <a:off x="1188720" y="4312310"/>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발표하면서 숨 쉬지 않고 읽을 수 있는 길이입니다</a:t>
            </a:r>
            <a:endParaRPr lang="en-US" sz="1100" dirty="0"/>
          </a:p>
        </p:txBody>
      </p:sp>
      <p:sp>
        <p:nvSpPr>
          <p:cNvPr id="29" name="Shape 27"/>
          <p:cNvSpPr/>
          <p:nvPr/>
        </p:nvSpPr>
        <p:spPr>
          <a:xfrm>
            <a:off x="640080" y="4689043"/>
            <a:ext cx="10911535" cy="7315"/>
          </a:xfrm>
          <a:prstGeom prst="rect">
            <a:avLst/>
          </a:prstGeom>
          <a:solidFill>
            <a:srgbClr val="DCDCDC"/>
          </a:solidFill>
          <a:ln w="12700">
            <a:solidFill>
              <a:srgbClr val="DCDCDC"/>
            </a:solidFill>
            <a:prstDash val="solid"/>
          </a:ln>
        </p:spPr>
      </p:sp>
      <p:sp>
        <p:nvSpPr>
          <p:cNvPr id="30" name="Shape 28"/>
          <p:cNvSpPr/>
          <p:nvPr/>
        </p:nvSpPr>
        <p:spPr>
          <a:xfrm>
            <a:off x="640080" y="4853635"/>
            <a:ext cx="310896" cy="310896"/>
          </a:xfrm>
          <a:prstGeom prst="ellipse">
            <a:avLst/>
          </a:prstGeom>
          <a:solidFill>
            <a:srgbClr val="FFFFFF"/>
          </a:solidFill>
          <a:ln w="12700">
            <a:solidFill>
              <a:srgbClr val="111111"/>
            </a:solidFill>
            <a:prstDash val="solid"/>
          </a:ln>
        </p:spPr>
      </p:sp>
      <p:sp>
        <p:nvSpPr>
          <p:cNvPr id="31" name="Text 29"/>
          <p:cNvSpPr/>
          <p:nvPr/>
        </p:nvSpPr>
        <p:spPr>
          <a:xfrm>
            <a:off x="640080" y="4853635"/>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5</a:t>
            </a:r>
            <a:endParaRPr lang="en-US" sz="1000" dirty="0"/>
          </a:p>
        </p:txBody>
      </p:sp>
      <p:sp>
        <p:nvSpPr>
          <p:cNvPr id="32" name="Text 30"/>
          <p:cNvSpPr/>
          <p:nvPr/>
        </p:nvSpPr>
        <p:spPr>
          <a:xfrm>
            <a:off x="1188720" y="4762195"/>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교수와 심사위원이 읽는다고 둔다</a:t>
            </a:r>
            <a:endParaRPr lang="en-US" sz="1450" dirty="0"/>
          </a:p>
        </p:txBody>
      </p:sp>
      <p:sp>
        <p:nvSpPr>
          <p:cNvPr id="33" name="Text 31"/>
          <p:cNvSpPr/>
          <p:nvPr/>
        </p:nvSpPr>
        <p:spPr>
          <a:xfrm>
            <a:off x="1188720" y="5073091"/>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그분들이 읽기 좋은 보고서 톤으로 씁니다</a:t>
            </a:r>
            <a:endParaRPr lang="en-US" sz="1100" dirty="0"/>
          </a:p>
        </p:txBody>
      </p:sp>
      <p:sp>
        <p:nvSpPr>
          <p:cNvPr id="34" name="Shape 32"/>
          <p:cNvSpPr/>
          <p:nvPr/>
        </p:nvSpPr>
        <p:spPr>
          <a:xfrm>
            <a:off x="640080" y="5522976"/>
            <a:ext cx="10911535" cy="7315"/>
          </a:xfrm>
          <a:prstGeom prst="rect">
            <a:avLst/>
          </a:prstGeom>
          <a:solidFill>
            <a:srgbClr val="111111"/>
          </a:solidFill>
          <a:ln w="12700">
            <a:solidFill>
              <a:srgbClr val="111111"/>
            </a:solidFill>
            <a:prstDash val="solid"/>
          </a:ln>
        </p:spPr>
      </p:sp>
      <p:sp>
        <p:nvSpPr>
          <p:cNvPr id="35" name="Text 33"/>
          <p:cNvSpPr/>
          <p:nvPr/>
        </p:nvSpPr>
        <p:spPr>
          <a:xfrm>
            <a:off x="640080" y="5632704"/>
            <a:ext cx="10911535" cy="402336"/>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문장을 고치는 일은 내용을 고치는 일입니다. 구체적으로 쓰려면 구체적으로 한 것이 있어야 합니다.</a:t>
            </a:r>
            <a:endParaRPr lang="en-US" sz="1250" dirty="0"/>
          </a:p>
        </p:txBody>
      </p:sp>
      <p:sp>
        <p:nvSpPr>
          <p:cNvPr id="36" name="Shape 34"/>
          <p:cNvSpPr/>
          <p:nvPr/>
        </p:nvSpPr>
        <p:spPr>
          <a:xfrm>
            <a:off x="640080" y="6291072"/>
            <a:ext cx="10911535" cy="7315"/>
          </a:xfrm>
          <a:prstGeom prst="rect">
            <a:avLst/>
          </a:prstGeom>
          <a:solidFill>
            <a:srgbClr val="DCDCDC"/>
          </a:solidFill>
          <a:ln w="12700">
            <a:solidFill>
              <a:srgbClr val="DCDCDC"/>
            </a:solidFill>
            <a:prstDash val="solid"/>
          </a:ln>
        </p:spPr>
      </p:sp>
      <p:sp>
        <p:nvSpPr>
          <p:cNvPr id="37" name="Text 35"/>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6주차 중간 발표 — 지금까지 정리된 포트폴리오를 발표합니다</a:t>
            </a:r>
            <a:endParaRPr lang="en-US" sz="850" dirty="0"/>
          </a:p>
        </p:txBody>
      </p:sp>
      <p:sp>
        <p:nvSpPr>
          <p:cNvPr id="38" name="Text 36"/>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2 콘텐츠 구조화와 비주얼 시스템</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06</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HOW</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5분을 쓰는 방법</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5분은 짧습니다. 무엇을 먼저 보일지 정하고 들어오십시오.</a:t>
            </a:r>
            <a:endParaRPr lang="en-US" sz="1150" dirty="0"/>
          </a:p>
        </p:txBody>
      </p:sp>
      <p:sp>
        <p:nvSpPr>
          <p:cNvPr id="9" name="Shape 7"/>
          <p:cNvSpPr/>
          <p:nvPr/>
        </p:nvSpPr>
        <p:spPr>
          <a:xfrm>
            <a:off x="640080" y="1627632"/>
            <a:ext cx="5254600" cy="3127248"/>
          </a:xfrm>
          <a:prstGeom prst="rect">
            <a:avLst/>
          </a:prstGeom>
          <a:solidFill>
            <a:srgbClr val="F2F2F2"/>
          </a:solidFill>
          <a:ln w="12700">
            <a:solidFill>
              <a:srgbClr val="DCDCDC"/>
            </a:solidFill>
            <a:prstDash val="solid"/>
          </a:ln>
        </p:spPr>
      </p:sp>
      <p:sp>
        <p:nvSpPr>
          <p:cNvPr id="10" name="Text 8"/>
          <p:cNvSpPr/>
          <p:nvPr/>
        </p:nvSpPr>
        <p:spPr>
          <a:xfrm>
            <a:off x="1042416" y="1901952"/>
            <a:ext cx="4449928" cy="365760"/>
          </a:xfrm>
          <a:prstGeom prst="rect">
            <a:avLst/>
          </a:prstGeom>
          <a:noFill/>
          <a:ln/>
        </p:spPr>
        <p:txBody>
          <a:bodyPr wrap="square" lIns="0" tIns="0" rIns="0" bIns="0" rtlCol="0" anchor="ctr"/>
          <a:lstStyle/>
          <a:p>
            <a:pPr indent="0" marL="0">
              <a:buNone/>
            </a:pPr>
            <a:r>
              <a:rPr lang="en-US" sz="1700" dirty="0">
                <a:solidFill>
                  <a:srgbClr val="9B9B9B"/>
                </a:solidFill>
                <a:latin typeface="Pretendard SemiBold" pitchFamily="34" charset="0"/>
                <a:ea typeface="Pretendard SemiBold" pitchFamily="34" charset="-122"/>
                <a:cs typeface="Pretendard SemiBold" pitchFamily="34" charset="-120"/>
              </a:rPr>
              <a:t>이렇게 쓰면</a:t>
            </a:r>
            <a:endParaRPr lang="en-US" sz="1700" dirty="0"/>
          </a:p>
        </p:txBody>
      </p:sp>
      <p:sp>
        <p:nvSpPr>
          <p:cNvPr id="11" name="Shape 9"/>
          <p:cNvSpPr/>
          <p:nvPr/>
        </p:nvSpPr>
        <p:spPr>
          <a:xfrm>
            <a:off x="6297016" y="1627632"/>
            <a:ext cx="5254600" cy="3127248"/>
          </a:xfrm>
          <a:prstGeom prst="rect">
            <a:avLst/>
          </a:prstGeom>
          <a:solidFill>
            <a:srgbClr val="FFFFFF"/>
          </a:solidFill>
          <a:ln w="12700">
            <a:solidFill>
              <a:srgbClr val="111111"/>
            </a:solidFill>
            <a:prstDash val="solid"/>
          </a:ln>
        </p:spPr>
      </p:sp>
      <p:sp>
        <p:nvSpPr>
          <p:cNvPr id="12" name="Shape 10"/>
          <p:cNvSpPr/>
          <p:nvPr/>
        </p:nvSpPr>
        <p:spPr>
          <a:xfrm>
            <a:off x="6297016" y="1627632"/>
            <a:ext cx="5254600" cy="64008"/>
          </a:xfrm>
          <a:prstGeom prst="rect">
            <a:avLst/>
          </a:prstGeom>
          <a:solidFill>
            <a:srgbClr val="111111"/>
          </a:solidFill>
          <a:ln w="12700">
            <a:solidFill>
              <a:srgbClr val="111111"/>
            </a:solidFill>
            <a:prstDash val="solid"/>
          </a:ln>
        </p:spPr>
      </p:sp>
      <p:sp>
        <p:nvSpPr>
          <p:cNvPr id="13" name="Text 11"/>
          <p:cNvSpPr/>
          <p:nvPr/>
        </p:nvSpPr>
        <p:spPr>
          <a:xfrm>
            <a:off x="6699352" y="1901952"/>
            <a:ext cx="4449928"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이렇게 씁니다</a:t>
            </a:r>
            <a:endParaRPr lang="en-US" sz="1700" dirty="0"/>
          </a:p>
        </p:txBody>
      </p:sp>
      <p:sp>
        <p:nvSpPr>
          <p:cNvPr id="14" name="Text 12"/>
          <p:cNvSpPr/>
          <p:nvPr/>
        </p:nvSpPr>
        <p:spPr>
          <a:xfrm>
            <a:off x="1042416" y="2450592"/>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앞에서부터</a:t>
            </a:r>
            <a:endParaRPr lang="en-US" sz="900" dirty="0"/>
          </a:p>
        </p:txBody>
      </p:sp>
      <p:sp>
        <p:nvSpPr>
          <p:cNvPr id="15" name="Text 13"/>
          <p:cNvSpPr/>
          <p:nvPr/>
        </p:nvSpPr>
        <p:spPr>
          <a:xfrm>
            <a:off x="1042416" y="2688336"/>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표지부터 차례로 넘긴다</a:t>
            </a:r>
            <a:endParaRPr lang="en-US" sz="1150" dirty="0"/>
          </a:p>
        </p:txBody>
      </p:sp>
      <p:sp>
        <p:nvSpPr>
          <p:cNvPr id="16" name="Text 14"/>
          <p:cNvSpPr/>
          <p:nvPr/>
        </p:nvSpPr>
        <p:spPr>
          <a:xfrm>
            <a:off x="6699352" y="2450592"/>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앞에서부터</a:t>
            </a:r>
            <a:endParaRPr lang="en-US" sz="900" dirty="0"/>
          </a:p>
        </p:txBody>
      </p:sp>
      <p:sp>
        <p:nvSpPr>
          <p:cNvPr id="17" name="Text 15"/>
          <p:cNvSpPr/>
          <p:nvPr/>
        </p:nvSpPr>
        <p:spPr>
          <a:xfrm>
            <a:off x="6699352" y="2688336"/>
            <a:ext cx="4449928" cy="329184"/>
          </a:xfrm>
          <a:prstGeom prst="rect">
            <a:avLst/>
          </a:prstGeom>
          <a:noFill/>
          <a:ln/>
        </p:spPr>
        <p:txBody>
          <a:bodyPr wrap="square" lIns="0" tIns="0" rIns="0" bIns="0" rtlCol="0" anchor="t"/>
          <a:lstStyle/>
          <a:p>
            <a:pPr indent="0" marL="0">
              <a:lnSpc>
                <a:spcPct val="120000"/>
              </a:lnSpc>
              <a:buNone/>
            </a:pPr>
            <a:r>
              <a:rPr lang="en-US" sz="1150" b="1" dirty="0">
                <a:solidFill>
                  <a:srgbClr val="1F1F1F"/>
                </a:solidFill>
                <a:latin typeface="Pretendard" pitchFamily="34" charset="0"/>
                <a:ea typeface="Pretendard" pitchFamily="34" charset="-122"/>
                <a:cs typeface="Pretendard" pitchFamily="34" charset="-120"/>
              </a:rPr>
              <a:t>대표 프로젝트 세 지면부터 띄운다</a:t>
            </a:r>
            <a:endParaRPr lang="en-US" sz="1150" dirty="0"/>
          </a:p>
        </p:txBody>
      </p:sp>
      <p:sp>
        <p:nvSpPr>
          <p:cNvPr id="18" name="Shape 16"/>
          <p:cNvSpPr/>
          <p:nvPr/>
        </p:nvSpPr>
        <p:spPr>
          <a:xfrm>
            <a:off x="1042416" y="2980944"/>
            <a:ext cx="4449928" cy="7315"/>
          </a:xfrm>
          <a:prstGeom prst="rect">
            <a:avLst/>
          </a:prstGeom>
          <a:solidFill>
            <a:srgbClr val="DCDCDC"/>
          </a:solidFill>
          <a:ln w="12700">
            <a:solidFill>
              <a:srgbClr val="DCDCDC"/>
            </a:solidFill>
            <a:prstDash val="solid"/>
          </a:ln>
        </p:spPr>
      </p:sp>
      <p:sp>
        <p:nvSpPr>
          <p:cNvPr id="19" name="Shape 17"/>
          <p:cNvSpPr/>
          <p:nvPr/>
        </p:nvSpPr>
        <p:spPr>
          <a:xfrm>
            <a:off x="6699352" y="2980944"/>
            <a:ext cx="4449928" cy="7315"/>
          </a:xfrm>
          <a:prstGeom prst="rect">
            <a:avLst/>
          </a:prstGeom>
          <a:solidFill>
            <a:srgbClr val="D2D2D2"/>
          </a:solidFill>
          <a:ln w="12700">
            <a:solidFill>
              <a:srgbClr val="D2D2D2"/>
            </a:solidFill>
            <a:prstDash val="solid"/>
          </a:ln>
        </p:spPr>
      </p:sp>
      <p:sp>
        <p:nvSpPr>
          <p:cNvPr id="20" name="Text 18"/>
          <p:cNvSpPr/>
          <p:nvPr/>
        </p:nvSpPr>
        <p:spPr>
          <a:xfrm>
            <a:off x="1042416" y="3035808"/>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적힌 것을 읽음</a:t>
            </a:r>
            <a:endParaRPr lang="en-US" sz="900" dirty="0"/>
          </a:p>
        </p:txBody>
      </p:sp>
      <p:sp>
        <p:nvSpPr>
          <p:cNvPr id="21" name="Text 19"/>
          <p:cNvSpPr/>
          <p:nvPr/>
        </p:nvSpPr>
        <p:spPr>
          <a:xfrm>
            <a:off x="1042416" y="3273552"/>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지면의 글을 그대로 읽는다</a:t>
            </a:r>
            <a:endParaRPr lang="en-US" sz="1150" dirty="0"/>
          </a:p>
        </p:txBody>
      </p:sp>
      <p:sp>
        <p:nvSpPr>
          <p:cNvPr id="22" name="Text 20"/>
          <p:cNvSpPr/>
          <p:nvPr/>
        </p:nvSpPr>
        <p:spPr>
          <a:xfrm>
            <a:off x="6699352" y="3035808"/>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적힌 것을 읽음</a:t>
            </a:r>
            <a:endParaRPr lang="en-US" sz="900" dirty="0"/>
          </a:p>
        </p:txBody>
      </p:sp>
      <p:sp>
        <p:nvSpPr>
          <p:cNvPr id="23" name="Text 21"/>
          <p:cNvSpPr/>
          <p:nvPr/>
        </p:nvSpPr>
        <p:spPr>
          <a:xfrm>
            <a:off x="6699352" y="3273552"/>
            <a:ext cx="4449928" cy="329184"/>
          </a:xfrm>
          <a:prstGeom prst="rect">
            <a:avLst/>
          </a:prstGeom>
          <a:noFill/>
          <a:ln/>
        </p:spPr>
        <p:txBody>
          <a:bodyPr wrap="square" lIns="0" tIns="0" rIns="0" bIns="0" rtlCol="0" anchor="t"/>
          <a:lstStyle/>
          <a:p>
            <a:pPr indent="0" marL="0">
              <a:lnSpc>
                <a:spcPct val="120000"/>
              </a:lnSpc>
              <a:buNone/>
            </a:pPr>
            <a:r>
              <a:rPr lang="en-US" sz="1150" b="1" dirty="0">
                <a:solidFill>
                  <a:srgbClr val="1F1F1F"/>
                </a:solidFill>
                <a:latin typeface="Pretendard" pitchFamily="34" charset="0"/>
                <a:ea typeface="Pretendard" pitchFamily="34" charset="-122"/>
                <a:cs typeface="Pretendard" pitchFamily="34" charset="-120"/>
              </a:rPr>
              <a:t>왜 이 순서로 놨는지를 말한다</a:t>
            </a:r>
            <a:endParaRPr lang="en-US" sz="1150" dirty="0"/>
          </a:p>
        </p:txBody>
      </p:sp>
      <p:sp>
        <p:nvSpPr>
          <p:cNvPr id="24" name="Shape 22"/>
          <p:cNvSpPr/>
          <p:nvPr/>
        </p:nvSpPr>
        <p:spPr>
          <a:xfrm>
            <a:off x="1042416" y="3566160"/>
            <a:ext cx="4449928" cy="7315"/>
          </a:xfrm>
          <a:prstGeom prst="rect">
            <a:avLst/>
          </a:prstGeom>
          <a:solidFill>
            <a:srgbClr val="DCDCDC"/>
          </a:solidFill>
          <a:ln w="12700">
            <a:solidFill>
              <a:srgbClr val="DCDCDC"/>
            </a:solidFill>
            <a:prstDash val="solid"/>
          </a:ln>
        </p:spPr>
      </p:sp>
      <p:sp>
        <p:nvSpPr>
          <p:cNvPr id="25" name="Shape 23"/>
          <p:cNvSpPr/>
          <p:nvPr/>
        </p:nvSpPr>
        <p:spPr>
          <a:xfrm>
            <a:off x="6699352" y="3566160"/>
            <a:ext cx="4449928" cy="7315"/>
          </a:xfrm>
          <a:prstGeom prst="rect">
            <a:avLst/>
          </a:prstGeom>
          <a:solidFill>
            <a:srgbClr val="D2D2D2"/>
          </a:solidFill>
          <a:ln w="12700">
            <a:solidFill>
              <a:srgbClr val="D2D2D2"/>
            </a:solidFill>
            <a:prstDash val="solid"/>
          </a:ln>
        </p:spPr>
      </p:sp>
      <p:sp>
        <p:nvSpPr>
          <p:cNvPr id="26" name="Text 24"/>
          <p:cNvSpPr/>
          <p:nvPr/>
        </p:nvSpPr>
        <p:spPr>
          <a:xfrm>
            <a:off x="1042416" y="3621024"/>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변명으로 시작</a:t>
            </a:r>
            <a:endParaRPr lang="en-US" sz="900" dirty="0"/>
          </a:p>
        </p:txBody>
      </p:sp>
      <p:sp>
        <p:nvSpPr>
          <p:cNvPr id="27" name="Text 25"/>
          <p:cNvSpPr/>
          <p:nvPr/>
        </p:nvSpPr>
        <p:spPr>
          <a:xfrm>
            <a:off x="1042416" y="3858768"/>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시간이 없어서 덜 했다고 연다</a:t>
            </a:r>
            <a:endParaRPr lang="en-US" sz="1150" dirty="0"/>
          </a:p>
        </p:txBody>
      </p:sp>
      <p:sp>
        <p:nvSpPr>
          <p:cNvPr id="28" name="Text 26"/>
          <p:cNvSpPr/>
          <p:nvPr/>
        </p:nvSpPr>
        <p:spPr>
          <a:xfrm>
            <a:off x="6699352" y="3621024"/>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변명으로 시작</a:t>
            </a:r>
            <a:endParaRPr lang="en-US" sz="900" dirty="0"/>
          </a:p>
        </p:txBody>
      </p:sp>
      <p:sp>
        <p:nvSpPr>
          <p:cNvPr id="29" name="Text 27"/>
          <p:cNvSpPr/>
          <p:nvPr/>
        </p:nvSpPr>
        <p:spPr>
          <a:xfrm>
            <a:off x="6699352" y="3858768"/>
            <a:ext cx="4449928" cy="329184"/>
          </a:xfrm>
          <a:prstGeom prst="rect">
            <a:avLst/>
          </a:prstGeom>
          <a:noFill/>
          <a:ln/>
        </p:spPr>
        <p:txBody>
          <a:bodyPr wrap="square" lIns="0" tIns="0" rIns="0" bIns="0" rtlCol="0" anchor="t"/>
          <a:lstStyle/>
          <a:p>
            <a:pPr indent="0" marL="0">
              <a:lnSpc>
                <a:spcPct val="120000"/>
              </a:lnSpc>
              <a:buNone/>
            </a:pPr>
            <a:r>
              <a:rPr lang="en-US" sz="1150" b="1" dirty="0">
                <a:solidFill>
                  <a:srgbClr val="1F1F1F"/>
                </a:solidFill>
                <a:latin typeface="Pretendard" pitchFamily="34" charset="0"/>
                <a:ea typeface="Pretendard" pitchFamily="34" charset="-122"/>
                <a:cs typeface="Pretendard" pitchFamily="34" charset="-120"/>
              </a:rPr>
              <a:t>어디까지 했는지 먼저 말한다</a:t>
            </a:r>
            <a:endParaRPr lang="en-US" sz="1150" dirty="0"/>
          </a:p>
        </p:txBody>
      </p:sp>
      <p:sp>
        <p:nvSpPr>
          <p:cNvPr id="30" name="Shape 28"/>
          <p:cNvSpPr/>
          <p:nvPr/>
        </p:nvSpPr>
        <p:spPr>
          <a:xfrm>
            <a:off x="1042416" y="4151376"/>
            <a:ext cx="4449928" cy="7315"/>
          </a:xfrm>
          <a:prstGeom prst="rect">
            <a:avLst/>
          </a:prstGeom>
          <a:solidFill>
            <a:srgbClr val="DCDCDC"/>
          </a:solidFill>
          <a:ln w="12700">
            <a:solidFill>
              <a:srgbClr val="DCDCDC"/>
            </a:solidFill>
            <a:prstDash val="solid"/>
          </a:ln>
        </p:spPr>
      </p:sp>
      <p:sp>
        <p:nvSpPr>
          <p:cNvPr id="31" name="Shape 29"/>
          <p:cNvSpPr/>
          <p:nvPr/>
        </p:nvSpPr>
        <p:spPr>
          <a:xfrm>
            <a:off x="6699352" y="4151376"/>
            <a:ext cx="4449928" cy="7315"/>
          </a:xfrm>
          <a:prstGeom prst="rect">
            <a:avLst/>
          </a:prstGeom>
          <a:solidFill>
            <a:srgbClr val="D2D2D2"/>
          </a:solidFill>
          <a:ln w="12700">
            <a:solidFill>
              <a:srgbClr val="D2D2D2"/>
            </a:solidFill>
            <a:prstDash val="solid"/>
          </a:ln>
        </p:spPr>
      </p:sp>
      <p:sp>
        <p:nvSpPr>
          <p:cNvPr id="32" name="Text 30"/>
          <p:cNvSpPr/>
          <p:nvPr/>
        </p:nvSpPr>
        <p:spPr>
          <a:xfrm>
            <a:off x="1042416" y="4206240"/>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잘된 것만</a:t>
            </a:r>
            <a:endParaRPr lang="en-US" sz="900" dirty="0"/>
          </a:p>
        </p:txBody>
      </p:sp>
      <p:sp>
        <p:nvSpPr>
          <p:cNvPr id="33" name="Text 31"/>
          <p:cNvSpPr/>
          <p:nvPr/>
        </p:nvSpPr>
        <p:spPr>
          <a:xfrm>
            <a:off x="1042416" y="4443984"/>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되는 것만 보이고 끝낸다</a:t>
            </a:r>
            <a:endParaRPr lang="en-US" sz="1150" dirty="0"/>
          </a:p>
        </p:txBody>
      </p:sp>
      <p:sp>
        <p:nvSpPr>
          <p:cNvPr id="34" name="Text 32"/>
          <p:cNvSpPr/>
          <p:nvPr/>
        </p:nvSpPr>
        <p:spPr>
          <a:xfrm>
            <a:off x="6699352" y="4206240"/>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잘된 것만</a:t>
            </a:r>
            <a:endParaRPr lang="en-US" sz="900" dirty="0"/>
          </a:p>
        </p:txBody>
      </p:sp>
      <p:sp>
        <p:nvSpPr>
          <p:cNvPr id="35" name="Text 33"/>
          <p:cNvSpPr/>
          <p:nvPr/>
        </p:nvSpPr>
        <p:spPr>
          <a:xfrm>
            <a:off x="6699352" y="4443984"/>
            <a:ext cx="4449928" cy="329184"/>
          </a:xfrm>
          <a:prstGeom prst="rect">
            <a:avLst/>
          </a:prstGeom>
          <a:noFill/>
          <a:ln/>
        </p:spPr>
        <p:txBody>
          <a:bodyPr wrap="square" lIns="0" tIns="0" rIns="0" bIns="0" rtlCol="0" anchor="t"/>
          <a:lstStyle/>
          <a:p>
            <a:pPr indent="0" marL="0">
              <a:lnSpc>
                <a:spcPct val="120000"/>
              </a:lnSpc>
              <a:buNone/>
            </a:pPr>
            <a:r>
              <a:rPr lang="en-US" sz="1150" b="1" dirty="0">
                <a:solidFill>
                  <a:srgbClr val="1F1F1F"/>
                </a:solidFill>
                <a:latin typeface="Pretendard" pitchFamily="34" charset="0"/>
                <a:ea typeface="Pretendard" pitchFamily="34" charset="-122"/>
                <a:cs typeface="Pretendard" pitchFamily="34" charset="-120"/>
              </a:rPr>
              <a:t>막힌 것을 묻고 끝낸다</a:t>
            </a:r>
            <a:endParaRPr lang="en-US" sz="1150" dirty="0"/>
          </a:p>
        </p:txBody>
      </p:sp>
      <p:sp>
        <p:nvSpPr>
          <p:cNvPr id="36" name="Shape 34"/>
          <p:cNvSpPr/>
          <p:nvPr/>
        </p:nvSpPr>
        <p:spPr>
          <a:xfrm>
            <a:off x="640080" y="5010912"/>
            <a:ext cx="10911535" cy="7315"/>
          </a:xfrm>
          <a:prstGeom prst="rect">
            <a:avLst/>
          </a:prstGeom>
          <a:solidFill>
            <a:srgbClr val="111111"/>
          </a:solidFill>
          <a:ln w="12700">
            <a:solidFill>
              <a:srgbClr val="111111"/>
            </a:solidFill>
            <a:prstDash val="solid"/>
          </a:ln>
        </p:spPr>
      </p:sp>
      <p:sp>
        <p:nvSpPr>
          <p:cNvPr id="37" name="Text 35"/>
          <p:cNvSpPr/>
          <p:nvPr/>
        </p:nvSpPr>
        <p:spPr>
          <a:xfrm>
            <a:off x="640080" y="5120640"/>
            <a:ext cx="10911535" cy="402336"/>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오늘 받아 가실 것은 질문 하나입니다. 그러려면 막힌 것을 먼저 보이셔야 합니다.</a:t>
            </a:r>
            <a:endParaRPr lang="en-US" sz="1300" dirty="0"/>
          </a:p>
        </p:txBody>
      </p:sp>
      <p:sp>
        <p:nvSpPr>
          <p:cNvPr id="38" name="Shape 36"/>
          <p:cNvSpPr/>
          <p:nvPr/>
        </p:nvSpPr>
        <p:spPr>
          <a:xfrm>
            <a:off x="640080" y="6291072"/>
            <a:ext cx="10911535" cy="7315"/>
          </a:xfrm>
          <a:prstGeom prst="rect">
            <a:avLst/>
          </a:prstGeom>
          <a:solidFill>
            <a:srgbClr val="DCDCDC"/>
          </a:solidFill>
          <a:ln w="12700">
            <a:solidFill>
              <a:srgbClr val="DCDCDC"/>
            </a:solidFill>
            <a:prstDash val="solid"/>
          </a:ln>
        </p:spPr>
      </p:sp>
      <p:sp>
        <p:nvSpPr>
          <p:cNvPr id="39" name="Text 37"/>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6주차 중간 발표 — 지금까지 정리된 포트폴리오를 발표합니다</a:t>
            </a:r>
            <a:endParaRPr lang="en-US" sz="850" dirty="0"/>
          </a:p>
        </p:txBody>
      </p:sp>
      <p:sp>
        <p:nvSpPr>
          <p:cNvPr id="40" name="Text 38"/>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P.05</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2 콘텐츠 구조화와 비주얼 시스템</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06</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LISTEN</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듣는 사람이 적을 내용</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적으면서 듣습니다. 다 듣고 나서 적으면 기억이 안 납니다.</a:t>
            </a:r>
            <a:endParaRPr lang="en-US" sz="1150" dirty="0"/>
          </a:p>
        </p:txBody>
      </p:sp>
      <p:sp>
        <p:nvSpPr>
          <p:cNvPr id="9" name="Shape 7"/>
          <p:cNvSpPr/>
          <p:nvPr/>
        </p:nvSpPr>
        <p:spPr>
          <a:xfrm>
            <a:off x="640080" y="1664208"/>
            <a:ext cx="5254600" cy="3749040"/>
          </a:xfrm>
          <a:prstGeom prst="rect">
            <a:avLst/>
          </a:prstGeom>
          <a:solidFill>
            <a:srgbClr val="FFFFFF"/>
          </a:solidFill>
          <a:ln w="12700">
            <a:solidFill>
              <a:srgbClr val="DCDCDC"/>
            </a:solidFill>
            <a:prstDash val="solid"/>
          </a:ln>
        </p:spPr>
      </p:sp>
      <p:sp>
        <p:nvSpPr>
          <p:cNvPr id="10" name="Text 8"/>
          <p:cNvSpPr/>
          <p:nvPr/>
        </p:nvSpPr>
        <p:spPr>
          <a:xfrm>
            <a:off x="1060704"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적을 것</a:t>
            </a:r>
            <a:endParaRPr lang="en-US" sz="1700" dirty="0"/>
          </a:p>
        </p:txBody>
      </p:sp>
      <p:sp>
        <p:nvSpPr>
          <p:cNvPr id="11" name="Shape 9"/>
          <p:cNvSpPr/>
          <p:nvPr/>
        </p:nvSpPr>
        <p:spPr>
          <a:xfrm>
            <a:off x="1060704" y="2414016"/>
            <a:ext cx="4413352" cy="7315"/>
          </a:xfrm>
          <a:prstGeom prst="rect">
            <a:avLst/>
          </a:prstGeom>
          <a:solidFill>
            <a:srgbClr val="111111"/>
          </a:solidFill>
          <a:ln w="12700">
            <a:solidFill>
              <a:srgbClr val="111111"/>
            </a:solidFill>
            <a:prstDash val="solid"/>
          </a:ln>
        </p:spPr>
      </p:sp>
      <p:sp>
        <p:nvSpPr>
          <p:cNvPr id="12" name="Text 10"/>
          <p:cNvSpPr/>
          <p:nvPr/>
        </p:nvSpPr>
        <p:spPr>
          <a:xfrm>
            <a:off x="1060704"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저 사람 포트폴리오를 한마디로 하면 뭔가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제일 눈에 들어온 지면 하나 — 왜 그런지도</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나는 안 하는데 저 사람은 하고 있는 것</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묻고 싶은 것 하나</a:t>
            </a:r>
            <a:endParaRPr lang="en-US" sz="1200" dirty="0"/>
          </a:p>
        </p:txBody>
      </p:sp>
      <p:sp>
        <p:nvSpPr>
          <p:cNvPr id="13" name="Shape 11"/>
          <p:cNvSpPr/>
          <p:nvPr/>
        </p:nvSpPr>
        <p:spPr>
          <a:xfrm>
            <a:off x="6297016" y="1664208"/>
            <a:ext cx="5254600" cy="3749040"/>
          </a:xfrm>
          <a:prstGeom prst="rect">
            <a:avLst/>
          </a:prstGeom>
          <a:solidFill>
            <a:srgbClr val="F2F2F2"/>
          </a:solidFill>
          <a:ln w="12700">
            <a:solidFill>
              <a:srgbClr val="DCDCDC"/>
            </a:solidFill>
            <a:prstDash val="solid"/>
          </a:ln>
        </p:spPr>
      </p:sp>
      <p:sp>
        <p:nvSpPr>
          <p:cNvPr id="14" name="Text 12"/>
          <p:cNvSpPr/>
          <p:nvPr/>
        </p:nvSpPr>
        <p:spPr>
          <a:xfrm>
            <a:off x="6717640"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말할 때</a:t>
            </a:r>
            <a:endParaRPr lang="en-US" sz="1700" dirty="0"/>
          </a:p>
        </p:txBody>
      </p:sp>
      <p:sp>
        <p:nvSpPr>
          <p:cNvPr id="15" name="Shape 13"/>
          <p:cNvSpPr/>
          <p:nvPr/>
        </p:nvSpPr>
        <p:spPr>
          <a:xfrm>
            <a:off x="6717640" y="2414016"/>
            <a:ext cx="4413352" cy="7315"/>
          </a:xfrm>
          <a:prstGeom prst="rect">
            <a:avLst/>
          </a:prstGeom>
          <a:solidFill>
            <a:srgbClr val="111111"/>
          </a:solidFill>
          <a:ln w="12700">
            <a:solidFill>
              <a:srgbClr val="111111"/>
            </a:solidFill>
            <a:prstDash val="solid"/>
          </a:ln>
        </p:spPr>
      </p:sp>
      <p:sp>
        <p:nvSpPr>
          <p:cNvPr id="16" name="Text 14"/>
          <p:cNvSpPr/>
          <p:nvPr/>
        </p:nvSpPr>
        <p:spPr>
          <a:xfrm>
            <a:off x="6717640"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좋다 나쁘다 말고 어디서 걸렸는지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고쳐 주려 하지 마세요. 어떻게 고칠지는 본인이 정합니다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한 사람당 한 줄이면 충분합니다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발표가 끝나면 바로 채팅에 올립니다</a:t>
            </a:r>
            <a:endParaRPr lang="en-US" sz="1200" dirty="0"/>
          </a:p>
        </p:txBody>
      </p:sp>
      <p:sp>
        <p:nvSpPr>
          <p:cNvPr id="17" name="Shape 15"/>
          <p:cNvSpPr/>
          <p:nvPr/>
        </p:nvSpPr>
        <p:spPr>
          <a:xfrm>
            <a:off x="640080" y="6291072"/>
            <a:ext cx="10911535" cy="7315"/>
          </a:xfrm>
          <a:prstGeom prst="rect">
            <a:avLst/>
          </a:prstGeom>
          <a:solidFill>
            <a:srgbClr val="DCDCDC"/>
          </a:solidFill>
          <a:ln w="12700">
            <a:solidFill>
              <a:srgbClr val="DCDCDC"/>
            </a:solidFill>
            <a:prstDash val="solid"/>
          </a:ln>
        </p:spPr>
      </p:sp>
      <p:sp>
        <p:nvSpPr>
          <p:cNvPr id="18" name="Text 16"/>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6주차 중간 발표 — 지금까지 정리된 포트폴리오를 발표합니다</a:t>
            </a:r>
            <a:endParaRPr lang="en-US" sz="850" dirty="0"/>
          </a:p>
        </p:txBody>
      </p:sp>
      <p:sp>
        <p:nvSpPr>
          <p:cNvPr id="19" name="Text 17"/>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2 콘텐츠 구조화와 비주얼 시스템</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06</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LEFT</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남은 세 회차</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만들 시간은 두 번뿐입니다. 고칠 것을 골라야 합니다.</a:t>
            </a:r>
            <a:endParaRPr lang="en-US" sz="1150" dirty="0"/>
          </a:p>
        </p:txBody>
      </p:sp>
      <p:sp>
        <p:nvSpPr>
          <p:cNvPr id="9" name="Shape 7"/>
          <p:cNvSpPr/>
          <p:nvPr/>
        </p:nvSpPr>
        <p:spPr>
          <a:xfrm>
            <a:off x="640080" y="1664208"/>
            <a:ext cx="10911535" cy="7315"/>
          </a:xfrm>
          <a:prstGeom prst="rect">
            <a:avLst/>
          </a:prstGeom>
          <a:solidFill>
            <a:srgbClr val="111111"/>
          </a:solidFill>
          <a:ln w="12700">
            <a:solidFill>
              <a:srgbClr val="111111"/>
            </a:solidFill>
            <a:prstDash val="solid"/>
          </a:ln>
        </p:spPr>
      </p:sp>
      <p:sp>
        <p:nvSpPr>
          <p:cNvPr id="10" name="Shape 8"/>
          <p:cNvSpPr/>
          <p:nvPr/>
        </p:nvSpPr>
        <p:spPr>
          <a:xfrm>
            <a:off x="640080" y="1810512"/>
            <a:ext cx="310896" cy="310896"/>
          </a:xfrm>
          <a:prstGeom prst="ellipse">
            <a:avLst/>
          </a:prstGeom>
          <a:solidFill>
            <a:srgbClr val="FFFFFF"/>
          </a:solidFill>
          <a:ln w="12700">
            <a:solidFill>
              <a:srgbClr val="111111"/>
            </a:solidFill>
            <a:prstDash val="solid"/>
          </a:ln>
        </p:spPr>
      </p:sp>
      <p:sp>
        <p:nvSpPr>
          <p:cNvPr id="11" name="Text 9"/>
          <p:cNvSpPr/>
          <p:nvPr/>
        </p:nvSpPr>
        <p:spPr>
          <a:xfrm>
            <a:off x="640080" y="1810512"/>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7</a:t>
            </a:r>
            <a:endParaRPr lang="en-US" sz="1000" dirty="0"/>
          </a:p>
        </p:txBody>
      </p:sp>
      <p:sp>
        <p:nvSpPr>
          <p:cNvPr id="12" name="Text 10"/>
          <p:cNvSpPr/>
          <p:nvPr/>
        </p:nvSpPr>
        <p:spPr>
          <a:xfrm>
            <a:off x="1188720" y="1719072"/>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11/10 — 색과 편집</a:t>
            </a:r>
            <a:endParaRPr lang="en-US" sz="1450" dirty="0"/>
          </a:p>
        </p:txBody>
      </p:sp>
      <p:sp>
        <p:nvSpPr>
          <p:cNvPr id="13" name="Text 11"/>
          <p:cNvSpPr/>
          <p:nvPr/>
        </p:nvSpPr>
        <p:spPr>
          <a:xfrm>
            <a:off x="1188720" y="2029968"/>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색과 글자를 한 벌로 정합니다. 오늘 모으실 레퍼런스가 그날 재료예요</a:t>
            </a:r>
            <a:endParaRPr lang="en-US" sz="1100" dirty="0"/>
          </a:p>
        </p:txBody>
      </p:sp>
      <p:sp>
        <p:nvSpPr>
          <p:cNvPr id="14" name="Shape 12"/>
          <p:cNvSpPr/>
          <p:nvPr/>
        </p:nvSpPr>
        <p:spPr>
          <a:xfrm>
            <a:off x="640080" y="2670048"/>
            <a:ext cx="10911535" cy="7315"/>
          </a:xfrm>
          <a:prstGeom prst="rect">
            <a:avLst/>
          </a:prstGeom>
          <a:solidFill>
            <a:srgbClr val="DCDCDC"/>
          </a:solidFill>
          <a:ln w="12700">
            <a:solidFill>
              <a:srgbClr val="DCDCDC"/>
            </a:solidFill>
            <a:prstDash val="solid"/>
          </a:ln>
        </p:spPr>
      </p:sp>
      <p:sp>
        <p:nvSpPr>
          <p:cNvPr id="15" name="Shape 13"/>
          <p:cNvSpPr/>
          <p:nvPr/>
        </p:nvSpPr>
        <p:spPr>
          <a:xfrm>
            <a:off x="640080" y="2834640"/>
            <a:ext cx="310896" cy="310896"/>
          </a:xfrm>
          <a:prstGeom prst="ellipse">
            <a:avLst/>
          </a:prstGeom>
          <a:solidFill>
            <a:srgbClr val="FFFFFF"/>
          </a:solidFill>
          <a:ln w="12700">
            <a:solidFill>
              <a:srgbClr val="111111"/>
            </a:solidFill>
            <a:prstDash val="solid"/>
          </a:ln>
        </p:spPr>
      </p:sp>
      <p:sp>
        <p:nvSpPr>
          <p:cNvPr id="16" name="Text 14"/>
          <p:cNvSpPr/>
          <p:nvPr/>
        </p:nvSpPr>
        <p:spPr>
          <a:xfrm>
            <a:off x="640080" y="2834640"/>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8</a:t>
            </a:r>
            <a:endParaRPr lang="en-US" sz="1000" dirty="0"/>
          </a:p>
        </p:txBody>
      </p:sp>
      <p:sp>
        <p:nvSpPr>
          <p:cNvPr id="17" name="Text 15"/>
          <p:cNvSpPr/>
          <p:nvPr/>
        </p:nvSpPr>
        <p:spPr>
          <a:xfrm>
            <a:off x="1188720" y="2743200"/>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11/24 — 편집 마무리와 온라인</a:t>
            </a:r>
            <a:endParaRPr lang="en-US" sz="1450" dirty="0"/>
          </a:p>
        </p:txBody>
      </p:sp>
      <p:sp>
        <p:nvSpPr>
          <p:cNvPr id="18" name="Text 16"/>
          <p:cNvSpPr/>
          <p:nvPr/>
        </p:nvSpPr>
        <p:spPr>
          <a:xfrm>
            <a:off x="1188720" y="3054096"/>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편집을 끝내고 온라인에 올립니다. 회차 뒤쪽에서 발표 연습을 합니다</a:t>
            </a:r>
            <a:endParaRPr lang="en-US" sz="1100" dirty="0"/>
          </a:p>
        </p:txBody>
      </p:sp>
      <p:sp>
        <p:nvSpPr>
          <p:cNvPr id="19" name="Shape 17"/>
          <p:cNvSpPr/>
          <p:nvPr/>
        </p:nvSpPr>
        <p:spPr>
          <a:xfrm>
            <a:off x="640080" y="3694176"/>
            <a:ext cx="10911535" cy="7315"/>
          </a:xfrm>
          <a:prstGeom prst="rect">
            <a:avLst/>
          </a:prstGeom>
          <a:solidFill>
            <a:srgbClr val="DCDCDC"/>
          </a:solidFill>
          <a:ln w="12700">
            <a:solidFill>
              <a:srgbClr val="DCDCDC"/>
            </a:solidFill>
            <a:prstDash val="solid"/>
          </a:ln>
        </p:spPr>
      </p:sp>
      <p:sp>
        <p:nvSpPr>
          <p:cNvPr id="20" name="Shape 18"/>
          <p:cNvSpPr/>
          <p:nvPr/>
        </p:nvSpPr>
        <p:spPr>
          <a:xfrm>
            <a:off x="640080" y="3858768"/>
            <a:ext cx="310896" cy="310896"/>
          </a:xfrm>
          <a:prstGeom prst="ellipse">
            <a:avLst/>
          </a:prstGeom>
          <a:solidFill>
            <a:srgbClr val="FFFFFF"/>
          </a:solidFill>
          <a:ln w="12700">
            <a:solidFill>
              <a:srgbClr val="111111"/>
            </a:solidFill>
            <a:prstDash val="solid"/>
          </a:ln>
        </p:spPr>
      </p:sp>
      <p:sp>
        <p:nvSpPr>
          <p:cNvPr id="21" name="Text 19"/>
          <p:cNvSpPr/>
          <p:nvPr/>
        </p:nvSpPr>
        <p:spPr>
          <a:xfrm>
            <a:off x="640080" y="3858768"/>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9</a:t>
            </a:r>
            <a:endParaRPr lang="en-US" sz="1000" dirty="0"/>
          </a:p>
        </p:txBody>
      </p:sp>
      <p:sp>
        <p:nvSpPr>
          <p:cNvPr id="22" name="Text 20"/>
          <p:cNvSpPr/>
          <p:nvPr/>
        </p:nvSpPr>
        <p:spPr>
          <a:xfrm>
            <a:off x="1188720" y="3767328"/>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12/8 — 기말 발표</a:t>
            </a:r>
            <a:endParaRPr lang="en-US" sz="1450" dirty="0"/>
          </a:p>
        </p:txBody>
      </p:sp>
      <p:sp>
        <p:nvSpPr>
          <p:cNvPr id="23" name="Text 21"/>
          <p:cNvSpPr/>
          <p:nvPr/>
        </p:nvSpPr>
        <p:spPr>
          <a:xfrm>
            <a:off x="1188720" y="4078224"/>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완성한 포트폴리오를 발표합니다</a:t>
            </a:r>
            <a:endParaRPr lang="en-US" sz="1100" dirty="0"/>
          </a:p>
        </p:txBody>
      </p:sp>
      <p:sp>
        <p:nvSpPr>
          <p:cNvPr id="24" name="Shape 22"/>
          <p:cNvSpPr/>
          <p:nvPr/>
        </p:nvSpPr>
        <p:spPr>
          <a:xfrm>
            <a:off x="640080" y="4791456"/>
            <a:ext cx="10911535" cy="7315"/>
          </a:xfrm>
          <a:prstGeom prst="rect">
            <a:avLst/>
          </a:prstGeom>
          <a:solidFill>
            <a:srgbClr val="111111"/>
          </a:solidFill>
          <a:ln w="12700">
            <a:solidFill>
              <a:srgbClr val="111111"/>
            </a:solidFill>
            <a:prstDash val="solid"/>
          </a:ln>
        </p:spPr>
      </p:sp>
      <p:sp>
        <p:nvSpPr>
          <p:cNvPr id="25" name="Text 23"/>
          <p:cNvSpPr/>
          <p:nvPr/>
        </p:nvSpPr>
        <p:spPr>
          <a:xfrm>
            <a:off x="640080" y="4901184"/>
            <a:ext cx="10911535" cy="402336"/>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수업은 세 번이지만 사이가 2주씩이라 실제로 쓰실 수 있는 시간은 넉 주입니다.</a:t>
            </a:r>
            <a:endParaRPr lang="en-US" sz="1250" dirty="0"/>
          </a:p>
        </p:txBody>
      </p:sp>
      <p:sp>
        <p:nvSpPr>
          <p:cNvPr id="26" name="Shape 24"/>
          <p:cNvSpPr/>
          <p:nvPr/>
        </p:nvSpPr>
        <p:spPr>
          <a:xfrm>
            <a:off x="640080" y="6291072"/>
            <a:ext cx="10911535" cy="7315"/>
          </a:xfrm>
          <a:prstGeom prst="rect">
            <a:avLst/>
          </a:prstGeom>
          <a:solidFill>
            <a:srgbClr val="DCDCDC"/>
          </a:solidFill>
          <a:ln w="12700">
            <a:solidFill>
              <a:srgbClr val="DCDCDC"/>
            </a:solidFill>
            <a:prstDash val="solid"/>
          </a:ln>
        </p:spPr>
      </p:sp>
      <p:sp>
        <p:nvSpPr>
          <p:cNvPr id="27" name="Text 25"/>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6주차 중간 발표 — 지금까지 정리된 포트폴리오를 발표합니다</a:t>
            </a:r>
            <a:endParaRPr lang="en-US" sz="850" dirty="0"/>
          </a:p>
        </p:txBody>
      </p:sp>
      <p:sp>
        <p:nvSpPr>
          <p:cNvPr id="28" name="Text 26"/>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2 콘텐츠 구조화와 비주얼 시스템</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06</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FIX</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수정 계획표 만드는 순서</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받은 말을 전부 적되, 고칠 것은 골라야 합니다.</a:t>
            </a:r>
            <a:endParaRPr lang="en-US" sz="1150" dirty="0"/>
          </a:p>
        </p:txBody>
      </p:sp>
      <p:sp>
        <p:nvSpPr>
          <p:cNvPr id="9" name="Shape 7"/>
          <p:cNvSpPr/>
          <p:nvPr/>
        </p:nvSpPr>
        <p:spPr>
          <a:xfrm>
            <a:off x="640080" y="1719072"/>
            <a:ext cx="10911535" cy="777240"/>
          </a:xfrm>
          <a:prstGeom prst="rect">
            <a:avLst/>
          </a:prstGeom>
          <a:solidFill>
            <a:srgbClr val="FFFFFF"/>
          </a:solidFill>
          <a:ln w="12700">
            <a:solidFill>
              <a:srgbClr val="DCDCDC"/>
            </a:solidFill>
            <a:prstDash val="solid"/>
          </a:ln>
        </p:spPr>
      </p:sp>
      <p:sp>
        <p:nvSpPr>
          <p:cNvPr id="10" name="Text 8"/>
          <p:cNvSpPr/>
          <p:nvPr/>
        </p:nvSpPr>
        <p:spPr>
          <a:xfrm>
            <a:off x="1097280" y="1810512"/>
            <a:ext cx="3291840" cy="59436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받은 말을 전부 적는다</a:t>
            </a:r>
            <a:endParaRPr lang="en-US" sz="1450" dirty="0"/>
          </a:p>
        </p:txBody>
      </p:sp>
      <p:sp>
        <p:nvSpPr>
          <p:cNvPr id="11" name="Text 9"/>
          <p:cNvSpPr/>
          <p:nvPr/>
        </p:nvSpPr>
        <p:spPr>
          <a:xfrm>
            <a:off x="4480560" y="1810512"/>
            <a:ext cx="6705295" cy="59436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제 말도 동료분들 채팅도 거르지 말고 일단 다 적습니다.</a:t>
            </a:r>
            <a:endParaRPr lang="en-US" sz="1150" dirty="0"/>
          </a:p>
        </p:txBody>
      </p:sp>
      <p:sp>
        <p:nvSpPr>
          <p:cNvPr id="12" name="Shape 10"/>
          <p:cNvSpPr/>
          <p:nvPr/>
        </p:nvSpPr>
        <p:spPr>
          <a:xfrm>
            <a:off x="640080" y="2642616"/>
            <a:ext cx="10911535" cy="777240"/>
          </a:xfrm>
          <a:prstGeom prst="rect">
            <a:avLst/>
          </a:prstGeom>
          <a:solidFill>
            <a:srgbClr val="FFFFFF"/>
          </a:solidFill>
          <a:ln w="12700">
            <a:solidFill>
              <a:srgbClr val="DCDCDC"/>
            </a:solidFill>
            <a:prstDash val="solid"/>
          </a:ln>
        </p:spPr>
      </p:sp>
      <p:sp>
        <p:nvSpPr>
          <p:cNvPr id="13" name="Text 11"/>
          <p:cNvSpPr/>
          <p:nvPr/>
        </p:nvSpPr>
        <p:spPr>
          <a:xfrm>
            <a:off x="1097280" y="2734056"/>
            <a:ext cx="3291840" cy="59436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고칠 것과 안 고칠 것으로 나눈다</a:t>
            </a:r>
            <a:endParaRPr lang="en-US" sz="1450" dirty="0"/>
          </a:p>
        </p:txBody>
      </p:sp>
      <p:sp>
        <p:nvSpPr>
          <p:cNvPr id="14" name="Text 12"/>
          <p:cNvSpPr/>
          <p:nvPr/>
        </p:nvSpPr>
        <p:spPr>
          <a:xfrm>
            <a:off x="4480560" y="2734056"/>
            <a:ext cx="6705295" cy="59436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안 고칠 것에는 왜 안 고치는지 한 줄만 붙이세요.</a:t>
            </a:r>
            <a:endParaRPr lang="en-US" sz="1150" dirty="0"/>
          </a:p>
        </p:txBody>
      </p:sp>
      <p:sp>
        <p:nvSpPr>
          <p:cNvPr id="15" name="Shape 13"/>
          <p:cNvSpPr/>
          <p:nvPr/>
        </p:nvSpPr>
        <p:spPr>
          <a:xfrm>
            <a:off x="640080" y="3566160"/>
            <a:ext cx="10911535" cy="777240"/>
          </a:xfrm>
          <a:prstGeom prst="rect">
            <a:avLst/>
          </a:prstGeom>
          <a:solidFill>
            <a:srgbClr val="FFFFFF"/>
          </a:solidFill>
          <a:ln w="12700">
            <a:solidFill>
              <a:srgbClr val="DCDCDC"/>
            </a:solidFill>
            <a:prstDash val="solid"/>
          </a:ln>
        </p:spPr>
      </p:sp>
      <p:sp>
        <p:nvSpPr>
          <p:cNvPr id="16" name="Text 14"/>
          <p:cNvSpPr/>
          <p:nvPr/>
        </p:nvSpPr>
        <p:spPr>
          <a:xfrm>
            <a:off x="1097280" y="3657600"/>
            <a:ext cx="3291840" cy="59436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고칠 것을 회차에 나눈다</a:t>
            </a:r>
            <a:endParaRPr lang="en-US" sz="1450" dirty="0"/>
          </a:p>
        </p:txBody>
      </p:sp>
      <p:sp>
        <p:nvSpPr>
          <p:cNvPr id="17" name="Text 15"/>
          <p:cNvSpPr/>
          <p:nvPr/>
        </p:nvSpPr>
        <p:spPr>
          <a:xfrm>
            <a:off x="4480560" y="3657600"/>
            <a:ext cx="6705295" cy="59436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색과 글자는 7회차. 지면을 더 만들거나 구조를 바꾸는 것은 그 전에.</a:t>
            </a:r>
            <a:endParaRPr lang="en-US" sz="1150" dirty="0"/>
          </a:p>
        </p:txBody>
      </p:sp>
      <p:sp>
        <p:nvSpPr>
          <p:cNvPr id="18" name="Shape 16"/>
          <p:cNvSpPr/>
          <p:nvPr/>
        </p:nvSpPr>
        <p:spPr>
          <a:xfrm>
            <a:off x="640080" y="4489704"/>
            <a:ext cx="10911535" cy="777240"/>
          </a:xfrm>
          <a:prstGeom prst="rect">
            <a:avLst/>
          </a:prstGeom>
          <a:solidFill>
            <a:srgbClr val="111111"/>
          </a:solidFill>
          <a:ln w="12700">
            <a:solidFill>
              <a:srgbClr val="111111"/>
            </a:solidFill>
            <a:prstDash val="solid"/>
          </a:ln>
        </p:spPr>
      </p:sp>
      <p:sp>
        <p:nvSpPr>
          <p:cNvPr id="19" name="Text 17"/>
          <p:cNvSpPr/>
          <p:nvPr/>
        </p:nvSpPr>
        <p:spPr>
          <a:xfrm>
            <a:off x="1097280" y="4581144"/>
            <a:ext cx="3291840" cy="594360"/>
          </a:xfrm>
          <a:prstGeom prst="rect">
            <a:avLst/>
          </a:prstGeom>
          <a:noFill/>
          <a:ln/>
        </p:spPr>
        <p:txBody>
          <a:bodyPr wrap="square" lIns="0" tIns="0" rIns="0" bIns="0" rtlCol="0" anchor="ctr"/>
          <a:lstStyle/>
          <a:p>
            <a:pPr indent="0" marL="0">
              <a:buNone/>
            </a:pPr>
            <a:r>
              <a:rPr lang="en-US" sz="1450" dirty="0">
                <a:solidFill>
                  <a:srgbClr val="FFFFFF"/>
                </a:solidFill>
                <a:latin typeface="Pretendard SemiBold" pitchFamily="34" charset="0"/>
                <a:ea typeface="Pretendard SemiBold" pitchFamily="34" charset="-122"/>
                <a:cs typeface="Pretendard SemiBold" pitchFamily="34" charset="-120"/>
              </a:rPr>
              <a:t>7회차 전까지 할 것에 표시한다</a:t>
            </a:r>
            <a:endParaRPr lang="en-US" sz="1450" dirty="0"/>
          </a:p>
        </p:txBody>
      </p:sp>
      <p:sp>
        <p:nvSpPr>
          <p:cNvPr id="20" name="Text 18"/>
          <p:cNvSpPr/>
          <p:nvPr/>
        </p:nvSpPr>
        <p:spPr>
          <a:xfrm>
            <a:off x="4480560" y="4581144"/>
            <a:ext cx="6705295" cy="594360"/>
          </a:xfrm>
          <a:prstGeom prst="rect">
            <a:avLst/>
          </a:prstGeom>
          <a:noFill/>
          <a:ln/>
        </p:spPr>
        <p:txBody>
          <a:bodyPr wrap="square" lIns="0" tIns="0" rIns="0" bIns="0" rtlCol="0" anchor="ctr"/>
          <a:lstStyle/>
          <a:p>
            <a:pPr indent="0" marL="0">
              <a:lnSpc>
                <a:spcPct val="124000"/>
              </a:lnSpc>
              <a:buNone/>
            </a:pPr>
            <a:r>
              <a:rPr lang="en-US" sz="1150" dirty="0">
                <a:solidFill>
                  <a:srgbClr val="B8B8B8"/>
                </a:solidFill>
                <a:latin typeface="Pretendard" pitchFamily="34" charset="0"/>
                <a:ea typeface="Pretendard" pitchFamily="34" charset="-122"/>
                <a:cs typeface="Pretendard" pitchFamily="34" charset="-120"/>
              </a:rPr>
              <a:t>표시한 것이 앞으로 2주 동안 하실 일입니다.</a:t>
            </a:r>
            <a:endParaRPr lang="en-US" sz="1150" dirty="0"/>
          </a:p>
        </p:txBody>
      </p:sp>
      <p:sp>
        <p:nvSpPr>
          <p:cNvPr id="21" name="Shape 19"/>
          <p:cNvSpPr/>
          <p:nvPr/>
        </p:nvSpPr>
        <p:spPr>
          <a:xfrm>
            <a:off x="640080" y="5577840"/>
            <a:ext cx="10911535" cy="7315"/>
          </a:xfrm>
          <a:prstGeom prst="rect">
            <a:avLst/>
          </a:prstGeom>
          <a:solidFill>
            <a:srgbClr val="111111"/>
          </a:solidFill>
          <a:ln w="12700">
            <a:solidFill>
              <a:srgbClr val="111111"/>
            </a:solidFill>
            <a:prstDash val="solid"/>
          </a:ln>
        </p:spPr>
      </p:sp>
      <p:sp>
        <p:nvSpPr>
          <p:cNvPr id="22" name="Text 20"/>
          <p:cNvSpPr/>
          <p:nvPr/>
        </p:nvSpPr>
        <p:spPr>
          <a:xfrm>
            <a:off x="640080" y="5687568"/>
            <a:ext cx="10911535" cy="402336"/>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전부 고칠 것으로 넣으면 계획표가 아니라 목록이 됩니다.</a:t>
            </a:r>
            <a:endParaRPr lang="en-US" sz="1300" dirty="0"/>
          </a:p>
        </p:txBody>
      </p:sp>
      <p:sp>
        <p:nvSpPr>
          <p:cNvPr id="23" name="Shape 21"/>
          <p:cNvSpPr/>
          <p:nvPr/>
        </p:nvSpPr>
        <p:spPr>
          <a:xfrm>
            <a:off x="640080" y="6291072"/>
            <a:ext cx="10911535" cy="7315"/>
          </a:xfrm>
          <a:prstGeom prst="rect">
            <a:avLst/>
          </a:prstGeom>
          <a:solidFill>
            <a:srgbClr val="DCDCDC"/>
          </a:solidFill>
          <a:ln w="12700">
            <a:solidFill>
              <a:srgbClr val="DCDCDC"/>
            </a:solidFill>
            <a:prstDash val="solid"/>
          </a:ln>
        </p:spPr>
      </p:sp>
      <p:sp>
        <p:nvSpPr>
          <p:cNvPr id="24" name="Text 22"/>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6주차 중간 발표 — 지금까지 정리된 포트폴리오를 발표합니다</a:t>
            </a:r>
            <a:endParaRPr lang="en-US" sz="850" dirty="0"/>
          </a:p>
        </p:txBody>
      </p:sp>
      <p:sp>
        <p:nvSpPr>
          <p:cNvPr id="25" name="Text 23"/>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2 콘텐츠 구조화와 비주얼 시스템</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06</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CHECK</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오늘 확인하고 마칠 것</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여섯 줄을 확인하고 가십시오.</a:t>
            </a:r>
            <a:endParaRPr lang="en-US" sz="1150" dirty="0"/>
          </a:p>
        </p:txBody>
      </p:sp>
      <p:sp>
        <p:nvSpPr>
          <p:cNvPr id="9" name="Shape 7"/>
          <p:cNvSpPr/>
          <p:nvPr/>
        </p:nvSpPr>
        <p:spPr>
          <a:xfrm>
            <a:off x="640080" y="1755648"/>
            <a:ext cx="5254600" cy="585216"/>
          </a:xfrm>
          <a:prstGeom prst="rect">
            <a:avLst/>
          </a:prstGeom>
          <a:solidFill>
            <a:srgbClr val="F2F2F2"/>
          </a:solidFill>
          <a:ln w="12700">
            <a:solidFill>
              <a:srgbClr val="F2F2F2"/>
            </a:solidFill>
            <a:prstDash val="solid"/>
          </a:ln>
        </p:spPr>
      </p:sp>
      <p:sp>
        <p:nvSpPr>
          <p:cNvPr id="10" name="Shape 8"/>
          <p:cNvSpPr/>
          <p:nvPr/>
        </p:nvSpPr>
        <p:spPr>
          <a:xfrm>
            <a:off x="914400" y="1892808"/>
            <a:ext cx="310896" cy="310896"/>
          </a:xfrm>
          <a:prstGeom prst="ellipse">
            <a:avLst/>
          </a:prstGeom>
          <a:solidFill>
            <a:srgbClr val="F2F2F2"/>
          </a:solidFill>
          <a:ln w="12700">
            <a:solidFill>
              <a:srgbClr val="111111"/>
            </a:solidFill>
            <a:prstDash val="solid"/>
          </a:ln>
        </p:spPr>
      </p:sp>
      <p:sp>
        <p:nvSpPr>
          <p:cNvPr id="11" name="Text 9"/>
          <p:cNvSpPr/>
          <p:nvPr/>
        </p:nvSpPr>
        <p:spPr>
          <a:xfrm>
            <a:off x="914400" y="189280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01</a:t>
            </a:r>
            <a:endParaRPr lang="en-US" sz="900" dirty="0"/>
          </a:p>
        </p:txBody>
      </p:sp>
      <p:sp>
        <p:nvSpPr>
          <p:cNvPr id="12" name="Text 10"/>
          <p:cNvSpPr/>
          <p:nvPr/>
        </p:nvSpPr>
        <p:spPr>
          <a:xfrm>
            <a:off x="1353312" y="175564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네 가지를 다 말했다 — 대상 · 순서 · 세 지면 · 막힌 것</a:t>
            </a:r>
            <a:endParaRPr lang="en-US" sz="1200" dirty="0"/>
          </a:p>
        </p:txBody>
      </p:sp>
      <p:sp>
        <p:nvSpPr>
          <p:cNvPr id="13" name="Shape 11"/>
          <p:cNvSpPr/>
          <p:nvPr/>
        </p:nvSpPr>
        <p:spPr>
          <a:xfrm>
            <a:off x="640080" y="2487168"/>
            <a:ext cx="5254600" cy="585216"/>
          </a:xfrm>
          <a:prstGeom prst="rect">
            <a:avLst/>
          </a:prstGeom>
          <a:solidFill>
            <a:srgbClr val="F2F2F2"/>
          </a:solidFill>
          <a:ln w="12700">
            <a:solidFill>
              <a:srgbClr val="F2F2F2"/>
            </a:solidFill>
            <a:prstDash val="solid"/>
          </a:ln>
        </p:spPr>
      </p:sp>
      <p:sp>
        <p:nvSpPr>
          <p:cNvPr id="14" name="Shape 12"/>
          <p:cNvSpPr/>
          <p:nvPr/>
        </p:nvSpPr>
        <p:spPr>
          <a:xfrm>
            <a:off x="914400" y="2624328"/>
            <a:ext cx="310896" cy="310896"/>
          </a:xfrm>
          <a:prstGeom prst="ellipse">
            <a:avLst/>
          </a:prstGeom>
          <a:solidFill>
            <a:srgbClr val="F2F2F2"/>
          </a:solidFill>
          <a:ln w="12700">
            <a:solidFill>
              <a:srgbClr val="111111"/>
            </a:solidFill>
            <a:prstDash val="solid"/>
          </a:ln>
        </p:spPr>
      </p:sp>
      <p:sp>
        <p:nvSpPr>
          <p:cNvPr id="15" name="Text 13"/>
          <p:cNvSpPr/>
          <p:nvPr/>
        </p:nvSpPr>
        <p:spPr>
          <a:xfrm>
            <a:off x="914400" y="262432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02</a:t>
            </a:r>
            <a:endParaRPr lang="en-US" sz="900" dirty="0"/>
          </a:p>
        </p:txBody>
      </p:sp>
      <p:sp>
        <p:nvSpPr>
          <p:cNvPr id="16" name="Text 14"/>
          <p:cNvSpPr/>
          <p:nvPr/>
        </p:nvSpPr>
        <p:spPr>
          <a:xfrm>
            <a:off x="1353312" y="248716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막힌 것을 숨기지 않고 말했다</a:t>
            </a:r>
            <a:endParaRPr lang="en-US" sz="1200" dirty="0"/>
          </a:p>
        </p:txBody>
      </p:sp>
      <p:sp>
        <p:nvSpPr>
          <p:cNvPr id="17" name="Shape 15"/>
          <p:cNvSpPr/>
          <p:nvPr/>
        </p:nvSpPr>
        <p:spPr>
          <a:xfrm>
            <a:off x="640080" y="3218688"/>
            <a:ext cx="5254600" cy="585216"/>
          </a:xfrm>
          <a:prstGeom prst="rect">
            <a:avLst/>
          </a:prstGeom>
          <a:solidFill>
            <a:srgbClr val="F2F2F2"/>
          </a:solidFill>
          <a:ln w="12700">
            <a:solidFill>
              <a:srgbClr val="F2F2F2"/>
            </a:solidFill>
            <a:prstDash val="solid"/>
          </a:ln>
        </p:spPr>
      </p:sp>
      <p:sp>
        <p:nvSpPr>
          <p:cNvPr id="18" name="Shape 16"/>
          <p:cNvSpPr/>
          <p:nvPr/>
        </p:nvSpPr>
        <p:spPr>
          <a:xfrm>
            <a:off x="914400" y="3355848"/>
            <a:ext cx="310896" cy="310896"/>
          </a:xfrm>
          <a:prstGeom prst="ellipse">
            <a:avLst/>
          </a:prstGeom>
          <a:solidFill>
            <a:srgbClr val="F2F2F2"/>
          </a:solidFill>
          <a:ln w="12700">
            <a:solidFill>
              <a:srgbClr val="111111"/>
            </a:solidFill>
            <a:prstDash val="solid"/>
          </a:ln>
        </p:spPr>
      </p:sp>
      <p:sp>
        <p:nvSpPr>
          <p:cNvPr id="19" name="Text 17"/>
          <p:cNvSpPr/>
          <p:nvPr/>
        </p:nvSpPr>
        <p:spPr>
          <a:xfrm>
            <a:off x="914400" y="335584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03</a:t>
            </a:r>
            <a:endParaRPr lang="en-US" sz="900" dirty="0"/>
          </a:p>
        </p:txBody>
      </p:sp>
      <p:sp>
        <p:nvSpPr>
          <p:cNvPr id="20" name="Text 18"/>
          <p:cNvSpPr/>
          <p:nvPr/>
        </p:nvSpPr>
        <p:spPr>
          <a:xfrm>
            <a:off x="1353312" y="321868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동료 의견을 받아 적었다 — 채팅 내용을 복사해 두었다</a:t>
            </a:r>
            <a:endParaRPr lang="en-US" sz="1200" dirty="0"/>
          </a:p>
        </p:txBody>
      </p:sp>
      <p:sp>
        <p:nvSpPr>
          <p:cNvPr id="21" name="Shape 19"/>
          <p:cNvSpPr/>
          <p:nvPr/>
        </p:nvSpPr>
        <p:spPr>
          <a:xfrm>
            <a:off x="6297016" y="1755648"/>
            <a:ext cx="5254600" cy="585216"/>
          </a:xfrm>
          <a:prstGeom prst="rect">
            <a:avLst/>
          </a:prstGeom>
          <a:solidFill>
            <a:srgbClr val="F2F2F2"/>
          </a:solidFill>
          <a:ln w="12700">
            <a:solidFill>
              <a:srgbClr val="F2F2F2"/>
            </a:solidFill>
            <a:prstDash val="solid"/>
          </a:ln>
        </p:spPr>
      </p:sp>
      <p:sp>
        <p:nvSpPr>
          <p:cNvPr id="22" name="Shape 20"/>
          <p:cNvSpPr/>
          <p:nvPr/>
        </p:nvSpPr>
        <p:spPr>
          <a:xfrm>
            <a:off x="6571336" y="1892808"/>
            <a:ext cx="310896" cy="310896"/>
          </a:xfrm>
          <a:prstGeom prst="ellipse">
            <a:avLst/>
          </a:prstGeom>
          <a:solidFill>
            <a:srgbClr val="F2F2F2"/>
          </a:solidFill>
          <a:ln w="12700">
            <a:solidFill>
              <a:srgbClr val="111111"/>
            </a:solidFill>
            <a:prstDash val="solid"/>
          </a:ln>
        </p:spPr>
      </p:sp>
      <p:sp>
        <p:nvSpPr>
          <p:cNvPr id="23" name="Text 21"/>
          <p:cNvSpPr/>
          <p:nvPr/>
        </p:nvSpPr>
        <p:spPr>
          <a:xfrm>
            <a:off x="6571336" y="189280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04</a:t>
            </a:r>
            <a:endParaRPr lang="en-US" sz="900" dirty="0"/>
          </a:p>
        </p:txBody>
      </p:sp>
      <p:sp>
        <p:nvSpPr>
          <p:cNvPr id="24" name="Text 22"/>
          <p:cNvSpPr/>
          <p:nvPr/>
        </p:nvSpPr>
        <p:spPr>
          <a:xfrm>
            <a:off x="7010248" y="175564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고칠 것 중에 7회차 전에 할 것을 골랐다</a:t>
            </a:r>
            <a:endParaRPr lang="en-US" sz="1200" dirty="0"/>
          </a:p>
        </p:txBody>
      </p:sp>
      <p:sp>
        <p:nvSpPr>
          <p:cNvPr id="25" name="Shape 23"/>
          <p:cNvSpPr/>
          <p:nvPr/>
        </p:nvSpPr>
        <p:spPr>
          <a:xfrm>
            <a:off x="6297016" y="2487168"/>
            <a:ext cx="5254600" cy="585216"/>
          </a:xfrm>
          <a:prstGeom prst="rect">
            <a:avLst/>
          </a:prstGeom>
          <a:solidFill>
            <a:srgbClr val="F2F2F2"/>
          </a:solidFill>
          <a:ln w="12700">
            <a:solidFill>
              <a:srgbClr val="F2F2F2"/>
            </a:solidFill>
            <a:prstDash val="solid"/>
          </a:ln>
        </p:spPr>
      </p:sp>
      <p:sp>
        <p:nvSpPr>
          <p:cNvPr id="26" name="Shape 24"/>
          <p:cNvSpPr/>
          <p:nvPr/>
        </p:nvSpPr>
        <p:spPr>
          <a:xfrm>
            <a:off x="6571336" y="2624328"/>
            <a:ext cx="310896" cy="310896"/>
          </a:xfrm>
          <a:prstGeom prst="ellipse">
            <a:avLst/>
          </a:prstGeom>
          <a:solidFill>
            <a:srgbClr val="F2F2F2"/>
          </a:solidFill>
          <a:ln w="12700">
            <a:solidFill>
              <a:srgbClr val="111111"/>
            </a:solidFill>
            <a:prstDash val="solid"/>
          </a:ln>
        </p:spPr>
      </p:sp>
      <p:sp>
        <p:nvSpPr>
          <p:cNvPr id="27" name="Text 25"/>
          <p:cNvSpPr/>
          <p:nvPr/>
        </p:nvSpPr>
        <p:spPr>
          <a:xfrm>
            <a:off x="6571336" y="262432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05</a:t>
            </a:r>
            <a:endParaRPr lang="en-US" sz="900" dirty="0"/>
          </a:p>
        </p:txBody>
      </p:sp>
      <p:sp>
        <p:nvSpPr>
          <p:cNvPr id="28" name="Text 26"/>
          <p:cNvSpPr/>
          <p:nvPr/>
        </p:nvSpPr>
        <p:spPr>
          <a:xfrm>
            <a:off x="7010248" y="248716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안 고칠 것이 하나라도 있다</a:t>
            </a:r>
            <a:endParaRPr lang="en-US" sz="1200" dirty="0"/>
          </a:p>
        </p:txBody>
      </p:sp>
      <p:sp>
        <p:nvSpPr>
          <p:cNvPr id="29" name="Shape 27"/>
          <p:cNvSpPr/>
          <p:nvPr/>
        </p:nvSpPr>
        <p:spPr>
          <a:xfrm>
            <a:off x="6297016" y="3218688"/>
            <a:ext cx="5254600" cy="585216"/>
          </a:xfrm>
          <a:prstGeom prst="rect">
            <a:avLst/>
          </a:prstGeom>
          <a:solidFill>
            <a:srgbClr val="F2F2F2"/>
          </a:solidFill>
          <a:ln w="12700">
            <a:solidFill>
              <a:srgbClr val="F2F2F2"/>
            </a:solidFill>
            <a:prstDash val="solid"/>
          </a:ln>
        </p:spPr>
      </p:sp>
      <p:sp>
        <p:nvSpPr>
          <p:cNvPr id="30" name="Shape 28"/>
          <p:cNvSpPr/>
          <p:nvPr/>
        </p:nvSpPr>
        <p:spPr>
          <a:xfrm>
            <a:off x="6571336" y="3355848"/>
            <a:ext cx="310896" cy="310896"/>
          </a:xfrm>
          <a:prstGeom prst="ellipse">
            <a:avLst/>
          </a:prstGeom>
          <a:solidFill>
            <a:srgbClr val="F2F2F2"/>
          </a:solidFill>
          <a:ln w="12700">
            <a:solidFill>
              <a:srgbClr val="111111"/>
            </a:solidFill>
            <a:prstDash val="solid"/>
          </a:ln>
        </p:spPr>
      </p:sp>
      <p:sp>
        <p:nvSpPr>
          <p:cNvPr id="31" name="Text 29"/>
          <p:cNvSpPr/>
          <p:nvPr/>
        </p:nvSpPr>
        <p:spPr>
          <a:xfrm>
            <a:off x="6571336" y="335584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06</a:t>
            </a:r>
            <a:endParaRPr lang="en-US" sz="900" dirty="0"/>
          </a:p>
        </p:txBody>
      </p:sp>
      <p:sp>
        <p:nvSpPr>
          <p:cNvPr id="32" name="Text 30"/>
          <p:cNvSpPr/>
          <p:nvPr/>
        </p:nvSpPr>
        <p:spPr>
          <a:xfrm>
            <a:off x="7010248" y="321868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레퍼런스 폴더를 만들었다</a:t>
            </a:r>
            <a:endParaRPr lang="en-US" sz="1200" dirty="0"/>
          </a:p>
        </p:txBody>
      </p:sp>
      <p:sp>
        <p:nvSpPr>
          <p:cNvPr id="33" name="Shape 31"/>
          <p:cNvSpPr/>
          <p:nvPr/>
        </p:nvSpPr>
        <p:spPr>
          <a:xfrm>
            <a:off x="640080" y="6291072"/>
            <a:ext cx="10911535" cy="7315"/>
          </a:xfrm>
          <a:prstGeom prst="rect">
            <a:avLst/>
          </a:prstGeom>
          <a:solidFill>
            <a:srgbClr val="DCDCDC"/>
          </a:solidFill>
          <a:ln w="12700">
            <a:solidFill>
              <a:srgbClr val="DCDCDC"/>
            </a:solidFill>
            <a:prstDash val="solid"/>
          </a:ln>
        </p:spPr>
      </p:sp>
      <p:sp>
        <p:nvSpPr>
          <p:cNvPr id="34" name="Text 32"/>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6주차 중간 발표 — 지금까지 정리된 포트폴리오를 발표합니다</a:t>
            </a:r>
            <a:endParaRPr lang="en-US" sz="850" dirty="0"/>
          </a:p>
        </p:txBody>
      </p:sp>
      <p:sp>
        <p:nvSpPr>
          <p:cNvPr id="35" name="Text 33"/>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P.09</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2 콘텐츠 구조화와 비주얼 시스템</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06</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HOMEWORK</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과제와 다음 주</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7회차는 색과 편집입니다. 2주 뒤입니다.</a:t>
            </a:r>
            <a:endParaRPr lang="en-US" sz="1150" dirty="0"/>
          </a:p>
        </p:txBody>
      </p:sp>
      <p:sp>
        <p:nvSpPr>
          <p:cNvPr id="9" name="Shape 7"/>
          <p:cNvSpPr/>
          <p:nvPr/>
        </p:nvSpPr>
        <p:spPr>
          <a:xfrm>
            <a:off x="640080" y="1719072"/>
            <a:ext cx="6309360" cy="896112"/>
          </a:xfrm>
          <a:prstGeom prst="rect">
            <a:avLst/>
          </a:prstGeom>
          <a:solidFill>
            <a:srgbClr val="FFFFFF"/>
          </a:solidFill>
          <a:ln w="12700">
            <a:solidFill>
              <a:srgbClr val="DCDCDC"/>
            </a:solidFill>
            <a:prstDash val="solid"/>
          </a:ln>
        </p:spPr>
      </p:sp>
      <p:sp>
        <p:nvSpPr>
          <p:cNvPr id="10" name="Shape 8"/>
          <p:cNvSpPr/>
          <p:nvPr/>
        </p:nvSpPr>
        <p:spPr>
          <a:xfrm>
            <a:off x="969264" y="1993392"/>
            <a:ext cx="329184" cy="329184"/>
          </a:xfrm>
          <a:prstGeom prst="ellipse">
            <a:avLst/>
          </a:prstGeom>
          <a:solidFill>
            <a:srgbClr val="111111"/>
          </a:solidFill>
          <a:ln w="12700">
            <a:solidFill>
              <a:srgbClr val="111111"/>
            </a:solidFill>
            <a:prstDash val="solid"/>
          </a:ln>
        </p:spPr>
      </p:sp>
      <p:sp>
        <p:nvSpPr>
          <p:cNvPr id="11" name="Text 9"/>
          <p:cNvSpPr/>
          <p:nvPr/>
        </p:nvSpPr>
        <p:spPr>
          <a:xfrm>
            <a:off x="969264" y="199339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1</a:t>
            </a:r>
            <a:endParaRPr lang="en-US" sz="1100" dirty="0"/>
          </a:p>
        </p:txBody>
      </p:sp>
      <p:sp>
        <p:nvSpPr>
          <p:cNvPr id="12" name="Text 10"/>
          <p:cNvSpPr/>
          <p:nvPr/>
        </p:nvSpPr>
        <p:spPr>
          <a:xfrm>
            <a:off x="1426464" y="1810512"/>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수정 계획표</a:t>
            </a:r>
            <a:endParaRPr lang="en-US" sz="1400" dirty="0"/>
          </a:p>
        </p:txBody>
      </p:sp>
      <p:sp>
        <p:nvSpPr>
          <p:cNvPr id="13" name="Text 11"/>
          <p:cNvSpPr/>
          <p:nvPr/>
        </p:nvSpPr>
        <p:spPr>
          <a:xfrm>
            <a:off x="1426464" y="2121408"/>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오늘 받은 말을 전부 적고, 고칠 것과 안 고칠 것으로 나눕니다. 고칠 것은 7회차에 할지 8회차에 할지 적습니다. 안 고칠 것에는 왜 안 고치는지 한 줄 붙입니다.</a:t>
            </a:r>
            <a:endParaRPr lang="en-US" sz="1100" dirty="0"/>
          </a:p>
        </p:txBody>
      </p:sp>
      <p:sp>
        <p:nvSpPr>
          <p:cNvPr id="14" name="Shape 12"/>
          <p:cNvSpPr/>
          <p:nvPr/>
        </p:nvSpPr>
        <p:spPr>
          <a:xfrm>
            <a:off x="640080" y="2743200"/>
            <a:ext cx="6309360" cy="896112"/>
          </a:xfrm>
          <a:prstGeom prst="rect">
            <a:avLst/>
          </a:prstGeom>
          <a:solidFill>
            <a:srgbClr val="FFFFFF"/>
          </a:solidFill>
          <a:ln w="12700">
            <a:solidFill>
              <a:srgbClr val="DCDCDC"/>
            </a:solidFill>
            <a:prstDash val="solid"/>
          </a:ln>
        </p:spPr>
      </p:sp>
      <p:sp>
        <p:nvSpPr>
          <p:cNvPr id="15" name="Shape 13"/>
          <p:cNvSpPr/>
          <p:nvPr/>
        </p:nvSpPr>
        <p:spPr>
          <a:xfrm>
            <a:off x="969264" y="3017520"/>
            <a:ext cx="329184" cy="329184"/>
          </a:xfrm>
          <a:prstGeom prst="ellipse">
            <a:avLst/>
          </a:prstGeom>
          <a:solidFill>
            <a:srgbClr val="111111"/>
          </a:solidFill>
          <a:ln w="12700">
            <a:solidFill>
              <a:srgbClr val="111111"/>
            </a:solidFill>
            <a:prstDash val="solid"/>
          </a:ln>
        </p:spPr>
      </p:sp>
      <p:sp>
        <p:nvSpPr>
          <p:cNvPr id="16" name="Text 14"/>
          <p:cNvSpPr/>
          <p:nvPr/>
        </p:nvSpPr>
        <p:spPr>
          <a:xfrm>
            <a:off x="969264" y="301752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2</a:t>
            </a:r>
            <a:endParaRPr lang="en-US" sz="1100" dirty="0"/>
          </a:p>
        </p:txBody>
      </p:sp>
      <p:sp>
        <p:nvSpPr>
          <p:cNvPr id="17" name="Text 15"/>
          <p:cNvSpPr/>
          <p:nvPr/>
        </p:nvSpPr>
        <p:spPr>
          <a:xfrm>
            <a:off x="1426464" y="2834640"/>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남은 프로젝트 지면</a:t>
            </a:r>
            <a:endParaRPr lang="en-US" sz="1400" dirty="0"/>
          </a:p>
        </p:txBody>
      </p:sp>
      <p:sp>
        <p:nvSpPr>
          <p:cNvPr id="18" name="Text 16"/>
          <p:cNvSpPr/>
          <p:nvPr/>
        </p:nvSpPr>
        <p:spPr>
          <a:xfrm>
            <a:off x="1426464" y="3145536"/>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대표 프로젝트 세 지면은 만드셨으니, 나머지 프로젝트도 같은 구조로 지면을 만듭니다. 색과 서체는 아직 신경 쓰지 않습니다.</a:t>
            </a:r>
            <a:endParaRPr lang="en-US" sz="1100" dirty="0"/>
          </a:p>
        </p:txBody>
      </p:sp>
      <p:sp>
        <p:nvSpPr>
          <p:cNvPr id="19" name="Shape 17"/>
          <p:cNvSpPr/>
          <p:nvPr/>
        </p:nvSpPr>
        <p:spPr>
          <a:xfrm>
            <a:off x="640080" y="3767328"/>
            <a:ext cx="6309360" cy="896112"/>
          </a:xfrm>
          <a:prstGeom prst="rect">
            <a:avLst/>
          </a:prstGeom>
          <a:solidFill>
            <a:srgbClr val="FFFFFF"/>
          </a:solidFill>
          <a:ln w="12700">
            <a:solidFill>
              <a:srgbClr val="DCDCDC"/>
            </a:solidFill>
            <a:prstDash val="solid"/>
          </a:ln>
        </p:spPr>
      </p:sp>
      <p:sp>
        <p:nvSpPr>
          <p:cNvPr id="20" name="Shape 18"/>
          <p:cNvSpPr/>
          <p:nvPr/>
        </p:nvSpPr>
        <p:spPr>
          <a:xfrm>
            <a:off x="969264" y="4041648"/>
            <a:ext cx="329184" cy="329184"/>
          </a:xfrm>
          <a:prstGeom prst="ellipse">
            <a:avLst/>
          </a:prstGeom>
          <a:solidFill>
            <a:srgbClr val="111111"/>
          </a:solidFill>
          <a:ln w="12700">
            <a:solidFill>
              <a:srgbClr val="111111"/>
            </a:solidFill>
            <a:prstDash val="solid"/>
          </a:ln>
        </p:spPr>
      </p:sp>
      <p:sp>
        <p:nvSpPr>
          <p:cNvPr id="21" name="Text 19"/>
          <p:cNvSpPr/>
          <p:nvPr/>
        </p:nvSpPr>
        <p:spPr>
          <a:xfrm>
            <a:off x="969264" y="404164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3</a:t>
            </a:r>
            <a:endParaRPr lang="en-US" sz="1100" dirty="0"/>
          </a:p>
        </p:txBody>
      </p:sp>
      <p:sp>
        <p:nvSpPr>
          <p:cNvPr id="22" name="Text 20"/>
          <p:cNvSpPr/>
          <p:nvPr/>
        </p:nvSpPr>
        <p:spPr>
          <a:xfrm>
            <a:off x="1426464" y="3858768"/>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레퍼런스 20장</a:t>
            </a:r>
            <a:endParaRPr lang="en-US" sz="1400" dirty="0"/>
          </a:p>
        </p:txBody>
      </p:sp>
      <p:sp>
        <p:nvSpPr>
          <p:cNvPr id="23" name="Text 21"/>
          <p:cNvSpPr/>
          <p:nvPr/>
        </p:nvSpPr>
        <p:spPr>
          <a:xfrm>
            <a:off x="1426464" y="4169664"/>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7회차 재료입니다. 포트폴리오 사례가 아니라 색 · 글자 · 사진 분위기를 보는 자료입니다. 한 폴더에 모아 두세요.</a:t>
            </a:r>
            <a:endParaRPr lang="en-US" sz="1100" dirty="0"/>
          </a:p>
        </p:txBody>
      </p:sp>
      <p:sp>
        <p:nvSpPr>
          <p:cNvPr id="24" name="Shape 22"/>
          <p:cNvSpPr/>
          <p:nvPr/>
        </p:nvSpPr>
        <p:spPr>
          <a:xfrm>
            <a:off x="640080" y="4809744"/>
            <a:ext cx="6309360" cy="7315"/>
          </a:xfrm>
          <a:prstGeom prst="rect">
            <a:avLst/>
          </a:prstGeom>
          <a:solidFill>
            <a:srgbClr val="111111"/>
          </a:solidFill>
          <a:ln w="12700">
            <a:solidFill>
              <a:srgbClr val="111111"/>
            </a:solidFill>
            <a:prstDash val="solid"/>
          </a:ln>
        </p:spPr>
      </p:sp>
      <p:sp>
        <p:nvSpPr>
          <p:cNvPr id="25" name="Text 23"/>
          <p:cNvSpPr/>
          <p:nvPr/>
        </p:nvSpPr>
        <p:spPr>
          <a:xfrm>
            <a:off x="640080" y="4901184"/>
            <a:ext cx="6309360" cy="329184"/>
          </a:xfrm>
          <a:prstGeom prst="rect">
            <a:avLst/>
          </a:prstGeom>
          <a:noFill/>
          <a:ln/>
        </p:spPr>
        <p:txBody>
          <a:bodyPr wrap="square" lIns="0" tIns="0" rIns="0" bIns="0" rtlCol="0" anchor="ctr"/>
          <a:lstStyle/>
          <a:p>
            <a:pPr indent="0" marL="0">
              <a:buNone/>
            </a:pPr>
            <a:r>
              <a:rPr lang="en-US" sz="1200" b="1" dirty="0">
                <a:solidFill>
                  <a:srgbClr val="111111"/>
                </a:solidFill>
                <a:latin typeface="Pretendard" pitchFamily="34" charset="0"/>
                <a:ea typeface="Pretendard" pitchFamily="34" charset="-122"/>
                <a:cs typeface="Pretendard" pitchFamily="34" charset="-120"/>
              </a:rPr>
              <a:t>제출 — 11월 10일(화) 수업 전까지 · 클래스룸 업로드</a:t>
            </a:r>
            <a:endParaRPr lang="en-US" sz="1200" dirty="0"/>
          </a:p>
        </p:txBody>
      </p:sp>
      <p:sp>
        <p:nvSpPr>
          <p:cNvPr id="26" name="Shape 24"/>
          <p:cNvSpPr/>
          <p:nvPr/>
        </p:nvSpPr>
        <p:spPr>
          <a:xfrm>
            <a:off x="7351776" y="1719072"/>
            <a:ext cx="4199839" cy="3803904"/>
          </a:xfrm>
          <a:prstGeom prst="rect">
            <a:avLst/>
          </a:prstGeom>
          <a:solidFill>
            <a:srgbClr val="111111"/>
          </a:solidFill>
          <a:ln w="12700">
            <a:solidFill>
              <a:srgbClr val="111111"/>
            </a:solidFill>
            <a:prstDash val="solid"/>
          </a:ln>
        </p:spPr>
      </p:sp>
      <p:sp>
        <p:nvSpPr>
          <p:cNvPr id="27" name="Text 25"/>
          <p:cNvSpPr/>
          <p:nvPr/>
        </p:nvSpPr>
        <p:spPr>
          <a:xfrm>
            <a:off x="7735824" y="1993392"/>
            <a:ext cx="3431743" cy="256032"/>
          </a:xfrm>
          <a:prstGeom prst="rect">
            <a:avLst/>
          </a:prstGeom>
          <a:noFill/>
          <a:ln/>
        </p:spPr>
        <p:txBody>
          <a:bodyPr wrap="square" lIns="0" tIns="0" rIns="0" bIns="0" rtlCol="0" anchor="ctr"/>
          <a:lstStyle/>
          <a:p>
            <a:pPr indent="0" marL="0">
              <a:buNone/>
            </a:pPr>
            <a:r>
              <a:rPr lang="en-US" sz="950" spc="260" kern="0" dirty="0">
                <a:solidFill>
                  <a:srgbClr val="9A9A9A"/>
                </a:solidFill>
                <a:latin typeface="Pretendard" pitchFamily="34" charset="0"/>
                <a:ea typeface="Pretendard" pitchFamily="34" charset="-122"/>
                <a:cs typeface="Pretendard" pitchFamily="34" charset="-120"/>
              </a:rPr>
              <a:t>NEXT WEEK</a:t>
            </a:r>
            <a:endParaRPr lang="en-US" sz="950" dirty="0"/>
          </a:p>
        </p:txBody>
      </p:sp>
      <p:sp>
        <p:nvSpPr>
          <p:cNvPr id="28" name="Text 26"/>
          <p:cNvSpPr/>
          <p:nvPr/>
        </p:nvSpPr>
        <p:spPr>
          <a:xfrm>
            <a:off x="7735824" y="2286000"/>
            <a:ext cx="3431743" cy="402336"/>
          </a:xfrm>
          <a:prstGeom prst="rect">
            <a:avLst/>
          </a:prstGeom>
          <a:noFill/>
          <a:ln/>
        </p:spPr>
        <p:txBody>
          <a:bodyPr wrap="square" lIns="0" tIns="0" rIns="0" bIns="0" rtlCol="0" anchor="ctr"/>
          <a:lstStyle/>
          <a:p>
            <a:pPr indent="0" marL="0">
              <a:buNone/>
            </a:pPr>
            <a:r>
              <a:rPr lang="en-US" sz="2600" dirty="0">
                <a:solidFill>
                  <a:srgbClr val="FFFFFF"/>
                </a:solidFill>
                <a:latin typeface="Pretendard Light" pitchFamily="34" charset="0"/>
                <a:ea typeface="Pretendard Light" pitchFamily="34" charset="-122"/>
                <a:cs typeface="Pretendard Light" pitchFamily="34" charset="-120"/>
              </a:rPr>
              <a:t>07주차</a:t>
            </a:r>
            <a:endParaRPr lang="en-US" sz="2600" dirty="0"/>
          </a:p>
        </p:txBody>
      </p:sp>
      <p:sp>
        <p:nvSpPr>
          <p:cNvPr id="29" name="Text 27"/>
          <p:cNvSpPr/>
          <p:nvPr/>
        </p:nvSpPr>
        <p:spPr>
          <a:xfrm>
            <a:off x="7735824" y="2743200"/>
            <a:ext cx="3431743" cy="512064"/>
          </a:xfrm>
          <a:prstGeom prst="rect">
            <a:avLst/>
          </a:prstGeom>
          <a:noFill/>
          <a:ln/>
        </p:spPr>
        <p:txBody>
          <a:bodyPr wrap="square" lIns="0" tIns="0" rIns="0" bIns="0" rtlCol="0" anchor="t"/>
          <a:lstStyle/>
          <a:p>
            <a:pPr indent="0" marL="0">
              <a:lnSpc>
                <a:spcPct val="116000"/>
              </a:lnSpc>
              <a:buNone/>
            </a:pPr>
            <a:r>
              <a:rPr lang="en-US" sz="1700" dirty="0">
                <a:solidFill>
                  <a:srgbClr val="FFFFFF"/>
                </a:solidFill>
                <a:latin typeface="Pretendard SemiBold" pitchFamily="34" charset="0"/>
                <a:ea typeface="Pretendard SemiBold" pitchFamily="34" charset="-122"/>
                <a:cs typeface="Pretendard SemiBold" pitchFamily="34" charset="-120"/>
              </a:rPr>
              <a:t>색과 편집</a:t>
            </a:r>
            <a:endParaRPr lang="en-US" sz="1700" dirty="0"/>
          </a:p>
        </p:txBody>
      </p:sp>
      <p:sp>
        <p:nvSpPr>
          <p:cNvPr id="30" name="Shape 28"/>
          <p:cNvSpPr/>
          <p:nvPr/>
        </p:nvSpPr>
        <p:spPr>
          <a:xfrm>
            <a:off x="7735824" y="3346704"/>
            <a:ext cx="3431743" cy="7315"/>
          </a:xfrm>
          <a:prstGeom prst="rect">
            <a:avLst/>
          </a:prstGeom>
          <a:solidFill>
            <a:srgbClr val="333333"/>
          </a:solidFill>
          <a:ln w="12700">
            <a:solidFill>
              <a:srgbClr val="333333"/>
            </a:solidFill>
            <a:prstDash val="solid"/>
          </a:ln>
        </p:spPr>
      </p:sp>
      <p:sp>
        <p:nvSpPr>
          <p:cNvPr id="31" name="Text 29"/>
          <p:cNvSpPr/>
          <p:nvPr/>
        </p:nvSpPr>
        <p:spPr>
          <a:xfrm>
            <a:off x="7735824" y="3493008"/>
            <a:ext cx="3431743" cy="1170432"/>
          </a:xfrm>
          <a:prstGeom prst="rect">
            <a:avLst/>
          </a:prstGeom>
          <a:noFill/>
          <a:ln/>
        </p:spPr>
        <p:txBody>
          <a:bodyPr wrap="square" lIns="0" tIns="0" rIns="0" bIns="0" rtlCol="0" anchor="t"/>
          <a:lstStyle/>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색과 글자를 한 벌로 정하기</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지면 사이의 통일</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여백과 정렬</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레퍼런스에서 기준 뽑기</a:t>
            </a:r>
            <a:endParaRPr lang="en-US" sz="1150" dirty="0"/>
          </a:p>
        </p:txBody>
      </p:sp>
      <p:sp>
        <p:nvSpPr>
          <p:cNvPr id="32" name="Shape 30"/>
          <p:cNvSpPr/>
          <p:nvPr/>
        </p:nvSpPr>
        <p:spPr>
          <a:xfrm>
            <a:off x="7735824" y="4700016"/>
            <a:ext cx="3431743" cy="7315"/>
          </a:xfrm>
          <a:prstGeom prst="rect">
            <a:avLst/>
          </a:prstGeom>
          <a:solidFill>
            <a:srgbClr val="333333"/>
          </a:solidFill>
          <a:ln w="12700">
            <a:solidFill>
              <a:srgbClr val="333333"/>
            </a:solidFill>
            <a:prstDash val="solid"/>
          </a:ln>
        </p:spPr>
      </p:sp>
      <p:sp>
        <p:nvSpPr>
          <p:cNvPr id="33" name="Text 31"/>
          <p:cNvSpPr/>
          <p:nvPr/>
        </p:nvSpPr>
        <p:spPr>
          <a:xfrm>
            <a:off x="7735824" y="4809744"/>
            <a:ext cx="3431743" cy="237744"/>
          </a:xfrm>
          <a:prstGeom prst="rect">
            <a:avLst/>
          </a:prstGeom>
          <a:noFill/>
          <a:ln/>
        </p:spPr>
        <p:txBody>
          <a:bodyPr wrap="square" lIns="0" tIns="0" rIns="0" bIns="0" rtlCol="0" anchor="ctr"/>
          <a:lstStyle/>
          <a:p>
            <a:pPr indent="0" marL="0">
              <a:buNone/>
            </a:pPr>
            <a:r>
              <a:rPr lang="en-US" sz="900" spc="160" kern="0" dirty="0">
                <a:solidFill>
                  <a:srgbClr val="9B9B9B"/>
                </a:solidFill>
                <a:latin typeface="Pretendard" pitchFamily="34" charset="0"/>
                <a:ea typeface="Pretendard" pitchFamily="34" charset="-122"/>
                <a:cs typeface="Pretendard" pitchFamily="34" charset="-120"/>
              </a:rPr>
              <a:t>미리 준비할 것</a:t>
            </a:r>
            <a:endParaRPr lang="en-US" sz="900" dirty="0"/>
          </a:p>
        </p:txBody>
      </p:sp>
      <p:sp>
        <p:nvSpPr>
          <p:cNvPr id="34" name="Text 32"/>
          <p:cNvSpPr/>
          <p:nvPr/>
        </p:nvSpPr>
        <p:spPr>
          <a:xfrm>
            <a:off x="7735824" y="5065776"/>
            <a:ext cx="3431743" cy="457200"/>
          </a:xfrm>
          <a:prstGeom prst="rect">
            <a:avLst/>
          </a:prstGeom>
          <a:noFill/>
          <a:ln/>
        </p:spPr>
        <p:txBody>
          <a:bodyPr wrap="square" lIns="0" tIns="0" rIns="0" bIns="0" rtlCol="0" anchor="t"/>
          <a:lstStyle/>
          <a:p>
            <a:pPr indent="0" marL="0">
              <a:lnSpc>
                <a:spcPct val="120000"/>
              </a:lnSpc>
              <a:buNone/>
            </a:pPr>
            <a:r>
              <a:rPr lang="en-US" sz="1100" b="1" dirty="0">
                <a:solidFill>
                  <a:srgbClr val="FFFFFF"/>
                </a:solidFill>
                <a:latin typeface="Pretendard" pitchFamily="34" charset="0"/>
                <a:ea typeface="Pretendard" pitchFamily="34" charset="-122"/>
                <a:cs typeface="Pretendard" pitchFamily="34" charset="-120"/>
              </a:rPr>
              <a:t>수정 계획표 · 남은 프로젝트 지면 · 레퍼런스 20장</a:t>
            </a:r>
            <a:endParaRPr lang="en-US" sz="1100" dirty="0"/>
          </a:p>
        </p:txBody>
      </p:sp>
      <p:sp>
        <p:nvSpPr>
          <p:cNvPr id="35" name="Shape 33"/>
          <p:cNvSpPr/>
          <p:nvPr/>
        </p:nvSpPr>
        <p:spPr>
          <a:xfrm>
            <a:off x="640080" y="6291072"/>
            <a:ext cx="10911535" cy="7315"/>
          </a:xfrm>
          <a:prstGeom prst="rect">
            <a:avLst/>
          </a:prstGeom>
          <a:solidFill>
            <a:srgbClr val="DCDCDC"/>
          </a:solidFill>
          <a:ln w="12700">
            <a:solidFill>
              <a:srgbClr val="DCDCDC"/>
            </a:solidFill>
            <a:prstDash val="solid"/>
          </a:ln>
        </p:spPr>
      </p:sp>
      <p:sp>
        <p:nvSpPr>
          <p:cNvPr id="36" name="Text 34"/>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6주차 중간 발표 — 지금까지 정리된 포트폴리오를 발표합니다</a:t>
            </a:r>
            <a:endParaRPr lang="en-US" sz="850" dirty="0"/>
          </a:p>
        </p:txBody>
      </p:sp>
      <p:sp>
        <p:nvSpPr>
          <p:cNvPr id="37" name="Text 35"/>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P.10</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MIN.D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포트폴리오제작 · 6주차 중간 발표 — 지금까지 정리된 포트폴리오를 발표합니다</dc:title>
  <dc:subject>원광대학교 2026-2 · 실내·산업디자인학과 3학년 · 15주 · 포트폴리오 완성과 발표</dc:subject>
  <dc:creator>MIN.D</dc:creator>
  <cp:lastModifiedBy>MIN.D</cp:lastModifiedBy>
  <cp:revision>1</cp:revision>
  <dcterms:created xsi:type="dcterms:W3CDTF">2026-10-27T08:32:18Z</dcterms:created>
  <dcterms:modified xsi:type="dcterms:W3CDTF">2026-10-27T08:32:18Z</dcterms:modified>
</cp:coreProperties>
</file>