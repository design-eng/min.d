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포트폴리오제작 네 번째 시간입니다.
지난 시간에 잘 만든 사례를 살펴보고, 가져올 것 세 가지와 가져오지 않을 것 한 가지를 정했습니다.
오늘은 그걸 들고 내 것을 짭니다.
먼저 무엇을 넣을지 고르고, 어떤 순서로 놓을지 정합니다. 그리고 짜 놓은 흐름에서 약한 곳을 찾아 고치는 데까지 오늘 갑니다.
원래는 두 번에 나눠서 할 내용입니다. 수업이 격주로 바뀌면서 한 번으로 합쳤어요. 그래서 오늘은 제가 말하는 시간을 줄이고 여러분이 손을 움직이는 시간을 앞뒤로 두 번 넣었습니다.
오늘 정한 목록이 앞으로의 작업량을 정합니다. 욕심내서 많이 남기면 나중에 하나도 제대로 못 만들어요. 고르는 것보다 빼는 게 더 중요한 시간입니다.
지난 시간 사례 분석 보고서와 스토리보드 양식을 지금 열어 두세요. 오늘 계속 꺼내 보실 겁니다.
[운영 메모]
원래 4주차와 5주차를 한 회차로 합친 자료다. 강의를 40분으로 줄이고 실습을 30분으로 눌렀으니, 실습에서 다 끝내지 못하는 학생이 반드시 나온다. '오늘은 초안까지, 다듬기는 과제'를 처음에 분명히 말해 둘 것. 오늘 정한 목록이 학기 후반 작업량을 결정한다 — 7~8개를 남기는 학생은 뒤에 무너지므로 오늘 줄이게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끝나면 네 가지를 가져가시게 됩니다.
첫째, 프로젝트를 기준에 따라 고르게 됩니다. 감이 아니라 세 가지 축으로 봅니다.
둘째 — 오늘의 진짜 목표입니다. 무엇을 뺄지 정하게 됩니다.
셋째, 프로젝트 하나 안에서 문제 · 과정 · 결과로 흐름을 짜고, 전체 차례를 정하게 됩니다.
넷째, 짜 놓은 흐름에서 약한 곳을 찾아 고치게 됩니다. 원래 다음 시간에 할 내용인데 오늘 함께 합니다.
둘째를 한 번 더 보세요. 빼는 결정이 넣는 결정보다 어렵고 더 중요합니다. 매년 이 시간에 가진 걸 다 넣으려는 분들이 나오는데, 그러면 뒤에 가서 하나도 제대로 못 만듭니다.
[운영 메모]
2번이 오늘의 핵심. 학생들은 가진 것을 다 넣으려 한다. 4번은 원래 5주차 내용이므로 '오늘 한 번에 간다'를 분명히 말해 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본론 전에 일정을 정리하겠습니다.
9월 중순부터 이 수업이 격주로 바뀌었습니다. 지난주에 수업이 없었던 이유예요.
그래서 열다섯 번이 아홉 번이 되었습니다. 1주차에 보여 드린 표를 다시 짰습니다.
왼쪽부터 보시면, 세 번은 이미 했고요. 오늘이 네 번째입니다. 원래 두 번에 나눠 하려던 이야기 흐름 짜기를 오늘 한 번에 합니다.
다섯 번째부터 일곱 번째가 실제로 페이지를 만드는 구간입니다. 콘텐츠 구조화, 중간 발표, 그리고 색과 편집.
여덟 번째와 아홉 번째가 마무리입니다. 편집을 끝내고 온라인에 올리고, 12월 8일에 기말 발표입니다.
이력서와 피칭은 수업 시간을 따로 못 잡았습니다. 자료로 만들어서 클래스룸에 올려 드리고, 궁금한 건 개별로 받겠습니다.
큰 마감은 셋입니다. 오늘 이야기 흐름, 여섯 번째 중간 발표, 아홉 번째 최종.
횟수가 줄었다고 분량이 준 게 아닙니다. 수업과 수업 사이가 2주니까, 그사이에 하시는 게 늘어난 겁니다.
[운영 메모]
1주차에 공지한 15주 표와 마감 일정을 정정하는 장표다. 교수님 확인 전이면 이 장은 띄우지 말 것. 확정되면 클래스룸 공지도 함께 고쳐야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무엇을 넣을지 정합니다.
순서가 중요합니다. 기준을 먼저 세우고 목록을 보세요.
목록을 먼저 펼쳐 놓고 기준을 만들면, 결국 애착이 가는 것에 맞춰 기준을 짜게 됩니다. 저도 그럽니다.
그래서 오늘은 기준부터 봅니다.
[운영 메모]
강의는 20분 안에 끝낼 것. 나머지는 실습.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고르는 축은 셋입니다.
첫째 관련성. 2주차에 정한 목표 직무가 요구하는 것과 겹치는가. 아무리 잘 만들었어도 직무와 멀면 뒤로 보내세요.
둘째 완성도. 지금 상태로 남에게 보여줄 수 있는가. 아직 아니라면 학기 안에 보완할 시간이 있는지 세어 보세요. 없으면 넣지 않는 게 낫습니다.
셋째 남다름. 3주차에 살펴본 사례에서 찾으신 '남들이 덜 하는 것' 기억하시죠. 그것과 닿아 있는가. 여기가 기억에 남는 지점입니다.
아래 줄이 오늘 실습의 방법입니다. 세 축을 각각 5점으로 매겨서 총점 순으로 줄을 세우세요. 머리로 고르려 하면 오래 걸리는데, 점수로 매기면 금방 나옵니다.
점수가 같으면요? 그때는 남다름이 높은 쪽을 앞에 두세요.
[운영 메모]
점수를 매기게 하면 애착으로 고르는 걸 막을 수 있다. 실습에서 실제로 매기게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몇 개를 넣을지 이야기하겠습니다.
3에서 5개가 알맞습니다.
왜인지 아래 네 줄로 보겠습니다.
둘째 줄을 보세요. 약한 하나가 전체를 끌어내립니다. 평균으로 기억되지 않아요. 가장 약한 것으로 기억되는 경우가 많습니다. 여섯 개 중에 하나가 허술하면 그 하나가 남습니다.
셋째 줄. 각 프로젝트가 다른 강점을 보여야 합니다. 비슷한 것 세 개는 하나와 같아요.
넷째 줄. 맨 앞은 가장 강한 것. 서류 단계에서는 앞 두세 장만 읽힙니다. 1주차에 말씀드린 그대로예요.
맨 아래 줄이 현실적인 이유입니다. 학기 뒤쪽에 페이지를 여섯 장 만듭니다. 프로젝트가 여섯 개면 하나당 한 장이에요. 한 장으로는 과정을 못 넣습니다. 결과 이미지만 들어가고 끝납니다.
[운영 메모]
분량 계산을 실제로 보여주면 설득이 빠르다 — 프로젝트 6개면 하나당 3~4장, 그러면 과정을 못 넣는다.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순서는 두 층으로 짭니다.
하나는 프로젝트 안쪽이에요. 한 프로젝트를 어떤 순서로 보여줄 것인가.
또 하나는 전체입니다. 프로젝트들을 어떤 차례로 놓을 것인가.
둘 다 오늘 정합니다.
[운영 메모]
여기서 스토리보드 양식을 화면에 띄우고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프로젝트 하나 안은 세 덩어리로 나뉩니다. 문제, 과정, 결과.
첫째 문제. 무엇을 왜 했는가를 한 문장으로 씁니다. 이 문장이 없으면 뒤에 오는 게 전부 나열로 보입니다.
학교 과제였던 분들, 과제 조건을 그대로 옮기지 마세요. 조건 안에서 내가 무슨 문제를 잡았는지를 쓰셔야 합니다. 같은 과제를 한 서른 명이 똑같은 문장을 쓰면 아무 의미가 없어요.
둘째 과정. 어떻게 했는가입니다. 고민한 부분과 그렇게 고른 이유. 버린 방법이 있으면 그것도 넣으세요. 버린 걸 보여주면 고른 게 왜 나은지가 저절로 설명됩니다.
셋째 결과. 무엇이 되었는가. 최종 결과물과 함께, 가능하면 무엇이 달라졌는지 적으세요. 느낀 점 한 줄이 있으면 인상이 크게 달라집니다.
아래 줄을 보세요. 장수는 문제 1, 과정 3, 결과 2 정도로 나누면 무난합니다.
매년 반대로 하는 분들이 많습니다. 결과 이미지를 다섯 장 넣고 과정이 한 장이에요. 그러면 1주차에 본 '나열'이 됩니다.
[운영 메모]
학생 대부분이 결과에 장수를 몰아준다. 배분 숫자를 제시하면 바로 고쳐진다.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네 개라도 어떻게 놓느냐로 인상이 달라집니다.
왼쪽이 정해서 놓은 순서, 오른쪽이 그냥 시간순입니다.
첫 번째 자리를 보세요. 왼쪽은 목표 직무와 가장 가까운 것, 오른쪽은 가장 최근 작업.
중간을 보세요. 왼쪽은 실험적이거나 개인 작업을 가운데 두고, 오른쪽은 학년 순서대로 갑니다.
맨 아래가 결과입니다. 왼쪽은 무엇을 잘하는 사람인지 남고, 오른쪽은 자라 온 과정은 보이는데 강점이 안 남습니다.
다만 시간순이 무조건 나쁜 건 아닙니다. 자라 온 과정을 일부러 보여주려는 거면 그것도 설계예요. 그런 의도가 없이 그냥 파일 순서대로 둔 게 문제입니다.
오늘 실습 마지막에 순서를 정하고 왜 그 순서인지 한 줄 적으실 겁니다. 그 한 줄이 써지면 설계한 거고, 안 써지면 아직 그냥 둔 겁니다.
[운영 메모]
시간순이 무조건 나쁜 건 아니다. 성장 이야기를 의도한 경우는 예외라고 덧붙일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실습 30분입니다. 오늘은 완성이 아니라 초안까지만 갑니다.
처음 8분. 가지고 있는 프로젝트를 전부 적으세요. 학교 과제, 개인 작업, 동아리까지. 그리고 세 축을 각각 5점으로 매깁니다.
점수 매기기를 건너뛰고 바로 고르려는 분들이 계신데, 이 8분은 지켜 주세요. 점수를 매겨 봐야 왜 그걸 골랐는지 말할 수 있습니다.
다음 7분. 총점 순으로 3에서 5개를 남깁니다. 뺀 것도 따로 적어 두세요. 그게 과제 두 번째입니다.
다음 10분. 남긴 것마다 문제 · 과정 · 결과를 한 줄씩 씁니다. 장수 배분까지 못 가셔도 됩니다. 그건 과제로 마저 하세요.
마지막 5분. 차례를 정하고 왜 그 순서인지 한 줄로 적으세요.
제가 소회의실을 돌아다니겠습니다. 화면 공유해 주시면 같이 보겠습니다. 막히면 도움 요청 눌러 주세요.
시간이 짧습니다. 고민이 길어지면 일단 적어 놓고 넘어가세요. 뒤에 점검하는 시간이 또 있습니다.
[운영 메모]
두 회차를 합치면서 실습이 30분으로 줄었다. 완성을 요구하면 아무도 못 끝낸다 — '초안까지'를 반복해서 말할 것. 점수 매기기를 건너뛰려는 학생이 있는데 첫 8분은 반드시 지키게 한다. 온라인이라 화면 공유를 받아 보는 편이 빠르다.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쉬셨으면 이어가겠습니다.
이제 짜 놓은 흐름을 점검합니다.
원래 이건 다음 시간에 할 내용이었습니다. 격주로 바뀌면서 오늘로 당겼어요. 초안을 만든 그날 바로 점검하는 게 사실 더 낫습니다. 2주 뒤에 보면 자기가 무슨 생각으로 그렇게 놨는지 기억이 안 나거든요.
매년 반복되는 약점이 세 가지 있습니다. 먼저 그걸 보고, 그다음에 고치는 방법을 보겠습니다.
[운영 메모]
원래 5주차 구간이다. 초안을 만든 직후에 점검하는 편이 오히려 효과가 좋다는 점을 말해 주면 합친 것이 손해로 느껴지지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매년 나오는 약점 셋입니다.
첫째, 다 비슷한 경우. 네 프로젝트가 같은 유형에 같은 구성입니다. 읽는 사람에게는 하나로 기억됩니다. 열심히 한 게 아까워서 비슷한 걸 여러 개 넣으신 거예요.
고치는 방법은 둘입니다. 하나를 성격이 다른 것으로 바꾸거나, 같은 프로젝트라도 다른 면을 앞세우는 겁니다. 같은 작업이라도 어디를 보여주느냐에 따라 달라 보입니다.
둘째, 과정이 비어 있는 경우. 이게 제일 많습니다. 문제와 결과는 있는데 그 사이가 없어요. 완성 사진만 있고 어떻게 거기까지 갔는지가 없습니다.
읽는 사람 입장에서는 판단할 근거가 없습니다. 잘 만든 건 알겠는데 이 사람이 잘하는 사람인지는 모르겠는 상태요.
이건 다음 두 회차 실습이 정확히 이 칸을 채우는 시간입니다. 그래서 오늘 과제에 자료 모으기가 들어간 겁니다.
셋째, 내 역할이 안 보이는 경우. 팀 과제인데 전부 '우리는'으로 쓰여 있습니다. 팀 구성, 내가 맡은 범위, 내가 결정한 것. 한 줄씩만 적으면 해결됩니다.
셋 다 지금 당장 고칠 수 있는 건 아닙니다. 다만 오늘 알아 둬야 뒤에 가서 고쳐집니다.
[운영 메모]
02가 압도적으로 많다. 다음 회차가 그 해결 시간이라는 연결을 반드시 말해 줄 것. 여기서 자료 모으기 과제의 이유가 설명된다.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고쳐야 한다고 하면 곧장 '다시 만들어야 하나요' 하시는데, 그럴 필요 없습니다. 방법이 셋 있고, 위에서부터 보시면 됩니다.
첫째, 순서만 바꾸기. 가장 싼 수정입니다. 작업량이 없어요. 맨 앞을 바꾸는 것만으로 인상이 크게 달라집니다.
둘째, 하나를 바꾸기. 약한 것을 빼고 아까 뺐던 것 중 하나를 되살립니다. 오늘 '빼기로 한 것 목록'을 따로 적게 한 이유가 이겁니다.
셋째, 안쪽을 다시 쓰기. 프로젝트는 그대로 두고 문제 문장과 과정 설명만 다시 씁니다. 효과가 가장 크고, 다음 두 회차 실습이 바로 이 작업입니다.
순서가 중요합니다. 1번부터 검토하세요. 앞쪽일수록 비용이 적습니다. 3번부터 생각하면 안 해도 될 일을 하게 됩니다.
[운영 메모]
학생들은 곧장 '다시 만들어야 하나요'로 간다. 01부터 검토하게 하면 불필요한 재작업이 크게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점검표입니다. 지금 자기가 짠 흐름에 대고 여덟 개를 채워 보세요.
3분 드리겠습니다.
다 채우신 분은 체크가 안 된 항목이 몇 번인지 채팅에 적어 주세요. 그 번호를 보고 제가 순서대로 부르겠습니다.
다섯 번을 한 번 더 보세요. 문제 문장이 '과제 조건'이 아니라 '내가 잡은 문제'인가. 이게 매년 가장 많이 걸리는 항목입니다.
과제가 '공공시설 사인 디자인'이었다면 그건 조건이지 문제가 아닙니다. 그 안에서 내가 무엇을 문제로 봤는지가 있어야 합니다.
전부 체크되신 분은 다음 회차 준비를 시작하셔도 됩니다. 자료 폴더 만드는 일이요.
[운영 메모]
5번이 매년 가장 많이 걸린다. 과제 조건과 문제를 구분하는 예를 하나 들어 줄 것. 채팅으로 걸린 번호를 받으면 개별 피드백 순서를 정하기 쉽다.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15분입니다.
채팅에 번호를 올려 주신 분부터 제가 화면 공유를 받아서 보겠습니다. 한 분당 길게는 못 하고 짧게 짚어 드리겠습니다.
오늘 순서가 안 오신 분들은 과제 낼 때 막힌 항목을 같이 적어 주세요. 제가 보고 답을 드리고, 다음 수업 앞 시간에도 이어서 보겠습니다.
기다리는 동안 소회의실에서 둘씩 짝을 지어 드리겠습니다. 세 가지만 물어보세요.
이건 왜 넣었어요. 답이 '열심히 했어서'면 그건 기준이 아니라 애착입니다.
이 순서인 이유는요. 답이 안 나오면 순서가 아직 안 정해진 겁니다.
뺀 것 중에 아까운 건요. 미련이 남는 게 있으면 왜인지 들어 주세요.
한 가지만 지켜 주세요. 평가하지 말고 묻기만 하세요. 지적하기 시작하면 방어하게 됩니다. 그냥 물어만 보면 답하다가 본인이 먼저 문제를 찾습니다.
[운영 메모]
15분에 전원은 불가능하다. 채팅으로 걸린 번호를 받아 순서를 정하고, 못 본 학생은 과제 코멘트와 다음 회차 앞 시간으로 넘길 것. 소회의실은 2인씩 배정하고 중간에 한 번 역할을 바꾸게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과제는 세 가지입니다. 이야기 흐름 확정본, 빼기로 한 것 목록, 그리고 자료 모으기.
첫째는 오늘 실습에서 절반쯤 하셨습니다. 점검표에서 체크가 안 된 항목을 고쳐서 마무리하시면 됩니다. 오늘 개별로 못 본 분들은 그 항목을 적어서 같이 올려 주세요. 제가 보고 답을 드리겠습니다.
둘째, 뺀 것과 그 이유도 꼭 같이 내 주세요. 나중에 되살릴지 판단할 재료가 됩니다.
셋째가 이번에 새로 들어간 것입니다. 자료 모으기예요. 다음 회차부터는 실제 지면을 만들기 시작하는데, 재료가 없으면 그 시간에 할 일이 없습니다.
조사 자료, 스케치, 중간 산출물, 작업하면서 찍은 사진, 그리고 원본 파일. 한 폴더에 모아 오세요.
매년 '그때 안 찍어놨는데요' 하시는 분이 계십니다. 지금 다시 만들 수 있는 건 다시 만드세요. 다음 회차 전까지가 마지막 기회입니다.
다음 수업까지 2주 있습니다. 길다고 미루면 2주 뒤에 오늘 상태 그대로 오시게 돼요. 이번 주 안에 확정본을 끝내 두시고, 다음 주는 자료 모으는 데 쓰세요.
질문 있으신 분?
[운영 메모]
세 번째 과제(자료 모으기)가 실질적으로 가장 중요하다. 자료가 없어 다음 두 회차가 공회전하는 경우가 매년 나온다. 격주라 제출까지 2주인데 그만큼 미루는 학생이 많다 — '이번 주 안에 확정본'을 못 박을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04</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04  ·  PHASE 1 방향 정하기와 계획</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800" dirty="0">
                <a:solidFill>
                  <a:srgbClr val="111111"/>
                </a:solidFill>
                <a:latin typeface="Pretendard SemiBold" pitchFamily="34" charset="0"/>
                <a:ea typeface="Pretendard SemiBold" pitchFamily="34" charset="-122"/>
                <a:cs typeface="Pretendard SemiBold" pitchFamily="34" charset="-120"/>
              </a:rPr>
              <a:t>이야기 흐름 짜기</a:t>
            </a:r>
            <a:endParaRPr lang="en-US" sz="48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포트폴리오에 넣을 프로젝트를 기준에 따라 고르고,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전체 흐름을 짠 다음 약한 곳까지 찾아 고칩니다.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포트폴리오제작 · 실내·산업디자인학과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이야기 흐름 확정본</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OBJECTIVES</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오늘의 목표</a:t>
            </a:r>
            <a:endParaRPr lang="en-US" sz="3000" dirty="0"/>
          </a:p>
        </p:txBody>
      </p:sp>
      <p:sp>
        <p:nvSpPr>
          <p:cNvPr id="8" name="Shape 6"/>
          <p:cNvSpPr/>
          <p:nvPr/>
        </p:nvSpPr>
        <p:spPr>
          <a:xfrm>
            <a:off x="640080" y="1664208"/>
            <a:ext cx="10911535" cy="7315"/>
          </a:xfrm>
          <a:prstGeom prst="rect">
            <a:avLst/>
          </a:prstGeom>
          <a:solidFill>
            <a:srgbClr val="111111"/>
          </a:solidFill>
          <a:ln w="12700">
            <a:solidFill>
              <a:srgbClr val="111111"/>
            </a:solidFill>
            <a:prstDash val="solid"/>
          </a:ln>
        </p:spPr>
      </p:sp>
      <p:sp>
        <p:nvSpPr>
          <p:cNvPr id="9" name="Shape 7"/>
          <p:cNvSpPr/>
          <p:nvPr/>
        </p:nvSpPr>
        <p:spPr>
          <a:xfrm>
            <a:off x="640080" y="1810512"/>
            <a:ext cx="310896" cy="310896"/>
          </a:xfrm>
          <a:prstGeom prst="ellipse">
            <a:avLst/>
          </a:prstGeom>
          <a:solidFill>
            <a:srgbClr val="FFFFFF"/>
          </a:solidFill>
          <a:ln w="12700">
            <a:solidFill>
              <a:srgbClr val="111111"/>
            </a:solidFill>
            <a:prstDash val="solid"/>
          </a:ln>
        </p:spPr>
      </p:sp>
      <p:sp>
        <p:nvSpPr>
          <p:cNvPr id="10" name="Text 8"/>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1" name="Text 9"/>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프로젝트를 기준에 따라 고를 수 있다</a:t>
            </a:r>
            <a:endParaRPr lang="en-US" sz="1450" dirty="0"/>
          </a:p>
        </p:txBody>
      </p:sp>
      <p:sp>
        <p:nvSpPr>
          <p:cNvPr id="12" name="Text 10"/>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감이 아니라 세 가지 축으로 봅니다</a:t>
            </a:r>
            <a:endParaRPr lang="en-US" sz="1100" dirty="0"/>
          </a:p>
        </p:txBody>
      </p:sp>
      <p:sp>
        <p:nvSpPr>
          <p:cNvPr id="13" name="Shape 11"/>
          <p:cNvSpPr/>
          <p:nvPr/>
        </p:nvSpPr>
        <p:spPr>
          <a:xfrm>
            <a:off x="640080" y="2670048"/>
            <a:ext cx="10911535" cy="7315"/>
          </a:xfrm>
          <a:prstGeom prst="rect">
            <a:avLst/>
          </a:prstGeom>
          <a:solidFill>
            <a:srgbClr val="DCDCDC"/>
          </a:solidFill>
          <a:ln w="12700">
            <a:solidFill>
              <a:srgbClr val="DCDCDC"/>
            </a:solidFill>
            <a:prstDash val="solid"/>
          </a:ln>
        </p:spPr>
      </p:sp>
      <p:sp>
        <p:nvSpPr>
          <p:cNvPr id="14" name="Shape 12"/>
          <p:cNvSpPr/>
          <p:nvPr/>
        </p:nvSpPr>
        <p:spPr>
          <a:xfrm>
            <a:off x="640080" y="2834640"/>
            <a:ext cx="310896" cy="310896"/>
          </a:xfrm>
          <a:prstGeom prst="ellipse">
            <a:avLst/>
          </a:prstGeom>
          <a:solidFill>
            <a:srgbClr val="FFFFFF"/>
          </a:solidFill>
          <a:ln w="12700">
            <a:solidFill>
              <a:srgbClr val="111111"/>
            </a:solidFill>
            <a:prstDash val="solid"/>
          </a:ln>
        </p:spPr>
      </p:sp>
      <p:sp>
        <p:nvSpPr>
          <p:cNvPr id="15" name="Text 13"/>
          <p:cNvSpPr/>
          <p:nvPr/>
        </p:nvSpPr>
        <p:spPr>
          <a:xfrm>
            <a:off x="640080" y="28346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6" name="Text 14"/>
          <p:cNvSpPr/>
          <p:nvPr/>
        </p:nvSpPr>
        <p:spPr>
          <a:xfrm>
            <a:off x="1188720" y="27432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무엇을 뺄지 정할 수 있다</a:t>
            </a:r>
            <a:endParaRPr lang="en-US" sz="1450" dirty="0"/>
          </a:p>
        </p:txBody>
      </p:sp>
      <p:sp>
        <p:nvSpPr>
          <p:cNvPr id="17" name="Text 15"/>
          <p:cNvSpPr/>
          <p:nvPr/>
        </p:nvSpPr>
        <p:spPr>
          <a:xfrm>
            <a:off x="1188720" y="30540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빼는 결정이 넣는 결정보다 어렵고 더 중요합니다</a:t>
            </a:r>
            <a:endParaRPr lang="en-US" sz="1100" dirty="0"/>
          </a:p>
        </p:txBody>
      </p:sp>
      <p:sp>
        <p:nvSpPr>
          <p:cNvPr id="18" name="Shape 16"/>
          <p:cNvSpPr/>
          <p:nvPr/>
        </p:nvSpPr>
        <p:spPr>
          <a:xfrm>
            <a:off x="640080" y="3694176"/>
            <a:ext cx="10911535" cy="7315"/>
          </a:xfrm>
          <a:prstGeom prst="rect">
            <a:avLst/>
          </a:prstGeom>
          <a:solidFill>
            <a:srgbClr val="DCDCDC"/>
          </a:solidFill>
          <a:ln w="12700">
            <a:solidFill>
              <a:srgbClr val="DCDCDC"/>
            </a:solidFill>
            <a:prstDash val="solid"/>
          </a:ln>
        </p:spPr>
      </p:sp>
      <p:sp>
        <p:nvSpPr>
          <p:cNvPr id="19" name="Shape 17"/>
          <p:cNvSpPr/>
          <p:nvPr/>
        </p:nvSpPr>
        <p:spPr>
          <a:xfrm>
            <a:off x="640080" y="3858768"/>
            <a:ext cx="310896" cy="310896"/>
          </a:xfrm>
          <a:prstGeom prst="ellipse">
            <a:avLst/>
          </a:prstGeom>
          <a:solidFill>
            <a:srgbClr val="FFFFFF"/>
          </a:solidFill>
          <a:ln w="12700">
            <a:solidFill>
              <a:srgbClr val="111111"/>
            </a:solidFill>
            <a:prstDash val="solid"/>
          </a:ln>
        </p:spPr>
      </p:sp>
      <p:sp>
        <p:nvSpPr>
          <p:cNvPr id="20" name="Text 18"/>
          <p:cNvSpPr/>
          <p:nvPr/>
        </p:nvSpPr>
        <p:spPr>
          <a:xfrm>
            <a:off x="640080" y="385876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1" name="Text 19"/>
          <p:cNvSpPr/>
          <p:nvPr/>
        </p:nvSpPr>
        <p:spPr>
          <a:xfrm>
            <a:off x="1188720" y="376732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문제 · 과정 · 결과로 흐름을 짜고 순서를 정할 수 있다</a:t>
            </a:r>
            <a:endParaRPr lang="en-US" sz="1450" dirty="0"/>
          </a:p>
        </p:txBody>
      </p:sp>
      <p:sp>
        <p:nvSpPr>
          <p:cNvPr id="22" name="Text 20"/>
          <p:cNvSpPr/>
          <p:nvPr/>
        </p:nvSpPr>
        <p:spPr>
          <a:xfrm>
            <a:off x="1188720" y="407822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프로젝트 하나 안의 구조와 전체 차례</a:t>
            </a:r>
            <a:endParaRPr lang="en-US" sz="1100" dirty="0"/>
          </a:p>
        </p:txBody>
      </p:sp>
      <p:sp>
        <p:nvSpPr>
          <p:cNvPr id="23" name="Shape 21"/>
          <p:cNvSpPr/>
          <p:nvPr/>
        </p:nvSpPr>
        <p:spPr>
          <a:xfrm>
            <a:off x="640080" y="4718304"/>
            <a:ext cx="10911535" cy="7315"/>
          </a:xfrm>
          <a:prstGeom prst="rect">
            <a:avLst/>
          </a:prstGeom>
          <a:solidFill>
            <a:srgbClr val="DCDCDC"/>
          </a:solidFill>
          <a:ln w="12700">
            <a:solidFill>
              <a:srgbClr val="DCDCDC"/>
            </a:solidFill>
            <a:prstDash val="solid"/>
          </a:ln>
        </p:spPr>
      </p:sp>
      <p:sp>
        <p:nvSpPr>
          <p:cNvPr id="24" name="Shape 22"/>
          <p:cNvSpPr/>
          <p:nvPr/>
        </p:nvSpPr>
        <p:spPr>
          <a:xfrm>
            <a:off x="640080" y="4882896"/>
            <a:ext cx="310896" cy="310896"/>
          </a:xfrm>
          <a:prstGeom prst="ellipse">
            <a:avLst/>
          </a:prstGeom>
          <a:solidFill>
            <a:srgbClr val="FFFFFF"/>
          </a:solidFill>
          <a:ln w="12700">
            <a:solidFill>
              <a:srgbClr val="111111"/>
            </a:solidFill>
            <a:prstDash val="solid"/>
          </a:ln>
        </p:spPr>
      </p:sp>
      <p:sp>
        <p:nvSpPr>
          <p:cNvPr id="25" name="Text 23"/>
          <p:cNvSpPr/>
          <p:nvPr/>
        </p:nvSpPr>
        <p:spPr>
          <a:xfrm>
            <a:off x="640080" y="4882896"/>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26" name="Text 24"/>
          <p:cNvSpPr/>
          <p:nvPr/>
        </p:nvSpPr>
        <p:spPr>
          <a:xfrm>
            <a:off x="1188720" y="4791456"/>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내 흐름에서 약한 곳을 찾아 고칠 수 있다</a:t>
            </a:r>
            <a:endParaRPr lang="en-US" sz="1450" dirty="0"/>
          </a:p>
        </p:txBody>
      </p:sp>
      <p:sp>
        <p:nvSpPr>
          <p:cNvPr id="27" name="Text 25"/>
          <p:cNvSpPr/>
          <p:nvPr/>
        </p:nvSpPr>
        <p:spPr>
          <a:xfrm>
            <a:off x="1188720" y="5102352"/>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짜 놓고 끝이 아니라 점검까지 오늘 합니다</a:t>
            </a:r>
            <a:endParaRPr lang="en-US" sz="1100" dirty="0"/>
          </a:p>
        </p:txBody>
      </p:sp>
      <p:sp>
        <p:nvSpPr>
          <p:cNvPr id="28" name="Shape 26"/>
          <p:cNvSpPr/>
          <p:nvPr/>
        </p:nvSpPr>
        <p:spPr>
          <a:xfrm>
            <a:off x="640080" y="6291072"/>
            <a:ext cx="10911535" cy="7315"/>
          </a:xfrm>
          <a:prstGeom prst="rect">
            <a:avLst/>
          </a:prstGeom>
          <a:solidFill>
            <a:srgbClr val="DCDCDC"/>
          </a:solidFill>
          <a:ln w="12700">
            <a:solidFill>
              <a:srgbClr val="DCDCDC"/>
            </a:solidFill>
            <a:prstDash val="solid"/>
          </a:ln>
        </p:spPr>
      </p:sp>
      <p:sp>
        <p:nvSpPr>
          <p:cNvPr id="29" name="Text 2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30" name="Text 2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SEMESTER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일정이 바뀌었습니다 — 아홉 번</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9월 중순부터 격주가 되면서 열다섯 번이 아홉 번이 되었습니다.</a:t>
            </a:r>
            <a:endParaRPr lang="en-US" sz="1150" dirty="0"/>
          </a:p>
        </p:txBody>
      </p:sp>
      <p:sp>
        <p:nvSpPr>
          <p:cNvPr id="9" name="Shape 7"/>
          <p:cNvSpPr/>
          <p:nvPr/>
        </p:nvSpPr>
        <p:spPr>
          <a:xfrm>
            <a:off x="640080" y="1700784"/>
            <a:ext cx="2480996" cy="3529584"/>
          </a:xfrm>
          <a:prstGeom prst="rect">
            <a:avLst/>
          </a:prstGeom>
          <a:solidFill>
            <a:srgbClr val="FFFFFF"/>
          </a:solidFill>
          <a:ln w="12700">
            <a:solidFill>
              <a:srgbClr val="DCDCDC"/>
            </a:solidFill>
            <a:prstDash val="solid"/>
          </a:ln>
        </p:spPr>
      </p:sp>
      <p:sp>
        <p:nvSpPr>
          <p:cNvPr id="10" name="Text 8"/>
          <p:cNvSpPr/>
          <p:nvPr/>
        </p:nvSpPr>
        <p:spPr>
          <a:xfrm>
            <a:off x="98755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끝난 것 · 1–3회</a:t>
            </a:r>
            <a:endParaRPr lang="en-US" sz="1700" dirty="0"/>
          </a:p>
        </p:txBody>
      </p:sp>
      <p:sp>
        <p:nvSpPr>
          <p:cNvPr id="11" name="Text 9"/>
          <p:cNvSpPr/>
          <p:nvPr/>
        </p:nvSpPr>
        <p:spPr>
          <a:xfrm>
            <a:off x="98755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9월</a:t>
            </a:r>
            <a:endParaRPr lang="en-US" sz="1000" dirty="0"/>
          </a:p>
        </p:txBody>
      </p:sp>
      <p:sp>
        <p:nvSpPr>
          <p:cNvPr id="12" name="Shape 10"/>
          <p:cNvSpPr/>
          <p:nvPr/>
        </p:nvSpPr>
        <p:spPr>
          <a:xfrm>
            <a:off x="987552" y="2798064"/>
            <a:ext cx="1786052" cy="7315"/>
          </a:xfrm>
          <a:prstGeom prst="rect">
            <a:avLst/>
          </a:prstGeom>
          <a:solidFill>
            <a:srgbClr val="111111"/>
          </a:solidFill>
          <a:ln w="12700">
            <a:solidFill>
              <a:srgbClr val="111111"/>
            </a:solidFill>
            <a:prstDash val="solid"/>
          </a:ln>
        </p:spPr>
      </p:sp>
      <p:sp>
        <p:nvSpPr>
          <p:cNvPr id="13" name="Text 11"/>
          <p:cNvSpPr/>
          <p:nvPr/>
        </p:nvSpPr>
        <p:spPr>
          <a:xfrm>
            <a:off x="98755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1회 — 수업 안내와 방향</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2회 — 나의 강점 정리</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3회 — 잘 만든 포트폴리오 살펴보기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지난주에 수업이 없었습니다</a:t>
            </a:r>
            <a:endParaRPr lang="en-US" sz="1150" dirty="0"/>
          </a:p>
        </p:txBody>
      </p:sp>
      <p:sp>
        <p:nvSpPr>
          <p:cNvPr id="14" name="Shape 12"/>
          <p:cNvSpPr/>
          <p:nvPr/>
        </p:nvSpPr>
        <p:spPr>
          <a:xfrm>
            <a:off x="3450260" y="1700784"/>
            <a:ext cx="2480996" cy="3529584"/>
          </a:xfrm>
          <a:prstGeom prst="rect">
            <a:avLst/>
          </a:prstGeom>
          <a:solidFill>
            <a:srgbClr val="111111"/>
          </a:solidFill>
          <a:ln w="12700">
            <a:solidFill>
              <a:srgbClr val="111111"/>
            </a:solidFill>
            <a:prstDash val="solid"/>
          </a:ln>
        </p:spPr>
      </p:sp>
      <p:sp>
        <p:nvSpPr>
          <p:cNvPr id="15" name="Text 13"/>
          <p:cNvSpPr/>
          <p:nvPr/>
        </p:nvSpPr>
        <p:spPr>
          <a:xfrm>
            <a:off x="3797732" y="1956816"/>
            <a:ext cx="1786052"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방향 · 4회</a:t>
            </a:r>
            <a:endParaRPr lang="en-US" sz="1700" dirty="0"/>
          </a:p>
        </p:txBody>
      </p:sp>
      <p:sp>
        <p:nvSpPr>
          <p:cNvPr id="16" name="Text 14"/>
          <p:cNvSpPr/>
          <p:nvPr/>
        </p:nvSpPr>
        <p:spPr>
          <a:xfrm>
            <a:off x="379773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오늘</a:t>
            </a:r>
            <a:endParaRPr lang="en-US" sz="1000" dirty="0"/>
          </a:p>
        </p:txBody>
      </p:sp>
      <p:sp>
        <p:nvSpPr>
          <p:cNvPr id="17" name="Shape 15"/>
          <p:cNvSpPr/>
          <p:nvPr/>
        </p:nvSpPr>
        <p:spPr>
          <a:xfrm>
            <a:off x="3797732" y="2798064"/>
            <a:ext cx="1786052" cy="7315"/>
          </a:xfrm>
          <a:prstGeom prst="rect">
            <a:avLst/>
          </a:prstGeom>
          <a:solidFill>
            <a:srgbClr val="333333"/>
          </a:solidFill>
          <a:ln w="12700">
            <a:solidFill>
              <a:srgbClr val="333333"/>
            </a:solidFill>
            <a:prstDash val="solid"/>
          </a:ln>
        </p:spPr>
      </p:sp>
      <p:sp>
        <p:nvSpPr>
          <p:cNvPr id="18" name="Text 16"/>
          <p:cNvSpPr/>
          <p:nvPr/>
        </p:nvSpPr>
        <p:spPr>
          <a:xfrm>
            <a:off x="379773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무엇을 넣을 것인가</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어떤 순서로 이야기할 것인가</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약한 곳을 찾아 고치기</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원래 두 번이던 것을 합쳤습니다</a:t>
            </a:r>
            <a:endParaRPr lang="en-US" sz="1150" dirty="0"/>
          </a:p>
        </p:txBody>
      </p:sp>
      <p:sp>
        <p:nvSpPr>
          <p:cNvPr id="19" name="Shape 17"/>
          <p:cNvSpPr/>
          <p:nvPr/>
        </p:nvSpPr>
        <p:spPr>
          <a:xfrm>
            <a:off x="6260440" y="1700784"/>
            <a:ext cx="2480996" cy="3529584"/>
          </a:xfrm>
          <a:prstGeom prst="rect">
            <a:avLst/>
          </a:prstGeom>
          <a:solidFill>
            <a:srgbClr val="FFFFFF"/>
          </a:solidFill>
          <a:ln w="12700">
            <a:solidFill>
              <a:srgbClr val="DCDCDC"/>
            </a:solidFill>
            <a:prstDash val="solid"/>
          </a:ln>
        </p:spPr>
      </p:sp>
      <p:sp>
        <p:nvSpPr>
          <p:cNvPr id="20" name="Text 18"/>
          <p:cNvSpPr/>
          <p:nvPr/>
        </p:nvSpPr>
        <p:spPr>
          <a:xfrm>
            <a:off x="660791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만들기 · 5–7회</a:t>
            </a:r>
            <a:endParaRPr lang="en-US" sz="1700" dirty="0"/>
          </a:p>
        </p:txBody>
      </p:sp>
      <p:sp>
        <p:nvSpPr>
          <p:cNvPr id="21" name="Text 19"/>
          <p:cNvSpPr/>
          <p:nvPr/>
        </p:nvSpPr>
        <p:spPr>
          <a:xfrm>
            <a:off x="660791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10–11월</a:t>
            </a:r>
            <a:endParaRPr lang="en-US" sz="1000" dirty="0"/>
          </a:p>
        </p:txBody>
      </p:sp>
      <p:sp>
        <p:nvSpPr>
          <p:cNvPr id="22" name="Shape 20"/>
          <p:cNvSpPr/>
          <p:nvPr/>
        </p:nvSpPr>
        <p:spPr>
          <a:xfrm>
            <a:off x="6607912" y="2798064"/>
            <a:ext cx="1786052" cy="7315"/>
          </a:xfrm>
          <a:prstGeom prst="rect">
            <a:avLst/>
          </a:prstGeom>
          <a:solidFill>
            <a:srgbClr val="111111"/>
          </a:solidFill>
          <a:ln w="12700">
            <a:solidFill>
              <a:srgbClr val="111111"/>
            </a:solidFill>
            <a:prstDash val="solid"/>
          </a:ln>
        </p:spPr>
      </p:sp>
      <p:sp>
        <p:nvSpPr>
          <p:cNvPr id="23" name="Text 21"/>
          <p:cNvSpPr/>
          <p:nvPr/>
        </p:nvSpPr>
        <p:spPr>
          <a:xfrm>
            <a:off x="660791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5회 — 콘텐츠 구조화</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6회 — 중간 발표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7회 — 색과 편집</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페이지가 실제로 나오는 구간</a:t>
            </a:r>
            <a:endParaRPr lang="en-US" sz="1150" dirty="0"/>
          </a:p>
        </p:txBody>
      </p:sp>
      <p:sp>
        <p:nvSpPr>
          <p:cNvPr id="24" name="Shape 22"/>
          <p:cNvSpPr/>
          <p:nvPr/>
        </p:nvSpPr>
        <p:spPr>
          <a:xfrm>
            <a:off x="9070619" y="1700784"/>
            <a:ext cx="2480996" cy="3529584"/>
          </a:xfrm>
          <a:prstGeom prst="rect">
            <a:avLst/>
          </a:prstGeom>
          <a:solidFill>
            <a:srgbClr val="FFFFFF"/>
          </a:solidFill>
          <a:ln w="12700">
            <a:solidFill>
              <a:srgbClr val="DCDCDC"/>
            </a:solidFill>
            <a:prstDash val="solid"/>
          </a:ln>
        </p:spPr>
      </p:sp>
      <p:sp>
        <p:nvSpPr>
          <p:cNvPr id="25" name="Text 23"/>
          <p:cNvSpPr/>
          <p:nvPr/>
        </p:nvSpPr>
        <p:spPr>
          <a:xfrm>
            <a:off x="9418091"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마무리 · 8–9회</a:t>
            </a:r>
            <a:endParaRPr lang="en-US" sz="1700" dirty="0"/>
          </a:p>
        </p:txBody>
      </p:sp>
      <p:sp>
        <p:nvSpPr>
          <p:cNvPr id="26" name="Text 24"/>
          <p:cNvSpPr/>
          <p:nvPr/>
        </p:nvSpPr>
        <p:spPr>
          <a:xfrm>
            <a:off x="9418091"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11–12월</a:t>
            </a:r>
            <a:endParaRPr lang="en-US" sz="1000" dirty="0"/>
          </a:p>
        </p:txBody>
      </p:sp>
      <p:sp>
        <p:nvSpPr>
          <p:cNvPr id="27" name="Shape 25"/>
          <p:cNvSpPr/>
          <p:nvPr/>
        </p:nvSpPr>
        <p:spPr>
          <a:xfrm>
            <a:off x="9418091" y="2798064"/>
            <a:ext cx="1786052" cy="7315"/>
          </a:xfrm>
          <a:prstGeom prst="rect">
            <a:avLst/>
          </a:prstGeom>
          <a:solidFill>
            <a:srgbClr val="111111"/>
          </a:solidFill>
          <a:ln w="12700">
            <a:solidFill>
              <a:srgbClr val="111111"/>
            </a:solidFill>
            <a:prstDash val="solid"/>
          </a:ln>
        </p:spPr>
      </p:sp>
      <p:sp>
        <p:nvSpPr>
          <p:cNvPr id="28" name="Text 26"/>
          <p:cNvSpPr/>
          <p:nvPr/>
        </p:nvSpPr>
        <p:spPr>
          <a:xfrm>
            <a:off x="9418091"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8회 — 편집 마무리와 온라인</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9회 — 기말 발표 (12월 8일)</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이력서와 피칭은 자료로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큰 마감은 오늘 · 6회 · 9회</a:t>
            </a:r>
            <a:endParaRPr lang="en-US" sz="1150" dirty="0"/>
          </a:p>
        </p:txBody>
      </p:sp>
      <p:sp>
        <p:nvSpPr>
          <p:cNvPr id="29" name="Shape 27"/>
          <p:cNvSpPr/>
          <p:nvPr/>
        </p:nvSpPr>
        <p:spPr>
          <a:xfrm>
            <a:off x="640080" y="5504688"/>
            <a:ext cx="10911535" cy="7315"/>
          </a:xfrm>
          <a:prstGeom prst="rect">
            <a:avLst/>
          </a:prstGeom>
          <a:solidFill>
            <a:srgbClr val="111111"/>
          </a:solidFill>
          <a:ln w="12700">
            <a:solidFill>
              <a:srgbClr val="111111"/>
            </a:solidFill>
            <a:prstDash val="solid"/>
          </a:ln>
        </p:spPr>
      </p:sp>
      <p:sp>
        <p:nvSpPr>
          <p:cNvPr id="30" name="Text 28"/>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횟수가 줄었다고 분량이 준 것은 아닙니다. 수업 사이가 2주니까 그사이에 하시는 일이 늘었습니다.</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무엇을 넣을 것인가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기준을 먼저 세우고 목록을 봅니다. 순서가 반대면 애착으로 고르게 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CRITERIA</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프로젝트를 고르는 세 축</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세 축이 모두 높은 프로젝트가 맨 앞으로 갑니다.</a:t>
            </a:r>
            <a:endParaRPr lang="en-US" sz="1150" dirty="0"/>
          </a:p>
        </p:txBody>
      </p:sp>
      <p:sp>
        <p:nvSpPr>
          <p:cNvPr id="9" name="Shape 7"/>
          <p:cNvSpPr/>
          <p:nvPr/>
        </p:nvSpPr>
        <p:spPr>
          <a:xfrm>
            <a:off x="640080" y="1737360"/>
            <a:ext cx="3393338" cy="3035808"/>
          </a:xfrm>
          <a:prstGeom prst="rect">
            <a:avLst/>
          </a:prstGeom>
          <a:solidFill>
            <a:srgbClr val="111111"/>
          </a:solidFill>
          <a:ln w="12700">
            <a:solidFill>
              <a:srgbClr val="111111"/>
            </a:solidFill>
            <a:prstDash val="solid"/>
          </a:ln>
        </p:spPr>
      </p:sp>
      <p:sp>
        <p:nvSpPr>
          <p:cNvPr id="10" name="Shape 8"/>
          <p:cNvSpPr/>
          <p:nvPr/>
        </p:nvSpPr>
        <p:spPr>
          <a:xfrm>
            <a:off x="1024128" y="2011680"/>
            <a:ext cx="365760" cy="365760"/>
          </a:xfrm>
          <a:prstGeom prst="ellipse">
            <a:avLst/>
          </a:prstGeom>
          <a:solidFill>
            <a:srgbClr val="111111"/>
          </a:solidFill>
          <a:ln w="12700">
            <a:solidFill>
              <a:srgbClr val="FFFFFF"/>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관련성</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2주차에 정한 목표 직무가 요구하는 것과 겹치는가. 아무리 잘 만들었어도 직무와 멀면 뒤로 보냅니다.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완성도</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지금 상태로 남에게 보여줄 수 있는가. 아직 아니라면 학기 안에 보완할 시간이 있는지 세어 봅니다.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남다름</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3주차에 살펴본 사례에서 찾은 '남들이 덜 하는 것'과 닿아 있는가. 여기가 기억에 남는 지점입니다.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세 축을 각각 5점으로 매겨 총점 순으로 줄 세우면 결정이 훨씬 빨라집니다.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COUNT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몇 개를 넣나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많이 넣을수록 좋아 보이지만, 실제로는 반대입니다.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3~5개가 알맞습니다</a:t>
            </a:r>
            <a:endParaRPr lang="en-US" sz="1450" dirty="0"/>
          </a:p>
        </p:txBody>
      </p:sp>
      <p:sp>
        <p:nvSpPr>
          <p:cNvPr id="13" name="Text 11"/>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읽는 사람이 끝까지 볼 수 있는 분량이고, 각각에 충분한 장수를 줄 수 있습니다</a:t>
            </a:r>
            <a:endParaRPr lang="en-US" sz="1100" dirty="0"/>
          </a:p>
        </p:txBody>
      </p:sp>
      <p:sp>
        <p:nvSpPr>
          <p:cNvPr id="14" name="Shape 12"/>
          <p:cNvSpPr/>
          <p:nvPr/>
        </p:nvSpPr>
        <p:spPr>
          <a:xfrm>
            <a:off x="640080" y="2596896"/>
            <a:ext cx="10911535" cy="7315"/>
          </a:xfrm>
          <a:prstGeom prst="rect">
            <a:avLst/>
          </a:prstGeom>
          <a:solidFill>
            <a:srgbClr val="DCDCDC"/>
          </a:solidFill>
          <a:ln w="12700">
            <a:solidFill>
              <a:srgbClr val="DCDCDC"/>
            </a:solidFill>
            <a:prstDash val="solid"/>
          </a:ln>
        </p:spPr>
      </p:sp>
      <p:sp>
        <p:nvSpPr>
          <p:cNvPr id="15" name="Shape 13"/>
          <p:cNvSpPr/>
          <p:nvPr/>
        </p:nvSpPr>
        <p:spPr>
          <a:xfrm>
            <a:off x="640080" y="2761488"/>
            <a:ext cx="310896" cy="310896"/>
          </a:xfrm>
          <a:prstGeom prst="ellipse">
            <a:avLst/>
          </a:prstGeom>
          <a:solidFill>
            <a:srgbClr val="FFFFFF"/>
          </a:solidFill>
          <a:ln w="12700">
            <a:solidFill>
              <a:srgbClr val="111111"/>
            </a:solidFill>
            <a:prstDash val="solid"/>
          </a:ln>
        </p:spPr>
      </p:sp>
      <p:sp>
        <p:nvSpPr>
          <p:cNvPr id="16" name="Text 14"/>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7" name="Text 15"/>
          <p:cNvSpPr/>
          <p:nvPr/>
        </p:nvSpPr>
        <p:spPr>
          <a:xfrm>
            <a:off x="1188720" y="267004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약한 하나가 전체를 끌어내립니다</a:t>
            </a:r>
            <a:endParaRPr lang="en-US" sz="1450" dirty="0"/>
          </a:p>
        </p:txBody>
      </p:sp>
      <p:sp>
        <p:nvSpPr>
          <p:cNvPr id="18" name="Text 16"/>
          <p:cNvSpPr/>
          <p:nvPr/>
        </p:nvSpPr>
        <p:spPr>
          <a:xfrm>
            <a:off x="1188720" y="298094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평균이 아니라 가장 약한 것으로 기억되는 경우가 많습니다</a:t>
            </a:r>
            <a:endParaRPr lang="en-US" sz="1100" dirty="0"/>
          </a:p>
        </p:txBody>
      </p:sp>
      <p:sp>
        <p:nvSpPr>
          <p:cNvPr id="19" name="Shape 17"/>
          <p:cNvSpPr/>
          <p:nvPr/>
        </p:nvSpPr>
        <p:spPr>
          <a:xfrm>
            <a:off x="640080" y="3547872"/>
            <a:ext cx="10911535" cy="7315"/>
          </a:xfrm>
          <a:prstGeom prst="rect">
            <a:avLst/>
          </a:prstGeom>
          <a:solidFill>
            <a:srgbClr val="DCDCDC"/>
          </a:solidFill>
          <a:ln w="12700">
            <a:solidFill>
              <a:srgbClr val="DCDCDC"/>
            </a:solidFill>
            <a:prstDash val="solid"/>
          </a:ln>
        </p:spPr>
      </p:sp>
      <p:sp>
        <p:nvSpPr>
          <p:cNvPr id="20" name="Shape 18"/>
          <p:cNvSpPr/>
          <p:nvPr/>
        </p:nvSpPr>
        <p:spPr>
          <a:xfrm>
            <a:off x="640080" y="3712464"/>
            <a:ext cx="310896" cy="310896"/>
          </a:xfrm>
          <a:prstGeom prst="ellipse">
            <a:avLst/>
          </a:prstGeom>
          <a:solidFill>
            <a:srgbClr val="FFFFFF"/>
          </a:solidFill>
          <a:ln w="12700">
            <a:solidFill>
              <a:srgbClr val="111111"/>
            </a:solidFill>
            <a:prstDash val="solid"/>
          </a:ln>
        </p:spPr>
      </p:sp>
      <p:sp>
        <p:nvSpPr>
          <p:cNvPr id="21" name="Text 19"/>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2" name="Text 20"/>
          <p:cNvSpPr/>
          <p:nvPr/>
        </p:nvSpPr>
        <p:spPr>
          <a:xfrm>
            <a:off x="1188720" y="3621024"/>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각 프로젝트가 다른 강점을 보여야 합니다</a:t>
            </a:r>
            <a:endParaRPr lang="en-US" sz="1450" dirty="0"/>
          </a:p>
        </p:txBody>
      </p:sp>
      <p:sp>
        <p:nvSpPr>
          <p:cNvPr id="23" name="Text 21"/>
          <p:cNvSpPr/>
          <p:nvPr/>
        </p:nvSpPr>
        <p:spPr>
          <a:xfrm>
            <a:off x="1188720" y="3931920"/>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비슷한 것 세 개는 하나와 같습니다</a:t>
            </a:r>
            <a:endParaRPr lang="en-US" sz="1100" dirty="0"/>
          </a:p>
        </p:txBody>
      </p:sp>
      <p:sp>
        <p:nvSpPr>
          <p:cNvPr id="24" name="Shape 22"/>
          <p:cNvSpPr/>
          <p:nvPr/>
        </p:nvSpPr>
        <p:spPr>
          <a:xfrm>
            <a:off x="640080" y="4498848"/>
            <a:ext cx="10911535" cy="7315"/>
          </a:xfrm>
          <a:prstGeom prst="rect">
            <a:avLst/>
          </a:prstGeom>
          <a:solidFill>
            <a:srgbClr val="DCDCDC"/>
          </a:solidFill>
          <a:ln w="12700">
            <a:solidFill>
              <a:srgbClr val="DCDCDC"/>
            </a:solidFill>
            <a:prstDash val="solid"/>
          </a:ln>
        </p:spPr>
      </p:sp>
      <p:sp>
        <p:nvSpPr>
          <p:cNvPr id="25" name="Shape 23"/>
          <p:cNvSpPr/>
          <p:nvPr/>
        </p:nvSpPr>
        <p:spPr>
          <a:xfrm>
            <a:off x="640080" y="4663440"/>
            <a:ext cx="310896" cy="310896"/>
          </a:xfrm>
          <a:prstGeom prst="ellipse">
            <a:avLst/>
          </a:prstGeom>
          <a:solidFill>
            <a:srgbClr val="FFFFFF"/>
          </a:solidFill>
          <a:ln w="12700">
            <a:solidFill>
              <a:srgbClr val="111111"/>
            </a:solidFill>
            <a:prstDash val="solid"/>
          </a:ln>
        </p:spPr>
      </p:sp>
      <p:sp>
        <p:nvSpPr>
          <p:cNvPr id="26" name="Text 24"/>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27" name="Text 25"/>
          <p:cNvSpPr/>
          <p:nvPr/>
        </p:nvSpPr>
        <p:spPr>
          <a:xfrm>
            <a:off x="1188720" y="45720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맨 앞은 가장 강한 것</a:t>
            </a:r>
            <a:endParaRPr lang="en-US" sz="1450" dirty="0"/>
          </a:p>
        </p:txBody>
      </p:sp>
      <p:sp>
        <p:nvSpPr>
          <p:cNvPr id="28" name="Text 26"/>
          <p:cNvSpPr/>
          <p:nvPr/>
        </p:nvSpPr>
        <p:spPr>
          <a:xfrm>
            <a:off x="1188720" y="48828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서류 단계에서는 앞 두세 장만 읽힙니다</a:t>
            </a:r>
            <a:endParaRPr lang="en-US" sz="1100" dirty="0"/>
          </a:p>
        </p:txBody>
      </p:sp>
      <p:sp>
        <p:nvSpPr>
          <p:cNvPr id="29" name="Shape 27"/>
          <p:cNvSpPr/>
          <p:nvPr/>
        </p:nvSpPr>
        <p:spPr>
          <a:xfrm>
            <a:off x="640080" y="5522976"/>
            <a:ext cx="10911535" cy="7315"/>
          </a:xfrm>
          <a:prstGeom prst="rect">
            <a:avLst/>
          </a:prstGeom>
          <a:solidFill>
            <a:srgbClr val="111111"/>
          </a:solidFill>
          <a:ln w="12700">
            <a:solidFill>
              <a:srgbClr val="111111"/>
            </a:solidFill>
            <a:prstDash val="solid"/>
          </a:ln>
        </p:spPr>
      </p:sp>
      <p:sp>
        <p:nvSpPr>
          <p:cNvPr id="30" name="Text 2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학기 뒤쪽에서 페이지를 6장 만듭니다. 프로젝트가 많으면 하나당 한 장꼴이 되어 아무것도 설명되지 않습니다.</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어떤 순서로 이야기할 것인가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프로젝트 안의 구조와 전체의 순서, 두 층을 함께 짭니다.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STRUCTURE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프로젝트 안의 구조 — 문제 · 과정 · 결과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어떤 프로젝트든 이 세 덩어리로 나뉩니다.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문제</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무엇을 왜 했는가. 한 문장으로 씁니다. 이 문장이 없으면 뒤가 다 나열로 보입니다. 과제였다면 과제 조건이 아니라 내가 잡은 문제를 씁니다.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과정</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어떻게 했는가. 고민한 부분과 그렇게 고른 이유. 버린 방법이 있으면 그것도. 여기가 가장 많은 장수를 차지합니다.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결과</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무엇이 되었는가. 최종 결과물과 함께, 가능하면 무엇이 달라졌는지. 느낀 점 한 줄이 있으면 인상이 크게 달라집니다.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장수는 대략 문제 1 · 과정 3 · 결과 2 정도로 나누면 무난합니다.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ORDER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전체 순서 짜기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네 개를 어떻게 놓느냐로 인상이 달라집니다.</a:t>
            </a:r>
            <a:endParaRPr lang="en-US" sz="1150" dirty="0"/>
          </a:p>
        </p:txBody>
      </p:sp>
      <p:sp>
        <p:nvSpPr>
          <p:cNvPr id="9" name="Shape 7"/>
          <p:cNvSpPr/>
          <p:nvPr/>
        </p:nvSpPr>
        <p:spPr>
          <a:xfrm>
            <a:off x="640080" y="1627632"/>
            <a:ext cx="5254600" cy="4078224"/>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정해서 놓은 순서</a:t>
            </a:r>
            <a:endParaRPr lang="en-US" sz="1700" dirty="0"/>
          </a:p>
        </p:txBody>
      </p:sp>
      <p:sp>
        <p:nvSpPr>
          <p:cNvPr id="11" name="Shape 9"/>
          <p:cNvSpPr/>
          <p:nvPr/>
        </p:nvSpPr>
        <p:spPr>
          <a:xfrm>
            <a:off x="6297016" y="1627632"/>
            <a:ext cx="5254600" cy="4078224"/>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그냥 시간순</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첫 번째</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목표 직무와 가장 가까운 것</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첫 번째</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가장 최근 작업</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두 번째</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다른 강점을 보여주는 것</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두 번째</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그다음 최근 작업</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중간</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실험적이거나 개인 작업</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중간</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학년 순서대로</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마지막</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여운이 남는 것 또는 짧은 것</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마지막</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가장 오래된 것</a:t>
            </a:r>
            <a:endParaRPr lang="en-US" sz="1150" dirty="0"/>
          </a:p>
        </p:txBody>
      </p:sp>
      <p:sp>
        <p:nvSpPr>
          <p:cNvPr id="35" name="Shape 33"/>
          <p:cNvSpPr/>
          <p:nvPr/>
        </p:nvSpPr>
        <p:spPr>
          <a:xfrm>
            <a:off x="1042416" y="5029200"/>
            <a:ext cx="4449928" cy="7315"/>
          </a:xfrm>
          <a:prstGeom prst="rect">
            <a:avLst/>
          </a:prstGeom>
          <a:solidFill>
            <a:srgbClr val="D2D2D2"/>
          </a:solidFill>
          <a:ln w="12700">
            <a:solidFill>
              <a:srgbClr val="D2D2D2"/>
            </a:solidFill>
            <a:prstDash val="solid"/>
          </a:ln>
        </p:spPr>
      </p:sp>
      <p:sp>
        <p:nvSpPr>
          <p:cNvPr id="36" name="Shape 34"/>
          <p:cNvSpPr/>
          <p:nvPr/>
        </p:nvSpPr>
        <p:spPr>
          <a:xfrm>
            <a:off x="6699352" y="5029200"/>
            <a:ext cx="4449928" cy="7315"/>
          </a:xfrm>
          <a:prstGeom prst="rect">
            <a:avLst/>
          </a:prstGeom>
          <a:solidFill>
            <a:srgbClr val="DCDCDC"/>
          </a:solidFill>
          <a:ln w="12700">
            <a:solidFill>
              <a:srgbClr val="DCDCDC"/>
            </a:solidFill>
            <a:prstDash val="solid"/>
          </a:ln>
        </p:spPr>
      </p:sp>
      <p:sp>
        <p:nvSpPr>
          <p:cNvPr id="37" name="Text 35"/>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결과</a:t>
            </a:r>
            <a:endParaRPr lang="en-US" sz="900" dirty="0"/>
          </a:p>
        </p:txBody>
      </p:sp>
      <p:sp>
        <p:nvSpPr>
          <p:cNvPr id="38" name="Text 36"/>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무엇을 잘하는 사람인지 남는다</a:t>
            </a:r>
            <a:endParaRPr lang="en-US" sz="1150" dirty="0"/>
          </a:p>
        </p:txBody>
      </p:sp>
      <p:sp>
        <p:nvSpPr>
          <p:cNvPr id="39" name="Text 37"/>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결과</a:t>
            </a:r>
            <a:endParaRPr lang="en-US" sz="900" dirty="0"/>
          </a:p>
        </p:txBody>
      </p:sp>
      <p:sp>
        <p:nvSpPr>
          <p:cNvPr id="40" name="Text 38"/>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자라 온 과정은 보이지만 강점이 안 남는다</a:t>
            </a:r>
            <a:endParaRPr lang="en-US" sz="11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이야기 흐름 짜기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작업 — 스토리보드 양식에 채웁니다.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목록과 점수</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가지고 있는 프로젝트를 전부 적고, 관련성 · 완성도 · 남다름을 각 5점으로 매깁니다.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고르고 빼기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총점 순으로 3~5개를 남깁니다. 뺀 것도 따로 적어 둡니다.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안쪽 구조</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남긴 것마다 문제 · 과정 · 결과를 한 줄씩 씁니다. 장수 배분은 과제로 넘겨도 됩니다.</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전체 순서</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차례를 정하고, 왜 그 순서인지 한 줄로 적습니다.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약한 곳을 찾아 고치기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짜 놓고 끝이 아닙니다. 매년 같은 자리에서 약해집니다.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WEAKNESS</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자주 나오는 약점 셋</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고치는 방법까지 함께 봅니다.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다 비슷하다</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네 프로젝트가 같은 유형에 같은 구성입니다. 읽는 사람에게는 하나로 기억됩니다.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고치는 법 — 하나를 성격이 다른 것으로 바꾸거나, 같은 프로젝트라도 다른 면을 앞세웁니다.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과정이 비어 있다</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문제와 결과는 있는데 그 사이가 없습니다. 판단할 근거가 없어 실력이 보이지 않습니다.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고치는 법 — 다음 두 회차 실습이 정확히 이 칸을 채우는 시간입니다. 자료를 모아 오세요.</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내 역할이 안 보인다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팀 과제인데 '우리는'으로만 쓰여 있습니다.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고치는 법 — 팀 구성 · 내가 맡은 범위 · 내가 결정한 것을 한 줄씩 적습니다.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셋 다 남은 회차 작업으로 고칠 수 있습니다. 다만 오늘 알아 둬야 그때 고쳐집니다.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FIX</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다시 짜는 세 가지 방법</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전부 다시 만들 필요는 없습니다. 대개 이 셋 중 하나로 해결됩니다.</a:t>
            </a:r>
            <a:endParaRPr lang="en-US" sz="1150" dirty="0"/>
          </a:p>
        </p:txBody>
      </p:sp>
      <p:sp>
        <p:nvSpPr>
          <p:cNvPr id="9" name="Shape 7"/>
          <p:cNvSpPr/>
          <p:nvPr/>
        </p:nvSpPr>
        <p:spPr>
          <a:xfrm>
            <a:off x="640080" y="1737360"/>
            <a:ext cx="3393338" cy="3035808"/>
          </a:xfrm>
          <a:prstGeom prst="rect">
            <a:avLst/>
          </a:prstGeom>
          <a:solidFill>
            <a:srgbClr val="111111"/>
          </a:solidFill>
          <a:ln w="12700">
            <a:solidFill>
              <a:srgbClr val="111111"/>
            </a:solidFill>
            <a:prstDash val="solid"/>
          </a:ln>
        </p:spPr>
      </p:sp>
      <p:sp>
        <p:nvSpPr>
          <p:cNvPr id="10" name="Shape 8"/>
          <p:cNvSpPr/>
          <p:nvPr/>
        </p:nvSpPr>
        <p:spPr>
          <a:xfrm>
            <a:off x="1024128" y="2011680"/>
            <a:ext cx="365760" cy="365760"/>
          </a:xfrm>
          <a:prstGeom prst="ellipse">
            <a:avLst/>
          </a:prstGeom>
          <a:solidFill>
            <a:srgbClr val="111111"/>
          </a:solidFill>
          <a:ln w="12700">
            <a:solidFill>
              <a:srgbClr val="FFFFFF"/>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순서만 바꾼다</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가장 싼 방법입니다. 작업량이 없습니다. 맨 앞을 바꾸는 것만으로 인상이 크게 달라집니다.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하나를 바꾼다</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약한 것을 빼고 뺐던 것 중 하나를 되살립니다. 오늘 '빼기로 한 것 목록'을 따로 적는 이유입니다.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안쪽을 다시 쓴다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프로젝트는 그대로 두고 문제 문장과 과정 설명만 다시 씁니다. 효과가 가장 크고, 다음 두 회차 실습이 이 작업입니다.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01 → 02 → 03 순으로 보세요. 앞쪽일수록 비용이 적습니다.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SELF-CHECK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스스로 점검하는 여덟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지금 자기 흐름에 대고 채웁니다. 체크가 안 되는 항목이 오늘 물어볼 것입니다.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넣을 프로젝트가 3~5개다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각 프로젝트를 넣은 이유를 세 축으로 말할 수 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서로 다른 강점을 보여주는 것이 섞여 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각 프로젝트에 문제 문장이 한 줄 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문제 문장이 '과제 조건'이 아니라 '내가 잡은 문제'다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장수 배분이 문제 1 · 과정 3 · 결과 2 정도다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맨 앞 프로젝트가 목표 직무와 가장 가깝다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전체 순서에 이유가 있다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체크가 안 되는 항목이 오늘 물어볼 것입니다. 전부 체크되면 다음 회차 준비를 시작하세요.</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FEEDBACK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개별 피드백 · 기다리는 동안</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점검표에서 막힌 분부터 봅니다. 기다리는 동안에는 둘씩 서로 묻습니다.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개별 피드백</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점검표에서 체크가 안 된 번호를 채팅에 올립니다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올린 순서대로 화면을 함께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오늘 순서가 안 오면 과제에 막힌 항목을 적어 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다음 수업 앞 시간에 이어서 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기다리는 동안 — 2인 1조</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"이건 왜 넣었어요?" — 답이 '열심히 했어서'면 애착입니다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순서인 이유는요?" — 답이 없으면 순서가 아직 없는 것입니다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"뺀 것 중에 아까운 건요?" — 되살릴지 판단할 재료가 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평가하지 말고 묻기만 합니다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답하다 보면 본인이 먼저 문제를 찾습니다. 지적은 방어를 부르고, 질문은 점검을 부릅니다.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회차는 콘텐츠 구조화입니다. 격주라 2주 뒤입니다.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이야기 흐름 확정본</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프로젝트 목록 · 순서 · 장수 배분 · 한 줄 요약을 스토리보드 양식에 채웁니다. 점검표에서 체크가 안 된 항목을 고친 뒤 제출합니다.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빼기로 한 것 목록</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고민했지만 넣지 않기로 한 프로젝트와 그 이유. 나중에 되살릴지 판단할 재료가 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자료 모으기</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다음 회차 실습 재료입니다. 프로젝트별 조사 자료 · 스케치 · 중간 산출물 · 작업 사진 · 원본 파일을 한 폴더에 모아 오세요. 없는 것은 지금 다시 만들 수 있으면 만들어 둡니다.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다음 수업 전까지 · 클래스룸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05주차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콘텐츠 구조화 — 문제 문장과 리서치 지면</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문제 문장 쓰는 법</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리서치를 나열이 아니라 발견으로</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한 지면 안의 정보 위계</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리서치 정리 페이지 만들기</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이야기 흐름 확정본 · 자료 폴더 · 노트북</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4주차 이야기 흐름 짜기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포트폴리오제작 · 4주차 이야기 흐름 짜기</dc:title>
  <dc:subject>원광대학교 2026-2 · 실내·산업디자인학과 3학년 · 15주 · 포트폴리오 완성과 발표</dc:subject>
  <dc:creator>MIN.D</dc:creator>
  <cp:lastModifiedBy>MIN.D</cp:lastModifiedBy>
  <cp:revision>1</cp:revision>
  <dcterms:created xsi:type="dcterms:W3CDTF">2026-09-28T09:22:24Z</dcterms:created>
  <dcterms:modified xsi:type="dcterms:W3CDTF">2026-09-28T09:22:24Z</dcterms:modified>
</cp:coreProperties>
</file>