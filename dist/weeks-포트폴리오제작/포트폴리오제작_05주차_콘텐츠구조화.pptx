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포트폴리오제작 다섯 번째 시간입니다.
지난 시간에 이야기 흐름을 짰습니다. 어떤 프로젝트를 넣을지, 어떤 순서로 놓을지. 그리고 각 프로젝트 안을 문제 · 과정 · 결과로 나눴지요.
오늘부터는 그걸 실제 지면으로 만듭니다. 종이 위에 무엇을 어디에 놓을지 정하는 일이에요.
오늘도 원래 두 번에 나눠 하는 내용을 한 번에 합니다. 격주라서요.
먼저 문제 문장을 다듬고, 그다음 세 지면 각각에 무엇을 넣을지 봅니다. 마지막으로 한 지면 안에서 무엇을 먼저 보이게 할지, 그리고 프로젝트가 달라도 구조를 어떻게 같게 유지할지.
한 가지 미리 말씀드립니다. 오늘은 예쁘게 만드는 시간이 아닙니다. 무엇을 어디에 놓을지 정하는 시간이에요. 색과 서체는 다음 회차입니다.
지난주 과제로 모아 오신 자료 폴더를 열어 두세요. 오늘 계속 쓰실 겁니다.
[운영 메모]
원래 6·7주차를 합친 자료다. 자료를 안 모아 온 학생은 오늘 만들 것이 없다. 수업 시작 10분에 폴더를 확인시키고, 없는 학생은 있는 것만으로 뼈대를 짜게 할 것 — 빈칸을 남겨 두면 무엇이 없는지가 드러난다.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먼저 문제 문장입니다.
이 한 문장이 정해지면 그 프로젝트의 지면들이 저절로 정리됩니다. 반대로 이게 흐리면 무엇을 넣고 무엇을 뺄지 끝까지 못 정해요.
20분만 쓰겠습니다. 짧지만 오늘 제일 중요한 부분입니다.
[운영 메모]
20분 구간. 학생 과제에서 문제 문장을 하나 익명으로 가져와 함께 고쳐 보면 가장 효과가 좋다.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문제 문장에 대해 한 가지만 짚고 가겠습니다.
문제 문장은 과제 조건이 아닙니다. 내가 잡은 관점입니다.
예를 들어 '공공시설 사인 디자인'은 과제 조건이에요. 교수가 준 거죠. 그건 문제가 아닙니다.
'처음 온 사람은 안내판을 보고도 어디로 가야 할지 모른다.' 이게 문제입니다. 내가 관찰하고 내가 잡은 거예요.
둘의 차이가 뭐냐면, 앞의 것은 누가 써도 똑같고 뒤의 것은 나만 쓸 수 있습니다.
읽는 사람이 궁금한 건 뒤쪽이에요. 무엇을 하라고 시켰는지가 아니라, 당신이 무엇을 봤는지.
[운영 메모]
이 구분이 오늘 수업 전체의 축이다. 학생 과제에 '과제 조건'을 그대로 옮겨 적은 경우가 많다.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문제 문장이 갖춰야 할 조건이 넷입니다. 카드는 셋인데 마지막에 하나를 더 말씀드리겠습니다.
첫째, 누구의 문제인지 있어야 합니다. '사용자'는 아무도 아닙니다. 처음 온 사람인지, 매일 오는 사람인지, 짐이 많은 사람인지.
둘째, 무엇이 안 되는지 있어야 합니다. 관찰한 사실이어야 해요. '불편하다'는 감상이고, '세 번 물어봐야 찾는다'는 사실입니다.
셋째, 왜 그런지에 대한 내 짐작이 있어야 합니다. 이게 관점입니다. 틀려도 됩니다. 다만 있어야 합니다.
그리고 넷째 — 아래 문장에 있습니다 — 한 문장이어야 합니다. 두 문장이 되면 아직 안 정해진 겁니다. 길어지는 이유는 대개 여러 문제를 한꺼번에 말하려고 해서예요.
[운영 메모]
03 이 빠진 문장이 가장 많다. '왜 그런가'가 없으면 누가 조사해도 같은 결과가 나온다.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실제로 어떻게 달라지는지 보겠습니다. 같은 프로젝트의 문제 문장입니다.
첫 줄. 왼쪽은 '노인을 위한 약통 디자인'. 과제 제목이죠. 오른쪽은 '혼자 사는 노인은 약을 먹었는지 기억하지 못한다'. 관찰한 사실입니다.
둘째 줄, 누구. 왼쪽은 노인, 오른쪽은 혼자 사는 노인. 범위가 좁아졌지요. 좁을수록 설계가 분명해집니다.
셋째 줄, 무엇. 왼쪽은 불편함, 오른쪽은 기억하지 못한다. 구체적입니다.
넷째 줄, 왜. 왼쪽은 없습니다. 오른쪽은 '매일 같은 동작이라 기억에 남지 않는다'. 이게 관점이에요.
마지막 줄을 보세요. 왼쪽으로 쓰면 무엇을 만들어도 답이 됩니다. 오른쪽으로 쓰면 만들 것이 좁혀집니다.
좁혀지는 게 좋은 겁니다. 포트폴리오에서 '무엇이든 할 수 있다'는 아무것도 못 한다는 말로 읽혀요.
[운영 메모]
왼쪽 같은 문장이 학생 과제의 대부분이다. 이 표를 띄워 놓고 각자 자기 문장을 고치게 하면 실습 시간이 줄어든다.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이제 지면입니다.
지난 회차에 프로젝트 안을 문제 · 과정 · 결과로 나눴지요. 그 셋이 그대로 세 지면이 됩니다.
각 지면에 무엇을 넣을지, 사례를 보면서 말씀드리겠습니다.
[운영 메모]
20분 구간. 사례 도판에서 시간을 쓰고 말로 하는 설명은 줄일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사례를 보겠습니다. 배달 앱 프로젝트 하나를 세 장으로 나눈 것입니다.
왼쪽이 리서치 지면이에요. 맨 위에 문제 문장이 있습니다. '배달 기사가 아니라 받는 사람이 문 앞에서 기다리는 시간이 문제였다.' 조사 내용이 아니라 조사로 알아낸 관점이 제목입니다.
왼쪽 아래에 어떻게 조사했는지, 가운데 사진, 오른쪽에 알게 된 것 세 개. 세 개면 충분합니다. 숫자가 있으면 넣으세요. '평균 7분 어긋난다', '5번 이상 다시 연다'.
맨 아래 한 줄이 중요합니다. '문제는 속도가 아니라 예측 가능성이다.' 이 한 줄이 다음 지면으로 넘어가는 다리입니다.
가운데가 과정 지면입니다. 위에 단계가 있고, 그 아래 시안 세 개가 나란히 있어요. 그리고 고른 것에 표시가 되어 있습니다.
여기서 중요한 건 버린 두 개도 함께 있다는 겁니다. 고른 것만 있으면 판단한 흔적이 안 남아요. 아래 줄에 왜 A 와 B 를 버렸는지 적혀 있지요.
오른쪽이 결과 지면입니다. 큰 이미지 하나, 작은 것 세 개. 같은 크기로 여섯 개 늘어놓지 마세요. 아무것도 안 보입니다.
맨 아래에 무엇이 달라졌는지. '5회에서 2회로.' 숫자가 없으면 관찰한 변화라도 쓰세요.
세 장의 공통점을 보세요. 맨 위가 문장이고 맨 아래가 결론입니다. 가운데만 달라요. 이게 구조를 같게 유지한다는 뜻입니다.
[운영 메모]
이 도판 한 장이 오늘 강의의 절반이다. 세 지면의 공통 구조(위 문장 · 아래 결론)를 마지막에 반드시 짚을 것 — PART 3 일관성으로 이어진다.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과정 지면이 제일 어렵습니다. 자주 나오는 네 가지를 말씀드릴게요.
첫째, 작업 사진을 시간순으로 붙이는 것. 이건 과정이 아니라 일지입니다. 읽는 사람은 무엇을 봐야 할지 모릅니다.
둘째, 시안을 여러 개 늘어놓기만 하는 것. 왜 이걸 골랐는지가 없으면 그냥 그림 모음이에요.
셋째, 다 잘된 것처럼 쓰는 것. 실패한 시도가 없는 과정은 믿기지 않습니다. 버린 안을 보여 주는 게 오히려 신뢰를 줍니다.
넷째, 남의 방법을 그대로 쓴 것을 내 과정처럼 쓰는 것. 페르소나니 여정지도니 만들었으면 그걸로 무엇을 정했는지까지 써야 합니다. 만들었다는 사실만으로는 과정이 아닙니다.
네 가지의 공통점은 하나예요. 결정이 안 보인다는 겁니다. 과정 지면은 무엇을 했는지가 아니라 무엇을 정했는지를 보여주는 자리입니다.
[운영 메모]
4번은 학부 과제에서 특히 많다. 방법론을 형식적으로 수행하고 결론과 연결하지 않는 습관이다.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마지막 강의 덩어리입니다.
무엇을 넣을지는 정했으니, 이제 어떤 순서로 보이게 할지와 프로젝트가 달라도 구조를 어떻게 같게 둘지를 보겠습니다.
[운영 메모]
15분 구간. 짧게 끝내고 실습으로 넘어갈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한 지면 안에서 무엇을 먼저 보이게 할지, 세 단계면 충분합니다.
1단계는 제목입니다. 3초 안에 읽히는 것. 이 지면이 무슨 이야기인지. 한 지면에 하나입니다.
2단계는 뼈대예요. 훑어볼 때 눈에 걸리는 것들. 소제목, 숫자, 사진 캡션. 이것만 봐도 대강 이해가 되어야 합니다.
3단계가 본문입니다. 관심 있는 사람만 읽는 부분이에요.
실제로 포트폴리오를 보는 사람은 대부분 2단계까지만 봅니다. 서류 단계에서 한 사람당 몇 분을 못 씁니다. 그래서 2단계에 핵심이 들어가 있어야 해요.
세 단계를 크기로 나누세요. 굵기만으로는 잘 안 갈립니다. 그리고 단계를 네 개 이상 만들지 마세요. 다섯 가지 크기가 섞이면 위계가 아니라 혼란입니다.
[운영 메모]
크기로 나누게 할 것. 굵기만 다르게 하면 투사 화면이나 작은 화면에서 구분되지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마지막입니다. 프로젝트가 달라도 구조는 같게 두세요.
왼쪽이 같게 둔 경우, 오른쪽이 프로젝트마다 다르게 만든 경우입니다.
첫 줄, 읽는 사람. 왼쪽은 두 번째 프로젝트부터 빨리 읽습니다. 어디에 무엇이 있는지 이미 아니까요. 오른쪽은 매번 새로 찾아야 합니다.
둘째 줄, 만드는 사람. 왼쪽은 틀이 있으니 빠릅니다. 오른쪽은 매번 처음부터예요.
셋째 줄, 고칠 때. 왼쪽은 한 곳을 고치면 다 바뀝니다.
넷째 줄이 중요합니다. 인상이요. 왼쪽은 정리된 사람으로 보입니다. 오른쪽은 산만해 보여요. 각 지면이 아무리 예뻐도 그렇습니다.
다섯째 줄. 비교가 되느냐. 구조가 같아야 프로젝트끼리 비교가 됩니다. 읽는 사람은 여러분의 프로젝트를 서로 비교하면서 봅니다.
일관성은 취향 문제가 아니라 읽는 속도의 문제입니다.
[운영 메모]
'각 지면이 예뻐도 산만해 보인다'가 핵심이다. 학생들은 지면 하나씩 잘 만들면 된다고 생각한다.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실습 35분입니다. 대표 프로젝트 하나만 하세요.
처음 8분. 문제 문장을 고칩니다. 아까 본 네 가지 조건에 맞게 한 문장으로.
여기서 오래 걸리는 게 정상입니다. 다만 완벽하게 하려 하지 마세요. 일단 쓰고 넘어가시면 나머지 하면서 다듬어집니다.
다음 9분씩 세 번. 리서치, 과정, 결과 지면의 뼈대를 짭니다.
뼈대라는 게 뭐냐면, 어디에 무엇이 들어갈지 사각형으로 표시하고 그 안에 한 줄씩 적는 겁니다. 내용을 다 채우는 게 아니에요.
예를 들어 리서치 지면이면, 위에 네모 하나 그리고 '문제 문장'이라고 쓰고, 왼쪽 아래에 네모 그리고 '조사 방법', 이런 식입니다.
마지막 지면을 만드실 때 한 가지만 확인하세요. 세 장의 제목이 같은 자리에 있는지. 아까 본 일관성입니다.
종이에 손으로 그리셔도 됩니다. 오늘은 도구가 중요하지 않아요.
소회의실 돌아다니겠습니다. 화면 공유해 주시면 같이 보겠습니다.
[운영 메모]
뼈대가 무엇인지 모르는 학생이 있다. 교수가 화면 공유로 30초 만에 하나 그려 보이면 바로 이해한다. 종이도 허용할 것 — 도구에서 막히는 시간이 아깝다.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점검표입니다. 다음 수업 전까지 올려 주세요.
앞의 넷이 문제 문장, 가운데 여섯이 세 지면, 뒤의 넷이 위계와 일관성입니다.
다섯 번째를 보세요. 발견이 세 개 이하인가. 많이 넣을수록 좋아 보이지만 반대입니다.
여덟 번째, 버린 안이 보이는가. 이게 과정 지면의 핵심이에요.
그리고 열세 번째와 열네 번째. 세 장의 제목이 같은 자리에 있는지, 크기 단계가 셋 이하인지. 이 두 개가 일관성을 만듭니다.
[운영 메모]
16개가 많아 보이지만 앞 다섯은 문장 하나를 보는 것이다. 과제 확인 때 6 · 8 · 13 번을 먼저 볼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정리하겠습니다.
과제 세 가지입니다.
첫째, 대표 프로젝트 세 지면. 오늘 짠 뼈대를 채워서 실제 지면으로 만드세요. 색과 서체는 아직 신경 쓰지 마시고요. 다음 회차에 다룹니다.
둘째, 전 프로젝트의 문제 문장. 지면은 안 만드셔도 됩니다. 문장만 한 줄씩이요. 이걸 미리 써 두면 나머지 지면 만드는 속도가 확 빨라집니다.
셋째, 중간 발표 준비. 다음 회차가 중간 발표예요.
새로 만들지 마세요. 지금까지 만든 것을 순서대로 엮으시면 됩니다. 이야기 흐름, 오늘 만든 세 지면, 그리고 앞으로 어떻게 할지. 5분입니다.
다음 수업까지 2주입니다. 첫째와 둘째를 이번 주에 끝내 두시고, 다음 주는 발표 엮는 데 쓰세요.
질문 있으신 분?
[운영 메모]
중간 발표를 앞두고 새로 만들려는 학생이 반드시 나온다. '엮는 것'이라고 반복해 말할 것. 문제 문장을 전 프로젝트에 대해 미리 받아 두면 남은 회차 속도가 크게 달라진다.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2 콘텐츠 구조화와 비주얼 시스템</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05</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7894015" y="713232"/>
            <a:ext cx="3657600" cy="1517904"/>
          </a:xfrm>
          <a:prstGeom prst="rect">
            <a:avLst/>
          </a:prstGeom>
          <a:noFill/>
          <a:ln/>
        </p:spPr>
        <p:txBody>
          <a:bodyPr wrap="square" lIns="0" tIns="0" rIns="0" bIns="0" rtlCol="0" anchor="ctr"/>
          <a:lstStyle/>
          <a:p>
            <a:pPr algn="r" indent="0" marL="0">
              <a:buNone/>
            </a:pPr>
            <a:r>
              <a:rPr lang="en-US" sz="13200" dirty="0">
                <a:solidFill>
                  <a:srgbClr val="111111"/>
                </a:solidFill>
                <a:latin typeface="Pretendard SemiBold" pitchFamily="34" charset="0"/>
                <a:ea typeface="Pretendard SemiBold" pitchFamily="34" charset="-122"/>
                <a:cs typeface="Pretendard SemiBold" pitchFamily="34" charset="-120"/>
              </a:rPr>
              <a:t>05</a:t>
            </a:r>
            <a:endParaRPr lang="en-US" sz="13200" dirty="0"/>
          </a:p>
        </p:txBody>
      </p:sp>
      <p:sp>
        <p:nvSpPr>
          <p:cNvPr id="7" name="Shape 5"/>
          <p:cNvSpPr/>
          <p:nvPr/>
        </p:nvSpPr>
        <p:spPr>
          <a:xfrm>
            <a:off x="941832" y="877824"/>
            <a:ext cx="0" cy="603504"/>
          </a:xfrm>
          <a:prstGeom prst="line">
            <a:avLst/>
          </a:prstGeom>
          <a:noFill/>
          <a:ln w="15875">
            <a:solidFill>
              <a:srgbClr val="111111"/>
            </a:solidFill>
            <a:prstDash val="solid"/>
          </a:ln>
        </p:spPr>
      </p:sp>
      <p:sp>
        <p:nvSpPr>
          <p:cNvPr id="8" name="Shape 6"/>
          <p:cNvSpPr/>
          <p:nvPr/>
        </p:nvSpPr>
        <p:spPr>
          <a:xfrm>
            <a:off x="640080" y="1239926"/>
            <a:ext cx="301752" cy="241402"/>
          </a:xfrm>
          <a:prstGeom prst="line">
            <a:avLst/>
          </a:prstGeom>
          <a:noFill/>
          <a:ln w="15875">
            <a:solidFill>
              <a:srgbClr val="111111"/>
            </a:solidFill>
            <a:prstDash val="solid"/>
          </a:ln>
        </p:spPr>
      </p:sp>
      <p:sp>
        <p:nvSpPr>
          <p:cNvPr id="9" name="Shape 7"/>
          <p:cNvSpPr/>
          <p:nvPr/>
        </p:nvSpPr>
        <p:spPr>
          <a:xfrm flipV="1">
            <a:off x="941832" y="1239926"/>
            <a:ext cx="301752" cy="241402"/>
          </a:xfrm>
          <a:prstGeom prst="line">
            <a:avLst/>
          </a:prstGeom>
          <a:noFill/>
          <a:ln w="15875">
            <a:solidFill>
              <a:srgbClr val="111111"/>
            </a:solidFill>
            <a:prstDash val="solid"/>
          </a:ln>
        </p:spPr>
      </p:sp>
      <p:sp>
        <p:nvSpPr>
          <p:cNvPr id="10" name="Text 8"/>
          <p:cNvSpPr/>
          <p:nvPr/>
        </p:nvSpPr>
        <p:spPr>
          <a:xfrm>
            <a:off x="640080" y="1901952"/>
            <a:ext cx="7498080" cy="237744"/>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WEEK 05  ·  PHASE 2 콘텐츠 구조화와 비주얼 시스템</a:t>
            </a:r>
            <a:endParaRPr lang="en-US" sz="950" dirty="0"/>
          </a:p>
        </p:txBody>
      </p:sp>
      <p:sp>
        <p:nvSpPr>
          <p:cNvPr id="11" name="Text 9"/>
          <p:cNvSpPr/>
          <p:nvPr/>
        </p:nvSpPr>
        <p:spPr>
          <a:xfrm>
            <a:off x="640080" y="2194560"/>
            <a:ext cx="8595360" cy="1225296"/>
          </a:xfrm>
          <a:prstGeom prst="rect">
            <a:avLst/>
          </a:prstGeom>
          <a:noFill/>
          <a:ln/>
        </p:spPr>
        <p:txBody>
          <a:bodyPr wrap="square" lIns="0" tIns="0" rIns="0" bIns="0" rtlCol="0" anchor="t"/>
          <a:lstStyle/>
          <a:p>
            <a:pPr indent="0" marL="0">
              <a:lnSpc>
                <a:spcPct val="112000"/>
              </a:lnSpc>
              <a:buNone/>
            </a:pPr>
            <a:r>
              <a:rPr lang="en-US" sz="4000" dirty="0">
                <a:solidFill>
                  <a:srgbClr val="111111"/>
                </a:solidFill>
                <a:latin typeface="Pretendard SemiBold" pitchFamily="34" charset="0"/>
                <a:ea typeface="Pretendard SemiBold" pitchFamily="34" charset="-122"/>
                <a:cs typeface="Pretendard SemiBold" pitchFamily="34" charset="-120"/>
              </a:rPr>
              <a:t>콘텐츠 구조화 — 세 지면 만들기</a:t>
            </a:r>
            <a:endParaRPr lang="en-US" sz="4000" dirty="0"/>
          </a:p>
        </p:txBody>
      </p:sp>
      <p:sp>
        <p:nvSpPr>
          <p:cNvPr id="12" name="Text 10"/>
          <p:cNvSpPr/>
          <p:nvPr/>
        </p:nvSpPr>
        <p:spPr>
          <a:xfrm>
            <a:off x="640080" y="3547872"/>
            <a:ext cx="7863840" cy="694944"/>
          </a:xfrm>
          <a:prstGeom prst="rect">
            <a:avLst/>
          </a:prstGeom>
          <a:noFill/>
          <a:ln/>
        </p:spPr>
        <p:txBody>
          <a:bodyPr wrap="square" lIns="0" tIns="0" rIns="0" bIns="0" rtlCol="0" anchor="t"/>
          <a:lstStyle/>
          <a:p>
            <a:pPr indent="0" marL="0">
              <a:lnSpc>
                <a:spcPct val="130000"/>
              </a:lnSpc>
              <a:buNone/>
            </a:pPr>
            <a:r>
              <a:rPr lang="en-US" sz="1600" dirty="0">
                <a:solidFill>
                  <a:srgbClr val="6E6E6E"/>
                </a:solidFill>
                <a:latin typeface="Pretendard Light" pitchFamily="34" charset="0"/>
                <a:ea typeface="Pretendard Light" pitchFamily="34" charset="-122"/>
                <a:cs typeface="Pretendard Light" pitchFamily="34" charset="-120"/>
              </a:rPr>
              <a:t>프로젝트 하나를 문제 · 과정 · 결과 세 지면으로 나누고,</a:t>
            </a:r>
            <a:endParaRPr lang="en-US" sz="1600" dirty="0"/>
          </a:p>
          <a:p>
            <a:pPr indent="0" marL="0">
              <a:lnSpc>
                <a:spcPct val="130000"/>
              </a:lnSpc>
              <a:buNone/>
            </a:pPr>
            <a:r>
              <a:rPr lang="en-US" sz="1600" dirty="0">
                <a:solidFill>
                  <a:srgbClr val="6E6E6E"/>
                </a:solidFill>
                <a:latin typeface="Pretendard Light" pitchFamily="34" charset="0"/>
                <a:ea typeface="Pretendard Light" pitchFamily="34" charset="-122"/>
                <a:cs typeface="Pretendard Light" pitchFamily="34" charset="-120"/>
              </a:rPr>
              <a:t>각 지면에 무엇을 어떤 순서로 놓을지 정합니다.</a:t>
            </a:r>
            <a:endParaRPr lang="en-US" sz="1600" dirty="0"/>
          </a:p>
        </p:txBody>
      </p:sp>
      <p:sp>
        <p:nvSpPr>
          <p:cNvPr id="13" name="Shape 11"/>
          <p:cNvSpPr/>
          <p:nvPr/>
        </p:nvSpPr>
        <p:spPr>
          <a:xfrm>
            <a:off x="640080" y="4443984"/>
            <a:ext cx="2743200" cy="7315"/>
          </a:xfrm>
          <a:prstGeom prst="rect">
            <a:avLst/>
          </a:prstGeom>
          <a:solidFill>
            <a:srgbClr val="111111"/>
          </a:solidFill>
          <a:ln w="12700">
            <a:solidFill>
              <a:srgbClr val="111111"/>
            </a:solidFill>
            <a:prstDash val="solid"/>
          </a:ln>
        </p:spPr>
      </p:sp>
      <p:sp>
        <p:nvSpPr>
          <p:cNvPr id="14" name="Text 12"/>
          <p:cNvSpPr/>
          <p:nvPr/>
        </p:nvSpPr>
        <p:spPr>
          <a:xfrm>
            <a:off x="640080" y="4645152"/>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과목</a:t>
            </a:r>
            <a:endParaRPr lang="en-US" sz="950" dirty="0"/>
          </a:p>
        </p:txBody>
      </p:sp>
      <p:sp>
        <p:nvSpPr>
          <p:cNvPr id="15" name="Text 13"/>
          <p:cNvSpPr/>
          <p:nvPr/>
        </p:nvSpPr>
        <p:spPr>
          <a:xfrm>
            <a:off x="1645920" y="4645152"/>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포트폴리오제작 · 실내·산업디자인학과 3학년</a:t>
            </a:r>
            <a:endParaRPr lang="en-US" sz="1200" dirty="0"/>
          </a:p>
        </p:txBody>
      </p:sp>
      <p:sp>
        <p:nvSpPr>
          <p:cNvPr id="16" name="Text 14"/>
          <p:cNvSpPr/>
          <p:nvPr/>
        </p:nvSpPr>
        <p:spPr>
          <a:xfrm>
            <a:off x="640080" y="5029200"/>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제출물</a:t>
            </a:r>
            <a:endParaRPr lang="en-US" sz="950" dirty="0"/>
          </a:p>
        </p:txBody>
      </p:sp>
      <p:sp>
        <p:nvSpPr>
          <p:cNvPr id="17" name="Text 15"/>
          <p:cNvSpPr/>
          <p:nvPr/>
        </p:nvSpPr>
        <p:spPr>
          <a:xfrm>
            <a:off x="1645920" y="5029200"/>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대표 프로젝트 세 지면 뼈대 · 전 프로젝트 문제 문장</a:t>
            </a:r>
            <a:endParaRPr lang="en-US" sz="1200" dirty="0"/>
          </a:p>
        </p:txBody>
      </p:sp>
      <p:sp>
        <p:nvSpPr>
          <p:cNvPr id="18" name="Text 16"/>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9B9B9B"/>
                </a:solidFill>
                <a:latin typeface="Pretendard" pitchFamily="34" charset="0"/>
                <a:ea typeface="Pretendard" pitchFamily="34" charset="-122"/>
                <a:cs typeface="Pretendard" pitchFamily="34" charset="-120"/>
              </a:rPr>
              <a:t>WONKWANG UNIV · 2026-2</a:t>
            </a:r>
            <a:endParaRPr lang="en-US" sz="850" dirty="0"/>
          </a:p>
        </p:txBody>
      </p:sp>
      <p:sp>
        <p:nvSpPr>
          <p:cNvPr id="19" name="Shape 17"/>
          <p:cNvSpPr/>
          <p:nvPr/>
        </p:nvSpPr>
        <p:spPr>
          <a:xfrm>
            <a:off x="640080" y="6291072"/>
            <a:ext cx="10911535" cy="7315"/>
          </a:xfrm>
          <a:prstGeom prst="rect">
            <a:avLst/>
          </a:prstGeom>
          <a:solidFill>
            <a:srgbClr val="DCDCDC"/>
          </a:solidFill>
          <a:ln w="12700">
            <a:solidFill>
              <a:srgbClr val="DCDCDC"/>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2 콘텐츠 구조화와 비주얼 시스템</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05</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01</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01</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문제 문장부터</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이 한 문장이 지면 전체의 기준점이 됩니다.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2 콘텐츠 구조화와 비주얼 시스템</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05</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640080" y="2103120"/>
            <a:ext cx="914400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FRAME</a:t>
            </a:r>
            <a:endParaRPr lang="en-US" sz="950" dirty="0"/>
          </a:p>
        </p:txBody>
      </p:sp>
      <p:sp>
        <p:nvSpPr>
          <p:cNvPr id="7" name="Shape 5"/>
          <p:cNvSpPr/>
          <p:nvPr/>
        </p:nvSpPr>
        <p:spPr>
          <a:xfrm>
            <a:off x="640080" y="2395728"/>
            <a:ext cx="2194560" cy="7315"/>
          </a:xfrm>
          <a:prstGeom prst="rect">
            <a:avLst/>
          </a:prstGeom>
          <a:solidFill>
            <a:srgbClr val="FFFFFF"/>
          </a:solidFill>
          <a:ln w="12700">
            <a:solidFill>
              <a:srgbClr val="FFFFFF"/>
            </a:solidFill>
            <a:prstDash val="solid"/>
          </a:ln>
        </p:spPr>
      </p:sp>
      <p:sp>
        <p:nvSpPr>
          <p:cNvPr id="8" name="Text 6"/>
          <p:cNvSpPr/>
          <p:nvPr/>
        </p:nvSpPr>
        <p:spPr>
          <a:xfrm>
            <a:off x="640080" y="2596896"/>
            <a:ext cx="10241280" cy="1371600"/>
          </a:xfrm>
          <a:prstGeom prst="rect">
            <a:avLst/>
          </a:prstGeom>
          <a:noFill/>
          <a:ln/>
        </p:spPr>
        <p:txBody>
          <a:bodyPr wrap="square" lIns="0" tIns="0" rIns="0" bIns="0" rtlCol="0" anchor="t"/>
          <a:lstStyle/>
          <a:p>
            <a:pPr indent="0" marL="0">
              <a:lnSpc>
                <a:spcPct val="122000"/>
              </a:lnSpc>
              <a:buNone/>
            </a:pPr>
            <a:r>
              <a:rPr lang="en-US" sz="3400" dirty="0">
                <a:solidFill>
                  <a:srgbClr val="FFFFFF"/>
                </a:solidFill>
                <a:latin typeface="Pretendard SemiBold" pitchFamily="34" charset="0"/>
                <a:ea typeface="Pretendard SemiBold" pitchFamily="34" charset="-122"/>
                <a:cs typeface="Pretendard SemiBold" pitchFamily="34" charset="-120"/>
              </a:rPr>
              <a:t>문제 문장은 과제 조건이 아니라</a:t>
            </a:r>
            <a:endParaRPr lang="en-US" sz="3400" dirty="0"/>
          </a:p>
          <a:p>
            <a:pPr indent="0" marL="0">
              <a:lnSpc>
                <a:spcPct val="122000"/>
              </a:lnSpc>
              <a:buNone/>
            </a:pPr>
            <a:r>
              <a:rPr lang="en-US" sz="3400" dirty="0">
                <a:solidFill>
                  <a:srgbClr val="FFFFFF"/>
                </a:solidFill>
                <a:latin typeface="Pretendard SemiBold" pitchFamily="34" charset="0"/>
                <a:ea typeface="Pretendard SemiBold" pitchFamily="34" charset="-122"/>
                <a:cs typeface="Pretendard SemiBold" pitchFamily="34" charset="-120"/>
              </a:rPr>
              <a:t>내가 잡은 관점입니다.</a:t>
            </a:r>
            <a:endParaRPr lang="en-US" sz="3400" dirty="0"/>
          </a:p>
        </p:txBody>
      </p:sp>
      <p:sp>
        <p:nvSpPr>
          <p:cNvPr id="9" name="Text 7"/>
          <p:cNvSpPr/>
          <p:nvPr/>
        </p:nvSpPr>
        <p:spPr>
          <a:xfrm>
            <a:off x="640080" y="4078224"/>
            <a:ext cx="9509760" cy="914400"/>
          </a:xfrm>
          <a:prstGeom prst="rect">
            <a:avLst/>
          </a:prstGeom>
          <a:noFill/>
          <a:ln/>
        </p:spPr>
        <p:txBody>
          <a:bodyPr wrap="square" lIns="0" tIns="0" rIns="0" bIns="0" rtlCol="0" anchor="t"/>
          <a:lstStyle/>
          <a:p>
            <a:pPr indent="0" marL="0">
              <a:lnSpc>
                <a:spcPct val="136000"/>
              </a:lnSpc>
              <a:buNone/>
            </a:pPr>
            <a:r>
              <a:rPr lang="en-US" sz="1400" dirty="0">
                <a:solidFill>
                  <a:srgbClr val="B8B8B8"/>
                </a:solidFill>
                <a:latin typeface="Pretendard Light" pitchFamily="34" charset="0"/>
                <a:ea typeface="Pretendard Light" pitchFamily="34" charset="-122"/>
                <a:cs typeface="Pretendard Light" pitchFamily="34" charset="-120"/>
              </a:rPr>
              <a:t>'공공시설 사인 디자인'은 과제 조건입니다. 누가 써도 똑같습니다. '처음 온 사람은 안내판을 보고도 어디로 가야 할지 모른다'는 문제입니다. 내가 관찰하고 내가 잡았으므로 나만 쓸 수 있습니다. 읽는 사람이 궁금한 것은 뒤쪽입니다 — 무엇을 하라고 시켰는지가 아니라 당신이 무엇을 봤는지.</a:t>
            </a:r>
            <a:endParaRPr lang="en-US" sz="1400" dirty="0"/>
          </a:p>
        </p:txBody>
      </p:sp>
      <p:sp>
        <p:nvSpPr>
          <p:cNvPr id="10" name="Text 8"/>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포트폴리오제작 · WEEK 05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2 콘텐츠 구조화와 비주얼 시스템</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05</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CRITERIA</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문제 문장 네 가지 조건</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넷을 다 만족하면 뒤 지면이 저절로 정리됩니다.</a:t>
            </a:r>
            <a:endParaRPr lang="en-US" sz="1150" dirty="0"/>
          </a:p>
        </p:txBody>
      </p:sp>
      <p:sp>
        <p:nvSpPr>
          <p:cNvPr id="9" name="Shape 7"/>
          <p:cNvSpPr/>
          <p:nvPr/>
        </p:nvSpPr>
        <p:spPr>
          <a:xfrm>
            <a:off x="640080" y="1737360"/>
            <a:ext cx="3393338" cy="3035808"/>
          </a:xfrm>
          <a:prstGeom prst="rect">
            <a:avLst/>
          </a:prstGeom>
          <a:solidFill>
            <a:srgbClr val="FFFFFF"/>
          </a:solidFill>
          <a:ln w="12700">
            <a:solidFill>
              <a:srgbClr val="DCDCDC"/>
            </a:solidFill>
            <a:prstDash val="solid"/>
          </a:ln>
        </p:spPr>
      </p:sp>
      <p:sp>
        <p:nvSpPr>
          <p:cNvPr id="10" name="Shape 8"/>
          <p:cNvSpPr/>
          <p:nvPr/>
        </p:nvSpPr>
        <p:spPr>
          <a:xfrm>
            <a:off x="1024128" y="2011680"/>
            <a:ext cx="365760" cy="365760"/>
          </a:xfrm>
          <a:prstGeom prst="ellipse">
            <a:avLst/>
          </a:prstGeom>
          <a:solidFill>
            <a:srgbClr val="FFFFFF"/>
          </a:solidFill>
          <a:ln w="12700">
            <a:solidFill>
              <a:srgbClr val="111111"/>
            </a:solidFill>
            <a:prstDash val="solid"/>
          </a:ln>
        </p:spPr>
      </p:sp>
      <p:sp>
        <p:nvSpPr>
          <p:cNvPr id="11" name="Text 9"/>
          <p:cNvSpPr/>
          <p:nvPr/>
        </p:nvSpPr>
        <p:spPr>
          <a:xfrm>
            <a:off x="1024128"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01</a:t>
            </a:r>
            <a:endParaRPr lang="en-US" sz="1150" dirty="0"/>
          </a:p>
        </p:txBody>
      </p:sp>
      <p:sp>
        <p:nvSpPr>
          <p:cNvPr id="12" name="Text 10"/>
          <p:cNvSpPr/>
          <p:nvPr/>
        </p:nvSpPr>
        <p:spPr>
          <a:xfrm>
            <a:off x="1024128"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누구의 문제인가</a:t>
            </a:r>
            <a:endParaRPr lang="en-US" sz="1700" dirty="0"/>
          </a:p>
        </p:txBody>
      </p:sp>
      <p:sp>
        <p:nvSpPr>
          <p:cNvPr id="13" name="Text 11"/>
          <p:cNvSpPr/>
          <p:nvPr/>
        </p:nvSpPr>
        <p:spPr>
          <a:xfrm>
            <a:off x="1024128"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'사용자'는 아무도 아닙니다.</a:t>
            </a:r>
            <a:endParaRPr lang="en-US" sz="1150" dirty="0"/>
          </a:p>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처음 온 사람인지, 매일 오는 사람인지, 짐이 많은 사람인지 적습니다.</a:t>
            </a:r>
            <a:endParaRPr lang="en-US" sz="1150" dirty="0"/>
          </a:p>
        </p:txBody>
      </p:sp>
      <p:sp>
        <p:nvSpPr>
          <p:cNvPr id="14" name="Shape 12"/>
          <p:cNvSpPr/>
          <p:nvPr/>
        </p:nvSpPr>
        <p:spPr>
          <a:xfrm>
            <a:off x="4399178" y="1737360"/>
            <a:ext cx="3393338" cy="3035808"/>
          </a:xfrm>
          <a:prstGeom prst="rect">
            <a:avLst/>
          </a:prstGeom>
          <a:solidFill>
            <a:srgbClr val="111111"/>
          </a:solidFill>
          <a:ln w="12700">
            <a:solidFill>
              <a:srgbClr val="111111"/>
            </a:solidFill>
            <a:prstDash val="solid"/>
          </a:ln>
        </p:spPr>
      </p:sp>
      <p:sp>
        <p:nvSpPr>
          <p:cNvPr id="15" name="Shape 13"/>
          <p:cNvSpPr/>
          <p:nvPr/>
        </p:nvSpPr>
        <p:spPr>
          <a:xfrm>
            <a:off x="4783226" y="2011680"/>
            <a:ext cx="365760" cy="365760"/>
          </a:xfrm>
          <a:prstGeom prst="ellipse">
            <a:avLst/>
          </a:prstGeom>
          <a:solidFill>
            <a:srgbClr val="111111"/>
          </a:solidFill>
          <a:ln w="12700">
            <a:solidFill>
              <a:srgbClr val="FFFFFF"/>
            </a:solidFill>
            <a:prstDash val="solid"/>
          </a:ln>
        </p:spPr>
      </p:sp>
      <p:sp>
        <p:nvSpPr>
          <p:cNvPr id="16" name="Text 14"/>
          <p:cNvSpPr/>
          <p:nvPr/>
        </p:nvSpPr>
        <p:spPr>
          <a:xfrm>
            <a:off x="4783226" y="2011680"/>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Pretendard" pitchFamily="34" charset="0"/>
                <a:ea typeface="Pretendard" pitchFamily="34" charset="-122"/>
                <a:cs typeface="Pretendard" pitchFamily="34" charset="-120"/>
              </a:rPr>
              <a:t>02</a:t>
            </a:r>
            <a:endParaRPr lang="en-US" sz="1150" dirty="0"/>
          </a:p>
        </p:txBody>
      </p:sp>
      <p:sp>
        <p:nvSpPr>
          <p:cNvPr id="17" name="Text 15"/>
          <p:cNvSpPr/>
          <p:nvPr/>
        </p:nvSpPr>
        <p:spPr>
          <a:xfrm>
            <a:off x="4783226"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FFFFFF"/>
                </a:solidFill>
                <a:latin typeface="Pretendard SemiBold" pitchFamily="34" charset="0"/>
                <a:ea typeface="Pretendard SemiBold" pitchFamily="34" charset="-122"/>
                <a:cs typeface="Pretendard SemiBold" pitchFamily="34" charset="-120"/>
              </a:rPr>
              <a:t>무엇이 안 되는가</a:t>
            </a:r>
            <a:endParaRPr lang="en-US" sz="1700" dirty="0"/>
          </a:p>
        </p:txBody>
      </p:sp>
      <p:sp>
        <p:nvSpPr>
          <p:cNvPr id="18" name="Text 16"/>
          <p:cNvSpPr/>
          <p:nvPr/>
        </p:nvSpPr>
        <p:spPr>
          <a:xfrm>
            <a:off x="4783226"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B8B8B8"/>
                </a:solidFill>
                <a:latin typeface="Pretendard" pitchFamily="34" charset="0"/>
                <a:ea typeface="Pretendard" pitchFamily="34" charset="-122"/>
                <a:cs typeface="Pretendard" pitchFamily="34" charset="-120"/>
              </a:rPr>
              <a:t>관찰한 사실이어야 합니다.</a:t>
            </a:r>
            <a:endParaRPr lang="en-US" sz="1150" dirty="0"/>
          </a:p>
          <a:p>
            <a:pPr indent="0" marL="0">
              <a:lnSpc>
                <a:spcPct val="130000"/>
              </a:lnSpc>
              <a:buNone/>
            </a:pPr>
            <a:r>
              <a:rPr lang="en-US" sz="1150" dirty="0">
                <a:solidFill>
                  <a:srgbClr val="B8B8B8"/>
                </a:solidFill>
                <a:latin typeface="Pretendard" pitchFamily="34" charset="0"/>
                <a:ea typeface="Pretendard" pitchFamily="34" charset="-122"/>
                <a:cs typeface="Pretendard" pitchFamily="34" charset="-120"/>
              </a:rPr>
              <a:t>'불편하다'는 감상이고 '세 번 물어봐야 찾는다'는 사실입니다.</a:t>
            </a:r>
            <a:endParaRPr lang="en-US" sz="1150" dirty="0"/>
          </a:p>
        </p:txBody>
      </p:sp>
      <p:sp>
        <p:nvSpPr>
          <p:cNvPr id="19" name="Shape 17"/>
          <p:cNvSpPr/>
          <p:nvPr/>
        </p:nvSpPr>
        <p:spPr>
          <a:xfrm>
            <a:off x="8158277" y="1737360"/>
            <a:ext cx="3393338" cy="3035808"/>
          </a:xfrm>
          <a:prstGeom prst="rect">
            <a:avLst/>
          </a:prstGeom>
          <a:solidFill>
            <a:srgbClr val="FFFFFF"/>
          </a:solidFill>
          <a:ln w="12700">
            <a:solidFill>
              <a:srgbClr val="DCDCDC"/>
            </a:solidFill>
            <a:prstDash val="solid"/>
          </a:ln>
        </p:spPr>
      </p:sp>
      <p:sp>
        <p:nvSpPr>
          <p:cNvPr id="20" name="Shape 18"/>
          <p:cNvSpPr/>
          <p:nvPr/>
        </p:nvSpPr>
        <p:spPr>
          <a:xfrm>
            <a:off x="8542325" y="2011680"/>
            <a:ext cx="365760" cy="365760"/>
          </a:xfrm>
          <a:prstGeom prst="ellipse">
            <a:avLst/>
          </a:prstGeom>
          <a:solidFill>
            <a:srgbClr val="FFFFFF"/>
          </a:solidFill>
          <a:ln w="12700">
            <a:solidFill>
              <a:srgbClr val="111111"/>
            </a:solidFill>
            <a:prstDash val="solid"/>
          </a:ln>
        </p:spPr>
      </p:sp>
      <p:sp>
        <p:nvSpPr>
          <p:cNvPr id="21" name="Text 19"/>
          <p:cNvSpPr/>
          <p:nvPr/>
        </p:nvSpPr>
        <p:spPr>
          <a:xfrm>
            <a:off x="8542325"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03</a:t>
            </a:r>
            <a:endParaRPr lang="en-US" sz="1150" dirty="0"/>
          </a:p>
        </p:txBody>
      </p:sp>
      <p:sp>
        <p:nvSpPr>
          <p:cNvPr id="22" name="Text 20"/>
          <p:cNvSpPr/>
          <p:nvPr/>
        </p:nvSpPr>
        <p:spPr>
          <a:xfrm>
            <a:off x="8542325"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왜 그렇다고 보는가</a:t>
            </a:r>
            <a:endParaRPr lang="en-US" sz="1700" dirty="0"/>
          </a:p>
        </p:txBody>
      </p:sp>
      <p:sp>
        <p:nvSpPr>
          <p:cNvPr id="23" name="Text 21"/>
          <p:cNvSpPr/>
          <p:nvPr/>
        </p:nvSpPr>
        <p:spPr>
          <a:xfrm>
            <a:off x="8542325"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여기가 내 관점입니다. 틀려도 됩니다. 다만 있어야 합니다.</a:t>
            </a:r>
            <a:endParaRPr lang="en-US" sz="1150" dirty="0"/>
          </a:p>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이것이 없으면 조사 보고서지 디자인 연구가 아닙니다.</a:t>
            </a:r>
            <a:endParaRPr lang="en-US" sz="1150" dirty="0"/>
          </a:p>
        </p:txBody>
      </p:sp>
      <p:sp>
        <p:nvSpPr>
          <p:cNvPr id="24" name="Shape 22"/>
          <p:cNvSpPr/>
          <p:nvPr/>
        </p:nvSpPr>
        <p:spPr>
          <a:xfrm>
            <a:off x="640080" y="5084064"/>
            <a:ext cx="10911535" cy="7315"/>
          </a:xfrm>
          <a:prstGeom prst="rect">
            <a:avLst/>
          </a:prstGeom>
          <a:solidFill>
            <a:srgbClr val="111111"/>
          </a:solidFill>
          <a:ln w="12700">
            <a:solidFill>
              <a:srgbClr val="111111"/>
            </a:solidFill>
            <a:prstDash val="solid"/>
          </a:ln>
        </p:spPr>
      </p:sp>
      <p:sp>
        <p:nvSpPr>
          <p:cNvPr id="25" name="Text 23"/>
          <p:cNvSpPr/>
          <p:nvPr/>
        </p:nvSpPr>
        <p:spPr>
          <a:xfrm>
            <a:off x="640080" y="5193792"/>
            <a:ext cx="10911535" cy="438912"/>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그리고 한 문장이어야 합니다. 두 문장이 되면 아직 정해지지 않은 것입니다 — 대개 여러 문제를 한꺼번에 말하려 해서 길어집니다.</a:t>
            </a:r>
            <a:endParaRPr lang="en-US" sz="1300" dirty="0"/>
          </a:p>
        </p:txBody>
      </p:sp>
      <p:sp>
        <p:nvSpPr>
          <p:cNvPr id="26" name="Shape 24"/>
          <p:cNvSpPr/>
          <p:nvPr/>
        </p:nvSpPr>
        <p:spPr>
          <a:xfrm>
            <a:off x="640080" y="6291072"/>
            <a:ext cx="10911535" cy="7315"/>
          </a:xfrm>
          <a:prstGeom prst="rect">
            <a:avLst/>
          </a:prstGeom>
          <a:solidFill>
            <a:srgbClr val="DCDCDC"/>
          </a:solidFill>
          <a:ln w="12700">
            <a:solidFill>
              <a:srgbClr val="DCDCDC"/>
            </a:solidFill>
            <a:prstDash val="solid"/>
          </a:ln>
        </p:spPr>
      </p:sp>
      <p:sp>
        <p:nvSpPr>
          <p:cNvPr id="27" name="Text 25"/>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포트폴리오제작 · 5주차 콘텐츠 구조화 — 세 지면 만들기</a:t>
            </a:r>
            <a:endParaRPr lang="en-US" sz="850" dirty="0"/>
          </a:p>
        </p:txBody>
      </p:sp>
      <p:sp>
        <p:nvSpPr>
          <p:cNvPr id="28" name="Text 26"/>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P.01</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2 콘텐츠 구조화와 비주얼 시스템</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05</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REWRITE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고치기 전과 후</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같은 프로젝트의 문제 문장입니다.</a:t>
            </a:r>
            <a:endParaRPr lang="en-US" sz="1150" dirty="0"/>
          </a:p>
        </p:txBody>
      </p:sp>
      <p:sp>
        <p:nvSpPr>
          <p:cNvPr id="9" name="Shape 7"/>
          <p:cNvSpPr/>
          <p:nvPr/>
        </p:nvSpPr>
        <p:spPr>
          <a:xfrm>
            <a:off x="640080" y="1627632"/>
            <a:ext cx="5254600" cy="3712464"/>
          </a:xfrm>
          <a:prstGeom prst="rect">
            <a:avLst/>
          </a:prstGeom>
          <a:solidFill>
            <a:srgbClr val="FFFFFF"/>
          </a:solidFill>
          <a:ln w="12700">
            <a:solidFill>
              <a:srgbClr val="111111"/>
            </a:solidFill>
            <a:prstDash val="solid"/>
          </a:ln>
        </p:spPr>
      </p:sp>
      <p:sp>
        <p:nvSpPr>
          <p:cNvPr id="10" name="Shape 8"/>
          <p:cNvSpPr/>
          <p:nvPr/>
        </p:nvSpPr>
        <p:spPr>
          <a:xfrm>
            <a:off x="640080" y="1627632"/>
            <a:ext cx="5254600" cy="64008"/>
          </a:xfrm>
          <a:prstGeom prst="rect">
            <a:avLst/>
          </a:prstGeom>
          <a:solidFill>
            <a:srgbClr val="111111"/>
          </a:solidFill>
          <a:ln w="12700">
            <a:solidFill>
              <a:srgbClr val="111111"/>
            </a:solidFill>
            <a:prstDash val="solid"/>
          </a:ln>
        </p:spPr>
      </p:sp>
      <p:sp>
        <p:nvSpPr>
          <p:cNvPr id="11" name="Text 9"/>
          <p:cNvSpPr/>
          <p:nvPr/>
        </p:nvSpPr>
        <p:spPr>
          <a:xfrm>
            <a:off x="1042416" y="1901952"/>
            <a:ext cx="4449928"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고치기 전</a:t>
            </a:r>
            <a:endParaRPr lang="en-US" sz="1700" dirty="0"/>
          </a:p>
        </p:txBody>
      </p:sp>
      <p:sp>
        <p:nvSpPr>
          <p:cNvPr id="12" name="Shape 10"/>
          <p:cNvSpPr/>
          <p:nvPr/>
        </p:nvSpPr>
        <p:spPr>
          <a:xfrm>
            <a:off x="6297016" y="1627632"/>
            <a:ext cx="5254600" cy="3712464"/>
          </a:xfrm>
          <a:prstGeom prst="rect">
            <a:avLst/>
          </a:prstGeom>
          <a:solidFill>
            <a:srgbClr val="F2F2F2"/>
          </a:solidFill>
          <a:ln w="12700">
            <a:solidFill>
              <a:srgbClr val="DCDCDC"/>
            </a:solidFill>
            <a:prstDash val="solid"/>
          </a:ln>
        </p:spPr>
      </p:sp>
      <p:sp>
        <p:nvSpPr>
          <p:cNvPr id="13" name="Text 11"/>
          <p:cNvSpPr/>
          <p:nvPr/>
        </p:nvSpPr>
        <p:spPr>
          <a:xfrm>
            <a:off x="6699352" y="1901952"/>
            <a:ext cx="4449928" cy="365760"/>
          </a:xfrm>
          <a:prstGeom prst="rect">
            <a:avLst/>
          </a:prstGeom>
          <a:noFill/>
          <a:ln/>
        </p:spPr>
        <p:txBody>
          <a:bodyPr wrap="square" lIns="0" tIns="0" rIns="0" bIns="0" rtlCol="0" anchor="ctr"/>
          <a:lstStyle/>
          <a:p>
            <a:pPr indent="0" marL="0">
              <a:buNone/>
            </a:pPr>
            <a:r>
              <a:rPr lang="en-US" sz="1700" dirty="0">
                <a:solidFill>
                  <a:srgbClr val="9B9B9B"/>
                </a:solidFill>
                <a:latin typeface="Pretendard SemiBold" pitchFamily="34" charset="0"/>
                <a:ea typeface="Pretendard SemiBold" pitchFamily="34" charset="-122"/>
                <a:cs typeface="Pretendard SemiBold" pitchFamily="34" charset="-120"/>
              </a:rPr>
              <a:t>고친 뒤</a:t>
            </a:r>
            <a:endParaRPr lang="en-US" sz="1700" dirty="0"/>
          </a:p>
        </p:txBody>
      </p:sp>
      <p:sp>
        <p:nvSpPr>
          <p:cNvPr id="14" name="Text 12"/>
          <p:cNvSpPr/>
          <p:nvPr/>
        </p:nvSpPr>
        <p:spPr>
          <a:xfrm>
            <a:off x="1042416" y="2450592"/>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문장</a:t>
            </a:r>
            <a:endParaRPr lang="en-US" sz="900" dirty="0"/>
          </a:p>
        </p:txBody>
      </p:sp>
      <p:sp>
        <p:nvSpPr>
          <p:cNvPr id="15" name="Text 13"/>
          <p:cNvSpPr/>
          <p:nvPr/>
        </p:nvSpPr>
        <p:spPr>
          <a:xfrm>
            <a:off x="1042416" y="2688336"/>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노인을 위한 약통 디자인</a:t>
            </a:r>
            <a:endParaRPr lang="en-US" sz="1150" dirty="0"/>
          </a:p>
        </p:txBody>
      </p:sp>
      <p:sp>
        <p:nvSpPr>
          <p:cNvPr id="16" name="Text 14"/>
          <p:cNvSpPr/>
          <p:nvPr/>
        </p:nvSpPr>
        <p:spPr>
          <a:xfrm>
            <a:off x="6699352" y="2450592"/>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문장</a:t>
            </a:r>
            <a:endParaRPr lang="en-US" sz="900" dirty="0"/>
          </a:p>
        </p:txBody>
      </p:sp>
      <p:sp>
        <p:nvSpPr>
          <p:cNvPr id="17" name="Text 15"/>
          <p:cNvSpPr/>
          <p:nvPr/>
        </p:nvSpPr>
        <p:spPr>
          <a:xfrm>
            <a:off x="6699352" y="2688336"/>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혼자 사는 노인은 약을 먹었는지 기억하지 못한다</a:t>
            </a:r>
            <a:endParaRPr lang="en-US" sz="1150" dirty="0"/>
          </a:p>
        </p:txBody>
      </p:sp>
      <p:sp>
        <p:nvSpPr>
          <p:cNvPr id="18" name="Shape 16"/>
          <p:cNvSpPr/>
          <p:nvPr/>
        </p:nvSpPr>
        <p:spPr>
          <a:xfrm>
            <a:off x="1042416" y="2980944"/>
            <a:ext cx="4449928" cy="7315"/>
          </a:xfrm>
          <a:prstGeom prst="rect">
            <a:avLst/>
          </a:prstGeom>
          <a:solidFill>
            <a:srgbClr val="D2D2D2"/>
          </a:solidFill>
          <a:ln w="12700">
            <a:solidFill>
              <a:srgbClr val="D2D2D2"/>
            </a:solidFill>
            <a:prstDash val="solid"/>
          </a:ln>
        </p:spPr>
      </p:sp>
      <p:sp>
        <p:nvSpPr>
          <p:cNvPr id="19" name="Shape 17"/>
          <p:cNvSpPr/>
          <p:nvPr/>
        </p:nvSpPr>
        <p:spPr>
          <a:xfrm>
            <a:off x="6699352" y="2980944"/>
            <a:ext cx="4449928" cy="7315"/>
          </a:xfrm>
          <a:prstGeom prst="rect">
            <a:avLst/>
          </a:prstGeom>
          <a:solidFill>
            <a:srgbClr val="DCDCDC"/>
          </a:solidFill>
          <a:ln w="12700">
            <a:solidFill>
              <a:srgbClr val="DCDCDC"/>
            </a:solidFill>
            <a:prstDash val="solid"/>
          </a:ln>
        </p:spPr>
      </p:sp>
      <p:sp>
        <p:nvSpPr>
          <p:cNvPr id="20" name="Text 18"/>
          <p:cNvSpPr/>
          <p:nvPr/>
        </p:nvSpPr>
        <p:spPr>
          <a:xfrm>
            <a:off x="1042416" y="3035808"/>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누구</a:t>
            </a:r>
            <a:endParaRPr lang="en-US" sz="900" dirty="0"/>
          </a:p>
        </p:txBody>
      </p:sp>
      <p:sp>
        <p:nvSpPr>
          <p:cNvPr id="21" name="Text 19"/>
          <p:cNvSpPr/>
          <p:nvPr/>
        </p:nvSpPr>
        <p:spPr>
          <a:xfrm>
            <a:off x="1042416" y="3273552"/>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노인</a:t>
            </a:r>
            <a:endParaRPr lang="en-US" sz="1150" dirty="0"/>
          </a:p>
        </p:txBody>
      </p:sp>
      <p:sp>
        <p:nvSpPr>
          <p:cNvPr id="22" name="Text 20"/>
          <p:cNvSpPr/>
          <p:nvPr/>
        </p:nvSpPr>
        <p:spPr>
          <a:xfrm>
            <a:off x="6699352" y="3035808"/>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누구</a:t>
            </a:r>
            <a:endParaRPr lang="en-US" sz="900" dirty="0"/>
          </a:p>
        </p:txBody>
      </p:sp>
      <p:sp>
        <p:nvSpPr>
          <p:cNvPr id="23" name="Text 21"/>
          <p:cNvSpPr/>
          <p:nvPr/>
        </p:nvSpPr>
        <p:spPr>
          <a:xfrm>
            <a:off x="6699352" y="3273552"/>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혼자 사는 노인</a:t>
            </a:r>
            <a:endParaRPr lang="en-US" sz="1150" dirty="0"/>
          </a:p>
        </p:txBody>
      </p:sp>
      <p:sp>
        <p:nvSpPr>
          <p:cNvPr id="24" name="Shape 22"/>
          <p:cNvSpPr/>
          <p:nvPr/>
        </p:nvSpPr>
        <p:spPr>
          <a:xfrm>
            <a:off x="1042416" y="3566160"/>
            <a:ext cx="4449928" cy="7315"/>
          </a:xfrm>
          <a:prstGeom prst="rect">
            <a:avLst/>
          </a:prstGeom>
          <a:solidFill>
            <a:srgbClr val="D2D2D2"/>
          </a:solidFill>
          <a:ln w="12700">
            <a:solidFill>
              <a:srgbClr val="D2D2D2"/>
            </a:solidFill>
            <a:prstDash val="solid"/>
          </a:ln>
        </p:spPr>
      </p:sp>
      <p:sp>
        <p:nvSpPr>
          <p:cNvPr id="25" name="Shape 23"/>
          <p:cNvSpPr/>
          <p:nvPr/>
        </p:nvSpPr>
        <p:spPr>
          <a:xfrm>
            <a:off x="6699352" y="3566160"/>
            <a:ext cx="4449928" cy="7315"/>
          </a:xfrm>
          <a:prstGeom prst="rect">
            <a:avLst/>
          </a:prstGeom>
          <a:solidFill>
            <a:srgbClr val="DCDCDC"/>
          </a:solidFill>
          <a:ln w="12700">
            <a:solidFill>
              <a:srgbClr val="DCDCDC"/>
            </a:solidFill>
            <a:prstDash val="solid"/>
          </a:ln>
        </p:spPr>
      </p:sp>
      <p:sp>
        <p:nvSpPr>
          <p:cNvPr id="26" name="Text 24"/>
          <p:cNvSpPr/>
          <p:nvPr/>
        </p:nvSpPr>
        <p:spPr>
          <a:xfrm>
            <a:off x="1042416" y="3621024"/>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무엇</a:t>
            </a:r>
            <a:endParaRPr lang="en-US" sz="900" dirty="0"/>
          </a:p>
        </p:txBody>
      </p:sp>
      <p:sp>
        <p:nvSpPr>
          <p:cNvPr id="27" name="Text 25"/>
          <p:cNvSpPr/>
          <p:nvPr/>
        </p:nvSpPr>
        <p:spPr>
          <a:xfrm>
            <a:off x="1042416" y="3858768"/>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불편함 (감상)</a:t>
            </a:r>
            <a:endParaRPr lang="en-US" sz="1150" dirty="0"/>
          </a:p>
        </p:txBody>
      </p:sp>
      <p:sp>
        <p:nvSpPr>
          <p:cNvPr id="28" name="Text 26"/>
          <p:cNvSpPr/>
          <p:nvPr/>
        </p:nvSpPr>
        <p:spPr>
          <a:xfrm>
            <a:off x="6699352" y="3621024"/>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무엇</a:t>
            </a:r>
            <a:endParaRPr lang="en-US" sz="900" dirty="0"/>
          </a:p>
        </p:txBody>
      </p:sp>
      <p:sp>
        <p:nvSpPr>
          <p:cNvPr id="29" name="Text 27"/>
          <p:cNvSpPr/>
          <p:nvPr/>
        </p:nvSpPr>
        <p:spPr>
          <a:xfrm>
            <a:off x="6699352" y="3858768"/>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먹었는지 기억하지 못한다 (관찰)</a:t>
            </a:r>
            <a:endParaRPr lang="en-US" sz="1150" dirty="0"/>
          </a:p>
        </p:txBody>
      </p:sp>
      <p:sp>
        <p:nvSpPr>
          <p:cNvPr id="30" name="Shape 28"/>
          <p:cNvSpPr/>
          <p:nvPr/>
        </p:nvSpPr>
        <p:spPr>
          <a:xfrm>
            <a:off x="1042416" y="4151376"/>
            <a:ext cx="4449928" cy="7315"/>
          </a:xfrm>
          <a:prstGeom prst="rect">
            <a:avLst/>
          </a:prstGeom>
          <a:solidFill>
            <a:srgbClr val="D2D2D2"/>
          </a:solidFill>
          <a:ln w="12700">
            <a:solidFill>
              <a:srgbClr val="D2D2D2"/>
            </a:solidFill>
            <a:prstDash val="solid"/>
          </a:ln>
        </p:spPr>
      </p:sp>
      <p:sp>
        <p:nvSpPr>
          <p:cNvPr id="31" name="Shape 29"/>
          <p:cNvSpPr/>
          <p:nvPr/>
        </p:nvSpPr>
        <p:spPr>
          <a:xfrm>
            <a:off x="6699352" y="4151376"/>
            <a:ext cx="4449928" cy="7315"/>
          </a:xfrm>
          <a:prstGeom prst="rect">
            <a:avLst/>
          </a:prstGeom>
          <a:solidFill>
            <a:srgbClr val="DCDCDC"/>
          </a:solidFill>
          <a:ln w="12700">
            <a:solidFill>
              <a:srgbClr val="DCDCDC"/>
            </a:solidFill>
            <a:prstDash val="solid"/>
          </a:ln>
        </p:spPr>
      </p:sp>
      <p:sp>
        <p:nvSpPr>
          <p:cNvPr id="32" name="Text 30"/>
          <p:cNvSpPr/>
          <p:nvPr/>
        </p:nvSpPr>
        <p:spPr>
          <a:xfrm>
            <a:off x="1042416" y="4206240"/>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왜</a:t>
            </a:r>
            <a:endParaRPr lang="en-US" sz="900" dirty="0"/>
          </a:p>
        </p:txBody>
      </p:sp>
      <p:sp>
        <p:nvSpPr>
          <p:cNvPr id="33" name="Text 31"/>
          <p:cNvSpPr/>
          <p:nvPr/>
        </p:nvSpPr>
        <p:spPr>
          <a:xfrm>
            <a:off x="1042416" y="4443984"/>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없음</a:t>
            </a:r>
            <a:endParaRPr lang="en-US" sz="1150" dirty="0"/>
          </a:p>
        </p:txBody>
      </p:sp>
      <p:sp>
        <p:nvSpPr>
          <p:cNvPr id="34" name="Text 32"/>
          <p:cNvSpPr/>
          <p:nvPr/>
        </p:nvSpPr>
        <p:spPr>
          <a:xfrm>
            <a:off x="6699352" y="4206240"/>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왜</a:t>
            </a:r>
            <a:endParaRPr lang="en-US" sz="900" dirty="0"/>
          </a:p>
        </p:txBody>
      </p:sp>
      <p:sp>
        <p:nvSpPr>
          <p:cNvPr id="35" name="Text 33"/>
          <p:cNvSpPr/>
          <p:nvPr/>
        </p:nvSpPr>
        <p:spPr>
          <a:xfrm>
            <a:off x="6699352" y="4443984"/>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매일 같은 동작이라 기억에 남지 않는다</a:t>
            </a:r>
            <a:endParaRPr lang="en-US" sz="1150" dirty="0"/>
          </a:p>
        </p:txBody>
      </p:sp>
      <p:sp>
        <p:nvSpPr>
          <p:cNvPr id="36" name="Shape 34"/>
          <p:cNvSpPr/>
          <p:nvPr/>
        </p:nvSpPr>
        <p:spPr>
          <a:xfrm>
            <a:off x="1042416" y="4736592"/>
            <a:ext cx="4449928" cy="7315"/>
          </a:xfrm>
          <a:prstGeom prst="rect">
            <a:avLst/>
          </a:prstGeom>
          <a:solidFill>
            <a:srgbClr val="D2D2D2"/>
          </a:solidFill>
          <a:ln w="12700">
            <a:solidFill>
              <a:srgbClr val="D2D2D2"/>
            </a:solidFill>
            <a:prstDash val="solid"/>
          </a:ln>
        </p:spPr>
      </p:sp>
      <p:sp>
        <p:nvSpPr>
          <p:cNvPr id="37" name="Shape 35"/>
          <p:cNvSpPr/>
          <p:nvPr/>
        </p:nvSpPr>
        <p:spPr>
          <a:xfrm>
            <a:off x="6699352" y="4736592"/>
            <a:ext cx="4449928" cy="7315"/>
          </a:xfrm>
          <a:prstGeom prst="rect">
            <a:avLst/>
          </a:prstGeom>
          <a:solidFill>
            <a:srgbClr val="DCDCDC"/>
          </a:solidFill>
          <a:ln w="12700">
            <a:solidFill>
              <a:srgbClr val="DCDCDC"/>
            </a:solidFill>
            <a:prstDash val="solid"/>
          </a:ln>
        </p:spPr>
      </p:sp>
      <p:sp>
        <p:nvSpPr>
          <p:cNvPr id="38" name="Text 36"/>
          <p:cNvSpPr/>
          <p:nvPr/>
        </p:nvSpPr>
        <p:spPr>
          <a:xfrm>
            <a:off x="1042416" y="4791456"/>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결과</a:t>
            </a:r>
            <a:endParaRPr lang="en-US" sz="900" dirty="0"/>
          </a:p>
        </p:txBody>
      </p:sp>
      <p:sp>
        <p:nvSpPr>
          <p:cNvPr id="39" name="Text 37"/>
          <p:cNvSpPr/>
          <p:nvPr/>
        </p:nvSpPr>
        <p:spPr>
          <a:xfrm>
            <a:off x="1042416" y="5029200"/>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무엇을 만들어도 답이 된다</a:t>
            </a:r>
            <a:endParaRPr lang="en-US" sz="1150" dirty="0"/>
          </a:p>
        </p:txBody>
      </p:sp>
      <p:sp>
        <p:nvSpPr>
          <p:cNvPr id="40" name="Text 38"/>
          <p:cNvSpPr/>
          <p:nvPr/>
        </p:nvSpPr>
        <p:spPr>
          <a:xfrm>
            <a:off x="6699352" y="4791456"/>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결과</a:t>
            </a:r>
            <a:endParaRPr lang="en-US" sz="900" dirty="0"/>
          </a:p>
        </p:txBody>
      </p:sp>
      <p:sp>
        <p:nvSpPr>
          <p:cNvPr id="41" name="Text 39"/>
          <p:cNvSpPr/>
          <p:nvPr/>
        </p:nvSpPr>
        <p:spPr>
          <a:xfrm>
            <a:off x="6699352" y="5029200"/>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만들 것이 좁혀진다</a:t>
            </a:r>
            <a:endParaRPr lang="en-US" sz="1150" dirty="0"/>
          </a:p>
        </p:txBody>
      </p:sp>
      <p:sp>
        <p:nvSpPr>
          <p:cNvPr id="42" name="Shape 40"/>
          <p:cNvSpPr/>
          <p:nvPr/>
        </p:nvSpPr>
        <p:spPr>
          <a:xfrm>
            <a:off x="640080" y="5596128"/>
            <a:ext cx="10911535" cy="7315"/>
          </a:xfrm>
          <a:prstGeom prst="rect">
            <a:avLst/>
          </a:prstGeom>
          <a:solidFill>
            <a:srgbClr val="111111"/>
          </a:solidFill>
          <a:ln w="12700">
            <a:solidFill>
              <a:srgbClr val="111111"/>
            </a:solidFill>
            <a:prstDash val="solid"/>
          </a:ln>
        </p:spPr>
      </p:sp>
      <p:sp>
        <p:nvSpPr>
          <p:cNvPr id="43" name="Text 41"/>
          <p:cNvSpPr/>
          <p:nvPr/>
        </p:nvSpPr>
        <p:spPr>
          <a:xfrm>
            <a:off x="640080" y="5705856"/>
            <a:ext cx="10911535" cy="402336"/>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좁혀지는 것이 좋습니다. 포트폴리오에서 '무엇이든 할 수 있다'는 아무것도 못 한다는 말로 읽힙니다.</a:t>
            </a:r>
            <a:endParaRPr lang="en-US" sz="1300" dirty="0"/>
          </a:p>
        </p:txBody>
      </p:sp>
      <p:sp>
        <p:nvSpPr>
          <p:cNvPr id="44" name="Shape 42"/>
          <p:cNvSpPr/>
          <p:nvPr/>
        </p:nvSpPr>
        <p:spPr>
          <a:xfrm>
            <a:off x="640080" y="6291072"/>
            <a:ext cx="10911535" cy="7315"/>
          </a:xfrm>
          <a:prstGeom prst="rect">
            <a:avLst/>
          </a:prstGeom>
          <a:solidFill>
            <a:srgbClr val="DCDCDC"/>
          </a:solidFill>
          <a:ln w="12700">
            <a:solidFill>
              <a:srgbClr val="DCDCDC"/>
            </a:solidFill>
            <a:prstDash val="solid"/>
          </a:ln>
        </p:spPr>
      </p:sp>
      <p:sp>
        <p:nvSpPr>
          <p:cNvPr id="45" name="Text 43"/>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포트폴리오제작 · 5주차 콘텐츠 구조화 — 세 지면 만들기</a:t>
            </a:r>
            <a:endParaRPr lang="en-US" sz="850" dirty="0"/>
          </a:p>
        </p:txBody>
      </p:sp>
      <p:sp>
        <p:nvSpPr>
          <p:cNvPr id="46" name="Text 44"/>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2 콘텐츠 구조화와 비주얼 시스템</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05</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02</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02</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세 지면에 무엇을 넣나</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문제 · 과정 · 결과. 지난 회차에 나눈 그 셋을 실제 지면으로 만듭니다.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2 콘텐츠 구조화와 비주얼 시스템</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05</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CASE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세 지면 사례</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같은 프로젝트를 세 장으로 나눈 것입니다.</a:t>
            </a:r>
            <a:endParaRPr lang="en-US" sz="1150" dirty="0"/>
          </a:p>
        </p:txBody>
      </p:sp>
      <p:pic>
        <p:nvPicPr>
          <p:cNvPr id="9" name="Image 0" descr="/home/user/MIN.D/assets/case/page-case.png">    </p:cNvPr>
          <p:cNvPicPr>
            <a:picLocks noChangeAspect="1"/>
          </p:cNvPicPr>
          <p:nvPr/>
        </p:nvPicPr>
        <p:blipFill>
          <a:blip r:embed="rId1"/>
          <a:stretch>
            <a:fillRect/>
          </a:stretch>
        </p:blipFill>
        <p:spPr>
          <a:xfrm>
            <a:off x="753286" y="1737360"/>
            <a:ext cx="10685124" cy="3803904"/>
          </a:xfrm>
          <a:prstGeom prst="rect">
            <a:avLst/>
          </a:prstGeom>
        </p:spPr>
      </p:pic>
      <p:sp>
        <p:nvSpPr>
          <p:cNvPr id="10" name="Shape 7"/>
          <p:cNvSpPr/>
          <p:nvPr/>
        </p:nvSpPr>
        <p:spPr>
          <a:xfrm>
            <a:off x="640080" y="5687568"/>
            <a:ext cx="10911535" cy="7315"/>
          </a:xfrm>
          <a:prstGeom prst="rect">
            <a:avLst/>
          </a:prstGeom>
          <a:solidFill>
            <a:srgbClr val="DCDCDC"/>
          </a:solidFill>
          <a:ln w="12700">
            <a:solidFill>
              <a:srgbClr val="DCDCDC"/>
            </a:solidFill>
            <a:prstDash val="solid"/>
          </a:ln>
        </p:spPr>
      </p:sp>
      <p:sp>
        <p:nvSpPr>
          <p:cNvPr id="11" name="Text 8"/>
          <p:cNvSpPr/>
          <p:nvPr/>
        </p:nvSpPr>
        <p:spPr>
          <a:xfrm>
            <a:off x="640080" y="5760720"/>
            <a:ext cx="10911535" cy="274320"/>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세 장 모두 맨 위가 문장이고 맨 아래가 결론입니다. 가운데만 다릅니다 — 리서치는 발견, 과정은 선택, 결과는 결과물.</a:t>
            </a:r>
            <a:endParaRPr lang="en-US" sz="1150" dirty="0"/>
          </a:p>
        </p:txBody>
      </p:sp>
      <p:sp>
        <p:nvSpPr>
          <p:cNvPr id="12" name="Shape 9"/>
          <p:cNvSpPr/>
          <p:nvPr/>
        </p:nvSpPr>
        <p:spPr>
          <a:xfrm>
            <a:off x="640080" y="6291072"/>
            <a:ext cx="10911535" cy="7315"/>
          </a:xfrm>
          <a:prstGeom prst="rect">
            <a:avLst/>
          </a:prstGeom>
          <a:solidFill>
            <a:srgbClr val="DCDCDC"/>
          </a:solidFill>
          <a:ln w="12700">
            <a:solidFill>
              <a:srgbClr val="DCDCDC"/>
            </a:solidFill>
            <a:prstDash val="solid"/>
          </a:ln>
        </p:spPr>
      </p:sp>
      <p:sp>
        <p:nvSpPr>
          <p:cNvPr id="13" name="Text 1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포트폴리오제작 · 5주차 콘텐츠 구조화 — 세 지면 만들기</a:t>
            </a:r>
            <a:endParaRPr lang="en-US" sz="850" dirty="0"/>
          </a:p>
        </p:txBody>
      </p:sp>
      <p:sp>
        <p:nvSpPr>
          <p:cNvPr id="14" name="Text 1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2 콘텐츠 구조화와 비주얼 시스템</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05</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MISTAKE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과정 지면에서 자주 나오는 것</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네 가지 모두 같은 문제입니다 — 결정이 보이지 않습니다.</a:t>
            </a:r>
            <a:endParaRPr lang="en-US" sz="1150" dirty="0"/>
          </a:p>
        </p:txBody>
      </p:sp>
      <p:sp>
        <p:nvSpPr>
          <p:cNvPr id="9" name="Shape 7"/>
          <p:cNvSpPr/>
          <p:nvPr/>
        </p:nvSpPr>
        <p:spPr>
          <a:xfrm>
            <a:off x="640080" y="1664208"/>
            <a:ext cx="10911535" cy="7315"/>
          </a:xfrm>
          <a:prstGeom prst="rect">
            <a:avLst/>
          </a:prstGeom>
          <a:solidFill>
            <a:srgbClr val="111111"/>
          </a:solidFill>
          <a:ln w="12700">
            <a:solidFill>
              <a:srgbClr val="111111"/>
            </a:solidFill>
            <a:prstDash val="solid"/>
          </a:ln>
        </p:spPr>
      </p:sp>
      <p:sp>
        <p:nvSpPr>
          <p:cNvPr id="10" name="Shape 8"/>
          <p:cNvSpPr/>
          <p:nvPr/>
        </p:nvSpPr>
        <p:spPr>
          <a:xfrm>
            <a:off x="640080" y="1810512"/>
            <a:ext cx="310896" cy="310896"/>
          </a:xfrm>
          <a:prstGeom prst="ellipse">
            <a:avLst/>
          </a:prstGeom>
          <a:solidFill>
            <a:srgbClr val="FFFFFF"/>
          </a:solidFill>
          <a:ln w="12700">
            <a:solidFill>
              <a:srgbClr val="111111"/>
            </a:solidFill>
            <a:prstDash val="solid"/>
          </a:ln>
        </p:spPr>
      </p:sp>
      <p:sp>
        <p:nvSpPr>
          <p:cNvPr id="11" name="Text 9"/>
          <p:cNvSpPr/>
          <p:nvPr/>
        </p:nvSpPr>
        <p:spPr>
          <a:xfrm>
            <a:off x="640080" y="1810512"/>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a:t>
            </a:r>
            <a:endParaRPr lang="en-US" sz="1000" dirty="0"/>
          </a:p>
        </p:txBody>
      </p:sp>
      <p:sp>
        <p:nvSpPr>
          <p:cNvPr id="12" name="Text 10"/>
          <p:cNvSpPr/>
          <p:nvPr/>
        </p:nvSpPr>
        <p:spPr>
          <a:xfrm>
            <a:off x="1188720" y="1719072"/>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작업 사진을 시간순으로</a:t>
            </a:r>
            <a:endParaRPr lang="en-US" sz="1450" dirty="0"/>
          </a:p>
        </p:txBody>
      </p:sp>
      <p:sp>
        <p:nvSpPr>
          <p:cNvPr id="13" name="Text 11"/>
          <p:cNvSpPr/>
          <p:nvPr/>
        </p:nvSpPr>
        <p:spPr>
          <a:xfrm>
            <a:off x="1188720" y="2029968"/>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이것은 과정이 아니라 일지입니다. 읽는 사람이 무엇을 봐야 할지 모릅니다</a:t>
            </a:r>
            <a:endParaRPr lang="en-US" sz="1100" dirty="0"/>
          </a:p>
        </p:txBody>
      </p:sp>
      <p:sp>
        <p:nvSpPr>
          <p:cNvPr id="14" name="Text 12"/>
          <p:cNvSpPr/>
          <p:nvPr/>
        </p:nvSpPr>
        <p:spPr>
          <a:xfrm>
            <a:off x="9357055" y="1810512"/>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일지</a:t>
            </a:r>
            <a:endParaRPr lang="en-US" sz="1050" dirty="0"/>
          </a:p>
        </p:txBody>
      </p:sp>
      <p:sp>
        <p:nvSpPr>
          <p:cNvPr id="15" name="Shape 13"/>
          <p:cNvSpPr/>
          <p:nvPr/>
        </p:nvSpPr>
        <p:spPr>
          <a:xfrm>
            <a:off x="640080" y="2596896"/>
            <a:ext cx="10911535" cy="7315"/>
          </a:xfrm>
          <a:prstGeom prst="rect">
            <a:avLst/>
          </a:prstGeom>
          <a:solidFill>
            <a:srgbClr val="DCDCDC"/>
          </a:solidFill>
          <a:ln w="12700">
            <a:solidFill>
              <a:srgbClr val="DCDCDC"/>
            </a:solidFill>
            <a:prstDash val="solid"/>
          </a:ln>
        </p:spPr>
      </p:sp>
      <p:sp>
        <p:nvSpPr>
          <p:cNvPr id="16" name="Shape 14"/>
          <p:cNvSpPr/>
          <p:nvPr/>
        </p:nvSpPr>
        <p:spPr>
          <a:xfrm>
            <a:off x="640080" y="2761488"/>
            <a:ext cx="310896" cy="310896"/>
          </a:xfrm>
          <a:prstGeom prst="ellipse">
            <a:avLst/>
          </a:prstGeom>
          <a:solidFill>
            <a:srgbClr val="FFFFFF"/>
          </a:solidFill>
          <a:ln w="12700">
            <a:solidFill>
              <a:srgbClr val="111111"/>
            </a:solidFill>
            <a:prstDash val="solid"/>
          </a:ln>
        </p:spPr>
      </p:sp>
      <p:sp>
        <p:nvSpPr>
          <p:cNvPr id="17" name="Text 15"/>
          <p:cNvSpPr/>
          <p:nvPr/>
        </p:nvSpPr>
        <p:spPr>
          <a:xfrm>
            <a:off x="640080" y="2761488"/>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2</a:t>
            </a:r>
            <a:endParaRPr lang="en-US" sz="1000" dirty="0"/>
          </a:p>
        </p:txBody>
      </p:sp>
      <p:sp>
        <p:nvSpPr>
          <p:cNvPr id="18" name="Text 16"/>
          <p:cNvSpPr/>
          <p:nvPr/>
        </p:nvSpPr>
        <p:spPr>
          <a:xfrm>
            <a:off x="1188720" y="2670048"/>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시안만 늘어놓기</a:t>
            </a:r>
            <a:endParaRPr lang="en-US" sz="1450" dirty="0"/>
          </a:p>
        </p:txBody>
      </p:sp>
      <p:sp>
        <p:nvSpPr>
          <p:cNvPr id="19" name="Text 17"/>
          <p:cNvSpPr/>
          <p:nvPr/>
        </p:nvSpPr>
        <p:spPr>
          <a:xfrm>
            <a:off x="1188720" y="2980944"/>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왜 그것을 골랐는지가 없으면 그림 모음입니다</a:t>
            </a:r>
            <a:endParaRPr lang="en-US" sz="1100" dirty="0"/>
          </a:p>
        </p:txBody>
      </p:sp>
      <p:sp>
        <p:nvSpPr>
          <p:cNvPr id="20" name="Text 18"/>
          <p:cNvSpPr/>
          <p:nvPr/>
        </p:nvSpPr>
        <p:spPr>
          <a:xfrm>
            <a:off x="9357055" y="2761488"/>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나열</a:t>
            </a:r>
            <a:endParaRPr lang="en-US" sz="1050" dirty="0"/>
          </a:p>
        </p:txBody>
      </p:sp>
      <p:sp>
        <p:nvSpPr>
          <p:cNvPr id="21" name="Shape 19"/>
          <p:cNvSpPr/>
          <p:nvPr/>
        </p:nvSpPr>
        <p:spPr>
          <a:xfrm>
            <a:off x="640080" y="3547872"/>
            <a:ext cx="10911535" cy="7315"/>
          </a:xfrm>
          <a:prstGeom prst="rect">
            <a:avLst/>
          </a:prstGeom>
          <a:solidFill>
            <a:srgbClr val="DCDCDC"/>
          </a:solidFill>
          <a:ln w="12700">
            <a:solidFill>
              <a:srgbClr val="DCDCDC"/>
            </a:solidFill>
            <a:prstDash val="solid"/>
          </a:ln>
        </p:spPr>
      </p:sp>
      <p:sp>
        <p:nvSpPr>
          <p:cNvPr id="22" name="Shape 20"/>
          <p:cNvSpPr/>
          <p:nvPr/>
        </p:nvSpPr>
        <p:spPr>
          <a:xfrm>
            <a:off x="640080" y="3712464"/>
            <a:ext cx="310896" cy="310896"/>
          </a:xfrm>
          <a:prstGeom prst="ellipse">
            <a:avLst/>
          </a:prstGeom>
          <a:solidFill>
            <a:srgbClr val="FFFFFF"/>
          </a:solidFill>
          <a:ln w="12700">
            <a:solidFill>
              <a:srgbClr val="111111"/>
            </a:solidFill>
            <a:prstDash val="solid"/>
          </a:ln>
        </p:spPr>
      </p:sp>
      <p:sp>
        <p:nvSpPr>
          <p:cNvPr id="23" name="Text 21"/>
          <p:cNvSpPr/>
          <p:nvPr/>
        </p:nvSpPr>
        <p:spPr>
          <a:xfrm>
            <a:off x="640080" y="3712464"/>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3</a:t>
            </a:r>
            <a:endParaRPr lang="en-US" sz="1000" dirty="0"/>
          </a:p>
        </p:txBody>
      </p:sp>
      <p:sp>
        <p:nvSpPr>
          <p:cNvPr id="24" name="Text 22"/>
          <p:cNvSpPr/>
          <p:nvPr/>
        </p:nvSpPr>
        <p:spPr>
          <a:xfrm>
            <a:off x="1188720" y="3621024"/>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다 잘된 것처럼</a:t>
            </a:r>
            <a:endParaRPr lang="en-US" sz="1450" dirty="0"/>
          </a:p>
        </p:txBody>
      </p:sp>
      <p:sp>
        <p:nvSpPr>
          <p:cNvPr id="25" name="Text 23"/>
          <p:cNvSpPr/>
          <p:nvPr/>
        </p:nvSpPr>
        <p:spPr>
          <a:xfrm>
            <a:off x="1188720" y="3931920"/>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실패한 시도가 없는 과정은 믿기지 않습니다. 버린 안이 오히려 신뢰를 줍니다</a:t>
            </a:r>
            <a:endParaRPr lang="en-US" sz="1100" dirty="0"/>
          </a:p>
        </p:txBody>
      </p:sp>
      <p:sp>
        <p:nvSpPr>
          <p:cNvPr id="26" name="Text 24"/>
          <p:cNvSpPr/>
          <p:nvPr/>
        </p:nvSpPr>
        <p:spPr>
          <a:xfrm>
            <a:off x="9357055" y="3712464"/>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포장</a:t>
            </a:r>
            <a:endParaRPr lang="en-US" sz="1050" dirty="0"/>
          </a:p>
        </p:txBody>
      </p:sp>
      <p:sp>
        <p:nvSpPr>
          <p:cNvPr id="27" name="Shape 25"/>
          <p:cNvSpPr/>
          <p:nvPr/>
        </p:nvSpPr>
        <p:spPr>
          <a:xfrm>
            <a:off x="640080" y="4498848"/>
            <a:ext cx="10911535" cy="7315"/>
          </a:xfrm>
          <a:prstGeom prst="rect">
            <a:avLst/>
          </a:prstGeom>
          <a:solidFill>
            <a:srgbClr val="DCDCDC"/>
          </a:solidFill>
          <a:ln w="12700">
            <a:solidFill>
              <a:srgbClr val="DCDCDC"/>
            </a:solidFill>
            <a:prstDash val="solid"/>
          </a:ln>
        </p:spPr>
      </p:sp>
      <p:sp>
        <p:nvSpPr>
          <p:cNvPr id="28" name="Shape 26"/>
          <p:cNvSpPr/>
          <p:nvPr/>
        </p:nvSpPr>
        <p:spPr>
          <a:xfrm>
            <a:off x="640080" y="4663440"/>
            <a:ext cx="310896" cy="310896"/>
          </a:xfrm>
          <a:prstGeom prst="ellipse">
            <a:avLst/>
          </a:prstGeom>
          <a:solidFill>
            <a:srgbClr val="FFFFFF"/>
          </a:solidFill>
          <a:ln w="12700">
            <a:solidFill>
              <a:srgbClr val="111111"/>
            </a:solidFill>
            <a:prstDash val="solid"/>
          </a:ln>
        </p:spPr>
      </p:sp>
      <p:sp>
        <p:nvSpPr>
          <p:cNvPr id="29" name="Text 27"/>
          <p:cNvSpPr/>
          <p:nvPr/>
        </p:nvSpPr>
        <p:spPr>
          <a:xfrm>
            <a:off x="640080" y="4663440"/>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4</a:t>
            </a:r>
            <a:endParaRPr lang="en-US" sz="1000" dirty="0"/>
          </a:p>
        </p:txBody>
      </p:sp>
      <p:sp>
        <p:nvSpPr>
          <p:cNvPr id="30" name="Text 28"/>
          <p:cNvSpPr/>
          <p:nvPr/>
        </p:nvSpPr>
        <p:spPr>
          <a:xfrm>
            <a:off x="1188720" y="4572000"/>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만들었다는 사실만</a:t>
            </a:r>
            <a:endParaRPr lang="en-US" sz="1450" dirty="0"/>
          </a:p>
        </p:txBody>
      </p:sp>
      <p:sp>
        <p:nvSpPr>
          <p:cNvPr id="31" name="Text 29"/>
          <p:cNvSpPr/>
          <p:nvPr/>
        </p:nvSpPr>
        <p:spPr>
          <a:xfrm>
            <a:off x="1188720" y="4882896"/>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페르소나나 여정지도를 만들었으면 그것으로 무엇을 정했는지까지 써야 합니다</a:t>
            </a:r>
            <a:endParaRPr lang="en-US" sz="1100" dirty="0"/>
          </a:p>
        </p:txBody>
      </p:sp>
      <p:sp>
        <p:nvSpPr>
          <p:cNvPr id="32" name="Text 30"/>
          <p:cNvSpPr/>
          <p:nvPr/>
        </p:nvSpPr>
        <p:spPr>
          <a:xfrm>
            <a:off x="9357055" y="4663440"/>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형식</a:t>
            </a:r>
            <a:endParaRPr lang="en-US" sz="1050" dirty="0"/>
          </a:p>
        </p:txBody>
      </p:sp>
      <p:sp>
        <p:nvSpPr>
          <p:cNvPr id="33" name="Shape 31"/>
          <p:cNvSpPr/>
          <p:nvPr/>
        </p:nvSpPr>
        <p:spPr>
          <a:xfrm>
            <a:off x="640080" y="5522976"/>
            <a:ext cx="10911535" cy="7315"/>
          </a:xfrm>
          <a:prstGeom prst="rect">
            <a:avLst/>
          </a:prstGeom>
          <a:solidFill>
            <a:srgbClr val="111111"/>
          </a:solidFill>
          <a:ln w="12700">
            <a:solidFill>
              <a:srgbClr val="111111"/>
            </a:solidFill>
            <a:prstDash val="solid"/>
          </a:ln>
        </p:spPr>
      </p:sp>
      <p:sp>
        <p:nvSpPr>
          <p:cNvPr id="34" name="Text 32"/>
          <p:cNvSpPr/>
          <p:nvPr/>
        </p:nvSpPr>
        <p:spPr>
          <a:xfrm>
            <a:off x="640080" y="5632704"/>
            <a:ext cx="10911535" cy="402336"/>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과정 지면은 무엇을 했는지가 아니라 무엇을 정했는지를 보여주는 자리입니다.</a:t>
            </a:r>
            <a:endParaRPr lang="en-US" sz="1250" dirty="0"/>
          </a:p>
        </p:txBody>
      </p:sp>
      <p:sp>
        <p:nvSpPr>
          <p:cNvPr id="35" name="Shape 33"/>
          <p:cNvSpPr/>
          <p:nvPr/>
        </p:nvSpPr>
        <p:spPr>
          <a:xfrm>
            <a:off x="640080" y="6291072"/>
            <a:ext cx="10911535" cy="7315"/>
          </a:xfrm>
          <a:prstGeom prst="rect">
            <a:avLst/>
          </a:prstGeom>
          <a:solidFill>
            <a:srgbClr val="DCDCDC"/>
          </a:solidFill>
          <a:ln w="12700">
            <a:solidFill>
              <a:srgbClr val="DCDCDC"/>
            </a:solidFill>
            <a:prstDash val="solid"/>
          </a:ln>
        </p:spPr>
      </p:sp>
      <p:sp>
        <p:nvSpPr>
          <p:cNvPr id="36" name="Text 34"/>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포트폴리오제작 · 5주차 콘텐츠 구조화 — 세 지면 만들기</a:t>
            </a:r>
            <a:endParaRPr lang="en-US" sz="850" dirty="0"/>
          </a:p>
        </p:txBody>
      </p:sp>
      <p:sp>
        <p:nvSpPr>
          <p:cNvPr id="37" name="Text 35"/>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2 콘텐츠 구조화와 비주얼 시스템</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05</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03</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03</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위계와 일관성</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한 지면 안의 순서, 그리고 지면끼리의 구조.</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2 콘텐츠 구조화와 비주얼 시스템</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05</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HIERARCHY</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한 지면 안의 세 단계</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세 단계면 충분합니다. 네 개가 넘으면 위계가 아니라 혼란입니다.</a:t>
            </a:r>
            <a:endParaRPr lang="en-US" sz="1150" dirty="0"/>
          </a:p>
        </p:txBody>
      </p:sp>
      <p:sp>
        <p:nvSpPr>
          <p:cNvPr id="9" name="Shape 7"/>
          <p:cNvSpPr/>
          <p:nvPr/>
        </p:nvSpPr>
        <p:spPr>
          <a:xfrm>
            <a:off x="640080" y="1664208"/>
            <a:ext cx="10911535" cy="7315"/>
          </a:xfrm>
          <a:prstGeom prst="rect">
            <a:avLst/>
          </a:prstGeom>
          <a:solidFill>
            <a:srgbClr val="111111"/>
          </a:solidFill>
          <a:ln w="12700">
            <a:solidFill>
              <a:srgbClr val="111111"/>
            </a:solidFill>
            <a:prstDash val="solid"/>
          </a:ln>
        </p:spPr>
      </p:sp>
      <p:sp>
        <p:nvSpPr>
          <p:cNvPr id="10" name="Shape 8"/>
          <p:cNvSpPr/>
          <p:nvPr/>
        </p:nvSpPr>
        <p:spPr>
          <a:xfrm>
            <a:off x="640080" y="1810512"/>
            <a:ext cx="310896" cy="310896"/>
          </a:xfrm>
          <a:prstGeom prst="ellipse">
            <a:avLst/>
          </a:prstGeom>
          <a:solidFill>
            <a:srgbClr val="FFFFFF"/>
          </a:solidFill>
          <a:ln w="12700">
            <a:solidFill>
              <a:srgbClr val="111111"/>
            </a:solidFill>
            <a:prstDash val="solid"/>
          </a:ln>
        </p:spPr>
      </p:sp>
      <p:sp>
        <p:nvSpPr>
          <p:cNvPr id="11" name="Text 9"/>
          <p:cNvSpPr/>
          <p:nvPr/>
        </p:nvSpPr>
        <p:spPr>
          <a:xfrm>
            <a:off x="640080" y="1810512"/>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a:t>
            </a:r>
            <a:endParaRPr lang="en-US" sz="1000" dirty="0"/>
          </a:p>
        </p:txBody>
      </p:sp>
      <p:sp>
        <p:nvSpPr>
          <p:cNvPr id="12" name="Text 10"/>
          <p:cNvSpPr/>
          <p:nvPr/>
        </p:nvSpPr>
        <p:spPr>
          <a:xfrm>
            <a:off x="1188720" y="1719072"/>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제목 — 3초 안에 읽히는 것</a:t>
            </a:r>
            <a:endParaRPr lang="en-US" sz="1450" dirty="0"/>
          </a:p>
        </p:txBody>
      </p:sp>
      <p:sp>
        <p:nvSpPr>
          <p:cNvPr id="13" name="Text 11"/>
          <p:cNvSpPr/>
          <p:nvPr/>
        </p:nvSpPr>
        <p:spPr>
          <a:xfrm>
            <a:off x="1188720" y="2029968"/>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이 지면이 무슨 이야기인지. 한 지면에 하나입니다</a:t>
            </a:r>
            <a:endParaRPr lang="en-US" sz="1100" dirty="0"/>
          </a:p>
        </p:txBody>
      </p:sp>
      <p:sp>
        <p:nvSpPr>
          <p:cNvPr id="14" name="Text 12"/>
          <p:cNvSpPr/>
          <p:nvPr/>
        </p:nvSpPr>
        <p:spPr>
          <a:xfrm>
            <a:off x="9357055" y="1810512"/>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3초</a:t>
            </a:r>
            <a:endParaRPr lang="en-US" sz="1050" dirty="0"/>
          </a:p>
        </p:txBody>
      </p:sp>
      <p:sp>
        <p:nvSpPr>
          <p:cNvPr id="15" name="Shape 13"/>
          <p:cNvSpPr/>
          <p:nvPr/>
        </p:nvSpPr>
        <p:spPr>
          <a:xfrm>
            <a:off x="640080" y="2670048"/>
            <a:ext cx="10911535" cy="7315"/>
          </a:xfrm>
          <a:prstGeom prst="rect">
            <a:avLst/>
          </a:prstGeom>
          <a:solidFill>
            <a:srgbClr val="DCDCDC"/>
          </a:solidFill>
          <a:ln w="12700">
            <a:solidFill>
              <a:srgbClr val="DCDCDC"/>
            </a:solidFill>
            <a:prstDash val="solid"/>
          </a:ln>
        </p:spPr>
      </p:sp>
      <p:sp>
        <p:nvSpPr>
          <p:cNvPr id="16" name="Shape 14"/>
          <p:cNvSpPr/>
          <p:nvPr/>
        </p:nvSpPr>
        <p:spPr>
          <a:xfrm>
            <a:off x="640080" y="2834640"/>
            <a:ext cx="310896" cy="310896"/>
          </a:xfrm>
          <a:prstGeom prst="ellipse">
            <a:avLst/>
          </a:prstGeom>
          <a:solidFill>
            <a:srgbClr val="FFFFFF"/>
          </a:solidFill>
          <a:ln w="12700">
            <a:solidFill>
              <a:srgbClr val="111111"/>
            </a:solidFill>
            <a:prstDash val="solid"/>
          </a:ln>
        </p:spPr>
      </p:sp>
      <p:sp>
        <p:nvSpPr>
          <p:cNvPr id="17" name="Text 15"/>
          <p:cNvSpPr/>
          <p:nvPr/>
        </p:nvSpPr>
        <p:spPr>
          <a:xfrm>
            <a:off x="640080" y="2834640"/>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2</a:t>
            </a:r>
            <a:endParaRPr lang="en-US" sz="1000" dirty="0"/>
          </a:p>
        </p:txBody>
      </p:sp>
      <p:sp>
        <p:nvSpPr>
          <p:cNvPr id="18" name="Text 16"/>
          <p:cNvSpPr/>
          <p:nvPr/>
        </p:nvSpPr>
        <p:spPr>
          <a:xfrm>
            <a:off x="1188720" y="2743200"/>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뼈대 — 훑을 때 걸리는 것</a:t>
            </a:r>
            <a:endParaRPr lang="en-US" sz="1450" dirty="0"/>
          </a:p>
        </p:txBody>
      </p:sp>
      <p:sp>
        <p:nvSpPr>
          <p:cNvPr id="19" name="Text 17"/>
          <p:cNvSpPr/>
          <p:nvPr/>
        </p:nvSpPr>
        <p:spPr>
          <a:xfrm>
            <a:off x="1188720" y="3054096"/>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소제목 · 숫자 · 사진 캡션. 이것만 봐도 대강 이해되어야 합니다</a:t>
            </a:r>
            <a:endParaRPr lang="en-US" sz="1100" dirty="0"/>
          </a:p>
        </p:txBody>
      </p:sp>
      <p:sp>
        <p:nvSpPr>
          <p:cNvPr id="20" name="Text 18"/>
          <p:cNvSpPr/>
          <p:nvPr/>
        </p:nvSpPr>
        <p:spPr>
          <a:xfrm>
            <a:off x="9357055" y="2834640"/>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30초</a:t>
            </a:r>
            <a:endParaRPr lang="en-US" sz="1050" dirty="0"/>
          </a:p>
        </p:txBody>
      </p:sp>
      <p:sp>
        <p:nvSpPr>
          <p:cNvPr id="21" name="Shape 19"/>
          <p:cNvSpPr/>
          <p:nvPr/>
        </p:nvSpPr>
        <p:spPr>
          <a:xfrm>
            <a:off x="640080" y="3694176"/>
            <a:ext cx="10911535" cy="7315"/>
          </a:xfrm>
          <a:prstGeom prst="rect">
            <a:avLst/>
          </a:prstGeom>
          <a:solidFill>
            <a:srgbClr val="DCDCDC"/>
          </a:solidFill>
          <a:ln w="12700">
            <a:solidFill>
              <a:srgbClr val="DCDCDC"/>
            </a:solidFill>
            <a:prstDash val="solid"/>
          </a:ln>
        </p:spPr>
      </p:sp>
      <p:sp>
        <p:nvSpPr>
          <p:cNvPr id="22" name="Shape 20"/>
          <p:cNvSpPr/>
          <p:nvPr/>
        </p:nvSpPr>
        <p:spPr>
          <a:xfrm>
            <a:off x="640080" y="3858768"/>
            <a:ext cx="310896" cy="310896"/>
          </a:xfrm>
          <a:prstGeom prst="ellipse">
            <a:avLst/>
          </a:prstGeom>
          <a:solidFill>
            <a:srgbClr val="FFFFFF"/>
          </a:solidFill>
          <a:ln w="12700">
            <a:solidFill>
              <a:srgbClr val="111111"/>
            </a:solidFill>
            <a:prstDash val="solid"/>
          </a:ln>
        </p:spPr>
      </p:sp>
      <p:sp>
        <p:nvSpPr>
          <p:cNvPr id="23" name="Text 21"/>
          <p:cNvSpPr/>
          <p:nvPr/>
        </p:nvSpPr>
        <p:spPr>
          <a:xfrm>
            <a:off x="640080" y="3858768"/>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3</a:t>
            </a:r>
            <a:endParaRPr lang="en-US" sz="1000" dirty="0"/>
          </a:p>
        </p:txBody>
      </p:sp>
      <p:sp>
        <p:nvSpPr>
          <p:cNvPr id="24" name="Text 22"/>
          <p:cNvSpPr/>
          <p:nvPr/>
        </p:nvSpPr>
        <p:spPr>
          <a:xfrm>
            <a:off x="1188720" y="3767328"/>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본문 — 관심 있는 사람만</a:t>
            </a:r>
            <a:endParaRPr lang="en-US" sz="1450" dirty="0"/>
          </a:p>
        </p:txBody>
      </p:sp>
      <p:sp>
        <p:nvSpPr>
          <p:cNvPr id="25" name="Text 23"/>
          <p:cNvSpPr/>
          <p:nvPr/>
        </p:nvSpPr>
        <p:spPr>
          <a:xfrm>
            <a:off x="1188720" y="4078224"/>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여기까지 읽는 사람은 이미 당신에게 관심이 있는 사람입니다</a:t>
            </a:r>
            <a:endParaRPr lang="en-US" sz="1100" dirty="0"/>
          </a:p>
        </p:txBody>
      </p:sp>
      <p:sp>
        <p:nvSpPr>
          <p:cNvPr id="26" name="Text 24"/>
          <p:cNvSpPr/>
          <p:nvPr/>
        </p:nvSpPr>
        <p:spPr>
          <a:xfrm>
            <a:off x="9357055" y="3858768"/>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3분</a:t>
            </a:r>
            <a:endParaRPr lang="en-US" sz="1050" dirty="0"/>
          </a:p>
        </p:txBody>
      </p:sp>
      <p:sp>
        <p:nvSpPr>
          <p:cNvPr id="27" name="Shape 25"/>
          <p:cNvSpPr/>
          <p:nvPr/>
        </p:nvSpPr>
        <p:spPr>
          <a:xfrm>
            <a:off x="640080" y="4791456"/>
            <a:ext cx="10911535" cy="7315"/>
          </a:xfrm>
          <a:prstGeom prst="rect">
            <a:avLst/>
          </a:prstGeom>
          <a:solidFill>
            <a:srgbClr val="111111"/>
          </a:solidFill>
          <a:ln w="12700">
            <a:solidFill>
              <a:srgbClr val="111111"/>
            </a:solidFill>
            <a:prstDash val="solid"/>
          </a:ln>
        </p:spPr>
      </p:sp>
      <p:sp>
        <p:nvSpPr>
          <p:cNvPr id="28" name="Text 26"/>
          <p:cNvSpPr/>
          <p:nvPr/>
        </p:nvSpPr>
        <p:spPr>
          <a:xfrm>
            <a:off x="640080" y="4901184"/>
            <a:ext cx="10911535" cy="402336"/>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대부분은 2단계까지만 봅니다. 서류 단계에서는 한 사람에게 몇 분을 쓰지 못합니다. 핵심은 2단계에 있어야 합니다.</a:t>
            </a:r>
            <a:endParaRPr lang="en-US" sz="1250" dirty="0"/>
          </a:p>
        </p:txBody>
      </p:sp>
      <p:sp>
        <p:nvSpPr>
          <p:cNvPr id="29" name="Shape 27"/>
          <p:cNvSpPr/>
          <p:nvPr/>
        </p:nvSpPr>
        <p:spPr>
          <a:xfrm>
            <a:off x="640080" y="6291072"/>
            <a:ext cx="10911535" cy="7315"/>
          </a:xfrm>
          <a:prstGeom prst="rect">
            <a:avLst/>
          </a:prstGeom>
          <a:solidFill>
            <a:srgbClr val="DCDCDC"/>
          </a:solidFill>
          <a:ln w="12700">
            <a:solidFill>
              <a:srgbClr val="DCDCDC"/>
            </a:solidFill>
            <a:prstDash val="solid"/>
          </a:ln>
        </p:spPr>
      </p:sp>
      <p:sp>
        <p:nvSpPr>
          <p:cNvPr id="30" name="Text 28"/>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포트폴리오제작 · 5주차 콘텐츠 구조화 — 세 지면 만들기</a:t>
            </a:r>
            <a:endParaRPr lang="en-US" sz="850" dirty="0"/>
          </a:p>
        </p:txBody>
      </p:sp>
      <p:sp>
        <p:nvSpPr>
          <p:cNvPr id="31" name="Text 29"/>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2 콘텐츠 구조화와 비주얼 시스템</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05</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CONSISTENCY</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구조가 같은 것 · 다른 것</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일관성은 취향이 아니라 읽는 속도의 문제입니다.</a:t>
            </a:r>
            <a:endParaRPr lang="en-US" sz="1150" dirty="0"/>
          </a:p>
        </p:txBody>
      </p:sp>
      <p:sp>
        <p:nvSpPr>
          <p:cNvPr id="9" name="Shape 7"/>
          <p:cNvSpPr/>
          <p:nvPr/>
        </p:nvSpPr>
        <p:spPr>
          <a:xfrm>
            <a:off x="640080" y="1627632"/>
            <a:ext cx="5254600" cy="3712464"/>
          </a:xfrm>
          <a:prstGeom prst="rect">
            <a:avLst/>
          </a:prstGeom>
          <a:solidFill>
            <a:srgbClr val="FFFFFF"/>
          </a:solidFill>
          <a:ln w="12700">
            <a:solidFill>
              <a:srgbClr val="111111"/>
            </a:solidFill>
            <a:prstDash val="solid"/>
          </a:ln>
        </p:spPr>
      </p:sp>
      <p:sp>
        <p:nvSpPr>
          <p:cNvPr id="10" name="Shape 8"/>
          <p:cNvSpPr/>
          <p:nvPr/>
        </p:nvSpPr>
        <p:spPr>
          <a:xfrm>
            <a:off x="640080" y="1627632"/>
            <a:ext cx="5254600" cy="64008"/>
          </a:xfrm>
          <a:prstGeom prst="rect">
            <a:avLst/>
          </a:prstGeom>
          <a:solidFill>
            <a:srgbClr val="111111"/>
          </a:solidFill>
          <a:ln w="12700">
            <a:solidFill>
              <a:srgbClr val="111111"/>
            </a:solidFill>
            <a:prstDash val="solid"/>
          </a:ln>
        </p:spPr>
      </p:sp>
      <p:sp>
        <p:nvSpPr>
          <p:cNvPr id="11" name="Text 9"/>
          <p:cNvSpPr/>
          <p:nvPr/>
        </p:nvSpPr>
        <p:spPr>
          <a:xfrm>
            <a:off x="1042416" y="1901952"/>
            <a:ext cx="4449928"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구조를 같게</a:t>
            </a:r>
            <a:endParaRPr lang="en-US" sz="1700" dirty="0"/>
          </a:p>
        </p:txBody>
      </p:sp>
      <p:sp>
        <p:nvSpPr>
          <p:cNvPr id="12" name="Shape 10"/>
          <p:cNvSpPr/>
          <p:nvPr/>
        </p:nvSpPr>
        <p:spPr>
          <a:xfrm>
            <a:off x="6297016" y="1627632"/>
            <a:ext cx="5254600" cy="3712464"/>
          </a:xfrm>
          <a:prstGeom prst="rect">
            <a:avLst/>
          </a:prstGeom>
          <a:solidFill>
            <a:srgbClr val="F2F2F2"/>
          </a:solidFill>
          <a:ln w="12700">
            <a:solidFill>
              <a:srgbClr val="DCDCDC"/>
            </a:solidFill>
            <a:prstDash val="solid"/>
          </a:ln>
        </p:spPr>
      </p:sp>
      <p:sp>
        <p:nvSpPr>
          <p:cNvPr id="13" name="Text 11"/>
          <p:cNvSpPr/>
          <p:nvPr/>
        </p:nvSpPr>
        <p:spPr>
          <a:xfrm>
            <a:off x="6699352" y="1901952"/>
            <a:ext cx="4449928" cy="365760"/>
          </a:xfrm>
          <a:prstGeom prst="rect">
            <a:avLst/>
          </a:prstGeom>
          <a:noFill/>
          <a:ln/>
        </p:spPr>
        <p:txBody>
          <a:bodyPr wrap="square" lIns="0" tIns="0" rIns="0" bIns="0" rtlCol="0" anchor="ctr"/>
          <a:lstStyle/>
          <a:p>
            <a:pPr indent="0" marL="0">
              <a:buNone/>
            </a:pPr>
            <a:r>
              <a:rPr lang="en-US" sz="1700" dirty="0">
                <a:solidFill>
                  <a:srgbClr val="9B9B9B"/>
                </a:solidFill>
                <a:latin typeface="Pretendard SemiBold" pitchFamily="34" charset="0"/>
                <a:ea typeface="Pretendard SemiBold" pitchFamily="34" charset="-122"/>
                <a:cs typeface="Pretendard SemiBold" pitchFamily="34" charset="-120"/>
              </a:rPr>
              <a:t>프로젝트마다 다르게</a:t>
            </a:r>
            <a:endParaRPr lang="en-US" sz="1700" dirty="0"/>
          </a:p>
        </p:txBody>
      </p:sp>
      <p:sp>
        <p:nvSpPr>
          <p:cNvPr id="14" name="Text 12"/>
          <p:cNvSpPr/>
          <p:nvPr/>
        </p:nvSpPr>
        <p:spPr>
          <a:xfrm>
            <a:off x="1042416" y="2450592"/>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읽는 사람</a:t>
            </a:r>
            <a:endParaRPr lang="en-US" sz="900" dirty="0"/>
          </a:p>
        </p:txBody>
      </p:sp>
      <p:sp>
        <p:nvSpPr>
          <p:cNvPr id="15" name="Text 13"/>
          <p:cNvSpPr/>
          <p:nvPr/>
        </p:nvSpPr>
        <p:spPr>
          <a:xfrm>
            <a:off x="1042416" y="2688336"/>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두 번째부터 빨리 읽는다</a:t>
            </a:r>
            <a:endParaRPr lang="en-US" sz="1150" dirty="0"/>
          </a:p>
        </p:txBody>
      </p:sp>
      <p:sp>
        <p:nvSpPr>
          <p:cNvPr id="16" name="Text 14"/>
          <p:cNvSpPr/>
          <p:nvPr/>
        </p:nvSpPr>
        <p:spPr>
          <a:xfrm>
            <a:off x="6699352" y="2450592"/>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읽는 사람</a:t>
            </a:r>
            <a:endParaRPr lang="en-US" sz="900" dirty="0"/>
          </a:p>
        </p:txBody>
      </p:sp>
      <p:sp>
        <p:nvSpPr>
          <p:cNvPr id="17" name="Text 15"/>
          <p:cNvSpPr/>
          <p:nvPr/>
        </p:nvSpPr>
        <p:spPr>
          <a:xfrm>
            <a:off x="6699352" y="2688336"/>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매번 어디에 무엇이 있는지 찾는다</a:t>
            </a:r>
            <a:endParaRPr lang="en-US" sz="1150" dirty="0"/>
          </a:p>
        </p:txBody>
      </p:sp>
      <p:sp>
        <p:nvSpPr>
          <p:cNvPr id="18" name="Shape 16"/>
          <p:cNvSpPr/>
          <p:nvPr/>
        </p:nvSpPr>
        <p:spPr>
          <a:xfrm>
            <a:off x="1042416" y="2980944"/>
            <a:ext cx="4449928" cy="7315"/>
          </a:xfrm>
          <a:prstGeom prst="rect">
            <a:avLst/>
          </a:prstGeom>
          <a:solidFill>
            <a:srgbClr val="D2D2D2"/>
          </a:solidFill>
          <a:ln w="12700">
            <a:solidFill>
              <a:srgbClr val="D2D2D2"/>
            </a:solidFill>
            <a:prstDash val="solid"/>
          </a:ln>
        </p:spPr>
      </p:sp>
      <p:sp>
        <p:nvSpPr>
          <p:cNvPr id="19" name="Shape 17"/>
          <p:cNvSpPr/>
          <p:nvPr/>
        </p:nvSpPr>
        <p:spPr>
          <a:xfrm>
            <a:off x="6699352" y="2980944"/>
            <a:ext cx="4449928" cy="7315"/>
          </a:xfrm>
          <a:prstGeom prst="rect">
            <a:avLst/>
          </a:prstGeom>
          <a:solidFill>
            <a:srgbClr val="DCDCDC"/>
          </a:solidFill>
          <a:ln w="12700">
            <a:solidFill>
              <a:srgbClr val="DCDCDC"/>
            </a:solidFill>
            <a:prstDash val="solid"/>
          </a:ln>
        </p:spPr>
      </p:sp>
      <p:sp>
        <p:nvSpPr>
          <p:cNvPr id="20" name="Text 18"/>
          <p:cNvSpPr/>
          <p:nvPr/>
        </p:nvSpPr>
        <p:spPr>
          <a:xfrm>
            <a:off x="1042416" y="3035808"/>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만드는 사람</a:t>
            </a:r>
            <a:endParaRPr lang="en-US" sz="900" dirty="0"/>
          </a:p>
        </p:txBody>
      </p:sp>
      <p:sp>
        <p:nvSpPr>
          <p:cNvPr id="21" name="Text 19"/>
          <p:cNvSpPr/>
          <p:nvPr/>
        </p:nvSpPr>
        <p:spPr>
          <a:xfrm>
            <a:off x="1042416" y="3273552"/>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틀이 있으니 빠르다</a:t>
            </a:r>
            <a:endParaRPr lang="en-US" sz="1150" dirty="0"/>
          </a:p>
        </p:txBody>
      </p:sp>
      <p:sp>
        <p:nvSpPr>
          <p:cNvPr id="22" name="Text 20"/>
          <p:cNvSpPr/>
          <p:nvPr/>
        </p:nvSpPr>
        <p:spPr>
          <a:xfrm>
            <a:off x="6699352" y="3035808"/>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만드는 사람</a:t>
            </a:r>
            <a:endParaRPr lang="en-US" sz="900" dirty="0"/>
          </a:p>
        </p:txBody>
      </p:sp>
      <p:sp>
        <p:nvSpPr>
          <p:cNvPr id="23" name="Text 21"/>
          <p:cNvSpPr/>
          <p:nvPr/>
        </p:nvSpPr>
        <p:spPr>
          <a:xfrm>
            <a:off x="6699352" y="3273552"/>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매번 처음부터</a:t>
            </a:r>
            <a:endParaRPr lang="en-US" sz="1150" dirty="0"/>
          </a:p>
        </p:txBody>
      </p:sp>
      <p:sp>
        <p:nvSpPr>
          <p:cNvPr id="24" name="Shape 22"/>
          <p:cNvSpPr/>
          <p:nvPr/>
        </p:nvSpPr>
        <p:spPr>
          <a:xfrm>
            <a:off x="1042416" y="3566160"/>
            <a:ext cx="4449928" cy="7315"/>
          </a:xfrm>
          <a:prstGeom prst="rect">
            <a:avLst/>
          </a:prstGeom>
          <a:solidFill>
            <a:srgbClr val="D2D2D2"/>
          </a:solidFill>
          <a:ln w="12700">
            <a:solidFill>
              <a:srgbClr val="D2D2D2"/>
            </a:solidFill>
            <a:prstDash val="solid"/>
          </a:ln>
        </p:spPr>
      </p:sp>
      <p:sp>
        <p:nvSpPr>
          <p:cNvPr id="25" name="Shape 23"/>
          <p:cNvSpPr/>
          <p:nvPr/>
        </p:nvSpPr>
        <p:spPr>
          <a:xfrm>
            <a:off x="6699352" y="3566160"/>
            <a:ext cx="4449928" cy="7315"/>
          </a:xfrm>
          <a:prstGeom prst="rect">
            <a:avLst/>
          </a:prstGeom>
          <a:solidFill>
            <a:srgbClr val="DCDCDC"/>
          </a:solidFill>
          <a:ln w="12700">
            <a:solidFill>
              <a:srgbClr val="DCDCDC"/>
            </a:solidFill>
            <a:prstDash val="solid"/>
          </a:ln>
        </p:spPr>
      </p:sp>
      <p:sp>
        <p:nvSpPr>
          <p:cNvPr id="26" name="Text 24"/>
          <p:cNvSpPr/>
          <p:nvPr/>
        </p:nvSpPr>
        <p:spPr>
          <a:xfrm>
            <a:off x="1042416" y="3621024"/>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고칠 때</a:t>
            </a:r>
            <a:endParaRPr lang="en-US" sz="900" dirty="0"/>
          </a:p>
        </p:txBody>
      </p:sp>
      <p:sp>
        <p:nvSpPr>
          <p:cNvPr id="27" name="Text 25"/>
          <p:cNvSpPr/>
          <p:nvPr/>
        </p:nvSpPr>
        <p:spPr>
          <a:xfrm>
            <a:off x="1042416" y="3858768"/>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한 곳을 고치면 다 바뀐다</a:t>
            </a:r>
            <a:endParaRPr lang="en-US" sz="1150" dirty="0"/>
          </a:p>
        </p:txBody>
      </p:sp>
      <p:sp>
        <p:nvSpPr>
          <p:cNvPr id="28" name="Text 26"/>
          <p:cNvSpPr/>
          <p:nvPr/>
        </p:nvSpPr>
        <p:spPr>
          <a:xfrm>
            <a:off x="6699352" y="3621024"/>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고칠 때</a:t>
            </a:r>
            <a:endParaRPr lang="en-US" sz="900" dirty="0"/>
          </a:p>
        </p:txBody>
      </p:sp>
      <p:sp>
        <p:nvSpPr>
          <p:cNvPr id="29" name="Text 27"/>
          <p:cNvSpPr/>
          <p:nvPr/>
        </p:nvSpPr>
        <p:spPr>
          <a:xfrm>
            <a:off x="6699352" y="3858768"/>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한 장씩 고친다</a:t>
            </a:r>
            <a:endParaRPr lang="en-US" sz="1150" dirty="0"/>
          </a:p>
        </p:txBody>
      </p:sp>
      <p:sp>
        <p:nvSpPr>
          <p:cNvPr id="30" name="Shape 28"/>
          <p:cNvSpPr/>
          <p:nvPr/>
        </p:nvSpPr>
        <p:spPr>
          <a:xfrm>
            <a:off x="1042416" y="4151376"/>
            <a:ext cx="4449928" cy="7315"/>
          </a:xfrm>
          <a:prstGeom prst="rect">
            <a:avLst/>
          </a:prstGeom>
          <a:solidFill>
            <a:srgbClr val="D2D2D2"/>
          </a:solidFill>
          <a:ln w="12700">
            <a:solidFill>
              <a:srgbClr val="D2D2D2"/>
            </a:solidFill>
            <a:prstDash val="solid"/>
          </a:ln>
        </p:spPr>
      </p:sp>
      <p:sp>
        <p:nvSpPr>
          <p:cNvPr id="31" name="Shape 29"/>
          <p:cNvSpPr/>
          <p:nvPr/>
        </p:nvSpPr>
        <p:spPr>
          <a:xfrm>
            <a:off x="6699352" y="4151376"/>
            <a:ext cx="4449928" cy="7315"/>
          </a:xfrm>
          <a:prstGeom prst="rect">
            <a:avLst/>
          </a:prstGeom>
          <a:solidFill>
            <a:srgbClr val="DCDCDC"/>
          </a:solidFill>
          <a:ln w="12700">
            <a:solidFill>
              <a:srgbClr val="DCDCDC"/>
            </a:solidFill>
            <a:prstDash val="solid"/>
          </a:ln>
        </p:spPr>
      </p:sp>
      <p:sp>
        <p:nvSpPr>
          <p:cNvPr id="32" name="Text 30"/>
          <p:cNvSpPr/>
          <p:nvPr/>
        </p:nvSpPr>
        <p:spPr>
          <a:xfrm>
            <a:off x="1042416" y="4206240"/>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인상</a:t>
            </a:r>
            <a:endParaRPr lang="en-US" sz="900" dirty="0"/>
          </a:p>
        </p:txBody>
      </p:sp>
      <p:sp>
        <p:nvSpPr>
          <p:cNvPr id="33" name="Text 31"/>
          <p:cNvSpPr/>
          <p:nvPr/>
        </p:nvSpPr>
        <p:spPr>
          <a:xfrm>
            <a:off x="1042416" y="4443984"/>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정리된 사람으로 보인다</a:t>
            </a:r>
            <a:endParaRPr lang="en-US" sz="1150" dirty="0"/>
          </a:p>
        </p:txBody>
      </p:sp>
      <p:sp>
        <p:nvSpPr>
          <p:cNvPr id="34" name="Text 32"/>
          <p:cNvSpPr/>
          <p:nvPr/>
        </p:nvSpPr>
        <p:spPr>
          <a:xfrm>
            <a:off x="6699352" y="4206240"/>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인상</a:t>
            </a:r>
            <a:endParaRPr lang="en-US" sz="900" dirty="0"/>
          </a:p>
        </p:txBody>
      </p:sp>
      <p:sp>
        <p:nvSpPr>
          <p:cNvPr id="35" name="Text 33"/>
          <p:cNvSpPr/>
          <p:nvPr/>
        </p:nvSpPr>
        <p:spPr>
          <a:xfrm>
            <a:off x="6699352" y="4443984"/>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각 지면이 예뻐도 산만해 보인다</a:t>
            </a:r>
            <a:endParaRPr lang="en-US" sz="1150" dirty="0"/>
          </a:p>
        </p:txBody>
      </p:sp>
      <p:sp>
        <p:nvSpPr>
          <p:cNvPr id="36" name="Shape 34"/>
          <p:cNvSpPr/>
          <p:nvPr/>
        </p:nvSpPr>
        <p:spPr>
          <a:xfrm>
            <a:off x="1042416" y="4736592"/>
            <a:ext cx="4449928" cy="7315"/>
          </a:xfrm>
          <a:prstGeom prst="rect">
            <a:avLst/>
          </a:prstGeom>
          <a:solidFill>
            <a:srgbClr val="D2D2D2"/>
          </a:solidFill>
          <a:ln w="12700">
            <a:solidFill>
              <a:srgbClr val="D2D2D2"/>
            </a:solidFill>
            <a:prstDash val="solid"/>
          </a:ln>
        </p:spPr>
      </p:sp>
      <p:sp>
        <p:nvSpPr>
          <p:cNvPr id="37" name="Shape 35"/>
          <p:cNvSpPr/>
          <p:nvPr/>
        </p:nvSpPr>
        <p:spPr>
          <a:xfrm>
            <a:off x="6699352" y="4736592"/>
            <a:ext cx="4449928" cy="7315"/>
          </a:xfrm>
          <a:prstGeom prst="rect">
            <a:avLst/>
          </a:prstGeom>
          <a:solidFill>
            <a:srgbClr val="DCDCDC"/>
          </a:solidFill>
          <a:ln w="12700">
            <a:solidFill>
              <a:srgbClr val="DCDCDC"/>
            </a:solidFill>
            <a:prstDash val="solid"/>
          </a:ln>
        </p:spPr>
      </p:sp>
      <p:sp>
        <p:nvSpPr>
          <p:cNvPr id="38" name="Text 36"/>
          <p:cNvSpPr/>
          <p:nvPr/>
        </p:nvSpPr>
        <p:spPr>
          <a:xfrm>
            <a:off x="1042416" y="4791456"/>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비교</a:t>
            </a:r>
            <a:endParaRPr lang="en-US" sz="900" dirty="0"/>
          </a:p>
        </p:txBody>
      </p:sp>
      <p:sp>
        <p:nvSpPr>
          <p:cNvPr id="39" name="Text 37"/>
          <p:cNvSpPr/>
          <p:nvPr/>
        </p:nvSpPr>
        <p:spPr>
          <a:xfrm>
            <a:off x="1042416" y="5029200"/>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프로젝트끼리 비교가 된다</a:t>
            </a:r>
            <a:endParaRPr lang="en-US" sz="1150" dirty="0"/>
          </a:p>
        </p:txBody>
      </p:sp>
      <p:sp>
        <p:nvSpPr>
          <p:cNvPr id="40" name="Text 38"/>
          <p:cNvSpPr/>
          <p:nvPr/>
        </p:nvSpPr>
        <p:spPr>
          <a:xfrm>
            <a:off x="6699352" y="4791456"/>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비교</a:t>
            </a:r>
            <a:endParaRPr lang="en-US" sz="900" dirty="0"/>
          </a:p>
        </p:txBody>
      </p:sp>
      <p:sp>
        <p:nvSpPr>
          <p:cNvPr id="41" name="Text 39"/>
          <p:cNvSpPr/>
          <p:nvPr/>
        </p:nvSpPr>
        <p:spPr>
          <a:xfrm>
            <a:off x="6699352" y="5029200"/>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비교가 안 된다</a:t>
            </a:r>
            <a:endParaRPr lang="en-US" sz="1150" dirty="0"/>
          </a:p>
        </p:txBody>
      </p:sp>
      <p:sp>
        <p:nvSpPr>
          <p:cNvPr id="42" name="Shape 40"/>
          <p:cNvSpPr/>
          <p:nvPr/>
        </p:nvSpPr>
        <p:spPr>
          <a:xfrm>
            <a:off x="640080" y="5596128"/>
            <a:ext cx="10911535" cy="7315"/>
          </a:xfrm>
          <a:prstGeom prst="rect">
            <a:avLst/>
          </a:prstGeom>
          <a:solidFill>
            <a:srgbClr val="111111"/>
          </a:solidFill>
          <a:ln w="12700">
            <a:solidFill>
              <a:srgbClr val="111111"/>
            </a:solidFill>
            <a:prstDash val="solid"/>
          </a:ln>
        </p:spPr>
      </p:sp>
      <p:sp>
        <p:nvSpPr>
          <p:cNvPr id="43" name="Text 41"/>
          <p:cNvSpPr/>
          <p:nvPr/>
        </p:nvSpPr>
        <p:spPr>
          <a:xfrm>
            <a:off x="640080" y="5705856"/>
            <a:ext cx="10911535" cy="402336"/>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읽는 사람은 당신의 프로젝트를 서로 비교하면서 봅니다. 구조가 같아야 비교가 됩니다.</a:t>
            </a:r>
            <a:endParaRPr lang="en-US" sz="1300" dirty="0"/>
          </a:p>
        </p:txBody>
      </p:sp>
      <p:sp>
        <p:nvSpPr>
          <p:cNvPr id="44" name="Shape 42"/>
          <p:cNvSpPr/>
          <p:nvPr/>
        </p:nvSpPr>
        <p:spPr>
          <a:xfrm>
            <a:off x="640080" y="6291072"/>
            <a:ext cx="10911535" cy="7315"/>
          </a:xfrm>
          <a:prstGeom prst="rect">
            <a:avLst/>
          </a:prstGeom>
          <a:solidFill>
            <a:srgbClr val="DCDCDC"/>
          </a:solidFill>
          <a:ln w="12700">
            <a:solidFill>
              <a:srgbClr val="DCDCDC"/>
            </a:solidFill>
            <a:prstDash val="solid"/>
          </a:ln>
        </p:spPr>
      </p:sp>
      <p:sp>
        <p:nvSpPr>
          <p:cNvPr id="45" name="Text 43"/>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포트폴리오제작 · 5주차 콘텐츠 구조화 — 세 지면 만들기</a:t>
            </a:r>
            <a:endParaRPr lang="en-US" sz="850" dirty="0"/>
          </a:p>
        </p:txBody>
      </p:sp>
      <p:sp>
        <p:nvSpPr>
          <p:cNvPr id="46" name="Text 44"/>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2 콘텐츠 구조화와 비주얼 시스템</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05</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WORKSHOP</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실습 · 세 지면 뼈대 짜기</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개인 작업 — 대표 프로젝트 하나만 합니다. 오늘은 뼈대까지입니다.</a:t>
            </a:r>
            <a:endParaRPr lang="en-US" sz="1150" dirty="0"/>
          </a:p>
        </p:txBody>
      </p:sp>
      <p:sp>
        <p:nvSpPr>
          <p:cNvPr id="9" name="Shape 7"/>
          <p:cNvSpPr/>
          <p:nvPr/>
        </p:nvSpPr>
        <p:spPr>
          <a:xfrm>
            <a:off x="640080" y="1719072"/>
            <a:ext cx="10911535" cy="822960"/>
          </a:xfrm>
          <a:prstGeom prst="rect">
            <a:avLst/>
          </a:prstGeom>
          <a:solidFill>
            <a:srgbClr val="FFFFFF"/>
          </a:solidFill>
          <a:ln w="12700">
            <a:solidFill>
              <a:srgbClr val="DCDCDC"/>
            </a:solidFill>
            <a:prstDash val="solid"/>
          </a:ln>
        </p:spPr>
      </p:sp>
      <p:sp>
        <p:nvSpPr>
          <p:cNvPr id="10" name="Text 8"/>
          <p:cNvSpPr/>
          <p:nvPr/>
        </p:nvSpPr>
        <p:spPr>
          <a:xfrm>
            <a:off x="1097280" y="1810512"/>
            <a:ext cx="3291840" cy="64008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문제 문장 고치기</a:t>
            </a:r>
            <a:endParaRPr lang="en-US" sz="1450" dirty="0"/>
          </a:p>
        </p:txBody>
      </p:sp>
      <p:sp>
        <p:nvSpPr>
          <p:cNvPr id="11" name="Text 9"/>
          <p:cNvSpPr/>
          <p:nvPr/>
        </p:nvSpPr>
        <p:spPr>
          <a:xfrm>
            <a:off x="4480560" y="1810512"/>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대표 프로젝트의 문제 문장을 네 가지 조건에 맞게 다시 씁니다. 한 문장으로.</a:t>
            </a:r>
            <a:endParaRPr lang="en-US" sz="1150" dirty="0"/>
          </a:p>
        </p:txBody>
      </p:sp>
      <p:sp>
        <p:nvSpPr>
          <p:cNvPr id="12" name="Shape 10"/>
          <p:cNvSpPr/>
          <p:nvPr/>
        </p:nvSpPr>
        <p:spPr>
          <a:xfrm>
            <a:off x="640080" y="2688336"/>
            <a:ext cx="10911535" cy="822960"/>
          </a:xfrm>
          <a:prstGeom prst="rect">
            <a:avLst/>
          </a:prstGeom>
          <a:solidFill>
            <a:srgbClr val="FFFFFF"/>
          </a:solidFill>
          <a:ln w="12700">
            <a:solidFill>
              <a:srgbClr val="DCDCDC"/>
            </a:solidFill>
            <a:prstDash val="solid"/>
          </a:ln>
        </p:spPr>
      </p:sp>
      <p:sp>
        <p:nvSpPr>
          <p:cNvPr id="13" name="Text 11"/>
          <p:cNvSpPr/>
          <p:nvPr/>
        </p:nvSpPr>
        <p:spPr>
          <a:xfrm>
            <a:off x="1097280" y="2779776"/>
            <a:ext cx="3291840" cy="64008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리서치 지면 뼈대</a:t>
            </a:r>
            <a:endParaRPr lang="en-US" sz="1450" dirty="0"/>
          </a:p>
        </p:txBody>
      </p:sp>
      <p:sp>
        <p:nvSpPr>
          <p:cNvPr id="14" name="Text 12"/>
          <p:cNvSpPr/>
          <p:nvPr/>
        </p:nvSpPr>
        <p:spPr>
          <a:xfrm>
            <a:off x="4480560" y="2779776"/>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제목 자리 · 조사 방법 · 발견 세 개 · 한 줄 결론. 내용은 짧게, 자리만 잡습니다.</a:t>
            </a:r>
            <a:endParaRPr lang="en-US" sz="1150" dirty="0"/>
          </a:p>
        </p:txBody>
      </p:sp>
      <p:sp>
        <p:nvSpPr>
          <p:cNvPr id="15" name="Shape 13"/>
          <p:cNvSpPr/>
          <p:nvPr/>
        </p:nvSpPr>
        <p:spPr>
          <a:xfrm>
            <a:off x="640080" y="3657600"/>
            <a:ext cx="10911535" cy="822960"/>
          </a:xfrm>
          <a:prstGeom prst="rect">
            <a:avLst/>
          </a:prstGeom>
          <a:solidFill>
            <a:srgbClr val="FFFFFF"/>
          </a:solidFill>
          <a:ln w="12700">
            <a:solidFill>
              <a:srgbClr val="DCDCDC"/>
            </a:solidFill>
            <a:prstDash val="solid"/>
          </a:ln>
        </p:spPr>
      </p:sp>
      <p:sp>
        <p:nvSpPr>
          <p:cNvPr id="16" name="Text 14"/>
          <p:cNvSpPr/>
          <p:nvPr/>
        </p:nvSpPr>
        <p:spPr>
          <a:xfrm>
            <a:off x="1097280" y="3749040"/>
            <a:ext cx="3291840" cy="64008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과정 지면 뼈대</a:t>
            </a:r>
            <a:endParaRPr lang="en-US" sz="1450" dirty="0"/>
          </a:p>
        </p:txBody>
      </p:sp>
      <p:sp>
        <p:nvSpPr>
          <p:cNvPr id="17" name="Text 15"/>
          <p:cNvSpPr/>
          <p:nvPr/>
        </p:nvSpPr>
        <p:spPr>
          <a:xfrm>
            <a:off x="4480560" y="3749040"/>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단계 · 시안 몇 개 · 고른 것과 버린 것 · 고른 이유. 결정이 보이게.</a:t>
            </a:r>
            <a:endParaRPr lang="en-US" sz="1150" dirty="0"/>
          </a:p>
        </p:txBody>
      </p:sp>
      <p:sp>
        <p:nvSpPr>
          <p:cNvPr id="18" name="Shape 16"/>
          <p:cNvSpPr/>
          <p:nvPr/>
        </p:nvSpPr>
        <p:spPr>
          <a:xfrm>
            <a:off x="640080" y="4626864"/>
            <a:ext cx="10911535" cy="822960"/>
          </a:xfrm>
          <a:prstGeom prst="rect">
            <a:avLst/>
          </a:prstGeom>
          <a:solidFill>
            <a:srgbClr val="111111"/>
          </a:solidFill>
          <a:ln w="12700">
            <a:solidFill>
              <a:srgbClr val="111111"/>
            </a:solidFill>
            <a:prstDash val="solid"/>
          </a:ln>
        </p:spPr>
      </p:sp>
      <p:sp>
        <p:nvSpPr>
          <p:cNvPr id="19" name="Text 17"/>
          <p:cNvSpPr/>
          <p:nvPr/>
        </p:nvSpPr>
        <p:spPr>
          <a:xfrm>
            <a:off x="1097280" y="4718304"/>
            <a:ext cx="3291840" cy="640080"/>
          </a:xfrm>
          <a:prstGeom prst="rect">
            <a:avLst/>
          </a:prstGeom>
          <a:noFill/>
          <a:ln/>
        </p:spPr>
        <p:txBody>
          <a:bodyPr wrap="square" lIns="0" tIns="0" rIns="0" bIns="0" rtlCol="0" anchor="ctr"/>
          <a:lstStyle/>
          <a:p>
            <a:pPr indent="0" marL="0">
              <a:buNone/>
            </a:pPr>
            <a:r>
              <a:rPr lang="en-US" sz="1450" dirty="0">
                <a:solidFill>
                  <a:srgbClr val="FFFFFF"/>
                </a:solidFill>
                <a:latin typeface="Pretendard SemiBold" pitchFamily="34" charset="0"/>
                <a:ea typeface="Pretendard SemiBold" pitchFamily="34" charset="-122"/>
                <a:cs typeface="Pretendard SemiBold" pitchFamily="34" charset="-120"/>
              </a:rPr>
              <a:t>결과 지면 뼈대</a:t>
            </a:r>
            <a:endParaRPr lang="en-US" sz="1450" dirty="0"/>
          </a:p>
        </p:txBody>
      </p:sp>
      <p:sp>
        <p:nvSpPr>
          <p:cNvPr id="20" name="Text 18"/>
          <p:cNvSpPr/>
          <p:nvPr/>
        </p:nvSpPr>
        <p:spPr>
          <a:xfrm>
            <a:off x="4480560" y="4718304"/>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B8B8B8"/>
                </a:solidFill>
                <a:latin typeface="Pretendard" pitchFamily="34" charset="0"/>
                <a:ea typeface="Pretendard" pitchFamily="34" charset="-122"/>
                <a:cs typeface="Pretendard" pitchFamily="34" charset="-120"/>
              </a:rPr>
              <a:t>큰 것 하나 · 작은 것 몇 · 달라진 것 한 줄. 세 지면의 제목 위치를 같게 맞춥니다.</a:t>
            </a:r>
            <a:endParaRPr lang="en-US" sz="1150" dirty="0"/>
          </a:p>
        </p:txBody>
      </p:sp>
      <p:sp>
        <p:nvSpPr>
          <p:cNvPr id="21" name="Shape 19"/>
          <p:cNvSpPr/>
          <p:nvPr/>
        </p:nvSpPr>
        <p:spPr>
          <a:xfrm>
            <a:off x="640080" y="6291072"/>
            <a:ext cx="10911535" cy="7315"/>
          </a:xfrm>
          <a:prstGeom prst="rect">
            <a:avLst/>
          </a:prstGeom>
          <a:solidFill>
            <a:srgbClr val="DCDCDC"/>
          </a:solidFill>
          <a:ln w="12700">
            <a:solidFill>
              <a:srgbClr val="DCDCDC"/>
            </a:solidFill>
            <a:prstDash val="solid"/>
          </a:ln>
        </p:spPr>
      </p:sp>
      <p:sp>
        <p:nvSpPr>
          <p:cNvPr id="22" name="Text 2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포트폴리오제작 · 5주차 콘텐츠 구조화 — 세 지면 만들기</a:t>
            </a:r>
            <a:endParaRPr lang="en-US" sz="850" dirty="0"/>
          </a:p>
        </p:txBody>
      </p:sp>
      <p:sp>
        <p:nvSpPr>
          <p:cNvPr id="23" name="Text 2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2 콘텐츠 구조화와 비주얼 시스템</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05</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SUBMIT</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지면 점검표</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다음 회차는 중간 발표입니다.</a:t>
            </a:r>
            <a:endParaRPr lang="en-US" sz="1150" dirty="0"/>
          </a:p>
        </p:txBody>
      </p:sp>
      <p:sp>
        <p:nvSpPr>
          <p:cNvPr id="9" name="Shape 7"/>
          <p:cNvSpPr/>
          <p:nvPr/>
        </p:nvSpPr>
        <p:spPr>
          <a:xfrm>
            <a:off x="640080" y="1755648"/>
            <a:ext cx="5254600" cy="322326"/>
          </a:xfrm>
          <a:prstGeom prst="rect">
            <a:avLst/>
          </a:prstGeom>
          <a:solidFill>
            <a:srgbClr val="F2F2F2"/>
          </a:solidFill>
          <a:ln w="12700">
            <a:solidFill>
              <a:srgbClr val="F2F2F2"/>
            </a:solidFill>
            <a:prstDash val="solid"/>
          </a:ln>
        </p:spPr>
      </p:sp>
      <p:sp>
        <p:nvSpPr>
          <p:cNvPr id="10" name="Shape 8"/>
          <p:cNvSpPr/>
          <p:nvPr/>
        </p:nvSpPr>
        <p:spPr>
          <a:xfrm>
            <a:off x="914400" y="1788795"/>
            <a:ext cx="256032" cy="256032"/>
          </a:xfrm>
          <a:prstGeom prst="ellipse">
            <a:avLst/>
          </a:prstGeom>
          <a:solidFill>
            <a:srgbClr val="F2F2F2"/>
          </a:solidFill>
          <a:ln w="12700">
            <a:solidFill>
              <a:srgbClr val="111111"/>
            </a:solidFill>
            <a:prstDash val="solid"/>
          </a:ln>
        </p:spPr>
      </p:sp>
      <p:sp>
        <p:nvSpPr>
          <p:cNvPr id="11" name="Text 9"/>
          <p:cNvSpPr/>
          <p:nvPr/>
        </p:nvSpPr>
        <p:spPr>
          <a:xfrm>
            <a:off x="914400" y="1788795"/>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01</a:t>
            </a:r>
            <a:endParaRPr lang="en-US" sz="800" dirty="0"/>
          </a:p>
        </p:txBody>
      </p:sp>
      <p:sp>
        <p:nvSpPr>
          <p:cNvPr id="12" name="Text 10"/>
          <p:cNvSpPr/>
          <p:nvPr/>
        </p:nvSpPr>
        <p:spPr>
          <a:xfrm>
            <a:off x="1298448" y="1755648"/>
            <a:ext cx="4321912" cy="32232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문제 문장이 과제 조건이 아니라 내가 잡은 관점이다</a:t>
            </a:r>
            <a:endParaRPr lang="en-US" sz="1050" dirty="0"/>
          </a:p>
        </p:txBody>
      </p:sp>
      <p:sp>
        <p:nvSpPr>
          <p:cNvPr id="13" name="Shape 11"/>
          <p:cNvSpPr/>
          <p:nvPr/>
        </p:nvSpPr>
        <p:spPr>
          <a:xfrm>
            <a:off x="640080" y="2224278"/>
            <a:ext cx="5254600" cy="322326"/>
          </a:xfrm>
          <a:prstGeom prst="rect">
            <a:avLst/>
          </a:prstGeom>
          <a:solidFill>
            <a:srgbClr val="F2F2F2"/>
          </a:solidFill>
          <a:ln w="12700">
            <a:solidFill>
              <a:srgbClr val="F2F2F2"/>
            </a:solidFill>
            <a:prstDash val="solid"/>
          </a:ln>
        </p:spPr>
      </p:sp>
      <p:sp>
        <p:nvSpPr>
          <p:cNvPr id="14" name="Shape 12"/>
          <p:cNvSpPr/>
          <p:nvPr/>
        </p:nvSpPr>
        <p:spPr>
          <a:xfrm>
            <a:off x="914400" y="2257425"/>
            <a:ext cx="256032" cy="256032"/>
          </a:xfrm>
          <a:prstGeom prst="ellipse">
            <a:avLst/>
          </a:prstGeom>
          <a:solidFill>
            <a:srgbClr val="F2F2F2"/>
          </a:solidFill>
          <a:ln w="12700">
            <a:solidFill>
              <a:srgbClr val="111111"/>
            </a:solidFill>
            <a:prstDash val="solid"/>
          </a:ln>
        </p:spPr>
      </p:sp>
      <p:sp>
        <p:nvSpPr>
          <p:cNvPr id="15" name="Text 13"/>
          <p:cNvSpPr/>
          <p:nvPr/>
        </p:nvSpPr>
        <p:spPr>
          <a:xfrm>
            <a:off x="914400" y="2257425"/>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02</a:t>
            </a:r>
            <a:endParaRPr lang="en-US" sz="800" dirty="0"/>
          </a:p>
        </p:txBody>
      </p:sp>
      <p:sp>
        <p:nvSpPr>
          <p:cNvPr id="16" name="Text 14"/>
          <p:cNvSpPr/>
          <p:nvPr/>
        </p:nvSpPr>
        <p:spPr>
          <a:xfrm>
            <a:off x="1298448" y="2224278"/>
            <a:ext cx="4321912" cy="32232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누구의 문제인지 좁혀져 있다</a:t>
            </a:r>
            <a:endParaRPr lang="en-US" sz="1050" dirty="0"/>
          </a:p>
        </p:txBody>
      </p:sp>
      <p:sp>
        <p:nvSpPr>
          <p:cNvPr id="17" name="Shape 15"/>
          <p:cNvSpPr/>
          <p:nvPr/>
        </p:nvSpPr>
        <p:spPr>
          <a:xfrm>
            <a:off x="640080" y="2692908"/>
            <a:ext cx="5254600" cy="322326"/>
          </a:xfrm>
          <a:prstGeom prst="rect">
            <a:avLst/>
          </a:prstGeom>
          <a:solidFill>
            <a:srgbClr val="F2F2F2"/>
          </a:solidFill>
          <a:ln w="12700">
            <a:solidFill>
              <a:srgbClr val="F2F2F2"/>
            </a:solidFill>
            <a:prstDash val="solid"/>
          </a:ln>
        </p:spPr>
      </p:sp>
      <p:sp>
        <p:nvSpPr>
          <p:cNvPr id="18" name="Shape 16"/>
          <p:cNvSpPr/>
          <p:nvPr/>
        </p:nvSpPr>
        <p:spPr>
          <a:xfrm>
            <a:off x="914400" y="2726055"/>
            <a:ext cx="256032" cy="256032"/>
          </a:xfrm>
          <a:prstGeom prst="ellipse">
            <a:avLst/>
          </a:prstGeom>
          <a:solidFill>
            <a:srgbClr val="F2F2F2"/>
          </a:solidFill>
          <a:ln w="12700">
            <a:solidFill>
              <a:srgbClr val="111111"/>
            </a:solidFill>
            <a:prstDash val="solid"/>
          </a:ln>
        </p:spPr>
      </p:sp>
      <p:sp>
        <p:nvSpPr>
          <p:cNvPr id="19" name="Text 17"/>
          <p:cNvSpPr/>
          <p:nvPr/>
        </p:nvSpPr>
        <p:spPr>
          <a:xfrm>
            <a:off x="914400" y="2726055"/>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03</a:t>
            </a:r>
            <a:endParaRPr lang="en-US" sz="800" dirty="0"/>
          </a:p>
        </p:txBody>
      </p:sp>
      <p:sp>
        <p:nvSpPr>
          <p:cNvPr id="20" name="Text 18"/>
          <p:cNvSpPr/>
          <p:nvPr/>
        </p:nvSpPr>
        <p:spPr>
          <a:xfrm>
            <a:off x="1298448" y="2692908"/>
            <a:ext cx="4321912" cy="32232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무엇이 안 되는지가 관찰한 사실로 적혀 있다</a:t>
            </a:r>
            <a:endParaRPr lang="en-US" sz="1050" dirty="0"/>
          </a:p>
        </p:txBody>
      </p:sp>
      <p:sp>
        <p:nvSpPr>
          <p:cNvPr id="21" name="Shape 19"/>
          <p:cNvSpPr/>
          <p:nvPr/>
        </p:nvSpPr>
        <p:spPr>
          <a:xfrm>
            <a:off x="640080" y="3161538"/>
            <a:ext cx="5254600" cy="322326"/>
          </a:xfrm>
          <a:prstGeom prst="rect">
            <a:avLst/>
          </a:prstGeom>
          <a:solidFill>
            <a:srgbClr val="F2F2F2"/>
          </a:solidFill>
          <a:ln w="12700">
            <a:solidFill>
              <a:srgbClr val="F2F2F2"/>
            </a:solidFill>
            <a:prstDash val="solid"/>
          </a:ln>
        </p:spPr>
      </p:sp>
      <p:sp>
        <p:nvSpPr>
          <p:cNvPr id="22" name="Shape 20"/>
          <p:cNvSpPr/>
          <p:nvPr/>
        </p:nvSpPr>
        <p:spPr>
          <a:xfrm>
            <a:off x="914400" y="3194685"/>
            <a:ext cx="256032" cy="256032"/>
          </a:xfrm>
          <a:prstGeom prst="ellipse">
            <a:avLst/>
          </a:prstGeom>
          <a:solidFill>
            <a:srgbClr val="F2F2F2"/>
          </a:solidFill>
          <a:ln w="12700">
            <a:solidFill>
              <a:srgbClr val="111111"/>
            </a:solidFill>
            <a:prstDash val="solid"/>
          </a:ln>
        </p:spPr>
      </p:sp>
      <p:sp>
        <p:nvSpPr>
          <p:cNvPr id="23" name="Text 21"/>
          <p:cNvSpPr/>
          <p:nvPr/>
        </p:nvSpPr>
        <p:spPr>
          <a:xfrm>
            <a:off x="914400" y="3194685"/>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04</a:t>
            </a:r>
            <a:endParaRPr lang="en-US" sz="800" dirty="0"/>
          </a:p>
        </p:txBody>
      </p:sp>
      <p:sp>
        <p:nvSpPr>
          <p:cNvPr id="24" name="Text 22"/>
          <p:cNvSpPr/>
          <p:nvPr/>
        </p:nvSpPr>
        <p:spPr>
          <a:xfrm>
            <a:off x="1298448" y="3161538"/>
            <a:ext cx="4321912" cy="32232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왜 그런지에 대한 내 짐작이 들어 있다</a:t>
            </a:r>
            <a:endParaRPr lang="en-US" sz="1050" dirty="0"/>
          </a:p>
        </p:txBody>
      </p:sp>
      <p:sp>
        <p:nvSpPr>
          <p:cNvPr id="25" name="Shape 23"/>
          <p:cNvSpPr/>
          <p:nvPr/>
        </p:nvSpPr>
        <p:spPr>
          <a:xfrm>
            <a:off x="640080" y="3630168"/>
            <a:ext cx="5254600" cy="322326"/>
          </a:xfrm>
          <a:prstGeom prst="rect">
            <a:avLst/>
          </a:prstGeom>
          <a:solidFill>
            <a:srgbClr val="F2F2F2"/>
          </a:solidFill>
          <a:ln w="12700">
            <a:solidFill>
              <a:srgbClr val="F2F2F2"/>
            </a:solidFill>
            <a:prstDash val="solid"/>
          </a:ln>
        </p:spPr>
      </p:sp>
      <p:sp>
        <p:nvSpPr>
          <p:cNvPr id="26" name="Shape 24"/>
          <p:cNvSpPr/>
          <p:nvPr/>
        </p:nvSpPr>
        <p:spPr>
          <a:xfrm>
            <a:off x="914400" y="3663315"/>
            <a:ext cx="256032" cy="256032"/>
          </a:xfrm>
          <a:prstGeom prst="ellipse">
            <a:avLst/>
          </a:prstGeom>
          <a:solidFill>
            <a:srgbClr val="F2F2F2"/>
          </a:solidFill>
          <a:ln w="12700">
            <a:solidFill>
              <a:srgbClr val="111111"/>
            </a:solidFill>
            <a:prstDash val="solid"/>
          </a:ln>
        </p:spPr>
      </p:sp>
      <p:sp>
        <p:nvSpPr>
          <p:cNvPr id="27" name="Text 25"/>
          <p:cNvSpPr/>
          <p:nvPr/>
        </p:nvSpPr>
        <p:spPr>
          <a:xfrm>
            <a:off x="914400" y="3663315"/>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05</a:t>
            </a:r>
            <a:endParaRPr lang="en-US" sz="800" dirty="0"/>
          </a:p>
        </p:txBody>
      </p:sp>
      <p:sp>
        <p:nvSpPr>
          <p:cNvPr id="28" name="Text 26"/>
          <p:cNvSpPr/>
          <p:nvPr/>
        </p:nvSpPr>
        <p:spPr>
          <a:xfrm>
            <a:off x="1298448" y="3630168"/>
            <a:ext cx="4321912" cy="32232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문제 문장이 한 문장이다</a:t>
            </a:r>
            <a:endParaRPr lang="en-US" sz="1050" dirty="0"/>
          </a:p>
        </p:txBody>
      </p:sp>
      <p:sp>
        <p:nvSpPr>
          <p:cNvPr id="29" name="Shape 27"/>
          <p:cNvSpPr/>
          <p:nvPr/>
        </p:nvSpPr>
        <p:spPr>
          <a:xfrm>
            <a:off x="640080" y="4098798"/>
            <a:ext cx="5254600" cy="322326"/>
          </a:xfrm>
          <a:prstGeom prst="rect">
            <a:avLst/>
          </a:prstGeom>
          <a:solidFill>
            <a:srgbClr val="F2F2F2"/>
          </a:solidFill>
          <a:ln w="12700">
            <a:solidFill>
              <a:srgbClr val="F2F2F2"/>
            </a:solidFill>
            <a:prstDash val="solid"/>
          </a:ln>
        </p:spPr>
      </p:sp>
      <p:sp>
        <p:nvSpPr>
          <p:cNvPr id="30" name="Shape 28"/>
          <p:cNvSpPr/>
          <p:nvPr/>
        </p:nvSpPr>
        <p:spPr>
          <a:xfrm>
            <a:off x="914400" y="4131945"/>
            <a:ext cx="256032" cy="256032"/>
          </a:xfrm>
          <a:prstGeom prst="ellipse">
            <a:avLst/>
          </a:prstGeom>
          <a:solidFill>
            <a:srgbClr val="F2F2F2"/>
          </a:solidFill>
          <a:ln w="12700">
            <a:solidFill>
              <a:srgbClr val="111111"/>
            </a:solidFill>
            <a:prstDash val="solid"/>
          </a:ln>
        </p:spPr>
      </p:sp>
      <p:sp>
        <p:nvSpPr>
          <p:cNvPr id="31" name="Text 29"/>
          <p:cNvSpPr/>
          <p:nvPr/>
        </p:nvSpPr>
        <p:spPr>
          <a:xfrm>
            <a:off x="914400" y="4131945"/>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06</a:t>
            </a:r>
            <a:endParaRPr lang="en-US" sz="800" dirty="0"/>
          </a:p>
        </p:txBody>
      </p:sp>
      <p:sp>
        <p:nvSpPr>
          <p:cNvPr id="32" name="Text 30"/>
          <p:cNvSpPr/>
          <p:nvPr/>
        </p:nvSpPr>
        <p:spPr>
          <a:xfrm>
            <a:off x="1298448" y="4098798"/>
            <a:ext cx="4321912" cy="32232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리서치 지면의 발견이 세 개 이하다</a:t>
            </a:r>
            <a:endParaRPr lang="en-US" sz="1050" dirty="0"/>
          </a:p>
        </p:txBody>
      </p:sp>
      <p:sp>
        <p:nvSpPr>
          <p:cNvPr id="33" name="Shape 31"/>
          <p:cNvSpPr/>
          <p:nvPr/>
        </p:nvSpPr>
        <p:spPr>
          <a:xfrm>
            <a:off x="640080" y="4567428"/>
            <a:ext cx="5254600" cy="322326"/>
          </a:xfrm>
          <a:prstGeom prst="rect">
            <a:avLst/>
          </a:prstGeom>
          <a:solidFill>
            <a:srgbClr val="F2F2F2"/>
          </a:solidFill>
          <a:ln w="12700">
            <a:solidFill>
              <a:srgbClr val="F2F2F2"/>
            </a:solidFill>
            <a:prstDash val="solid"/>
          </a:ln>
        </p:spPr>
      </p:sp>
      <p:sp>
        <p:nvSpPr>
          <p:cNvPr id="34" name="Shape 32"/>
          <p:cNvSpPr/>
          <p:nvPr/>
        </p:nvSpPr>
        <p:spPr>
          <a:xfrm>
            <a:off x="914400" y="4600575"/>
            <a:ext cx="256032" cy="256032"/>
          </a:xfrm>
          <a:prstGeom prst="ellipse">
            <a:avLst/>
          </a:prstGeom>
          <a:solidFill>
            <a:srgbClr val="F2F2F2"/>
          </a:solidFill>
          <a:ln w="12700">
            <a:solidFill>
              <a:srgbClr val="111111"/>
            </a:solidFill>
            <a:prstDash val="solid"/>
          </a:ln>
        </p:spPr>
      </p:sp>
      <p:sp>
        <p:nvSpPr>
          <p:cNvPr id="35" name="Text 33"/>
          <p:cNvSpPr/>
          <p:nvPr/>
        </p:nvSpPr>
        <p:spPr>
          <a:xfrm>
            <a:off x="914400" y="4600575"/>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07</a:t>
            </a:r>
            <a:endParaRPr lang="en-US" sz="800" dirty="0"/>
          </a:p>
        </p:txBody>
      </p:sp>
      <p:sp>
        <p:nvSpPr>
          <p:cNvPr id="36" name="Text 34"/>
          <p:cNvSpPr/>
          <p:nvPr/>
        </p:nvSpPr>
        <p:spPr>
          <a:xfrm>
            <a:off x="1298448" y="4567428"/>
            <a:ext cx="4321912" cy="32232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리서치 지면 맨 아래에 한 줄 결론이 있다</a:t>
            </a:r>
            <a:endParaRPr lang="en-US" sz="1050" dirty="0"/>
          </a:p>
        </p:txBody>
      </p:sp>
      <p:sp>
        <p:nvSpPr>
          <p:cNvPr id="37" name="Shape 35"/>
          <p:cNvSpPr/>
          <p:nvPr/>
        </p:nvSpPr>
        <p:spPr>
          <a:xfrm>
            <a:off x="640080" y="5036058"/>
            <a:ext cx="5254600" cy="322326"/>
          </a:xfrm>
          <a:prstGeom prst="rect">
            <a:avLst/>
          </a:prstGeom>
          <a:solidFill>
            <a:srgbClr val="F2F2F2"/>
          </a:solidFill>
          <a:ln w="12700">
            <a:solidFill>
              <a:srgbClr val="F2F2F2"/>
            </a:solidFill>
            <a:prstDash val="solid"/>
          </a:ln>
        </p:spPr>
      </p:sp>
      <p:sp>
        <p:nvSpPr>
          <p:cNvPr id="38" name="Shape 36"/>
          <p:cNvSpPr/>
          <p:nvPr/>
        </p:nvSpPr>
        <p:spPr>
          <a:xfrm>
            <a:off x="914400" y="5069205"/>
            <a:ext cx="256032" cy="256032"/>
          </a:xfrm>
          <a:prstGeom prst="ellipse">
            <a:avLst/>
          </a:prstGeom>
          <a:solidFill>
            <a:srgbClr val="F2F2F2"/>
          </a:solidFill>
          <a:ln w="12700">
            <a:solidFill>
              <a:srgbClr val="111111"/>
            </a:solidFill>
            <a:prstDash val="solid"/>
          </a:ln>
        </p:spPr>
      </p:sp>
      <p:sp>
        <p:nvSpPr>
          <p:cNvPr id="39" name="Text 37"/>
          <p:cNvSpPr/>
          <p:nvPr/>
        </p:nvSpPr>
        <p:spPr>
          <a:xfrm>
            <a:off x="914400" y="5069205"/>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08</a:t>
            </a:r>
            <a:endParaRPr lang="en-US" sz="800" dirty="0"/>
          </a:p>
        </p:txBody>
      </p:sp>
      <p:sp>
        <p:nvSpPr>
          <p:cNvPr id="40" name="Text 38"/>
          <p:cNvSpPr/>
          <p:nvPr/>
        </p:nvSpPr>
        <p:spPr>
          <a:xfrm>
            <a:off x="1298448" y="5036058"/>
            <a:ext cx="4321912" cy="32232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과정 지면에 버린 안이 함께 있다</a:t>
            </a:r>
            <a:endParaRPr lang="en-US" sz="1050" dirty="0"/>
          </a:p>
        </p:txBody>
      </p:sp>
      <p:sp>
        <p:nvSpPr>
          <p:cNvPr id="41" name="Shape 39"/>
          <p:cNvSpPr/>
          <p:nvPr/>
        </p:nvSpPr>
        <p:spPr>
          <a:xfrm>
            <a:off x="6297016" y="1755648"/>
            <a:ext cx="5254600" cy="322326"/>
          </a:xfrm>
          <a:prstGeom prst="rect">
            <a:avLst/>
          </a:prstGeom>
          <a:solidFill>
            <a:srgbClr val="F2F2F2"/>
          </a:solidFill>
          <a:ln w="12700">
            <a:solidFill>
              <a:srgbClr val="F2F2F2"/>
            </a:solidFill>
            <a:prstDash val="solid"/>
          </a:ln>
        </p:spPr>
      </p:sp>
      <p:sp>
        <p:nvSpPr>
          <p:cNvPr id="42" name="Shape 40"/>
          <p:cNvSpPr/>
          <p:nvPr/>
        </p:nvSpPr>
        <p:spPr>
          <a:xfrm>
            <a:off x="6571336" y="1788795"/>
            <a:ext cx="256032" cy="256032"/>
          </a:xfrm>
          <a:prstGeom prst="ellipse">
            <a:avLst/>
          </a:prstGeom>
          <a:solidFill>
            <a:srgbClr val="F2F2F2"/>
          </a:solidFill>
          <a:ln w="12700">
            <a:solidFill>
              <a:srgbClr val="111111"/>
            </a:solidFill>
            <a:prstDash val="solid"/>
          </a:ln>
        </p:spPr>
      </p:sp>
      <p:sp>
        <p:nvSpPr>
          <p:cNvPr id="43" name="Text 41"/>
          <p:cNvSpPr/>
          <p:nvPr/>
        </p:nvSpPr>
        <p:spPr>
          <a:xfrm>
            <a:off x="6571336" y="1788795"/>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09</a:t>
            </a:r>
            <a:endParaRPr lang="en-US" sz="800" dirty="0"/>
          </a:p>
        </p:txBody>
      </p:sp>
      <p:sp>
        <p:nvSpPr>
          <p:cNvPr id="44" name="Text 42"/>
          <p:cNvSpPr/>
          <p:nvPr/>
        </p:nvSpPr>
        <p:spPr>
          <a:xfrm>
            <a:off x="6955384" y="1755648"/>
            <a:ext cx="4321912" cy="32232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버린 이유가 한 줄씩 적혀 있다</a:t>
            </a:r>
            <a:endParaRPr lang="en-US" sz="1050" dirty="0"/>
          </a:p>
        </p:txBody>
      </p:sp>
      <p:sp>
        <p:nvSpPr>
          <p:cNvPr id="45" name="Shape 43"/>
          <p:cNvSpPr/>
          <p:nvPr/>
        </p:nvSpPr>
        <p:spPr>
          <a:xfrm>
            <a:off x="6297016" y="2224278"/>
            <a:ext cx="5254600" cy="322326"/>
          </a:xfrm>
          <a:prstGeom prst="rect">
            <a:avLst/>
          </a:prstGeom>
          <a:solidFill>
            <a:srgbClr val="F2F2F2"/>
          </a:solidFill>
          <a:ln w="12700">
            <a:solidFill>
              <a:srgbClr val="F2F2F2"/>
            </a:solidFill>
            <a:prstDash val="solid"/>
          </a:ln>
        </p:spPr>
      </p:sp>
      <p:sp>
        <p:nvSpPr>
          <p:cNvPr id="46" name="Shape 44"/>
          <p:cNvSpPr/>
          <p:nvPr/>
        </p:nvSpPr>
        <p:spPr>
          <a:xfrm>
            <a:off x="6571336" y="2257425"/>
            <a:ext cx="256032" cy="256032"/>
          </a:xfrm>
          <a:prstGeom prst="ellipse">
            <a:avLst/>
          </a:prstGeom>
          <a:solidFill>
            <a:srgbClr val="F2F2F2"/>
          </a:solidFill>
          <a:ln w="12700">
            <a:solidFill>
              <a:srgbClr val="111111"/>
            </a:solidFill>
            <a:prstDash val="solid"/>
          </a:ln>
        </p:spPr>
      </p:sp>
      <p:sp>
        <p:nvSpPr>
          <p:cNvPr id="47" name="Text 45"/>
          <p:cNvSpPr/>
          <p:nvPr/>
        </p:nvSpPr>
        <p:spPr>
          <a:xfrm>
            <a:off x="6571336" y="2257425"/>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10</a:t>
            </a:r>
            <a:endParaRPr lang="en-US" sz="800" dirty="0"/>
          </a:p>
        </p:txBody>
      </p:sp>
      <p:sp>
        <p:nvSpPr>
          <p:cNvPr id="48" name="Text 46"/>
          <p:cNvSpPr/>
          <p:nvPr/>
        </p:nvSpPr>
        <p:spPr>
          <a:xfrm>
            <a:off x="6955384" y="2224278"/>
            <a:ext cx="4321912" cy="32232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결과 지면에 큰 것 하나가 있다</a:t>
            </a:r>
            <a:endParaRPr lang="en-US" sz="1050" dirty="0"/>
          </a:p>
        </p:txBody>
      </p:sp>
      <p:sp>
        <p:nvSpPr>
          <p:cNvPr id="49" name="Shape 47"/>
          <p:cNvSpPr/>
          <p:nvPr/>
        </p:nvSpPr>
        <p:spPr>
          <a:xfrm>
            <a:off x="6297016" y="2692908"/>
            <a:ext cx="5254600" cy="322326"/>
          </a:xfrm>
          <a:prstGeom prst="rect">
            <a:avLst/>
          </a:prstGeom>
          <a:solidFill>
            <a:srgbClr val="F2F2F2"/>
          </a:solidFill>
          <a:ln w="12700">
            <a:solidFill>
              <a:srgbClr val="F2F2F2"/>
            </a:solidFill>
            <a:prstDash val="solid"/>
          </a:ln>
        </p:spPr>
      </p:sp>
      <p:sp>
        <p:nvSpPr>
          <p:cNvPr id="50" name="Shape 48"/>
          <p:cNvSpPr/>
          <p:nvPr/>
        </p:nvSpPr>
        <p:spPr>
          <a:xfrm>
            <a:off x="6571336" y="2726055"/>
            <a:ext cx="256032" cy="256032"/>
          </a:xfrm>
          <a:prstGeom prst="ellipse">
            <a:avLst/>
          </a:prstGeom>
          <a:solidFill>
            <a:srgbClr val="F2F2F2"/>
          </a:solidFill>
          <a:ln w="12700">
            <a:solidFill>
              <a:srgbClr val="111111"/>
            </a:solidFill>
            <a:prstDash val="solid"/>
          </a:ln>
        </p:spPr>
      </p:sp>
      <p:sp>
        <p:nvSpPr>
          <p:cNvPr id="51" name="Text 49"/>
          <p:cNvSpPr/>
          <p:nvPr/>
        </p:nvSpPr>
        <p:spPr>
          <a:xfrm>
            <a:off x="6571336" y="2726055"/>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11</a:t>
            </a:r>
            <a:endParaRPr lang="en-US" sz="800" dirty="0"/>
          </a:p>
        </p:txBody>
      </p:sp>
      <p:sp>
        <p:nvSpPr>
          <p:cNvPr id="52" name="Text 50"/>
          <p:cNvSpPr/>
          <p:nvPr/>
        </p:nvSpPr>
        <p:spPr>
          <a:xfrm>
            <a:off x="6955384" y="2692908"/>
            <a:ext cx="4321912" cy="32232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결과 지면 맨 아래에 달라진 것이 적혀 있다</a:t>
            </a:r>
            <a:endParaRPr lang="en-US" sz="1050" dirty="0"/>
          </a:p>
        </p:txBody>
      </p:sp>
      <p:sp>
        <p:nvSpPr>
          <p:cNvPr id="53" name="Shape 51"/>
          <p:cNvSpPr/>
          <p:nvPr/>
        </p:nvSpPr>
        <p:spPr>
          <a:xfrm>
            <a:off x="6297016" y="3161538"/>
            <a:ext cx="5254600" cy="322326"/>
          </a:xfrm>
          <a:prstGeom prst="rect">
            <a:avLst/>
          </a:prstGeom>
          <a:solidFill>
            <a:srgbClr val="F2F2F2"/>
          </a:solidFill>
          <a:ln w="12700">
            <a:solidFill>
              <a:srgbClr val="F2F2F2"/>
            </a:solidFill>
            <a:prstDash val="solid"/>
          </a:ln>
        </p:spPr>
      </p:sp>
      <p:sp>
        <p:nvSpPr>
          <p:cNvPr id="54" name="Shape 52"/>
          <p:cNvSpPr/>
          <p:nvPr/>
        </p:nvSpPr>
        <p:spPr>
          <a:xfrm>
            <a:off x="6571336" y="3194685"/>
            <a:ext cx="256032" cy="256032"/>
          </a:xfrm>
          <a:prstGeom prst="ellipse">
            <a:avLst/>
          </a:prstGeom>
          <a:solidFill>
            <a:srgbClr val="F2F2F2"/>
          </a:solidFill>
          <a:ln w="12700">
            <a:solidFill>
              <a:srgbClr val="111111"/>
            </a:solidFill>
            <a:prstDash val="solid"/>
          </a:ln>
        </p:spPr>
      </p:sp>
      <p:sp>
        <p:nvSpPr>
          <p:cNvPr id="55" name="Text 53"/>
          <p:cNvSpPr/>
          <p:nvPr/>
        </p:nvSpPr>
        <p:spPr>
          <a:xfrm>
            <a:off x="6571336" y="3194685"/>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12</a:t>
            </a:r>
            <a:endParaRPr lang="en-US" sz="800" dirty="0"/>
          </a:p>
        </p:txBody>
      </p:sp>
      <p:sp>
        <p:nvSpPr>
          <p:cNvPr id="56" name="Text 54"/>
          <p:cNvSpPr/>
          <p:nvPr/>
        </p:nvSpPr>
        <p:spPr>
          <a:xfrm>
            <a:off x="6955384" y="3161538"/>
            <a:ext cx="4321912" cy="32232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작업 사진을 시간순으로만 붙인 곳이 없다</a:t>
            </a:r>
            <a:endParaRPr lang="en-US" sz="1050" dirty="0"/>
          </a:p>
        </p:txBody>
      </p:sp>
      <p:sp>
        <p:nvSpPr>
          <p:cNvPr id="57" name="Shape 55"/>
          <p:cNvSpPr/>
          <p:nvPr/>
        </p:nvSpPr>
        <p:spPr>
          <a:xfrm>
            <a:off x="6297016" y="3630168"/>
            <a:ext cx="5254600" cy="322326"/>
          </a:xfrm>
          <a:prstGeom prst="rect">
            <a:avLst/>
          </a:prstGeom>
          <a:solidFill>
            <a:srgbClr val="F2F2F2"/>
          </a:solidFill>
          <a:ln w="12700">
            <a:solidFill>
              <a:srgbClr val="F2F2F2"/>
            </a:solidFill>
            <a:prstDash val="solid"/>
          </a:ln>
        </p:spPr>
      </p:sp>
      <p:sp>
        <p:nvSpPr>
          <p:cNvPr id="58" name="Shape 56"/>
          <p:cNvSpPr/>
          <p:nvPr/>
        </p:nvSpPr>
        <p:spPr>
          <a:xfrm>
            <a:off x="6571336" y="3663315"/>
            <a:ext cx="256032" cy="256032"/>
          </a:xfrm>
          <a:prstGeom prst="ellipse">
            <a:avLst/>
          </a:prstGeom>
          <a:solidFill>
            <a:srgbClr val="F2F2F2"/>
          </a:solidFill>
          <a:ln w="12700">
            <a:solidFill>
              <a:srgbClr val="111111"/>
            </a:solidFill>
            <a:prstDash val="solid"/>
          </a:ln>
        </p:spPr>
      </p:sp>
      <p:sp>
        <p:nvSpPr>
          <p:cNvPr id="59" name="Text 57"/>
          <p:cNvSpPr/>
          <p:nvPr/>
        </p:nvSpPr>
        <p:spPr>
          <a:xfrm>
            <a:off x="6571336" y="3663315"/>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13</a:t>
            </a:r>
            <a:endParaRPr lang="en-US" sz="800" dirty="0"/>
          </a:p>
        </p:txBody>
      </p:sp>
      <p:sp>
        <p:nvSpPr>
          <p:cNvPr id="60" name="Text 58"/>
          <p:cNvSpPr/>
          <p:nvPr/>
        </p:nvSpPr>
        <p:spPr>
          <a:xfrm>
            <a:off x="6955384" y="3630168"/>
            <a:ext cx="4321912" cy="32232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세 장의 제목이 같은 자리에 있다</a:t>
            </a:r>
            <a:endParaRPr lang="en-US" sz="1050" dirty="0"/>
          </a:p>
        </p:txBody>
      </p:sp>
      <p:sp>
        <p:nvSpPr>
          <p:cNvPr id="61" name="Shape 59"/>
          <p:cNvSpPr/>
          <p:nvPr/>
        </p:nvSpPr>
        <p:spPr>
          <a:xfrm>
            <a:off x="6297016" y="4098798"/>
            <a:ext cx="5254600" cy="322326"/>
          </a:xfrm>
          <a:prstGeom prst="rect">
            <a:avLst/>
          </a:prstGeom>
          <a:solidFill>
            <a:srgbClr val="F2F2F2"/>
          </a:solidFill>
          <a:ln w="12700">
            <a:solidFill>
              <a:srgbClr val="F2F2F2"/>
            </a:solidFill>
            <a:prstDash val="solid"/>
          </a:ln>
        </p:spPr>
      </p:sp>
      <p:sp>
        <p:nvSpPr>
          <p:cNvPr id="62" name="Shape 60"/>
          <p:cNvSpPr/>
          <p:nvPr/>
        </p:nvSpPr>
        <p:spPr>
          <a:xfrm>
            <a:off x="6571336" y="4131945"/>
            <a:ext cx="256032" cy="256032"/>
          </a:xfrm>
          <a:prstGeom prst="ellipse">
            <a:avLst/>
          </a:prstGeom>
          <a:solidFill>
            <a:srgbClr val="F2F2F2"/>
          </a:solidFill>
          <a:ln w="12700">
            <a:solidFill>
              <a:srgbClr val="111111"/>
            </a:solidFill>
            <a:prstDash val="solid"/>
          </a:ln>
        </p:spPr>
      </p:sp>
      <p:sp>
        <p:nvSpPr>
          <p:cNvPr id="63" name="Text 61"/>
          <p:cNvSpPr/>
          <p:nvPr/>
        </p:nvSpPr>
        <p:spPr>
          <a:xfrm>
            <a:off x="6571336" y="4131945"/>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14</a:t>
            </a:r>
            <a:endParaRPr lang="en-US" sz="800" dirty="0"/>
          </a:p>
        </p:txBody>
      </p:sp>
      <p:sp>
        <p:nvSpPr>
          <p:cNvPr id="64" name="Text 62"/>
          <p:cNvSpPr/>
          <p:nvPr/>
        </p:nvSpPr>
        <p:spPr>
          <a:xfrm>
            <a:off x="6955384" y="4098798"/>
            <a:ext cx="4321912" cy="32232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글자 크기 단계가 셋 이하다</a:t>
            </a:r>
            <a:endParaRPr lang="en-US" sz="1050" dirty="0"/>
          </a:p>
        </p:txBody>
      </p:sp>
      <p:sp>
        <p:nvSpPr>
          <p:cNvPr id="65" name="Shape 63"/>
          <p:cNvSpPr/>
          <p:nvPr/>
        </p:nvSpPr>
        <p:spPr>
          <a:xfrm>
            <a:off x="6297016" y="4567428"/>
            <a:ext cx="5254600" cy="322326"/>
          </a:xfrm>
          <a:prstGeom prst="rect">
            <a:avLst/>
          </a:prstGeom>
          <a:solidFill>
            <a:srgbClr val="F2F2F2"/>
          </a:solidFill>
          <a:ln w="12700">
            <a:solidFill>
              <a:srgbClr val="F2F2F2"/>
            </a:solidFill>
            <a:prstDash val="solid"/>
          </a:ln>
        </p:spPr>
      </p:sp>
      <p:sp>
        <p:nvSpPr>
          <p:cNvPr id="66" name="Shape 64"/>
          <p:cNvSpPr/>
          <p:nvPr/>
        </p:nvSpPr>
        <p:spPr>
          <a:xfrm>
            <a:off x="6571336" y="4600575"/>
            <a:ext cx="256032" cy="256032"/>
          </a:xfrm>
          <a:prstGeom prst="ellipse">
            <a:avLst/>
          </a:prstGeom>
          <a:solidFill>
            <a:srgbClr val="F2F2F2"/>
          </a:solidFill>
          <a:ln w="12700">
            <a:solidFill>
              <a:srgbClr val="111111"/>
            </a:solidFill>
            <a:prstDash val="solid"/>
          </a:ln>
        </p:spPr>
      </p:sp>
      <p:sp>
        <p:nvSpPr>
          <p:cNvPr id="67" name="Text 65"/>
          <p:cNvSpPr/>
          <p:nvPr/>
        </p:nvSpPr>
        <p:spPr>
          <a:xfrm>
            <a:off x="6571336" y="4600575"/>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15</a:t>
            </a:r>
            <a:endParaRPr lang="en-US" sz="800" dirty="0"/>
          </a:p>
        </p:txBody>
      </p:sp>
      <p:sp>
        <p:nvSpPr>
          <p:cNvPr id="68" name="Text 66"/>
          <p:cNvSpPr/>
          <p:nvPr/>
        </p:nvSpPr>
        <p:spPr>
          <a:xfrm>
            <a:off x="6955384" y="4567428"/>
            <a:ext cx="4321912" cy="32232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훑어보기만 해도 무슨 프로젝트인지 안다</a:t>
            </a:r>
            <a:endParaRPr lang="en-US" sz="1050" dirty="0"/>
          </a:p>
        </p:txBody>
      </p:sp>
      <p:sp>
        <p:nvSpPr>
          <p:cNvPr id="69" name="Shape 67"/>
          <p:cNvSpPr/>
          <p:nvPr/>
        </p:nvSpPr>
        <p:spPr>
          <a:xfrm>
            <a:off x="6297016" y="5036058"/>
            <a:ext cx="5254600" cy="322326"/>
          </a:xfrm>
          <a:prstGeom prst="rect">
            <a:avLst/>
          </a:prstGeom>
          <a:solidFill>
            <a:srgbClr val="F2F2F2"/>
          </a:solidFill>
          <a:ln w="12700">
            <a:solidFill>
              <a:srgbClr val="F2F2F2"/>
            </a:solidFill>
            <a:prstDash val="solid"/>
          </a:ln>
        </p:spPr>
      </p:sp>
      <p:sp>
        <p:nvSpPr>
          <p:cNvPr id="70" name="Shape 68"/>
          <p:cNvSpPr/>
          <p:nvPr/>
        </p:nvSpPr>
        <p:spPr>
          <a:xfrm>
            <a:off x="6571336" y="5069205"/>
            <a:ext cx="256032" cy="256032"/>
          </a:xfrm>
          <a:prstGeom prst="ellipse">
            <a:avLst/>
          </a:prstGeom>
          <a:solidFill>
            <a:srgbClr val="F2F2F2"/>
          </a:solidFill>
          <a:ln w="12700">
            <a:solidFill>
              <a:srgbClr val="111111"/>
            </a:solidFill>
            <a:prstDash val="solid"/>
          </a:ln>
        </p:spPr>
      </p:sp>
      <p:sp>
        <p:nvSpPr>
          <p:cNvPr id="71" name="Text 69"/>
          <p:cNvSpPr/>
          <p:nvPr/>
        </p:nvSpPr>
        <p:spPr>
          <a:xfrm>
            <a:off x="6571336" y="5069205"/>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16</a:t>
            </a:r>
            <a:endParaRPr lang="en-US" sz="800" dirty="0"/>
          </a:p>
        </p:txBody>
      </p:sp>
      <p:sp>
        <p:nvSpPr>
          <p:cNvPr id="72" name="Text 70"/>
          <p:cNvSpPr/>
          <p:nvPr/>
        </p:nvSpPr>
        <p:spPr>
          <a:xfrm>
            <a:off x="6955384" y="5036058"/>
            <a:ext cx="4321912" cy="32232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전 프로젝트의 문제 문장을 한 줄씩 썼다</a:t>
            </a:r>
            <a:endParaRPr lang="en-US" sz="1050" dirty="0"/>
          </a:p>
        </p:txBody>
      </p:sp>
      <p:sp>
        <p:nvSpPr>
          <p:cNvPr id="73" name="Shape 71"/>
          <p:cNvSpPr/>
          <p:nvPr/>
        </p:nvSpPr>
        <p:spPr>
          <a:xfrm>
            <a:off x="640080" y="5559552"/>
            <a:ext cx="10911535" cy="7315"/>
          </a:xfrm>
          <a:prstGeom prst="rect">
            <a:avLst/>
          </a:prstGeom>
          <a:solidFill>
            <a:srgbClr val="111111"/>
          </a:solidFill>
          <a:ln w="12700">
            <a:solidFill>
              <a:srgbClr val="111111"/>
            </a:solidFill>
            <a:prstDash val="solid"/>
          </a:ln>
        </p:spPr>
      </p:sp>
      <p:sp>
        <p:nvSpPr>
          <p:cNvPr id="74" name="Text 72"/>
          <p:cNvSpPr/>
          <p:nvPr/>
        </p:nvSpPr>
        <p:spPr>
          <a:xfrm>
            <a:off x="640080" y="5669280"/>
            <a:ext cx="10911535" cy="402336"/>
          </a:xfrm>
          <a:prstGeom prst="rect">
            <a:avLst/>
          </a:prstGeom>
          <a:noFill/>
          <a:ln/>
        </p:spPr>
        <p:txBody>
          <a:bodyPr wrap="square" lIns="0" tIns="0" rIns="0" bIns="0" rtlCol="0" anchor="ctr"/>
          <a:lstStyle/>
          <a:p>
            <a:pPr indent="0" marL="0">
              <a:buNone/>
            </a:pPr>
            <a:r>
              <a:rPr lang="en-US" sz="1250" b="1" dirty="0">
                <a:solidFill>
                  <a:srgbClr val="111111"/>
                </a:solidFill>
                <a:latin typeface="Pretendard" pitchFamily="34" charset="0"/>
                <a:ea typeface="Pretendard" pitchFamily="34" charset="-122"/>
                <a:cs typeface="Pretendard" pitchFamily="34" charset="-120"/>
              </a:rPr>
              <a:t>13~14 번이 일관성을 만듭니다. 각 지면이 아무리 좋아도 이 둘이 안 맞으면 산만해 보입니다.</a:t>
            </a:r>
            <a:endParaRPr lang="en-US" sz="1250" dirty="0"/>
          </a:p>
        </p:txBody>
      </p:sp>
      <p:sp>
        <p:nvSpPr>
          <p:cNvPr id="75" name="Shape 73"/>
          <p:cNvSpPr/>
          <p:nvPr/>
        </p:nvSpPr>
        <p:spPr>
          <a:xfrm>
            <a:off x="640080" y="6291072"/>
            <a:ext cx="10911535" cy="7315"/>
          </a:xfrm>
          <a:prstGeom prst="rect">
            <a:avLst/>
          </a:prstGeom>
          <a:solidFill>
            <a:srgbClr val="DCDCDC"/>
          </a:solidFill>
          <a:ln w="12700">
            <a:solidFill>
              <a:srgbClr val="DCDCDC"/>
            </a:solidFill>
            <a:prstDash val="solid"/>
          </a:ln>
        </p:spPr>
      </p:sp>
      <p:sp>
        <p:nvSpPr>
          <p:cNvPr id="76" name="Text 74"/>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포트폴리오제작 · 5주차 콘텐츠 구조화 — 세 지면 만들기</a:t>
            </a:r>
            <a:endParaRPr lang="en-US" sz="850" dirty="0"/>
          </a:p>
        </p:txBody>
      </p:sp>
      <p:sp>
        <p:nvSpPr>
          <p:cNvPr id="77" name="Text 75"/>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2 콘텐츠 구조화와 비주얼 시스템</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05</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HOMEWORK</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과제와 다음 주</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다음 회차는 중간 발표입니다. 격주라 2주 뒤입니다.</a:t>
            </a:r>
            <a:endParaRPr lang="en-US" sz="1150" dirty="0"/>
          </a:p>
        </p:txBody>
      </p:sp>
      <p:sp>
        <p:nvSpPr>
          <p:cNvPr id="9" name="Shape 7"/>
          <p:cNvSpPr/>
          <p:nvPr/>
        </p:nvSpPr>
        <p:spPr>
          <a:xfrm>
            <a:off x="640080" y="1719072"/>
            <a:ext cx="6309360" cy="896112"/>
          </a:xfrm>
          <a:prstGeom prst="rect">
            <a:avLst/>
          </a:prstGeom>
          <a:solidFill>
            <a:srgbClr val="FFFFFF"/>
          </a:solidFill>
          <a:ln w="12700">
            <a:solidFill>
              <a:srgbClr val="DCDCDC"/>
            </a:solidFill>
            <a:prstDash val="solid"/>
          </a:ln>
        </p:spPr>
      </p:sp>
      <p:sp>
        <p:nvSpPr>
          <p:cNvPr id="10" name="Shape 8"/>
          <p:cNvSpPr/>
          <p:nvPr/>
        </p:nvSpPr>
        <p:spPr>
          <a:xfrm>
            <a:off x="969264" y="1993392"/>
            <a:ext cx="329184" cy="329184"/>
          </a:xfrm>
          <a:prstGeom prst="ellipse">
            <a:avLst/>
          </a:prstGeom>
          <a:solidFill>
            <a:srgbClr val="111111"/>
          </a:solidFill>
          <a:ln w="12700">
            <a:solidFill>
              <a:srgbClr val="111111"/>
            </a:solidFill>
            <a:prstDash val="solid"/>
          </a:ln>
        </p:spPr>
      </p:sp>
      <p:sp>
        <p:nvSpPr>
          <p:cNvPr id="11" name="Text 9"/>
          <p:cNvSpPr/>
          <p:nvPr/>
        </p:nvSpPr>
        <p:spPr>
          <a:xfrm>
            <a:off x="969264" y="199339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1</a:t>
            </a:r>
            <a:endParaRPr lang="en-US" sz="1100" dirty="0"/>
          </a:p>
        </p:txBody>
      </p:sp>
      <p:sp>
        <p:nvSpPr>
          <p:cNvPr id="12" name="Text 10"/>
          <p:cNvSpPr/>
          <p:nvPr/>
        </p:nvSpPr>
        <p:spPr>
          <a:xfrm>
            <a:off x="1426464" y="1810512"/>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대표 프로젝트 세 지면</a:t>
            </a:r>
            <a:endParaRPr lang="en-US" sz="1400" dirty="0"/>
          </a:p>
        </p:txBody>
      </p:sp>
      <p:sp>
        <p:nvSpPr>
          <p:cNvPr id="13" name="Text 11"/>
          <p:cNvSpPr/>
          <p:nvPr/>
        </p:nvSpPr>
        <p:spPr>
          <a:xfrm>
            <a:off x="1426464" y="2121408"/>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오늘 짠 뼈대를 채워 실제 지면 세 장으로 만듭니다. 색과 서체는 아직 신경 쓰지 않아도 됩니다.</a:t>
            </a:r>
            <a:endParaRPr lang="en-US" sz="1100" dirty="0"/>
          </a:p>
        </p:txBody>
      </p:sp>
      <p:sp>
        <p:nvSpPr>
          <p:cNvPr id="14" name="Shape 12"/>
          <p:cNvSpPr/>
          <p:nvPr/>
        </p:nvSpPr>
        <p:spPr>
          <a:xfrm>
            <a:off x="640080" y="2743200"/>
            <a:ext cx="6309360" cy="896112"/>
          </a:xfrm>
          <a:prstGeom prst="rect">
            <a:avLst/>
          </a:prstGeom>
          <a:solidFill>
            <a:srgbClr val="FFFFFF"/>
          </a:solidFill>
          <a:ln w="12700">
            <a:solidFill>
              <a:srgbClr val="DCDCDC"/>
            </a:solidFill>
            <a:prstDash val="solid"/>
          </a:ln>
        </p:spPr>
      </p:sp>
      <p:sp>
        <p:nvSpPr>
          <p:cNvPr id="15" name="Shape 13"/>
          <p:cNvSpPr/>
          <p:nvPr/>
        </p:nvSpPr>
        <p:spPr>
          <a:xfrm>
            <a:off x="969264" y="3017520"/>
            <a:ext cx="329184" cy="329184"/>
          </a:xfrm>
          <a:prstGeom prst="ellipse">
            <a:avLst/>
          </a:prstGeom>
          <a:solidFill>
            <a:srgbClr val="111111"/>
          </a:solidFill>
          <a:ln w="12700">
            <a:solidFill>
              <a:srgbClr val="111111"/>
            </a:solidFill>
            <a:prstDash val="solid"/>
          </a:ln>
        </p:spPr>
      </p:sp>
      <p:sp>
        <p:nvSpPr>
          <p:cNvPr id="16" name="Text 14"/>
          <p:cNvSpPr/>
          <p:nvPr/>
        </p:nvSpPr>
        <p:spPr>
          <a:xfrm>
            <a:off x="969264" y="30175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2</a:t>
            </a:r>
            <a:endParaRPr lang="en-US" sz="1100" dirty="0"/>
          </a:p>
        </p:txBody>
      </p:sp>
      <p:sp>
        <p:nvSpPr>
          <p:cNvPr id="17" name="Text 15"/>
          <p:cNvSpPr/>
          <p:nvPr/>
        </p:nvSpPr>
        <p:spPr>
          <a:xfrm>
            <a:off x="1426464" y="2834640"/>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전 프로젝트 문제 문장</a:t>
            </a:r>
            <a:endParaRPr lang="en-US" sz="1400" dirty="0"/>
          </a:p>
        </p:txBody>
      </p:sp>
      <p:sp>
        <p:nvSpPr>
          <p:cNvPr id="18" name="Text 16"/>
          <p:cNvSpPr/>
          <p:nvPr/>
        </p:nvSpPr>
        <p:spPr>
          <a:xfrm>
            <a:off x="1426464" y="3145536"/>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포트폴리오에 넣을 프로젝트 전부에 대해 문제 문장을 한 줄씩 씁니다. 지면은 아직 안 만들어도 됩니다.</a:t>
            </a:r>
            <a:endParaRPr lang="en-US" sz="1100" dirty="0"/>
          </a:p>
        </p:txBody>
      </p:sp>
      <p:sp>
        <p:nvSpPr>
          <p:cNvPr id="19" name="Shape 17"/>
          <p:cNvSpPr/>
          <p:nvPr/>
        </p:nvSpPr>
        <p:spPr>
          <a:xfrm>
            <a:off x="640080" y="3767328"/>
            <a:ext cx="6309360" cy="896112"/>
          </a:xfrm>
          <a:prstGeom prst="rect">
            <a:avLst/>
          </a:prstGeom>
          <a:solidFill>
            <a:srgbClr val="FFFFFF"/>
          </a:solidFill>
          <a:ln w="12700">
            <a:solidFill>
              <a:srgbClr val="DCDCDC"/>
            </a:solidFill>
            <a:prstDash val="solid"/>
          </a:ln>
        </p:spPr>
      </p:sp>
      <p:sp>
        <p:nvSpPr>
          <p:cNvPr id="20" name="Shape 18"/>
          <p:cNvSpPr/>
          <p:nvPr/>
        </p:nvSpPr>
        <p:spPr>
          <a:xfrm>
            <a:off x="969264" y="4041648"/>
            <a:ext cx="329184" cy="329184"/>
          </a:xfrm>
          <a:prstGeom prst="ellipse">
            <a:avLst/>
          </a:prstGeom>
          <a:solidFill>
            <a:srgbClr val="111111"/>
          </a:solidFill>
          <a:ln w="12700">
            <a:solidFill>
              <a:srgbClr val="111111"/>
            </a:solidFill>
            <a:prstDash val="solid"/>
          </a:ln>
        </p:spPr>
      </p:sp>
      <p:sp>
        <p:nvSpPr>
          <p:cNvPr id="21" name="Text 19"/>
          <p:cNvSpPr/>
          <p:nvPr/>
        </p:nvSpPr>
        <p:spPr>
          <a:xfrm>
            <a:off x="969264" y="40416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3</a:t>
            </a:r>
            <a:endParaRPr lang="en-US" sz="1100" dirty="0"/>
          </a:p>
        </p:txBody>
      </p:sp>
      <p:sp>
        <p:nvSpPr>
          <p:cNvPr id="22" name="Text 20"/>
          <p:cNvSpPr/>
          <p:nvPr/>
        </p:nvSpPr>
        <p:spPr>
          <a:xfrm>
            <a:off x="1426464" y="3858768"/>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중간 발표 준비</a:t>
            </a:r>
            <a:endParaRPr lang="en-US" sz="1400" dirty="0"/>
          </a:p>
        </p:txBody>
      </p:sp>
      <p:sp>
        <p:nvSpPr>
          <p:cNvPr id="23" name="Text 21"/>
          <p:cNvSpPr/>
          <p:nvPr/>
        </p:nvSpPr>
        <p:spPr>
          <a:xfrm>
            <a:off x="1426464" y="4169664"/>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다음 회차가 중간 발표입니다. 새로 만들지 말고 지금까지 만든 것을 순서대로 엮으세요. 5분 분량입니다.</a:t>
            </a:r>
            <a:endParaRPr lang="en-US" sz="1100" dirty="0"/>
          </a:p>
        </p:txBody>
      </p:sp>
      <p:sp>
        <p:nvSpPr>
          <p:cNvPr id="24" name="Shape 22"/>
          <p:cNvSpPr/>
          <p:nvPr/>
        </p:nvSpPr>
        <p:spPr>
          <a:xfrm>
            <a:off x="640080" y="4809744"/>
            <a:ext cx="6309360" cy="7315"/>
          </a:xfrm>
          <a:prstGeom prst="rect">
            <a:avLst/>
          </a:prstGeom>
          <a:solidFill>
            <a:srgbClr val="111111"/>
          </a:solidFill>
          <a:ln w="12700">
            <a:solidFill>
              <a:srgbClr val="111111"/>
            </a:solidFill>
            <a:prstDash val="solid"/>
          </a:ln>
        </p:spPr>
      </p:sp>
      <p:sp>
        <p:nvSpPr>
          <p:cNvPr id="25" name="Text 23"/>
          <p:cNvSpPr/>
          <p:nvPr/>
        </p:nvSpPr>
        <p:spPr>
          <a:xfrm>
            <a:off x="640080" y="4901184"/>
            <a:ext cx="6309360" cy="329184"/>
          </a:xfrm>
          <a:prstGeom prst="rect">
            <a:avLst/>
          </a:prstGeom>
          <a:noFill/>
          <a:ln/>
        </p:spPr>
        <p:txBody>
          <a:bodyPr wrap="square" lIns="0" tIns="0" rIns="0" bIns="0" rtlCol="0" anchor="ctr"/>
          <a:lstStyle/>
          <a:p>
            <a:pPr indent="0" marL="0">
              <a:buNone/>
            </a:pPr>
            <a:r>
              <a:rPr lang="en-US" sz="1200" b="1" dirty="0">
                <a:solidFill>
                  <a:srgbClr val="111111"/>
                </a:solidFill>
                <a:latin typeface="Pretendard" pitchFamily="34" charset="0"/>
                <a:ea typeface="Pretendard" pitchFamily="34" charset="-122"/>
                <a:cs typeface="Pretendard" pitchFamily="34" charset="-120"/>
              </a:rPr>
              <a:t>제출 — 10월 27일(화) 수업 전까지 · 클래스룸 업로드</a:t>
            </a:r>
            <a:endParaRPr lang="en-US" sz="1200" dirty="0"/>
          </a:p>
        </p:txBody>
      </p:sp>
      <p:sp>
        <p:nvSpPr>
          <p:cNvPr id="26" name="Shape 24"/>
          <p:cNvSpPr/>
          <p:nvPr/>
        </p:nvSpPr>
        <p:spPr>
          <a:xfrm>
            <a:off x="7351776" y="1719072"/>
            <a:ext cx="4199839" cy="3803904"/>
          </a:xfrm>
          <a:prstGeom prst="rect">
            <a:avLst/>
          </a:prstGeom>
          <a:solidFill>
            <a:srgbClr val="111111"/>
          </a:solidFill>
          <a:ln w="12700">
            <a:solidFill>
              <a:srgbClr val="111111"/>
            </a:solidFill>
            <a:prstDash val="solid"/>
          </a:ln>
        </p:spPr>
      </p:sp>
      <p:sp>
        <p:nvSpPr>
          <p:cNvPr id="27" name="Text 25"/>
          <p:cNvSpPr/>
          <p:nvPr/>
        </p:nvSpPr>
        <p:spPr>
          <a:xfrm>
            <a:off x="7735824" y="1993392"/>
            <a:ext cx="3431743" cy="256032"/>
          </a:xfrm>
          <a:prstGeom prst="rect">
            <a:avLst/>
          </a:prstGeom>
          <a:noFill/>
          <a:ln/>
        </p:spPr>
        <p:txBody>
          <a:bodyPr wrap="square" lIns="0" tIns="0" rIns="0" bIns="0" rtlCol="0" anchor="ctr"/>
          <a:lstStyle/>
          <a:p>
            <a:pPr indent="0" marL="0">
              <a:buNone/>
            </a:pPr>
            <a:r>
              <a:rPr lang="en-US" sz="950" spc="260" kern="0" dirty="0">
                <a:solidFill>
                  <a:srgbClr val="9A9A9A"/>
                </a:solidFill>
                <a:latin typeface="Pretendard" pitchFamily="34" charset="0"/>
                <a:ea typeface="Pretendard" pitchFamily="34" charset="-122"/>
                <a:cs typeface="Pretendard" pitchFamily="34" charset="-120"/>
              </a:rPr>
              <a:t>NEXT WEEK</a:t>
            </a:r>
            <a:endParaRPr lang="en-US" sz="950" dirty="0"/>
          </a:p>
        </p:txBody>
      </p:sp>
      <p:sp>
        <p:nvSpPr>
          <p:cNvPr id="28" name="Text 26"/>
          <p:cNvSpPr/>
          <p:nvPr/>
        </p:nvSpPr>
        <p:spPr>
          <a:xfrm>
            <a:off x="7735824" y="2286000"/>
            <a:ext cx="3431743" cy="402336"/>
          </a:xfrm>
          <a:prstGeom prst="rect">
            <a:avLst/>
          </a:prstGeom>
          <a:noFill/>
          <a:ln/>
        </p:spPr>
        <p:txBody>
          <a:bodyPr wrap="square" lIns="0" tIns="0" rIns="0" bIns="0" rtlCol="0" anchor="ctr"/>
          <a:lstStyle/>
          <a:p>
            <a:pPr indent="0" marL="0">
              <a:buNone/>
            </a:pPr>
            <a:r>
              <a:rPr lang="en-US" sz="2600" dirty="0">
                <a:solidFill>
                  <a:srgbClr val="FFFFFF"/>
                </a:solidFill>
                <a:latin typeface="Pretendard Light" pitchFamily="34" charset="0"/>
                <a:ea typeface="Pretendard Light" pitchFamily="34" charset="-122"/>
                <a:cs typeface="Pretendard Light" pitchFamily="34" charset="-120"/>
              </a:rPr>
              <a:t>06주차</a:t>
            </a:r>
            <a:endParaRPr lang="en-US" sz="2600" dirty="0"/>
          </a:p>
        </p:txBody>
      </p:sp>
      <p:sp>
        <p:nvSpPr>
          <p:cNvPr id="29" name="Text 27"/>
          <p:cNvSpPr/>
          <p:nvPr/>
        </p:nvSpPr>
        <p:spPr>
          <a:xfrm>
            <a:off x="7735824" y="2743200"/>
            <a:ext cx="3431743" cy="512064"/>
          </a:xfrm>
          <a:prstGeom prst="rect">
            <a:avLst/>
          </a:prstGeom>
          <a:noFill/>
          <a:ln/>
        </p:spPr>
        <p:txBody>
          <a:bodyPr wrap="square" lIns="0" tIns="0" rIns="0" bIns="0" rtlCol="0" anchor="t"/>
          <a:lstStyle/>
          <a:p>
            <a:pPr indent="0" marL="0">
              <a:lnSpc>
                <a:spcPct val="116000"/>
              </a:lnSpc>
              <a:buNone/>
            </a:pPr>
            <a:r>
              <a:rPr lang="en-US" sz="1700" dirty="0">
                <a:solidFill>
                  <a:srgbClr val="FFFFFF"/>
                </a:solidFill>
                <a:latin typeface="Pretendard SemiBold" pitchFamily="34" charset="0"/>
                <a:ea typeface="Pretendard SemiBold" pitchFamily="34" charset="-122"/>
                <a:cs typeface="Pretendard SemiBold" pitchFamily="34" charset="-120"/>
              </a:rPr>
              <a:t>중간 발표</a:t>
            </a:r>
            <a:endParaRPr lang="en-US" sz="1700" dirty="0"/>
          </a:p>
        </p:txBody>
      </p:sp>
      <p:sp>
        <p:nvSpPr>
          <p:cNvPr id="30" name="Shape 28"/>
          <p:cNvSpPr/>
          <p:nvPr/>
        </p:nvSpPr>
        <p:spPr>
          <a:xfrm>
            <a:off x="7735824" y="3346704"/>
            <a:ext cx="3431743" cy="7315"/>
          </a:xfrm>
          <a:prstGeom prst="rect">
            <a:avLst/>
          </a:prstGeom>
          <a:solidFill>
            <a:srgbClr val="333333"/>
          </a:solidFill>
          <a:ln w="12700">
            <a:solidFill>
              <a:srgbClr val="333333"/>
            </a:solidFill>
            <a:prstDash val="solid"/>
          </a:ln>
        </p:spPr>
      </p:sp>
      <p:sp>
        <p:nvSpPr>
          <p:cNvPr id="31" name="Text 29"/>
          <p:cNvSpPr/>
          <p:nvPr/>
        </p:nvSpPr>
        <p:spPr>
          <a:xfrm>
            <a:off x="7735824" y="3493008"/>
            <a:ext cx="3431743" cy="1170432"/>
          </a:xfrm>
          <a:prstGeom prst="rect">
            <a:avLst/>
          </a:prstGeom>
          <a:noFill/>
          <a:ln/>
        </p:spPr>
        <p:txBody>
          <a:bodyPr wrap="square" lIns="0" tIns="0" rIns="0" bIns="0" rtlCol="0" anchor="t"/>
          <a:lstStyle/>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1인 5분 발표</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지금까지 만든 것 점검</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남은 회차 우선순위 정하기</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서로의 진행 상황 보기</a:t>
            </a:r>
            <a:endParaRPr lang="en-US" sz="1150" dirty="0"/>
          </a:p>
        </p:txBody>
      </p:sp>
      <p:sp>
        <p:nvSpPr>
          <p:cNvPr id="32" name="Shape 30"/>
          <p:cNvSpPr/>
          <p:nvPr/>
        </p:nvSpPr>
        <p:spPr>
          <a:xfrm>
            <a:off x="7735824" y="4700016"/>
            <a:ext cx="3431743" cy="7315"/>
          </a:xfrm>
          <a:prstGeom prst="rect">
            <a:avLst/>
          </a:prstGeom>
          <a:solidFill>
            <a:srgbClr val="333333"/>
          </a:solidFill>
          <a:ln w="12700">
            <a:solidFill>
              <a:srgbClr val="333333"/>
            </a:solidFill>
            <a:prstDash val="solid"/>
          </a:ln>
        </p:spPr>
      </p:sp>
      <p:sp>
        <p:nvSpPr>
          <p:cNvPr id="33" name="Text 31"/>
          <p:cNvSpPr/>
          <p:nvPr/>
        </p:nvSpPr>
        <p:spPr>
          <a:xfrm>
            <a:off x="7735824" y="4809744"/>
            <a:ext cx="3431743" cy="237744"/>
          </a:xfrm>
          <a:prstGeom prst="rect">
            <a:avLst/>
          </a:prstGeom>
          <a:noFill/>
          <a:ln/>
        </p:spPr>
        <p:txBody>
          <a:bodyPr wrap="square" lIns="0" tIns="0" rIns="0" bIns="0" rtlCol="0" anchor="ctr"/>
          <a:lstStyle/>
          <a:p>
            <a:pPr indent="0" marL="0">
              <a:buNone/>
            </a:pPr>
            <a:r>
              <a:rPr lang="en-US" sz="900" spc="160" kern="0" dirty="0">
                <a:solidFill>
                  <a:srgbClr val="9B9B9B"/>
                </a:solidFill>
                <a:latin typeface="Pretendard" pitchFamily="34" charset="0"/>
                <a:ea typeface="Pretendard" pitchFamily="34" charset="-122"/>
                <a:cs typeface="Pretendard" pitchFamily="34" charset="-120"/>
              </a:rPr>
              <a:t>미리 준비할 것</a:t>
            </a:r>
            <a:endParaRPr lang="en-US" sz="900" dirty="0"/>
          </a:p>
        </p:txBody>
      </p:sp>
      <p:sp>
        <p:nvSpPr>
          <p:cNvPr id="34" name="Text 32"/>
          <p:cNvSpPr/>
          <p:nvPr/>
        </p:nvSpPr>
        <p:spPr>
          <a:xfrm>
            <a:off x="7735824" y="5065776"/>
            <a:ext cx="3431743" cy="457200"/>
          </a:xfrm>
          <a:prstGeom prst="rect">
            <a:avLst/>
          </a:prstGeom>
          <a:noFill/>
          <a:ln/>
        </p:spPr>
        <p:txBody>
          <a:bodyPr wrap="square" lIns="0" tIns="0" rIns="0" bIns="0" rtlCol="0" anchor="t"/>
          <a:lstStyle/>
          <a:p>
            <a:pPr indent="0" marL="0">
              <a:lnSpc>
                <a:spcPct val="120000"/>
              </a:lnSpc>
              <a:buNone/>
            </a:pPr>
            <a:r>
              <a:rPr lang="en-US" sz="1100" b="1" dirty="0">
                <a:solidFill>
                  <a:srgbClr val="FFFFFF"/>
                </a:solidFill>
                <a:latin typeface="Pretendard" pitchFamily="34" charset="0"/>
                <a:ea typeface="Pretendard" pitchFamily="34" charset="-122"/>
                <a:cs typeface="Pretendard" pitchFamily="34" charset="-120"/>
              </a:rPr>
              <a:t>세 지면 · 전 프로젝트 문제 문장 · 5분 발표 자료</a:t>
            </a:r>
            <a:endParaRPr lang="en-US" sz="1100" dirty="0"/>
          </a:p>
        </p:txBody>
      </p:sp>
      <p:sp>
        <p:nvSpPr>
          <p:cNvPr id="35" name="Shape 33"/>
          <p:cNvSpPr/>
          <p:nvPr/>
        </p:nvSpPr>
        <p:spPr>
          <a:xfrm>
            <a:off x="640080" y="6291072"/>
            <a:ext cx="10911535" cy="7315"/>
          </a:xfrm>
          <a:prstGeom prst="rect">
            <a:avLst/>
          </a:prstGeom>
          <a:solidFill>
            <a:srgbClr val="DCDCDC"/>
          </a:solidFill>
          <a:ln w="12700">
            <a:solidFill>
              <a:srgbClr val="DCDCDC"/>
            </a:solidFill>
            <a:prstDash val="solid"/>
          </a:ln>
        </p:spPr>
      </p:sp>
      <p:sp>
        <p:nvSpPr>
          <p:cNvPr id="36" name="Text 34"/>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포트폴리오제작 · 5주차 콘텐츠 구조화 — 세 지면 만들기</a:t>
            </a:r>
            <a:endParaRPr lang="en-US" sz="850" dirty="0"/>
          </a:p>
        </p:txBody>
      </p:sp>
      <p:sp>
        <p:nvSpPr>
          <p:cNvPr id="37" name="Text 35"/>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P.09</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MIN.D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포트폴리오제작 · 5주차 콘텐츠 구조화 — 세 지면 만들기</dc:title>
  <dc:subject>원광대학교 2026-2 · 실내·산업디자인학과 3학년 · 15주 · 포트폴리오 완성과 발표</dc:subject>
  <dc:creator>MIN.D</dc:creator>
  <cp:lastModifiedBy>MIN.D</cp:lastModifiedBy>
  <cp:revision>1</cp:revision>
  <dcterms:created xsi:type="dcterms:W3CDTF">2026-10-06T13:04:14Z</dcterms:created>
  <dcterms:modified xsi:type="dcterms:W3CDTF">2026-10-06T13:04:14Z</dcterms:modified>
</cp:coreProperties>
</file>