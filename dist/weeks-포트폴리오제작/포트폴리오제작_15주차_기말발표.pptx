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</p:sldIdLst>
  <p:notesMasterIdLst>
    <p:notesMasterId r:id="rId11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notesMaster" Target="notesMasters/notesMaster1.xml"/><Relationship Id="rId12" Type="http://schemas.openxmlformats.org/officeDocument/2006/relationships/presProps" Target="presProps.xml"/><Relationship Id="rId13" Type="http://schemas.openxmlformats.org/officeDocument/2006/relationships/viewProps" Target="viewProps.xml"/><Relationship Id="rId14" Type="http://schemas.openxmlformats.org/officeDocument/2006/relationships/theme" Target="theme/theme1.xml"/><Relationship Id="rId15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인원이 많으면 60분에 7분씩은 8~9명분이다. 2주에 나누거나 5분으로 줄여야 한다. 원본의 '팀별'은 개인 포트폴리오 과목이라 개인 발표로 잡았다.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발표마다 질의를 1~2개씩 받으면 7분이 금방 찬다. 타이머를 띄우고 정확히 끊되, 마지막 총평 20분은 반드시 확보할 것.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4번이 이 과목의 마지막 메시지다. 포트폴리오는 완성되는 것이 아니라 계속 갱신되는 문서다.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타이머 필수. 순서는 미리 공지.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발표 시작 5분 전에 이 슬라이드를 띄워두면 학생들이 스스로 점검한다.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20분. 총평은 개별 지적보다 공통 사항 위주로.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03을 솔직하게 쓰게 하려면 성적과 무관하다는 점을 분명히 말해야 한다.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마지막 슬라이드. 이 메시지로 끝내면 학생들이 학기 후에도 관리한다.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자기평가와 '다음 채울 것'은 성적용이 아니라 학생 본인을 위한 것이다. 형식적으로 받지 말고 짧게라도 피드백을 돌려줄 것.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74320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포트폴리오제작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480560" y="274320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PHASE 3 완성과 발표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8808415" y="274320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WEEK 15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640080" y="548640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894015" y="713232"/>
            <a:ext cx="3657600" cy="15179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2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15</a:t>
            </a:r>
            <a:endParaRPr lang="en-US" sz="13200" dirty="0"/>
          </a:p>
        </p:txBody>
      </p:sp>
      <p:sp>
        <p:nvSpPr>
          <p:cNvPr id="7" name="Shape 5"/>
          <p:cNvSpPr/>
          <p:nvPr/>
        </p:nvSpPr>
        <p:spPr>
          <a:xfrm>
            <a:off x="941832" y="877824"/>
            <a:ext cx="0" cy="603504"/>
          </a:xfrm>
          <a:prstGeom prst="line">
            <a:avLst/>
          </a:prstGeom>
          <a:noFill/>
          <a:ln w="15875">
            <a:solidFill>
              <a:srgbClr val="111111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640080" y="1239926"/>
            <a:ext cx="301752" cy="241402"/>
          </a:xfrm>
          <a:prstGeom prst="line">
            <a:avLst/>
          </a:prstGeom>
          <a:noFill/>
          <a:ln w="15875">
            <a:solidFill>
              <a:srgbClr val="111111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 flipV="1">
            <a:off x="941832" y="1239926"/>
            <a:ext cx="301752" cy="241402"/>
          </a:xfrm>
          <a:prstGeom prst="line">
            <a:avLst/>
          </a:prstGeom>
          <a:noFill/>
          <a:ln w="15875">
            <a:solidFill>
              <a:srgbClr val="111111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40080" y="1901952"/>
            <a:ext cx="74980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6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WEEK 15  ·  PHASE 3 완성과 발표</a:t>
            </a:r>
            <a:endParaRPr lang="en-US" sz="950" dirty="0"/>
          </a:p>
        </p:txBody>
      </p:sp>
      <p:sp>
        <p:nvSpPr>
          <p:cNvPr id="11" name="Text 9"/>
          <p:cNvSpPr/>
          <p:nvPr/>
        </p:nvSpPr>
        <p:spPr>
          <a:xfrm>
            <a:off x="640080" y="2194560"/>
            <a:ext cx="8595360" cy="12252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48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기말 발표 및 종합 평가</a:t>
            </a:r>
            <a:endParaRPr lang="en-US" sz="4800" dirty="0"/>
          </a:p>
        </p:txBody>
      </p:sp>
      <p:sp>
        <p:nvSpPr>
          <p:cNvPr id="12" name="Text 10"/>
          <p:cNvSpPr/>
          <p:nvPr/>
        </p:nvSpPr>
        <p:spPr>
          <a:xfrm>
            <a:off x="640080" y="3547872"/>
            <a:ext cx="786384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600" dirty="0">
                <a:solidFill>
                  <a:srgbClr val="6E6E6E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완성된 포트폴리오를 발표하고,</a:t>
            </a:r>
            <a:endParaRPr lang="en-US" sz="16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600" dirty="0">
                <a:solidFill>
                  <a:srgbClr val="6E6E6E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한 학기 성과를 점검해 다음 단계로 넘깁니다.</a:t>
            </a:r>
            <a:endParaRPr lang="en-US" sz="1600" dirty="0"/>
          </a:p>
        </p:txBody>
      </p:sp>
      <p:sp>
        <p:nvSpPr>
          <p:cNvPr id="13" name="Shape 11"/>
          <p:cNvSpPr/>
          <p:nvPr/>
        </p:nvSpPr>
        <p:spPr>
          <a:xfrm>
            <a:off x="640080" y="4443984"/>
            <a:ext cx="2743200" cy="7315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40080" y="4645152"/>
            <a:ext cx="914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1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과목</a:t>
            </a:r>
            <a:endParaRPr lang="en-US" sz="950" dirty="0"/>
          </a:p>
        </p:txBody>
      </p:sp>
      <p:sp>
        <p:nvSpPr>
          <p:cNvPr id="15" name="Text 13"/>
          <p:cNvSpPr/>
          <p:nvPr/>
        </p:nvSpPr>
        <p:spPr>
          <a:xfrm>
            <a:off x="1645920" y="4645152"/>
            <a:ext cx="7680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포트폴리오제작 · 실내·산업디자인학과 3학년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640080" y="5029200"/>
            <a:ext cx="914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1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오늘</a:t>
            </a:r>
            <a:endParaRPr lang="en-US" sz="950" dirty="0"/>
          </a:p>
        </p:txBody>
      </p:sp>
      <p:sp>
        <p:nvSpPr>
          <p:cNvPr id="17" name="Text 15"/>
          <p:cNvSpPr/>
          <p:nvPr/>
        </p:nvSpPr>
        <p:spPr>
          <a:xfrm>
            <a:off x="1645920" y="5029200"/>
            <a:ext cx="7680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90분 — 개인별 최종 발표 각 7분 · 종합 피드백 30분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640080" y="5413248"/>
            <a:ext cx="914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1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제출물</a:t>
            </a:r>
            <a:endParaRPr lang="en-US" sz="950" dirty="0"/>
          </a:p>
        </p:txBody>
      </p:sp>
      <p:sp>
        <p:nvSpPr>
          <p:cNvPr id="19" name="Text 17"/>
          <p:cNvSpPr/>
          <p:nvPr/>
        </p:nvSpPr>
        <p:spPr>
          <a:xfrm>
            <a:off x="1645920" y="5413248"/>
            <a:ext cx="7680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최종 포트폴리오 (링크 + PDF)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 rot="16200000">
            <a:off x="10436047" y="329184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spc="26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WONKWANG UNIV · 2026-2</a:t>
            </a:r>
            <a:endParaRPr lang="en-US" sz="850" dirty="0"/>
          </a:p>
        </p:txBody>
      </p:sp>
      <p:sp>
        <p:nvSpPr>
          <p:cNvPr id="21" name="Shape 19"/>
          <p:cNvSpPr/>
          <p:nvPr/>
        </p:nvSpPr>
        <p:spPr>
          <a:xfrm>
            <a:off x="640080" y="6291072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74320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포트폴리오제작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480560" y="274320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PHASE 3 완성과 발표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8808415" y="274320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WEEK 15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640080" y="548640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0080" y="64008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6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TODAY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640080" y="859536"/>
            <a:ext cx="10911535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오늘의 90분</a:t>
            </a:r>
            <a:endParaRPr lang="en-US" sz="3000" dirty="0"/>
          </a:p>
        </p:txBody>
      </p:sp>
      <p:sp>
        <p:nvSpPr>
          <p:cNvPr id="8" name="Text 6"/>
          <p:cNvSpPr/>
          <p:nvPr/>
        </p:nvSpPr>
        <p:spPr>
          <a:xfrm>
            <a:off x="640080" y="137160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개인별 최종 발표 각 7분 · 종합 피드백 30분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640080" y="1682496"/>
            <a:ext cx="10911535" cy="7315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40080" y="1719072"/>
            <a:ext cx="1600200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60" kern="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00:00–01:00</a:t>
            </a:r>
            <a:endParaRPr lang="en-US" sz="1050" dirty="0"/>
          </a:p>
        </p:txBody>
      </p:sp>
      <p:sp>
        <p:nvSpPr>
          <p:cNvPr id="11" name="Text 9"/>
          <p:cNvSpPr/>
          <p:nvPr/>
        </p:nvSpPr>
        <p:spPr>
          <a:xfrm>
            <a:off x="2377440" y="1719072"/>
            <a:ext cx="6888175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개인별 최종 발표 · 각 7분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9265615" y="1719072"/>
            <a:ext cx="2286000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발표 + 질의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640080" y="2633472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40080" y="2651760"/>
            <a:ext cx="1600200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60" kern="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01:00–01:20</a:t>
            </a:r>
            <a:endParaRPr lang="en-US" sz="1050" dirty="0"/>
          </a:p>
        </p:txBody>
      </p:sp>
      <p:sp>
        <p:nvSpPr>
          <p:cNvPr id="15" name="Text 13"/>
          <p:cNvSpPr/>
          <p:nvPr/>
        </p:nvSpPr>
        <p:spPr>
          <a:xfrm>
            <a:off x="2377440" y="2651760"/>
            <a:ext cx="6888175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종합 피드백 및 총평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9265615" y="2651760"/>
            <a:ext cx="2286000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강의</a:t>
            </a:r>
            <a:endParaRPr lang="en-US" sz="1050" dirty="0"/>
          </a:p>
        </p:txBody>
      </p:sp>
      <p:sp>
        <p:nvSpPr>
          <p:cNvPr id="17" name="Shape 15"/>
          <p:cNvSpPr/>
          <p:nvPr/>
        </p:nvSpPr>
        <p:spPr>
          <a:xfrm>
            <a:off x="640080" y="3566160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40080" y="3584448"/>
            <a:ext cx="1600200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60" kern="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01:20–01:30</a:t>
            </a:r>
            <a:endParaRPr lang="en-US" sz="1050" dirty="0"/>
          </a:p>
        </p:txBody>
      </p:sp>
      <p:sp>
        <p:nvSpPr>
          <p:cNvPr id="19" name="Text 17"/>
          <p:cNvSpPr/>
          <p:nvPr/>
        </p:nvSpPr>
        <p:spPr>
          <a:xfrm>
            <a:off x="2377440" y="3584448"/>
            <a:ext cx="6888175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자기평가 · 차년도 준비 안내</a:t>
            </a:r>
            <a:endParaRPr lang="en-US" sz="1300" dirty="0"/>
          </a:p>
        </p:txBody>
      </p:sp>
      <p:sp>
        <p:nvSpPr>
          <p:cNvPr id="20" name="Text 18"/>
          <p:cNvSpPr/>
          <p:nvPr/>
        </p:nvSpPr>
        <p:spPr>
          <a:xfrm>
            <a:off x="9265615" y="3584448"/>
            <a:ext cx="2286000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개인 워크 + 안내</a:t>
            </a:r>
            <a:endParaRPr lang="en-US" sz="1050" dirty="0"/>
          </a:p>
        </p:txBody>
      </p:sp>
      <p:sp>
        <p:nvSpPr>
          <p:cNvPr id="21" name="Shape 19"/>
          <p:cNvSpPr/>
          <p:nvPr/>
        </p:nvSpPr>
        <p:spPr>
          <a:xfrm>
            <a:off x="640080" y="4828032"/>
            <a:ext cx="10911535" cy="969264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1097280" y="5010912"/>
            <a:ext cx="2743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40" kern="0" dirty="0">
                <a:solidFill>
                  <a:srgbClr val="9A9A9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오늘 끝나면</a:t>
            </a:r>
            <a:endParaRPr lang="en-US" sz="950" dirty="0"/>
          </a:p>
        </p:txBody>
      </p:sp>
      <p:sp>
        <p:nvSpPr>
          <p:cNvPr id="23" name="Text 21"/>
          <p:cNvSpPr/>
          <p:nvPr/>
        </p:nvSpPr>
        <p:spPr>
          <a:xfrm>
            <a:off x="1097280" y="5285232"/>
            <a:ext cx="999713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6000"/>
              </a:lnSpc>
              <a:buNone/>
            </a:pPr>
            <a:r>
              <a:rPr lang="en-US" sz="1600" dirty="0">
                <a:solidFill>
                  <a:srgbClr val="FFFFFF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완성된 포트폴리오 한 벌과, 다음에 무엇을 채울지에 대한 목록을 갖고 나갑니다.</a:t>
            </a:r>
            <a:endParaRPr lang="en-US" sz="1600" dirty="0"/>
          </a:p>
        </p:txBody>
      </p:sp>
      <p:sp>
        <p:nvSpPr>
          <p:cNvPr id="24" name="Shape 22"/>
          <p:cNvSpPr/>
          <p:nvPr/>
        </p:nvSpPr>
        <p:spPr>
          <a:xfrm>
            <a:off x="640080" y="6291072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640080" y="6382512"/>
            <a:ext cx="7772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포트폴리오제작 · 15주차 기말 발표 및 종합 평가</a:t>
            </a:r>
            <a:endParaRPr lang="en-US" sz="850" dirty="0"/>
          </a:p>
        </p:txBody>
      </p:sp>
      <p:sp>
        <p:nvSpPr>
          <p:cNvPr id="26" name="Text 24"/>
          <p:cNvSpPr/>
          <p:nvPr/>
        </p:nvSpPr>
        <p:spPr>
          <a:xfrm>
            <a:off x="10271455" y="6382512"/>
            <a:ext cx="1280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spc="1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P.01</a:t>
            </a:r>
            <a:endParaRPr lang="en-US" sz="8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74320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포트폴리오제작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480560" y="274320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PHASE 3 완성과 발표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8808415" y="274320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WEEK 15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640080" y="548640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0080" y="64008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6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OBJECTIVES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640080" y="859536"/>
            <a:ext cx="10911535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오늘 하는 것</a:t>
            </a:r>
            <a:endParaRPr lang="en-US" sz="3000" dirty="0"/>
          </a:p>
        </p:txBody>
      </p:sp>
      <p:sp>
        <p:nvSpPr>
          <p:cNvPr id="8" name="Shape 6"/>
          <p:cNvSpPr/>
          <p:nvPr/>
        </p:nvSpPr>
        <p:spPr>
          <a:xfrm>
            <a:off x="640080" y="1664208"/>
            <a:ext cx="10911535" cy="7315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640080" y="1810512"/>
            <a:ext cx="310896" cy="31089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40080" y="181051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1188720" y="1719072"/>
            <a:ext cx="98755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완성된 포트폴리오를 발표한다</a:t>
            </a:r>
            <a:endParaRPr lang="en-US" sz="1450" dirty="0"/>
          </a:p>
        </p:txBody>
      </p:sp>
      <p:sp>
        <p:nvSpPr>
          <p:cNvPr id="12" name="Text 10"/>
          <p:cNvSpPr/>
          <p:nvPr/>
        </p:nvSpPr>
        <p:spPr>
          <a:xfrm>
            <a:off x="1188720" y="2029968"/>
            <a:ext cx="9875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7분 — 3분 코어에 질의 응답을 더한 형태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640080" y="2670048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640080" y="2834640"/>
            <a:ext cx="310896" cy="31089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40080" y="283464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1188720" y="2743200"/>
            <a:ext cx="98755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종합 피드백을 받는다</a:t>
            </a:r>
            <a:endParaRPr lang="en-US" sz="1450" dirty="0"/>
          </a:p>
        </p:txBody>
      </p:sp>
      <p:sp>
        <p:nvSpPr>
          <p:cNvPr id="17" name="Text 15"/>
          <p:cNvSpPr/>
          <p:nvPr/>
        </p:nvSpPr>
        <p:spPr>
          <a:xfrm>
            <a:off x="1188720" y="3054096"/>
            <a:ext cx="9875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개별 지적보다 전체에 공통된 것 위주로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640080" y="3694176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640080" y="3858768"/>
            <a:ext cx="310896" cy="31089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640080" y="385876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1188720" y="3767328"/>
            <a:ext cx="98755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학기 성과를 스스로 점검한다</a:t>
            </a:r>
            <a:endParaRPr lang="en-US" sz="1450" dirty="0"/>
          </a:p>
        </p:txBody>
      </p:sp>
      <p:sp>
        <p:nvSpPr>
          <p:cNvPr id="22" name="Text 20"/>
          <p:cNvSpPr/>
          <p:nvPr/>
        </p:nvSpPr>
        <p:spPr>
          <a:xfrm>
            <a:off x="1188720" y="4078224"/>
            <a:ext cx="9875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학기 초 방향 문장과 지금을 비교합니다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40080" y="4718304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640080" y="4882896"/>
            <a:ext cx="310896" cy="31089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640080" y="4882896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4</a:t>
            </a:r>
            <a:endParaRPr lang="en-US" sz="1000" dirty="0"/>
          </a:p>
        </p:txBody>
      </p:sp>
      <p:sp>
        <p:nvSpPr>
          <p:cNvPr id="26" name="Text 24"/>
          <p:cNvSpPr/>
          <p:nvPr/>
        </p:nvSpPr>
        <p:spPr>
          <a:xfrm>
            <a:off x="1188720" y="4791456"/>
            <a:ext cx="98755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다음에 채울 것을 적는다</a:t>
            </a:r>
            <a:endParaRPr lang="en-US" sz="1450" dirty="0"/>
          </a:p>
        </p:txBody>
      </p:sp>
      <p:sp>
        <p:nvSpPr>
          <p:cNvPr id="27" name="Text 25"/>
          <p:cNvSpPr/>
          <p:nvPr/>
        </p:nvSpPr>
        <p:spPr>
          <a:xfrm>
            <a:off x="1188720" y="5102352"/>
            <a:ext cx="9875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오늘로 끝이 아니라 다음 시작점을 만드는 일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640080" y="6291072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640080" y="6382512"/>
            <a:ext cx="7772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포트폴리오제작 · 15주차 기말 발표 및 종합 평가</a:t>
            </a:r>
            <a:endParaRPr lang="en-US" sz="850" dirty="0"/>
          </a:p>
        </p:txBody>
      </p:sp>
      <p:sp>
        <p:nvSpPr>
          <p:cNvPr id="30" name="Text 28"/>
          <p:cNvSpPr/>
          <p:nvPr/>
        </p:nvSpPr>
        <p:spPr>
          <a:xfrm>
            <a:off x="10271455" y="6382512"/>
            <a:ext cx="1280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spc="1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P.02</a:t>
            </a:r>
            <a:endParaRPr lang="en-US" sz="8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74320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20" kern="0" dirty="0">
                <a:solidFill>
                  <a:srgbClr val="9A9A9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포트폴리오제작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480560" y="274320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spc="120" kern="0" dirty="0">
                <a:solidFill>
                  <a:srgbClr val="9A9A9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PHASE 3 완성과 발표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8808415" y="274320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9A9A9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WEEK 15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640080" y="548640"/>
            <a:ext cx="10911535" cy="7315"/>
          </a:xfrm>
          <a:prstGeom prst="rect">
            <a:avLst/>
          </a:prstGeom>
          <a:solidFill>
            <a:srgbClr val="3333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345375" y="1737360"/>
            <a:ext cx="420624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0000" dirty="0">
                <a:solidFill>
                  <a:srgbClr val="1B1B1B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01</a:t>
            </a:r>
            <a:endParaRPr lang="en-US" sz="20000" dirty="0"/>
          </a:p>
        </p:txBody>
      </p:sp>
      <p:sp>
        <p:nvSpPr>
          <p:cNvPr id="7" name="Shape 5"/>
          <p:cNvSpPr/>
          <p:nvPr/>
        </p:nvSpPr>
        <p:spPr>
          <a:xfrm>
            <a:off x="941832" y="1371600"/>
            <a:ext cx="0" cy="603504"/>
          </a:xfrm>
          <a:prstGeom prst="line">
            <a:avLst/>
          </a:prstGeom>
          <a:noFill/>
          <a:ln w="15875">
            <a:solidFill>
              <a:srgbClr val="FFFFFF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640080" y="1733702"/>
            <a:ext cx="301752" cy="241402"/>
          </a:xfrm>
          <a:prstGeom prst="line">
            <a:avLst/>
          </a:prstGeom>
          <a:noFill/>
          <a:ln w="15875">
            <a:solidFill>
              <a:srgbClr val="FFFFFF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 flipV="1">
            <a:off x="941832" y="1733702"/>
            <a:ext cx="301752" cy="241402"/>
          </a:xfrm>
          <a:prstGeom prst="line">
            <a:avLst/>
          </a:prstGeom>
          <a:noFill/>
          <a:ln w="15875">
            <a:solidFill>
              <a:srgbClr val="FFFFF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40080" y="2615184"/>
            <a:ext cx="7863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80" kern="0" dirty="0">
                <a:solidFill>
                  <a:srgbClr val="9A9A9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PART 01</a:t>
            </a:r>
            <a:endParaRPr lang="en-US" sz="950" dirty="0"/>
          </a:p>
        </p:txBody>
      </p:sp>
      <p:sp>
        <p:nvSpPr>
          <p:cNvPr id="11" name="Text 9"/>
          <p:cNvSpPr/>
          <p:nvPr/>
        </p:nvSpPr>
        <p:spPr>
          <a:xfrm>
            <a:off x="640080" y="2889504"/>
            <a:ext cx="786384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600" dirty="0">
                <a:solidFill>
                  <a:srgbClr val="FFFFFF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최종 발표</a:t>
            </a:r>
            <a:endParaRPr lang="en-US" sz="4600" dirty="0"/>
          </a:p>
        </p:txBody>
      </p:sp>
      <p:sp>
        <p:nvSpPr>
          <p:cNvPr id="12" name="Shape 10"/>
          <p:cNvSpPr/>
          <p:nvPr/>
        </p:nvSpPr>
        <p:spPr>
          <a:xfrm>
            <a:off x="640080" y="3803904"/>
            <a:ext cx="2194560" cy="7315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40080" y="4005072"/>
            <a:ext cx="69494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4000"/>
              </a:lnSpc>
              <a:buNone/>
            </a:pPr>
            <a:r>
              <a:rPr lang="en-US" sz="1350" dirty="0">
                <a:solidFill>
                  <a:srgbClr val="B8B8B8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7분. 3분 스크립트를 코어로 하고 나머지는 질의에 씁니다.</a:t>
            </a:r>
            <a:endParaRPr lang="en-US" sz="1350" dirty="0"/>
          </a:p>
        </p:txBody>
      </p:sp>
      <p:sp>
        <p:nvSpPr>
          <p:cNvPr id="14" name="Text 12"/>
          <p:cNvSpPr/>
          <p:nvPr/>
        </p:nvSpPr>
        <p:spPr>
          <a:xfrm rot="16200000">
            <a:off x="10436047" y="329184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spc="260" kern="0" dirty="0">
                <a:solidFill>
                  <a:srgbClr val="7A7A7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SECTION 01</a:t>
            </a:r>
            <a:endParaRPr lang="en-US" sz="8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74320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포트폴리오제작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480560" y="274320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PHASE 3 완성과 발표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8808415" y="274320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WEEK 15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640080" y="548640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0080" y="64008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6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CHECK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640080" y="859536"/>
            <a:ext cx="10911535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최종 발표 체크리스트</a:t>
            </a:r>
            <a:endParaRPr lang="en-US" sz="3000" dirty="0"/>
          </a:p>
        </p:txBody>
      </p:sp>
      <p:sp>
        <p:nvSpPr>
          <p:cNvPr id="8" name="Text 6"/>
          <p:cNvSpPr/>
          <p:nvPr/>
        </p:nvSpPr>
        <p:spPr>
          <a:xfrm>
            <a:off x="640080" y="137160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발표 전에 스스로 한 번 훑어보세요.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640080" y="1755648"/>
            <a:ext cx="5254600" cy="585216"/>
          </a:xfrm>
          <a:prstGeom prst="rect">
            <a:avLst/>
          </a:prstGeom>
          <a:solidFill>
            <a:srgbClr val="F2F2F2"/>
          </a:solidFill>
          <a:ln w="12700">
            <a:solidFill>
              <a:srgbClr val="F2F2F2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914400" y="1892808"/>
            <a:ext cx="310896" cy="310896"/>
          </a:xfrm>
          <a:prstGeom prst="ellipse">
            <a:avLst/>
          </a:prstGeom>
          <a:solidFill>
            <a:srgbClr val="F2F2F2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914400" y="189280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01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1353312" y="1755648"/>
            <a:ext cx="424876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링크가 시크릿 창에서 열린다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640080" y="2487168"/>
            <a:ext cx="5254600" cy="585216"/>
          </a:xfrm>
          <a:prstGeom prst="rect">
            <a:avLst/>
          </a:prstGeom>
          <a:solidFill>
            <a:srgbClr val="F2F2F2"/>
          </a:solidFill>
          <a:ln w="12700">
            <a:solidFill>
              <a:srgbClr val="F2F2F2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914400" y="2624328"/>
            <a:ext cx="310896" cy="310896"/>
          </a:xfrm>
          <a:prstGeom prst="ellipse">
            <a:avLst/>
          </a:prstGeom>
          <a:solidFill>
            <a:srgbClr val="F2F2F2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914400" y="262432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02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1353312" y="2487168"/>
            <a:ext cx="424876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PDF 용량이 10MB 이하다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640080" y="3218688"/>
            <a:ext cx="5254600" cy="585216"/>
          </a:xfrm>
          <a:prstGeom prst="rect">
            <a:avLst/>
          </a:prstGeom>
          <a:solidFill>
            <a:srgbClr val="F2F2F2"/>
          </a:solidFill>
          <a:ln w="12700">
            <a:solidFill>
              <a:srgbClr val="F2F2F2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914400" y="3355848"/>
            <a:ext cx="310896" cy="310896"/>
          </a:xfrm>
          <a:prstGeom prst="ellipse">
            <a:avLst/>
          </a:prstGeom>
          <a:solidFill>
            <a:srgbClr val="F2F2F2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914400" y="335584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03</a:t>
            </a:r>
            <a:endParaRPr lang="en-US" sz="900" dirty="0"/>
          </a:p>
        </p:txBody>
      </p:sp>
      <p:sp>
        <p:nvSpPr>
          <p:cNvPr id="20" name="Text 18"/>
          <p:cNvSpPr/>
          <p:nvPr/>
        </p:nvSpPr>
        <p:spPr>
          <a:xfrm>
            <a:off x="1353312" y="3218688"/>
            <a:ext cx="424876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파일명이 '이름_포트폴리오_2026' 형식이다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640080" y="3950208"/>
            <a:ext cx="5254600" cy="585216"/>
          </a:xfrm>
          <a:prstGeom prst="rect">
            <a:avLst/>
          </a:prstGeom>
          <a:solidFill>
            <a:srgbClr val="F2F2F2"/>
          </a:solidFill>
          <a:ln w="12700">
            <a:solidFill>
              <a:srgbClr val="F2F2F2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914400" y="4087368"/>
            <a:ext cx="310896" cy="310896"/>
          </a:xfrm>
          <a:prstGeom prst="ellipse">
            <a:avLst/>
          </a:prstGeom>
          <a:solidFill>
            <a:srgbClr val="F2F2F2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914400" y="408736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04</a:t>
            </a:r>
            <a:endParaRPr lang="en-US" sz="900" dirty="0"/>
          </a:p>
        </p:txBody>
      </p:sp>
      <p:sp>
        <p:nvSpPr>
          <p:cNvPr id="24" name="Text 22"/>
          <p:cNvSpPr/>
          <p:nvPr/>
        </p:nvSpPr>
        <p:spPr>
          <a:xfrm>
            <a:off x="1353312" y="3950208"/>
            <a:ext cx="424876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표지에 이름 · 분야 · 연락처가 있다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6297016" y="1755648"/>
            <a:ext cx="5254600" cy="585216"/>
          </a:xfrm>
          <a:prstGeom prst="rect">
            <a:avLst/>
          </a:prstGeom>
          <a:solidFill>
            <a:srgbClr val="F2F2F2"/>
          </a:solidFill>
          <a:ln w="12700">
            <a:solidFill>
              <a:srgbClr val="F2F2F2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6571336" y="1892808"/>
            <a:ext cx="310896" cy="310896"/>
          </a:xfrm>
          <a:prstGeom prst="ellipse">
            <a:avLst/>
          </a:prstGeom>
          <a:solidFill>
            <a:srgbClr val="F2F2F2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6571336" y="189280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05</a:t>
            </a:r>
            <a:endParaRPr lang="en-US" sz="900" dirty="0"/>
          </a:p>
        </p:txBody>
      </p:sp>
      <p:sp>
        <p:nvSpPr>
          <p:cNvPr id="28" name="Text 26"/>
          <p:cNvSpPr/>
          <p:nvPr/>
        </p:nvSpPr>
        <p:spPr>
          <a:xfrm>
            <a:off x="7010248" y="1755648"/>
            <a:ext cx="424876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프로젝트마다 문제 문장이 있다</a:t>
            </a:r>
            <a:endParaRPr lang="en-US" sz="1200" dirty="0"/>
          </a:p>
        </p:txBody>
      </p:sp>
      <p:sp>
        <p:nvSpPr>
          <p:cNvPr id="29" name="Shape 27"/>
          <p:cNvSpPr/>
          <p:nvPr/>
        </p:nvSpPr>
        <p:spPr>
          <a:xfrm>
            <a:off x="6297016" y="2487168"/>
            <a:ext cx="5254600" cy="585216"/>
          </a:xfrm>
          <a:prstGeom prst="rect">
            <a:avLst/>
          </a:prstGeom>
          <a:solidFill>
            <a:srgbClr val="F2F2F2"/>
          </a:solidFill>
          <a:ln w="12700">
            <a:solidFill>
              <a:srgbClr val="F2F2F2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6571336" y="2624328"/>
            <a:ext cx="310896" cy="310896"/>
          </a:xfrm>
          <a:prstGeom prst="ellipse">
            <a:avLst/>
          </a:prstGeom>
          <a:solidFill>
            <a:srgbClr val="F2F2F2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6571336" y="262432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06</a:t>
            </a:r>
            <a:endParaRPr lang="en-US" sz="900" dirty="0"/>
          </a:p>
        </p:txBody>
      </p:sp>
      <p:sp>
        <p:nvSpPr>
          <p:cNvPr id="32" name="Text 30"/>
          <p:cNvSpPr/>
          <p:nvPr/>
        </p:nvSpPr>
        <p:spPr>
          <a:xfrm>
            <a:off x="7010248" y="2487168"/>
            <a:ext cx="424876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팀 작업에 내 역할이 명시되어 있다</a:t>
            </a:r>
            <a:endParaRPr lang="en-US" sz="1200" dirty="0"/>
          </a:p>
        </p:txBody>
      </p:sp>
      <p:sp>
        <p:nvSpPr>
          <p:cNvPr id="33" name="Shape 31"/>
          <p:cNvSpPr/>
          <p:nvPr/>
        </p:nvSpPr>
        <p:spPr>
          <a:xfrm>
            <a:off x="6297016" y="3218688"/>
            <a:ext cx="5254600" cy="585216"/>
          </a:xfrm>
          <a:prstGeom prst="rect">
            <a:avLst/>
          </a:prstGeom>
          <a:solidFill>
            <a:srgbClr val="F2F2F2"/>
          </a:solidFill>
          <a:ln w="12700">
            <a:solidFill>
              <a:srgbClr val="F2F2F2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6571336" y="3355848"/>
            <a:ext cx="310896" cy="310896"/>
          </a:xfrm>
          <a:prstGeom prst="ellipse">
            <a:avLst/>
          </a:prstGeom>
          <a:solidFill>
            <a:srgbClr val="F2F2F2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571336" y="335584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07</a:t>
            </a:r>
            <a:endParaRPr lang="en-US" sz="900" dirty="0"/>
          </a:p>
        </p:txBody>
      </p:sp>
      <p:sp>
        <p:nvSpPr>
          <p:cNvPr id="36" name="Text 34"/>
          <p:cNvSpPr/>
          <p:nvPr/>
        </p:nvSpPr>
        <p:spPr>
          <a:xfrm>
            <a:off x="7010248" y="3218688"/>
            <a:ext cx="424876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오탈자를 한 번 이상 검수했다</a:t>
            </a:r>
            <a:endParaRPr lang="en-US" sz="1200" dirty="0"/>
          </a:p>
        </p:txBody>
      </p:sp>
      <p:sp>
        <p:nvSpPr>
          <p:cNvPr id="37" name="Shape 35"/>
          <p:cNvSpPr/>
          <p:nvPr/>
        </p:nvSpPr>
        <p:spPr>
          <a:xfrm>
            <a:off x="6297016" y="3950208"/>
            <a:ext cx="5254600" cy="585216"/>
          </a:xfrm>
          <a:prstGeom prst="rect">
            <a:avLst/>
          </a:prstGeom>
          <a:solidFill>
            <a:srgbClr val="F2F2F2"/>
          </a:solidFill>
          <a:ln w="12700">
            <a:solidFill>
              <a:srgbClr val="F2F2F2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6571336" y="4087368"/>
            <a:ext cx="310896" cy="310896"/>
          </a:xfrm>
          <a:prstGeom prst="ellipse">
            <a:avLst/>
          </a:prstGeom>
          <a:solidFill>
            <a:srgbClr val="F2F2F2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6571336" y="408736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08</a:t>
            </a:r>
            <a:endParaRPr lang="en-US" sz="900" dirty="0"/>
          </a:p>
        </p:txBody>
      </p:sp>
      <p:sp>
        <p:nvSpPr>
          <p:cNvPr id="40" name="Text 38"/>
          <p:cNvSpPr/>
          <p:nvPr/>
        </p:nvSpPr>
        <p:spPr>
          <a:xfrm>
            <a:off x="7010248" y="3950208"/>
            <a:ext cx="424876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3분 안에 코어를 말할 수 있다</a:t>
            </a:r>
            <a:endParaRPr lang="en-US" sz="1200" dirty="0"/>
          </a:p>
        </p:txBody>
      </p:sp>
      <p:sp>
        <p:nvSpPr>
          <p:cNvPr id="41" name="Shape 39"/>
          <p:cNvSpPr/>
          <p:nvPr/>
        </p:nvSpPr>
        <p:spPr>
          <a:xfrm>
            <a:off x="640080" y="5468112"/>
            <a:ext cx="10911535" cy="7315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640080" y="5577840"/>
            <a:ext cx="10911535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오탈자 검수를 마지막까지 미루지 마세요. 완성도에 대한 인상을 가장 크게 좌우합니다.</a:t>
            </a:r>
            <a:endParaRPr lang="en-US" sz="1250" dirty="0"/>
          </a:p>
        </p:txBody>
      </p:sp>
      <p:sp>
        <p:nvSpPr>
          <p:cNvPr id="43" name="Shape 41"/>
          <p:cNvSpPr/>
          <p:nvPr/>
        </p:nvSpPr>
        <p:spPr>
          <a:xfrm>
            <a:off x="640080" y="6291072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640080" y="6382512"/>
            <a:ext cx="7772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포트폴리오제작 · 15주차 기말 발표 및 종합 평가</a:t>
            </a:r>
            <a:endParaRPr lang="en-US" sz="850" dirty="0"/>
          </a:p>
        </p:txBody>
      </p:sp>
      <p:sp>
        <p:nvSpPr>
          <p:cNvPr id="45" name="Text 43"/>
          <p:cNvSpPr/>
          <p:nvPr/>
        </p:nvSpPr>
        <p:spPr>
          <a:xfrm>
            <a:off x="10271455" y="6382512"/>
            <a:ext cx="1280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spc="1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P.03</a:t>
            </a:r>
            <a:endParaRPr lang="en-US" sz="8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74320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20" kern="0" dirty="0">
                <a:solidFill>
                  <a:srgbClr val="9A9A9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포트폴리오제작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480560" y="274320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spc="120" kern="0" dirty="0">
                <a:solidFill>
                  <a:srgbClr val="9A9A9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PHASE 3 완성과 발표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8808415" y="274320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9A9A9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WEEK 15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640080" y="548640"/>
            <a:ext cx="10911535" cy="7315"/>
          </a:xfrm>
          <a:prstGeom prst="rect">
            <a:avLst/>
          </a:prstGeom>
          <a:solidFill>
            <a:srgbClr val="3333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345375" y="1737360"/>
            <a:ext cx="420624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0000" dirty="0">
                <a:solidFill>
                  <a:srgbClr val="1B1B1B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02</a:t>
            </a:r>
            <a:endParaRPr lang="en-US" sz="20000" dirty="0"/>
          </a:p>
        </p:txBody>
      </p:sp>
      <p:sp>
        <p:nvSpPr>
          <p:cNvPr id="7" name="Shape 5"/>
          <p:cNvSpPr/>
          <p:nvPr/>
        </p:nvSpPr>
        <p:spPr>
          <a:xfrm>
            <a:off x="941832" y="1371600"/>
            <a:ext cx="0" cy="603504"/>
          </a:xfrm>
          <a:prstGeom prst="line">
            <a:avLst/>
          </a:prstGeom>
          <a:noFill/>
          <a:ln w="15875">
            <a:solidFill>
              <a:srgbClr val="FFFFFF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640080" y="1733702"/>
            <a:ext cx="301752" cy="241402"/>
          </a:xfrm>
          <a:prstGeom prst="line">
            <a:avLst/>
          </a:prstGeom>
          <a:noFill/>
          <a:ln w="15875">
            <a:solidFill>
              <a:srgbClr val="FFFFFF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 flipV="1">
            <a:off x="941832" y="1733702"/>
            <a:ext cx="301752" cy="241402"/>
          </a:xfrm>
          <a:prstGeom prst="line">
            <a:avLst/>
          </a:prstGeom>
          <a:noFill/>
          <a:ln w="15875">
            <a:solidFill>
              <a:srgbClr val="FFFFF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40080" y="2615184"/>
            <a:ext cx="7863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80" kern="0" dirty="0">
                <a:solidFill>
                  <a:srgbClr val="9A9A9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PART 02</a:t>
            </a:r>
            <a:endParaRPr lang="en-US" sz="950" dirty="0"/>
          </a:p>
        </p:txBody>
      </p:sp>
      <p:sp>
        <p:nvSpPr>
          <p:cNvPr id="11" name="Text 9"/>
          <p:cNvSpPr/>
          <p:nvPr/>
        </p:nvSpPr>
        <p:spPr>
          <a:xfrm>
            <a:off x="640080" y="2889504"/>
            <a:ext cx="786384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600" dirty="0">
                <a:solidFill>
                  <a:srgbClr val="FFFFFF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학기 마무리</a:t>
            </a:r>
            <a:endParaRPr lang="en-US" sz="4600" dirty="0"/>
          </a:p>
        </p:txBody>
      </p:sp>
      <p:sp>
        <p:nvSpPr>
          <p:cNvPr id="12" name="Shape 10"/>
          <p:cNvSpPr/>
          <p:nvPr/>
        </p:nvSpPr>
        <p:spPr>
          <a:xfrm>
            <a:off x="640080" y="3803904"/>
            <a:ext cx="2194560" cy="7315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40080" y="4005072"/>
            <a:ext cx="69494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4000"/>
              </a:lnSpc>
              <a:buNone/>
            </a:pPr>
            <a:r>
              <a:rPr lang="en-US" sz="1350" dirty="0">
                <a:solidFill>
                  <a:srgbClr val="B8B8B8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무엇을 했고 무엇이 남았는지 정리하고 끝냅니다.</a:t>
            </a:r>
            <a:endParaRPr lang="en-US" sz="1350" dirty="0"/>
          </a:p>
        </p:txBody>
      </p:sp>
      <p:sp>
        <p:nvSpPr>
          <p:cNvPr id="14" name="Text 12"/>
          <p:cNvSpPr/>
          <p:nvPr/>
        </p:nvSpPr>
        <p:spPr>
          <a:xfrm rot="16200000">
            <a:off x="10436047" y="329184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spc="260" kern="0" dirty="0">
                <a:solidFill>
                  <a:srgbClr val="7A7A7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SECTION 02</a:t>
            </a:r>
            <a:endParaRPr lang="en-US" sz="8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74320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포트폴리오제작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480560" y="274320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PHASE 3 완성과 발표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8808415" y="274320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WEEK 15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640080" y="548640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0080" y="64008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6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REVIEW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640080" y="859536"/>
            <a:ext cx="10911535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자기평가 세 가지 질문</a:t>
            </a:r>
            <a:endParaRPr lang="en-US" sz="3000" dirty="0"/>
          </a:p>
        </p:txBody>
      </p:sp>
      <p:sp>
        <p:nvSpPr>
          <p:cNvPr id="8" name="Text 6"/>
          <p:cNvSpPr/>
          <p:nvPr/>
        </p:nvSpPr>
        <p:spPr>
          <a:xfrm>
            <a:off x="640080" y="137160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성적을 위한 것이 아니라 다음을 위한 것입니다.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640080" y="1737360"/>
            <a:ext cx="3393338" cy="3035808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1024128" y="2011680"/>
            <a:ext cx="365760" cy="36576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024128" y="201168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01</a:t>
            </a:r>
            <a:endParaRPr lang="en-US" sz="1150" dirty="0"/>
          </a:p>
        </p:txBody>
      </p:sp>
      <p:sp>
        <p:nvSpPr>
          <p:cNvPr id="12" name="Text 10"/>
          <p:cNvSpPr/>
          <p:nvPr/>
        </p:nvSpPr>
        <p:spPr>
          <a:xfrm>
            <a:off x="1024128" y="2505456"/>
            <a:ext cx="262524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7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방향 문장은 지켜졌나</a:t>
            </a:r>
            <a:endParaRPr lang="en-US" sz="1700" dirty="0"/>
          </a:p>
        </p:txBody>
      </p:sp>
      <p:sp>
        <p:nvSpPr>
          <p:cNvPr id="13" name="Text 11"/>
          <p:cNvSpPr/>
          <p:nvPr/>
        </p:nvSpPr>
        <p:spPr>
          <a:xfrm>
            <a:off x="1024128" y="2999232"/>
            <a:ext cx="2625242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2주차에 쓴 「나는 (직무)에게 (강점 3개)를 (인상)으로 보여주는 포트폴리오를 만든다」를 다시 읽어 보세요. 지금 결과물이 그 문장과 맞습니까?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4399178" y="1737360"/>
            <a:ext cx="3393338" cy="3035808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4783226" y="2011680"/>
            <a:ext cx="365760" cy="36576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4783226" y="201168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02</a:t>
            </a:r>
            <a:endParaRPr lang="en-US" sz="1150" dirty="0"/>
          </a:p>
        </p:txBody>
      </p:sp>
      <p:sp>
        <p:nvSpPr>
          <p:cNvPr id="17" name="Text 15"/>
          <p:cNvSpPr/>
          <p:nvPr/>
        </p:nvSpPr>
        <p:spPr>
          <a:xfrm>
            <a:off x="4783226" y="2505456"/>
            <a:ext cx="262524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7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무엇이 가장 크게 달라졌나</a:t>
            </a:r>
            <a:endParaRPr lang="en-US" sz="1700" dirty="0"/>
          </a:p>
        </p:txBody>
      </p:sp>
      <p:sp>
        <p:nvSpPr>
          <p:cNvPr id="18" name="Text 16"/>
          <p:cNvSpPr/>
          <p:nvPr/>
        </p:nvSpPr>
        <p:spPr>
          <a:xfrm>
            <a:off x="4783226" y="2999232"/>
            <a:ext cx="2625242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학기 초 상태와 비교해 한 가지만 고르세요. 그것이 이번 학기에 실제로 익힌 것입니다.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8158277" y="1737360"/>
            <a:ext cx="3393338" cy="3035808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8542325" y="2011680"/>
            <a:ext cx="365760" cy="365760"/>
          </a:xfrm>
          <a:prstGeom prst="ellipse">
            <a:avLst/>
          </a:prstGeom>
          <a:solidFill>
            <a:srgbClr val="111111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8542325" y="201168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03</a:t>
            </a:r>
            <a:endParaRPr lang="en-US" sz="1150" dirty="0"/>
          </a:p>
        </p:txBody>
      </p:sp>
      <p:sp>
        <p:nvSpPr>
          <p:cNvPr id="22" name="Text 20"/>
          <p:cNvSpPr/>
          <p:nvPr/>
        </p:nvSpPr>
        <p:spPr>
          <a:xfrm>
            <a:off x="8542325" y="2505456"/>
            <a:ext cx="262524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700" dirty="0">
                <a:solidFill>
                  <a:srgbClr val="FFFFFF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무엇이 아직 비어 있나</a:t>
            </a:r>
            <a:endParaRPr lang="en-US" sz="1700" dirty="0"/>
          </a:p>
        </p:txBody>
      </p:sp>
      <p:sp>
        <p:nvSpPr>
          <p:cNvPr id="23" name="Text 21"/>
          <p:cNvSpPr/>
          <p:nvPr/>
        </p:nvSpPr>
        <p:spPr>
          <a:xfrm>
            <a:off x="8542325" y="2999232"/>
            <a:ext cx="2625242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B8B8B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솔직하게. 과정 서술이 약한지, 프로젝트 수가 부족한지, 특정 역량의 증거가 없는지.</a:t>
            </a:r>
            <a:endParaRPr lang="en-US" sz="1150" dirty="0"/>
          </a:p>
        </p:txBody>
      </p:sp>
      <p:sp>
        <p:nvSpPr>
          <p:cNvPr id="24" name="Shape 22"/>
          <p:cNvSpPr/>
          <p:nvPr/>
        </p:nvSpPr>
        <p:spPr>
          <a:xfrm>
            <a:off x="640080" y="5084064"/>
            <a:ext cx="10911535" cy="7315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640080" y="5193792"/>
            <a:ext cx="10911535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3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03의 답이 다음 학기 계획이 됩니다. 부끄러워할 것이 아니라 목록으로 만들 것입니다.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640080" y="6291072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640080" y="6382512"/>
            <a:ext cx="7772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포트폴리오제작 · 15주차 기말 발표 및 종합 평가</a:t>
            </a:r>
            <a:endParaRPr lang="en-US" sz="850" dirty="0"/>
          </a:p>
        </p:txBody>
      </p:sp>
      <p:sp>
        <p:nvSpPr>
          <p:cNvPr id="28" name="Text 26"/>
          <p:cNvSpPr/>
          <p:nvPr/>
        </p:nvSpPr>
        <p:spPr>
          <a:xfrm>
            <a:off x="10271455" y="6382512"/>
            <a:ext cx="1280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spc="1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P.04</a:t>
            </a:r>
            <a:endParaRPr lang="en-US" sz="8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74320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포트폴리오제작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480560" y="274320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PHASE 3 완성과 발표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8808415" y="274320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WEEK 15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640080" y="548640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0080" y="64008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6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NEXT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640080" y="859536"/>
            <a:ext cx="10911535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차년도 준비 방향</a:t>
            </a:r>
            <a:endParaRPr lang="en-US" sz="3000" dirty="0"/>
          </a:p>
        </p:txBody>
      </p:sp>
      <p:sp>
        <p:nvSpPr>
          <p:cNvPr id="8" name="Text 6"/>
          <p:cNvSpPr/>
          <p:nvPr/>
        </p:nvSpPr>
        <p:spPr>
          <a:xfrm>
            <a:off x="640080" y="137160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포트폴리오는 오늘 완성된 것이 아니라, 갱신되기 시작한 것입니다.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640080" y="1664208"/>
            <a:ext cx="10911535" cy="7315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640080" y="1810512"/>
            <a:ext cx="310896" cy="31089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40080" y="181051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1188720" y="1719072"/>
            <a:ext cx="98755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비어 있는 칸을 채운다</a:t>
            </a:r>
            <a:endParaRPr lang="en-US" sz="1450" dirty="0"/>
          </a:p>
        </p:txBody>
      </p:sp>
      <p:sp>
        <p:nvSpPr>
          <p:cNvPr id="13" name="Text 11"/>
          <p:cNvSpPr/>
          <p:nvPr/>
        </p:nvSpPr>
        <p:spPr>
          <a:xfrm>
            <a:off x="1188720" y="2029968"/>
            <a:ext cx="9875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자기평가 03에서 적은 것. 방학 중 개인 작업이나 공모전으로 채울 수 있습니다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640080" y="2596896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640080" y="2761488"/>
            <a:ext cx="310896" cy="31089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40080" y="276148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1188720" y="2670048"/>
            <a:ext cx="98755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과정 자료를 그때그때 남긴다</a:t>
            </a:r>
            <a:endParaRPr lang="en-US" sz="1450" dirty="0"/>
          </a:p>
        </p:txBody>
      </p:sp>
      <p:sp>
        <p:nvSpPr>
          <p:cNvPr id="18" name="Text 16"/>
          <p:cNvSpPr/>
          <p:nvPr/>
        </p:nvSpPr>
        <p:spPr>
          <a:xfrm>
            <a:off x="1188720" y="2980944"/>
            <a:ext cx="9875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이번 학기에 가장 아쉬웠던 부분입니다. 다음 작업부터는 진행 중에 기록하세요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640080" y="3547872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640080" y="3712464"/>
            <a:ext cx="310896" cy="31089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640080" y="3712464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</a:t>
            </a:r>
            <a:endParaRPr lang="en-US" sz="1000" dirty="0"/>
          </a:p>
        </p:txBody>
      </p:sp>
      <p:sp>
        <p:nvSpPr>
          <p:cNvPr id="22" name="Text 20"/>
          <p:cNvSpPr/>
          <p:nvPr/>
        </p:nvSpPr>
        <p:spPr>
          <a:xfrm>
            <a:off x="1188720" y="3621024"/>
            <a:ext cx="98755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지원처가 정해지면 다시 맞춘다</a:t>
            </a:r>
            <a:endParaRPr lang="en-US" sz="1450" dirty="0"/>
          </a:p>
        </p:txBody>
      </p:sp>
      <p:sp>
        <p:nvSpPr>
          <p:cNvPr id="23" name="Text 21"/>
          <p:cNvSpPr/>
          <p:nvPr/>
        </p:nvSpPr>
        <p:spPr>
          <a:xfrm>
            <a:off x="1188720" y="3931920"/>
            <a:ext cx="9875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포트폴리오는 한 벌로 끝나지 않습니다. 지원처에 따라 순서와 강조를 바꿉니다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640080" y="4498848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640080" y="4663440"/>
            <a:ext cx="310896" cy="31089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640080" y="466344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4</a:t>
            </a:r>
            <a:endParaRPr lang="en-US" sz="1000" dirty="0"/>
          </a:p>
        </p:txBody>
      </p:sp>
      <p:sp>
        <p:nvSpPr>
          <p:cNvPr id="27" name="Text 25"/>
          <p:cNvSpPr/>
          <p:nvPr/>
        </p:nvSpPr>
        <p:spPr>
          <a:xfrm>
            <a:off x="1188720" y="4572000"/>
            <a:ext cx="98755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링크를 살아 있게 유지한다</a:t>
            </a:r>
            <a:endParaRPr lang="en-US" sz="1450" dirty="0"/>
          </a:p>
        </p:txBody>
      </p:sp>
      <p:sp>
        <p:nvSpPr>
          <p:cNvPr id="28" name="Text 26"/>
          <p:cNvSpPr/>
          <p:nvPr/>
        </p:nvSpPr>
        <p:spPr>
          <a:xfrm>
            <a:off x="1188720" y="4882896"/>
            <a:ext cx="9875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학기가 끝나도 링크가 열리는지 가끔 확인하세요. 죽은 링크는 없는 것과 같습니다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640080" y="5522976"/>
            <a:ext cx="10911535" cy="7315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640080" y="5632704"/>
            <a:ext cx="10911535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25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한 학기 동안 만든 것은 최종본이 아니라 기준선입니다. 여기서부터 고쳐 나가면 됩니다.</a:t>
            </a:r>
            <a:endParaRPr lang="en-US" sz="1250" dirty="0"/>
          </a:p>
        </p:txBody>
      </p:sp>
      <p:sp>
        <p:nvSpPr>
          <p:cNvPr id="31" name="Shape 29"/>
          <p:cNvSpPr/>
          <p:nvPr/>
        </p:nvSpPr>
        <p:spPr>
          <a:xfrm>
            <a:off x="640080" y="6291072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640080" y="6382512"/>
            <a:ext cx="7772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포트폴리오제작 · 15주차 기말 발표 및 종합 평가</a:t>
            </a:r>
            <a:endParaRPr lang="en-US" sz="850" dirty="0"/>
          </a:p>
        </p:txBody>
      </p:sp>
      <p:sp>
        <p:nvSpPr>
          <p:cNvPr id="33" name="Text 31"/>
          <p:cNvSpPr/>
          <p:nvPr/>
        </p:nvSpPr>
        <p:spPr>
          <a:xfrm>
            <a:off x="10271455" y="6382512"/>
            <a:ext cx="1280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spc="1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P.05</a:t>
            </a:r>
            <a:endParaRPr lang="en-US" sz="8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74320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포트폴리오제작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480560" y="274320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PHASE 3 완성과 발표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8808415" y="274320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WEEK 15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640080" y="548640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0080" y="64008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6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HOMEWORK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640080" y="859536"/>
            <a:ext cx="10911535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과제와 다음 주</a:t>
            </a:r>
            <a:endParaRPr lang="en-US" sz="3000" dirty="0"/>
          </a:p>
        </p:txBody>
      </p:sp>
      <p:sp>
        <p:nvSpPr>
          <p:cNvPr id="8" name="Text 6"/>
          <p:cNvSpPr/>
          <p:nvPr/>
        </p:nvSpPr>
        <p:spPr>
          <a:xfrm>
            <a:off x="640080" y="137160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학기가 끝납니다. 아래는 방학 중 권장 사항입니다.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640080" y="1719072"/>
            <a:ext cx="6309360" cy="896112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969264" y="1993392"/>
            <a:ext cx="329184" cy="329184"/>
          </a:xfrm>
          <a:prstGeom prst="ellipse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969264" y="1993392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1426464" y="1810512"/>
            <a:ext cx="517550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최종 포트폴리오 제출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1426464" y="2121408"/>
            <a:ext cx="517550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en-US" sz="110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온라인 링크와 PDF 모두. 링크는 시크릿 창에서 열리는지 마지막으로 확인하세요.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640080" y="2743200"/>
            <a:ext cx="6309360" cy="896112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969264" y="3017520"/>
            <a:ext cx="329184" cy="329184"/>
          </a:xfrm>
          <a:prstGeom prst="ellipse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969264" y="301752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1426464" y="2834640"/>
            <a:ext cx="517550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자기평가 1장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1426464" y="3145536"/>
            <a:ext cx="517550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en-US" sz="110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학기 초 방향 문장과 지금 결과물을 비교합니다. 무엇이 채워졌고 무엇이 남았는지.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640080" y="3767328"/>
            <a:ext cx="6309360" cy="896112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969264" y="4041648"/>
            <a:ext cx="329184" cy="329184"/>
          </a:xfrm>
          <a:prstGeom prst="ellipse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969264" y="404164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1426464" y="3858768"/>
            <a:ext cx="517550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다음 채울 것 3가지</a:t>
            </a:r>
            <a:endParaRPr lang="en-US" sz="1400" dirty="0"/>
          </a:p>
        </p:txBody>
      </p:sp>
      <p:sp>
        <p:nvSpPr>
          <p:cNvPr id="23" name="Text 21"/>
          <p:cNvSpPr/>
          <p:nvPr/>
        </p:nvSpPr>
        <p:spPr>
          <a:xfrm>
            <a:off x="1426464" y="4169664"/>
            <a:ext cx="517550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en-US" sz="110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방학과 4학년에 보완할 항목. 이 목록이 다음 학기의 시작점이 됩니다.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640080" y="4809744"/>
            <a:ext cx="6309360" cy="7315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640080" y="4901184"/>
            <a:ext cx="63093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제출 — 오늘 · 발표 후 최종본 제출</a:t>
            </a:r>
            <a:endParaRPr lang="en-US" sz="1200" dirty="0"/>
          </a:p>
        </p:txBody>
      </p:sp>
      <p:sp>
        <p:nvSpPr>
          <p:cNvPr id="26" name="Shape 24"/>
          <p:cNvSpPr/>
          <p:nvPr/>
        </p:nvSpPr>
        <p:spPr>
          <a:xfrm>
            <a:off x="7351776" y="1719072"/>
            <a:ext cx="4199839" cy="3803904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7735824" y="1993392"/>
            <a:ext cx="3431743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60" kern="0" dirty="0">
                <a:solidFill>
                  <a:srgbClr val="9A9A9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NEXT WEEK</a:t>
            </a:r>
            <a:endParaRPr lang="en-US" sz="950" dirty="0"/>
          </a:p>
        </p:txBody>
      </p:sp>
      <p:sp>
        <p:nvSpPr>
          <p:cNvPr id="28" name="Text 26"/>
          <p:cNvSpPr/>
          <p:nvPr/>
        </p:nvSpPr>
        <p:spPr>
          <a:xfrm>
            <a:off x="7735824" y="2286000"/>
            <a:ext cx="3431743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FFFFFF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—주차</a:t>
            </a:r>
            <a:endParaRPr lang="en-US" sz="2600" dirty="0"/>
          </a:p>
        </p:txBody>
      </p:sp>
      <p:sp>
        <p:nvSpPr>
          <p:cNvPr id="29" name="Text 27"/>
          <p:cNvSpPr/>
          <p:nvPr/>
        </p:nvSpPr>
        <p:spPr>
          <a:xfrm>
            <a:off x="7735824" y="2743200"/>
            <a:ext cx="3431743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700" dirty="0">
                <a:solidFill>
                  <a:srgbClr val="FFFFFF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학기 종료</a:t>
            </a:r>
            <a:endParaRPr lang="en-US" sz="1700" dirty="0"/>
          </a:p>
        </p:txBody>
      </p:sp>
      <p:sp>
        <p:nvSpPr>
          <p:cNvPr id="30" name="Shape 28"/>
          <p:cNvSpPr/>
          <p:nvPr/>
        </p:nvSpPr>
        <p:spPr>
          <a:xfrm>
            <a:off x="7735824" y="3346704"/>
            <a:ext cx="3431743" cy="7315"/>
          </a:xfrm>
          <a:prstGeom prst="rect">
            <a:avLst/>
          </a:prstGeom>
          <a:solidFill>
            <a:srgbClr val="3333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7735824" y="3493008"/>
            <a:ext cx="3431743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lnSpc>
                <a:spcPct val="120000"/>
              </a:lnSpc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DDDDD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최종 포트폴리오 제출</a:t>
            </a:r>
            <a:endParaRPr lang="en-US" sz="1150" dirty="0"/>
          </a:p>
          <a:p>
            <a:pPr marL="177800" indent="-177800">
              <a:lnSpc>
                <a:spcPct val="120000"/>
              </a:lnSpc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DDDDD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자기평가 1장</a:t>
            </a:r>
            <a:endParaRPr lang="en-US" sz="1150" dirty="0"/>
          </a:p>
          <a:p>
            <a:pPr marL="177800" indent="-177800">
              <a:lnSpc>
                <a:spcPct val="120000"/>
              </a:lnSpc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DDDDD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다음 채울 것 3가지</a:t>
            </a:r>
            <a:endParaRPr lang="en-US" sz="1150" dirty="0"/>
          </a:p>
          <a:p>
            <a:pPr marL="177800" indent="-177800">
              <a:lnSpc>
                <a:spcPct val="120000"/>
              </a:lnSpc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DDDDD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방학 중 보완 권장</a:t>
            </a:r>
            <a:endParaRPr lang="en-US" sz="1150" dirty="0"/>
          </a:p>
        </p:txBody>
      </p:sp>
      <p:sp>
        <p:nvSpPr>
          <p:cNvPr id="32" name="Shape 30"/>
          <p:cNvSpPr/>
          <p:nvPr/>
        </p:nvSpPr>
        <p:spPr>
          <a:xfrm>
            <a:off x="7735824" y="4700016"/>
            <a:ext cx="3431743" cy="7315"/>
          </a:xfrm>
          <a:prstGeom prst="rect">
            <a:avLst/>
          </a:prstGeom>
          <a:solidFill>
            <a:srgbClr val="3333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7735824" y="4809744"/>
            <a:ext cx="3431743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6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미리 준비할 것</a:t>
            </a:r>
            <a:endParaRPr lang="en-US" sz="900" dirty="0"/>
          </a:p>
        </p:txBody>
      </p:sp>
      <p:sp>
        <p:nvSpPr>
          <p:cNvPr id="34" name="Text 32"/>
          <p:cNvSpPr/>
          <p:nvPr/>
        </p:nvSpPr>
        <p:spPr>
          <a:xfrm>
            <a:off x="7735824" y="5065776"/>
            <a:ext cx="3431743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수고하셨습니다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640080" y="6291072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640080" y="6382512"/>
            <a:ext cx="7772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포트폴리오제작 · 15주차 기말 발표 및 종합 평가</a:t>
            </a:r>
            <a:endParaRPr lang="en-US" sz="850" dirty="0"/>
          </a:p>
        </p:txBody>
      </p:sp>
      <p:sp>
        <p:nvSpPr>
          <p:cNvPr id="37" name="Text 35"/>
          <p:cNvSpPr/>
          <p:nvPr/>
        </p:nvSpPr>
        <p:spPr>
          <a:xfrm>
            <a:off x="10271455" y="6382512"/>
            <a:ext cx="1280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spc="1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P.06</a:t>
            </a:r>
            <a:endParaRPr lang="en-US" sz="8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9</Slides>
  <Notes>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</vt:vector>
  </TitlesOfParts>
  <Company>MIN.D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포트폴리오제작 · 15주차 기말 발표 및 종합 평가</dc:title>
  <dc:subject>원광대학교 2026-2 · 실내·산업디자인학과 3학년 · 15주 · 포트폴리오 완성과 발표</dc:subject>
  <dc:creator>MIN.D</dc:creator>
  <cp:lastModifiedBy>MIN.D</cp:lastModifiedBy>
  <cp:revision>1</cp:revision>
  <dcterms:created xsi:type="dcterms:W3CDTF">2026-08-31T03:32:42Z</dcterms:created>
  <dcterms:modified xsi:type="dcterms:W3CDTF">2026-08-31T03:32:42Z</dcterms:modified>
</cp:coreProperties>
</file>