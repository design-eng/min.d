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시간표는 8명 기준(10분 발표 + 4분 피드백)이다. 실제 수강 인원에 맞춰 첫 수업 전에 반드시 조정할 것 — 12명이면 발표 8분 + 피드백 3분으로 줄이고 총평을 10분으로 압축한다. 시간을 넘기는 학생을 그대로 두면 뒤 순번이 손해를 본다. 타이머를 눈에 보이게 띄운다.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피드백 4분을 사회자 없이 두면 침묵하거나 칭찬만 나온다. 강사가 매번 '떠오른 아이디어 하나'와 '가장 약한 가정 하나'를 지목해 물어볼 것. 총평에서는 개인을 지목하지 않고 공통 문제만 다룬다.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오프닝에서 이 한 문장을 먼저 말한다. 심사로 받아들이면 학생들이 방어적으로 발표하고 피드백이 작동하지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배점 8/7/5는 중간 발표 20% 안에서의 배분이다. 학과 기준이 따로 있으면 이 슬라이드를 먼저 수정할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'저라면'이 나오면 그 자리에서 '퍼소나라면 어떨까요'로 되물어 고쳐 준다. 두세 번만 하면 반 전체가 바뀐다.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타이머를 화면에 크게 띄운다. 9분에 한 번 신호를 주고 10분에 반드시 끊는다. 첫 사람에게 엄격해야 나머지가 지킨다.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기록지를 인쇄해 나눠 주면 피드백 시간의 침묵이 사라진다. 7~8번 때문에 남의 발표를 자기 일로 듣게 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총평 첫 슬라이드로 쓴다. 발표 직후 학생들이 가장 흔들려 있을 때 이 말을 들어야 과제가 제대로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25분 구간. 완성도는 기대하지 않는다. '패널이라는 형식이 있다'는 것을 몸으로 알게 하는 게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1주차에 수집한 레퍼런스 패널 5점을 다시 꺼내게 하면 세 가지가 즉시 이해된다.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4단계가 후반부 작업의 나침반이 된다. '주인공 이미지'를 정해 둔 학생은 11주차 화면 디자인에서 헤매지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문장을 반드시 소리 내어 말할 것. 매년 10주차쯤에 컨셉을 바꾸겠다는 학생이 나온다.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 항목을 형식적으로 넘기지 말 것. 실제로 요일과 시간을 적게 하면 후반부 이탈이 줄어든다.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'반영하지 않음'을 쓰지 못하는 학생이 많다. 모든 피드백을 다 받으면 컨셉이 누더기가 된다는 것을 총평에서 미리 말해 둘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94015" y="713232"/>
            <a:ext cx="365760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2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08</a:t>
            </a:r>
            <a:endParaRPr lang="en-US" sz="13200" dirty="0"/>
          </a:p>
        </p:txBody>
      </p:sp>
      <p:sp>
        <p:nvSpPr>
          <p:cNvPr id="7" name="Shape 5"/>
          <p:cNvSpPr/>
          <p:nvPr/>
        </p:nvSpPr>
        <p:spPr>
          <a:xfrm>
            <a:off x="941832" y="877824"/>
            <a:ext cx="0" cy="603504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239926"/>
            <a:ext cx="301752" cy="241402"/>
          </a:xfrm>
          <a:prstGeom prst="line">
            <a:avLst/>
          </a:prstGeom>
          <a:noFill/>
          <a:ln w="15875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01952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  ·  PHASE 2 정의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859536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8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중간 발표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78638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지금까지의 판단을 공개하고 검증받습니다.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E6E6E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방향을 바꿀 수 있는 마지막 시점입니다.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443984"/>
            <a:ext cx="274320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64515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0" y="4645152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학부 3학년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0292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645920" y="50292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3시간 — 발표와 피드백 85% · 정리 15% — 평가 20%가 오늘 결정됩니다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413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제출물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45920" y="54132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 발표 (평가 20%) · 패널 스토리보드 1차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WONKWANG UNIV · 2026-2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TODAY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오늘의 3시간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발표와 피드백 85% · 정리 15% — 평가 20%가 오늘 결정됩니다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8249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19072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00:00–00:10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377440" y="1719072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오프닝 — 평가 기준과 피드백 규칙 확인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265615" y="1719072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29383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312126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00:10–01:20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0" y="2312126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1부 — 5명 (10분 발표 + 4분 피드백)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265615" y="2312126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886891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05179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01:20–01:30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377440" y="2905179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휴식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479945"/>
            <a:ext cx="10911535" cy="7315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98233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01:30–02:10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377440" y="3498233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2부 — 3명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65615" y="3498233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072999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91287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02:10–02:25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4091287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총평 — 공통으로 나온 문제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65615" y="4091287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강의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666053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84341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02:25–02:50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377440" y="4684341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실습 — 패널 스토리라인 1차 구성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65615" y="4684341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개인 워크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40080" y="525910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277394"/>
            <a:ext cx="16002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6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02:50–03:00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377440" y="5277394"/>
            <a:ext cx="6888175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후반부 안내 · 9주차 준비물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265615" y="5277394"/>
            <a:ext cx="2286000" cy="59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5852160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OBJECTIVES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끝나면 여러분은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17190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자기 판단을 10분 안에 설명할 수 있다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188720" y="202996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 → 판단 → 남은 질문 순서로 말하는 연습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88720" y="267004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남의 피드백을 방어 없이 받을 수 있다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88720" y="2980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설명을 덧붙이는 대신 받아 적는 태도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3621024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어떤 피드백을 받고 어떤 것을 놓을지 정할 수 있다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188720" y="39319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전부 반영하면 컨셉이 사라진다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88720" y="4572000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패널의 이야기 순서를 처음으로 그려 본다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188720" y="488289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13주차 레이아웃 설계의 씨앗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오늘의 한 문장 — 중간 발표는 심사가 아니라 방향을 바꿀 수 있는 마지막 기회다.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GRADING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오늘 무엇을 봅니까 — 평가 20%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기술이 아니라 판단의 근거를 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문제 정의 · 8%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7552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큰 비중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87552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POV가 리서치에서 나왔는가 (짐작이 아닌가)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저니맵의 문제 지점과 컨셉이 연결되는가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문제의 크기가 15주 안에 다룰 수 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여기가 흔들리면 뒤가 다 흔들립니다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6986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4458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컨셉 설득력 · 7%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34458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이것인가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4458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34458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3안 비교와 선택 근거가 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가치 제안이 한 문장으로 말해지는가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블루프린트가 굴러가는가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모르는 것을 모른다고 말했는가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3893" y="1700784"/>
            <a:ext cx="3417722" cy="35295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1365" y="1956816"/>
            <a:ext cx="272277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발표 구성 · 5%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81365" y="2395728"/>
            <a:ext cx="27227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b="1" spc="140" kern="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듣는 사람 기준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1365" y="2798064"/>
            <a:ext cx="2722778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1365" y="2944368"/>
            <a:ext cx="2722778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10분 안에 끝났는가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장표당 메시지가 하나인가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화면을 읽지 않고 말했는가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질문에 방어하지 않고 답했는가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50468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614416"/>
            <a:ext cx="1091153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'모르는 것을 모른다고 말했는가'가 실제로 점수 차이를 가장 크게 만듭니다. 감추면 질문에서 드러납니다.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피드백 규칙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5주차 크리틱과 같은 규칙을 씁니다. 오늘은 전체가 듣습니다.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5254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0704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발표자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60704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60704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질문에 바로 답하지 않고 먼저 받아 적습니다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"그건 이미 생각했는데요"를 쓰지 않습니다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모르는 것은 "아직 모릅니다"라고 말합니다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피드백이 틀렸다고 느껴도 그 자리에서 논쟁하지 않습니다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7016" y="1664208"/>
            <a:ext cx="5254600" cy="3749040"/>
          </a:xfrm>
          <a:prstGeom prst="rect">
            <a:avLst/>
          </a:prstGeom>
          <a:solidFill>
            <a:srgbClr val="F2F2F2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17640" y="1993392"/>
            <a:ext cx="441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듣는 사람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717640" y="2414016"/>
            <a:ext cx="44133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17640" y="2523744"/>
            <a:ext cx="441335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떠오른 아이디어를 한 개 말합니다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약해 보이는 가정을 한 개 지목합니다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좋다 · 나쁘다로 말하지 않습니다</a:t>
            </a:r>
            <a:endParaRPr lang="en-US" sz="1200" dirty="0"/>
          </a:p>
          <a:p>
            <a:pPr marL="177800" indent="-1778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1F1F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"저라면"이 아니라 "이 퍼소나라면"으로 말합니다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554126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마지막 줄이 중요합니다. 자기 취향을 말하는 피드백은 발표자를 흔들기만 하고 도움이 되지 않습니다.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01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발표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1인 10분 · 피드백 4분. 순서는 추첨으로 정합니다.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01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LISTEN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듣는 사람 기록지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발표를 들으면서 이 여덟 칸을 채웁니다. 오늘 제출물 중 하나입니다.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발표자의 사용자가 누구인지 한 줄로 적을 수 있다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무엇이 무너지는 문제인지 한 줄로 적을 수 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이 컨셉을 골랐는지 근거를 들었다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블루프린트에서 비어 보이는 칸을 한 곳 찾았다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컨셉으로 떠오른 아이디어를 한 개 적었다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약해 보이는 가정을 한 개 적었다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프로젝트에 가져올 만한 것을 한 개 적었다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구성에서 배울 점을 한 개 적었다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1~2번을 못 적었다면 발표자에게 그 사실 자체를 피드백으로 주세요. 가장 중요한 정보입니다.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0312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AFTER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395728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596896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모든 피드백을 반영하면</a:t>
            </a:r>
            <a:endParaRPr lang="en-US" sz="340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컨셉은 사라집니다.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0080" y="4078224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6000"/>
              </a:lnSpc>
              <a:buNone/>
            </a:pPr>
            <a:r>
              <a:rPr lang="en-US" sz="140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오늘 여러분은 10~20개의 지적을 받습니다. 전부 반영하려 하면 서로 모순되는 요구가 겹쳐 아무것도 아닌 것이 됩니다. 받은 것을 다 적되, 무엇을 받고 무엇을 놓을지는 여러분이 정합니다. 놓는 이유를 쓸 수 있으면 그것도 설계 판단입니다.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WEEK 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45375" y="173736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0" dirty="0">
                <a:solidFill>
                  <a:srgbClr val="1B1B1B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0000" dirty="0"/>
          </a:p>
        </p:txBody>
      </p:sp>
      <p:sp>
        <p:nvSpPr>
          <p:cNvPr id="7" name="Shape 5"/>
          <p:cNvSpPr/>
          <p:nvPr/>
        </p:nvSpPr>
        <p:spPr>
          <a:xfrm>
            <a:off x="941832" y="1371600"/>
            <a:ext cx="0" cy="603504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941832" y="1733702"/>
            <a:ext cx="301752" cy="241402"/>
          </a:xfrm>
          <a:prstGeom prst="line">
            <a:avLst/>
          </a:prstGeom>
          <a:noFill/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61518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8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PART 02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889504"/>
            <a:ext cx="7863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패널 스토리라인 1차</a:t>
            </a:r>
            <a:endParaRPr lang="en-US" sz="46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2194560" cy="7315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005072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4000"/>
              </a:lnSpc>
              <a:buNone/>
            </a:pPr>
            <a:r>
              <a:rPr lang="en-US" sz="1350" dirty="0">
                <a:solidFill>
                  <a:srgbClr val="B8B8B8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13주차에 처음 생각하면 늦습니다. 오늘 뼈대만 잡아 둡니다.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 rot="16200000">
            <a:off x="10436047" y="3291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260" kern="0" dirty="0">
                <a:solidFill>
                  <a:srgbClr val="7A7A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SECTION 02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PANEL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전시 패널은 발표와 다릅니다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말하는 사람이 없는 상태에서 혼자 서 있어야 하는 형식입니다.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24128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순서를 강제할 수 없다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24128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발표는 내가 순서를 정하지만 패널은 관람자가 눈길 가는 대로 봅니다. 어디서 시작해도 이해되도록 위계를 만들어야 합니다.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99178" y="1737360"/>
            <a:ext cx="3393338" cy="3035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83226" y="201168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3226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83226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3m에서 먼저 읽힌다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83226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관람자는 3m 밖에서 볼지 말지를 정합니다. 그 거리에서 읽히는 것은 제목과 큰 이미지 하나뿐입니다.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58277" y="1737360"/>
            <a:ext cx="3393338" cy="303580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2325" y="2011680"/>
            <a:ext cx="365760" cy="3657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42325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542325" y="2505456"/>
            <a:ext cx="26252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질문할 사람이 없다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542325" y="2999232"/>
            <a:ext cx="262524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발표에서는 질문으로 메울 수 있던 빈틈을 패널은 스스로 메워야 합니다. 그래서 근거를 지면 안에 넣어야 합니다.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5193792"/>
            <a:ext cx="1091153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오늘은 이 세 가지를 알고 순서만 잡습니다. 실제 레이아웃은 13주차에 설계합니다.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P.06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WORKSHOP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실습 · 패널 스토리라인 1차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25분 · 개인 — A4 한 장에 손으로. 완성이 아니라 순서를 잡는 것이 목적입니다.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810512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86000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한 문장 정하기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669280" y="1810512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맨 위에 들어갈 문장 하나. 발표 첫 장의 가치 제안을 그대로 써도 좋습니다. 이것이 3m에서 읽히는 유일한 글입니다.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688336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2779776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8분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286000" y="277977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블록 6~8개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669280" y="2779776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문제 · 사용자 · 인사이트 · 컨셉 · 화면 · 블루프린트 · 결과. 각 블록에 무엇이 들어갈지 이름만 적습니다.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911535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490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7분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286000" y="37490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크기 정하기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669280" y="3749040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블록마다 '크게 · 보통 · 작게'를 표시합니다. 크게가 셋을 넘으면 위계가 없는 것입니다.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626864"/>
            <a:ext cx="10911535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4718304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5분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286000" y="471830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주인공 이미지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0" y="4718304"/>
            <a:ext cx="5516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B8B8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패널에서 가장 큰 이미지 한 개가 무엇일지 정합니다. 아직 없으면 '무엇을 만들어야 하는지' 적어 둡니다 — 9~12주 작업 목표가 됩니다.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AHEAD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9주차부터 후반부 — 무엇이 달라지나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지금까지는 생각을 정리했고, 이제부터는 만듭니다.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664208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81051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719072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매주 결과물이 눈에 보입니다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202996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와이어프레임 · 디자인 시스템 · 화면 · 프로토타입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57055" y="18105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9–12주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2596896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276148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61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2670048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작업량이 크게 늘어납니다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298094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수업 시간만으로는 부족합니다. 주당 6~8시간을 따로 잡아 두세요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57055" y="27614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각오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35478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71246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7124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720" y="3621024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12주차에 자기 설계를 반증합니다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1188720" y="393192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5인 사용성 테스트. 여기서 나온 문제가 13주 패널의 근거가 됩니다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357055" y="371246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4498848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88720" y="457200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14주차 인쇄 마감은 예외가 없습니다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1188720" y="488289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 발주 일정과 직결됩니다. 지연은 감점입니다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357055" y="466344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20" kern="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5522976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632704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컨셉을 바꿀 수 있는 마지막 주가 이번 주입니다. 9주차 이후의 방향 전환은 일정상 불가능합니다.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제출물 체크리스트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제출 2건 + 다음 주까지 과제 3건입니다.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53312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발표를 마쳤고 시간을 지켰다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듣는 사람 기록지를 전원 분 채워 제출했다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53312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패널 스토리라인 1차 A4 한 장을 제출했다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53312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피드백을 빠짐없이 적어 두었다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97016" y="175564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1336" y="189280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1336" y="1892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10248" y="175564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피드백마다 반영 여부와 이유를 썼다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97016" y="248716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1336" y="262432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1336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10248" y="248716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확정본 A4 한 장을 다시 정리했다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97016" y="321868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71336" y="335584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71336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10248" y="321868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목록 초안 15~25개를 적었다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97016" y="3950208"/>
            <a:ext cx="5254600" cy="585216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71336" y="4087368"/>
            <a:ext cx="310896" cy="310896"/>
          </a:xfrm>
          <a:prstGeom prst="ellipse">
            <a:avLst/>
          </a:prstGeom>
          <a:solidFill>
            <a:srgbClr val="F2F2F2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71336" y="4087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10248" y="3950208"/>
            <a:ext cx="4267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9~12주 작업 시간을 주간 일정에 실제로 잡아 두었다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0080" y="4736592"/>
            <a:ext cx="10911535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846320"/>
            <a:ext cx="1091153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확정본은 인쇄해서 책상에 붙여 두세요. 9~15주 내내 여기로 돌아옵니다.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P.09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480560" y="27432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2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2 정의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808415" y="2743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WEEK 08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548640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64008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8A8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HOMEWORK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859536"/>
            <a:ext cx="109115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과제와 다음 주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371600"/>
            <a:ext cx="109115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9주차부터는 화면을 만듭니다. 오늘 받은 피드백을 반영한 뒤에 시작합니다.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1719072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1993392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264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26464" y="1810512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피드백 반영 기록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26464" y="2121408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받은 지적을 전부 적고, 각각에 대해 반영 · 부분 반영 · 반영하지 않음과 그 이유를 씁니다. 반영하지 않는 것도 판단입니다.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9264" y="3017520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26464" y="2834640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컨셉 확정본 1장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26464" y="3145536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피드백 이후 최종 컨셉을 A4 한 장으로 다시 정리합니다. 이 장을 9~15주 내내 책상에 붙여 둡니다.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767328"/>
            <a:ext cx="6309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" y="4041648"/>
            <a:ext cx="329184" cy="329184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26464" y="3858768"/>
            <a:ext cx="5175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화면 목록 초안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26464" y="4169664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6E6E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서비스에 어떤 화면이 필요한지 이름만 나열합니다. 15~25개 정도. 9주차 IA 설계의 출발점입니다.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63093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901184"/>
            <a:ext cx="6309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제출 — 9주차 수업 시작 전까지 · 피드백 반영본 업로드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51776" y="1719072"/>
            <a:ext cx="4199839" cy="3803904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35824" y="1993392"/>
            <a:ext cx="34317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60" kern="0" dirty="0">
                <a:solidFill>
                  <a:srgbClr val="9A9A9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 WEEK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7735824" y="2286000"/>
            <a:ext cx="343174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Pretendard Light" pitchFamily="34" charset="0"/>
                <a:ea typeface="Pretendard Light" pitchFamily="34" charset="-122"/>
                <a:cs typeface="Pretendard Light" pitchFamily="34" charset="-120"/>
              </a:rPr>
              <a:t>09주차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735824" y="2743200"/>
            <a:ext cx="343174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정보구조 &amp; 와이어프레임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7735824" y="3346704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35824" y="3493008"/>
            <a:ext cx="3431743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IA 설계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태스크 플로우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저충실도 와이어프레임</a:t>
            </a:r>
            <a:endParaRPr lang="en-US" sz="1150" dirty="0"/>
          </a:p>
          <a:p>
            <a:pPr marL="177800" indent="-1778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DDDDD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목록 확정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735824" y="4700016"/>
            <a:ext cx="3431743" cy="7315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5824" y="4809744"/>
            <a:ext cx="343174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6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준비할 것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35824" y="5065776"/>
            <a:ext cx="343174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컨셉 확정본 1장 · 화면 목록 초안 · 블루프린트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11535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82512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서비스디자인 · 8주차 중간 발표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271455" y="63825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40" kern="0" dirty="0">
                <a:solidFill>
                  <a:srgbClr val="9B9B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P.10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MIN.D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서비스디자인 · 8주차 중간 발표</dc:title>
  <dc:subject>원광대학교 2026-2 · 학부 3학년 · 주 3시간 × 15주 · 졸업 전시 패널 제작</dc:subject>
  <dc:creator>MIN.D</dc:creator>
  <cp:lastModifiedBy>MIN.D</cp:lastModifiedBy>
  <cp:revision>1</cp:revision>
  <dcterms:created xsi:type="dcterms:W3CDTF">2026-08-31T11:45:54Z</dcterms:created>
  <dcterms:modified xsi:type="dcterms:W3CDTF">2026-08-31T11:45:54Z</dcterms:modified>
</cp:coreProperties>
</file>