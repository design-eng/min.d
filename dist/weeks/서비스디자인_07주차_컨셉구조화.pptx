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오늘의 목적은 '아이디어가 서비스가 되려면 무엇이 더 필요한가'를 스스로 발견하게 하는 것이다. 블루프린트를 그리다 보면 백스테이지가 텅 비어 있는 컨셉이 드러난다. 그 발견 자체가 오늘의 학습이므로, 빈칸을 지적하되 실패로 다루지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블루프린트는 처음 그리면 반드시 막힌다. 강사가 자기 예시 하나를 다섯 줄까지 실시간으로 그려 보이는 시연이 설명보다 훨씬 빠르다. 실습 중에는 '가시선 아래에 뭐가 있어야 하나요?'를 계속 되물어 줄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번째가 오늘의 진짜 목표다. 빈칸을 찾는 것이 실패가 아니라 성과라는 프레임을 시작부터 세워 둘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35분 구간. 밸류 프로포지션 캔버스를 다 가르치려 하지 말고 세 칸만 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2번과 3번을 같은 말로 두 번 쓰는 경우가 많다. '없애는 것'과 '생기는 것'은 다르다고 예시로 구분해 줄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오른쪽 세 문장을 이어 붙이면 학생 발표에서 실제로 나오는 첫 문장이 된다. 소리 내어 읽어 주면 바로 알아듣는다.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3단계 비교표가 8주차 발표의 핵심 장표가 된다. 여기서 만들어 두면 발표 준비가 절반 끝난다.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40분 구간. 강사 예시를 실시간으로 그려 보이는 시연이 필수. 완성된 도표를 보여 주면 학생은 못 따라 그린다.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'물리적 증거'를 어려워한다. '이 단계가 끝나고 사용자 손에 남는 것'으로 풀어 설명하면 바로 채운다.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예시를 칠판에 그대로 그려 보이면 학생들이 자기 것의 빈칸을 스스로 찾기 시작한다.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IoT를 장식으로 붙이는 컨셉이 매년 나온다. 'IoT가 없으면 이 컨셉이 안 되는가'를 물어보면 대부분 정리된다.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물음표를 부끄러워하지 않게 하는 것이 오늘 순회 지도의 전부다. '물음표가 많은 사람이 오늘 제일 많이 배운 것'이라고 말해 줄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수강 인원에 따라 1인 시간이 달라진다. 12명 기준 10+4분으로 168분이 필요하므로, 인원이 더 많으면 발표 8분·피드백 3분으로 줄이거나 2교시로 나눌 것. 첫 수업 전에 인원을 확정해 이 슬라이드를 수정한다.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마지막 문장을 발표 전 주에 한 번, 발표 당일 오프닝에 한 번 더 말해 줄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자료를 만들다가 컨셉이 바뀌는 학생이 나온다. 바뀌는 것은 괜찮지만 블루프린트도 같이 고쳐야 한다고 미리 말해 둘 것. 발표 전날 밤 컨셉을 바꾸는 것만 막으면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94015" y="713232"/>
            <a:ext cx="36576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07</a:t>
            </a:r>
            <a:endParaRPr lang="en-US" sz="13200" dirty="0"/>
          </a:p>
        </p:txBody>
      </p:sp>
      <p:sp>
        <p:nvSpPr>
          <p:cNvPr id="7" name="Shape 5"/>
          <p:cNvSpPr/>
          <p:nvPr/>
        </p:nvSpPr>
        <p:spPr>
          <a:xfrm>
            <a:off x="941832" y="877824"/>
            <a:ext cx="0" cy="603504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01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07  ·  PHASE 2 정의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85953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서비스 컨셉 구조화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아이디어를 '굴러가는 서비스'로 바꿉니다.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화면 뒤에서 누가 무엇을 하는지까지 그립니다.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274320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6451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과목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45920" y="464515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학부 3학년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45920" y="50292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3시간 — 강의 40% · 실습 60% — 오늘 만든 블루프린트가 발표의 뼈대입니다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4132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제출물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645920" y="541324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 블루프린트 1점 · 중간 발표 자료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TODAY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오늘의 3시간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40% · 실습 60% — 오늘 만든 블루프린트가 발표의 뼈대입니다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82496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19072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00:00–00:15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377440" y="1719072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메인 컨셉 확인 — 한 줄로 서로에게 설명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265615" y="1719072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2인 1조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229383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312126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00:15–00:50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377440" y="2312126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 — 밸류 프로포지션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265615" y="2312126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+ 시연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2886891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905179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00:50–01:20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377440" y="2905179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1 — 가치 제안 문장 만들기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265615" y="2905179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워크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3479945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498233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01:20–01:30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377440" y="3498233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휴식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072999"/>
            <a:ext cx="10911535" cy="7315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091287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01:30–02:10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377440" y="4091287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2 — 서비스 블루프린트와 터치포인트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265615" y="4091287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+ 시연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4666053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684341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02:10–02:45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377440" y="4684341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2 — 블루프린트 작성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265615" y="4684341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워크 + 순회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" y="525910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5277394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02:45–03:00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377440" y="5277394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구성 안내 · 리허설 조 편성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265615" y="5277394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안내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" y="5852160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7주차 서비스 컨셉 구조화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OBJECTIVES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끝나면 여러분은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166420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81051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88720" y="171907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내 컨셉의 가치를 한 문장으로 말할 수 있다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88720" y="202996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누구의 어떤 문제를 어떻게 다르게 푸는지가 한 문장에 들어간다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59689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76148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761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88720" y="267004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서비스 블루프린트를 그릴 수 있다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188720" y="298094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무대 앞뒤 다섯 줄 — 화면만이 아니라 사람과 시스템까지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5478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71246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712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88720" y="3621024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내 컨셉의 빈칸을 스스로 찾을 수 있다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188720" y="393192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굴러가지 않는 지점을 발표 전에 미리 안다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49884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466344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663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88720" y="457200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10분짜리 발표 구조를 짤 수 있다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188720" y="4882896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장표당 메시지 하나, 8~10장으로 문제부터 계획까지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5522976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5632704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한 문장 — 서비스는 화면이 아니라 약속이다. 그 약속을 누가 지키는지까지 그려야 설계다.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7주차 서비스 컨셉 구조화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무엇을 약속하는 서비스인가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아이디어는 '무엇을 만든다'로 끝나지만, 컨셉은 '누구에게 무엇이 달라진다'로 끝납니다.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VALUE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가치 제안 — 세 칸으로 충분합니다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캔버스 전체를 채우지 않습니다. 발표에 필요한 세 칸만 씁니다.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무엇이 막고 있는가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4주차 저니맵의 문제 지점과 5주차 POV를 그대로 가져옵니다. 새로 지어내지 않습니다. 여기가 새 내용이면 리서치와 컨셉이 끊긴 것입니다.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99178" y="1737360"/>
            <a:ext cx="3393338" cy="3035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3226" y="2011680"/>
            <a:ext cx="365760" cy="36576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무엇을 덜어 주는가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컨셉이 없애는 수고 · 불안 · 반복. '줄인다'가 아니라 '무엇을 몇 단계에서 없앤다'로 구체적으로 씁니다.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8277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2325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무엇을 새로 얻게 하는가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없애는 것만으로는 서비스가 되지 않습니다. 이전에 할 수 없던 무엇을 할 수 있게 되는지 한 가지.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한 문장으로 — "[사용자]가 [상황]에서 [기존 방식] 대신 [내 컨셉]으로 [달라지는 것]을 얻는다."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7주차 서비스 컨셉 구조화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P.03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FIX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고쳐야 할 가치 문장 · 고친 가치 문장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발표에서 첫 30초에 나가는 문장입니다. 여기서 갈립니다.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27632"/>
            <a:ext cx="5254600" cy="2761488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901952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이렇게 씁니다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97016" y="1627632"/>
            <a:ext cx="5254600" cy="2761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99352" y="1901952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B9B9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이렇게 쓰면 안 들립니다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42416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주어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42416" y="2688336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"처음 방문한 보호자가" — 누구인지 떠오릅니다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699352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주어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99352" y="2688336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"사용자가" — 아무도 떠오르지 않습니다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42416" y="3054096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99352" y="3054096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2416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기준점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42416" y="3346704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"안내 데스크에 다시 묻는 대신" — 기존 방식과 비교됩니다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699352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기준점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699352" y="3346704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"편리하게" — 무엇보다 편리한지 없습니다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42416" y="3712464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99352" y="3712464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2416" y="3767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42416" y="4005072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"다음 일정을 대기 중에 확정할 수 있다" — 확인 가능한 변화입니다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699352" y="3767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99352" y="4005072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"만족도가 향상된다" — 측정할 수도 보여 줄 수도 없습니다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7주차 서비스 컨셉 구조화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P.04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실습 1 · 가치 제안 문장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30분 · 개인 — 발표 첫 장에 들어갈 한 문장을 만듭니다.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10512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8분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0" y="18105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세 칸 채우기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669280" y="1810512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막는 것 · 덜어 주는 것 · 새로 얻는 것. 각각 두 줄 이내로 씁니다. 저니맵을 옆에 펼쳐 놓고 씁니다.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688336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77977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10분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286000" y="27797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한 문장으로 합치기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669280" y="2779776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양식에 넣어 씁니다. 40자를 넘으면 담은 게 많은 것입니다. 하나를 버리세요.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749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7분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28600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3안 비교표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669280" y="3749040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탈락한 2안도 같은 문장으로 한 줄씩 씁니다. 세 문장을 나란히 놓으면 왜 이것을 골랐는지가 보입니다.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626864"/>
            <a:ext cx="10911535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718304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5분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286000" y="47183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옆 사람 확인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669280" y="4718304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문장만 읽어 주고 '무엇을 만드는 것 같은지' 물어봅니다. 다른 것을 말하면 문장을 고칩니다.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7주차 서비스 컨셉 구조화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서비스 블루프린트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사용자가 보는 무대 위와, 보이지 않는 무대 뒤를 같은 시간축에 놓습니다.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02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STRUCTURE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다섯 줄로 그립니다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가로축은 4주차 저니맵의 단계를 그대로 씁니다. 새로 만들지 않습니다.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무대 위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87552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사용자가 겪는 것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87552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사용자 행동 — 저니맵 단계를 그대로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프론트스테이지 — 사용자가 보는 접점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· 사람 · 공간 · 문서가 모두 접점입니다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여기만 그리면 아직 화면 설계입니다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86986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4458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가시선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34458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보이는 것과 보이지 않는 것의 경계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34458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4458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선 하나가 블루프린트의 핵심입니다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 위는 사용자가 경험하고, 아래는 우리가 운영합니다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선을 긋고 나면 '누가 이걸 하지?'가 보입니다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1주차 병원 사례에서 말한 바로 그 선입니다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33893" y="1700784"/>
            <a:ext cx="3417722" cy="352958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81365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무대 뒤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81365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약속을 지키는 쪽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481365" y="2798064"/>
            <a:ext cx="2722778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81365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백스테이지 — 직원 · 담당자의 행동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지원 프로세스 — 시스템 · 데이터 · 규칙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 물리적 증거 — 남는 것 (영수증 · 알림 · 기록)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여기가 비면 컨셉이 굴러가지 않습니다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50468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614416"/>
            <a:ext cx="109115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가로 5~8단계 × 세로 5줄. 칸이 40개를 넘으면 단계를 묶으세요. 발표에서 읽히지 않습니다.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7주차 서비스 컨셉 구조화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P.06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EXAMPLE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예시 — 대기 중 일정 확정 서비스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5분이면 이 정도까지는 그려집니다. 완성도가 아니라 빈칸을 찾는 게 목적입니다.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00784"/>
            <a:ext cx="10911535" cy="10241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8653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4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여정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42416" y="2139696"/>
            <a:ext cx="101068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접수 → 대기 시작 → 남은 시간 확인 → 일정 조정 → 호출 → 진료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944368"/>
            <a:ext cx="3417722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9264" y="3255264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3255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53312" y="3255264"/>
            <a:ext cx="23753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프론트스테이지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69264" y="3730752"/>
            <a:ext cx="275935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접수 시 QR을 받고, 대기 화면에 예상 호출 시각이 분 단위로 뜹니다. 15분 이상 밀리면 알림이 갑니다. 사용자가 보는 것은 여기까지입니다.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86986" y="2944368"/>
            <a:ext cx="3417722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16170" y="3255264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16170" y="3255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00218" y="3255264"/>
            <a:ext cx="23753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백스테이지 · 지원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716170" y="3730752"/>
            <a:ext cx="275935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간호사가 진료 지연을 입력하고, 스케줄 시스템이 예상 시각을 다시 계산합니다. 여기가 없으면 화면의 숫자는 거짓말이 됩니다.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133893" y="2944368"/>
            <a:ext cx="3417722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63077" y="3255264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63077" y="3255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847125" y="3255264"/>
            <a:ext cx="23753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여기서 드러나는 빈칸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463077" y="3730752"/>
            <a:ext cx="275935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'간호사가 매번 입력해 줄 것인가'가 미정입니다. 이 빈칸을 감추지 말고 발표에서 '검증이 필요한 가정'으로 밝히세요. 감추면 질문으로 돌아옵니다.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5833872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빈칸이 하나도 없는 블루프린트는 대개 무대 뒤를 안 그린 것입니다.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7주차 서비스 컨셉 구조화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TOUCHPOINT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터치포인트 — 화면만이 접점은 아닙니다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기획안의 IoT 연동 시나리오도 여기서 다룹니다.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디지털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앱 화면 · 웹 · 알림 · 키오스크. 여러분이 9~12주에 실제로 만들 부분이며, 패널의 중심 이미지가 됩니다.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99178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3226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사람과 공간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직원의 말 한마디, 안내 사인, 대기 공간의 배치. 만들지는 않지만 블루프린트에 표시하면 컨셉의 완성도가 달라집니다.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8277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2325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사물 · 센서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비콘 · NFC 태그 · 재실 센서처럼 사용자가 조작하지 않는 접점. 이번 학기에는 시나리오와 시안 수준으로 다룹니다.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3번을 넣을 때는 '왜 화면이 아니라 센서여야 하는가'에 답할 수 있어야 합니다. 답이 없으면 화면으로 충분합니다.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7주차 서비스 컨셉 구조화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P.08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실습 2 · 블루프린트 작성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35분 · 개인 — A3 가로로. 손으로 그립니다. 오늘은 디지털로 옮기지 않습니다.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10512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5분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0" y="18105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가로축 긋기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669280" y="1810512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저니맵 단계를 5~8개로 옮겨 적습니다. 컨셉에 맞게 단계 이름을 바꿔도 됩니다.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688336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77977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10분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286000" y="27797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위 두 줄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669280" y="2779776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행동과 프론트스테이지를 채웁니다. 여기는 대부분 막히지 않습니다.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749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13분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28600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가시선 아래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669280" y="3749040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백스테이지 · 지원 프로세스 · 물리적 증거. 모르면 물음표를 크게 그려 넣습니다. 비우지 말고 물음표로 표시하세요.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626864"/>
            <a:ext cx="10911535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718304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7분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286000" y="47183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물음표 세기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669280" y="4718304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물음표 개수를 셉니다. 3개 이하면 컨셉이 굴러갑니다. 5개를 넘으면 컨셉의 범위를 줄여야 합니다.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7주차 서비스 컨셉 구조화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P.09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PRESENT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8주차 발표 — 구조와 시간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1인 10분 발표 + 4분 피드백. 장표는 8~10장을 넘기지 않습니다.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64208"/>
            <a:ext cx="52546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1993392"/>
            <a:ext cx="441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장표 순서 — 8~10장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060704" y="2414016"/>
            <a:ext cx="4413352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2523744"/>
            <a:ext cx="441335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가치 제안 한 문장 (오늘 만든 것)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누구의 문제인가 — 퍼소나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무엇이 무너지는가 — 저니맵 문제 지점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인사이트와 POV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 컨셉 3안 비교 — 왜 이것인가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6~7. 메인 컨셉과 블루프린트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8. 검증이 필요한 가정 (물음표)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9. 9~15주 계획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97016" y="1664208"/>
            <a:ext cx="5254600" cy="3749040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17640" y="1993392"/>
            <a:ext cx="441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시간 배분 — 10분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717640" y="2414016"/>
            <a:ext cx="4413352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17640" y="2523744"/>
            <a:ext cx="441335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0:00–1:00 가치 제안 한 문장으로 시작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1:00–3:30 문제와 사용자 — 근거 중심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3:30–5:00 컨셉 3안 비교와 선택 근거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5:00–8:00 메인 컨셉과 블루프린트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8:00–9:00 아직 모르는 것 솔직하게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9:00–10:00 앞으로의 계획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규칙 — 화면을 읽지 않습니다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5541264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8번 '검증이 필요한 가정'을 빼지 마세요. 이 장표가 있는 발표와 없는 발표의 평가가 가장 크게 갈립니다.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7주차 서비스 컨셉 구조화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P.10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SUBMIT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제출물 체크리스트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파일까지 8주차 수업 시작 전에 올립니다. 당일 파일 교체는 받지 않습니다.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5564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89280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53312" y="175564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가치 제안이 한 문장이고 사용자 · 기준점 · 결과가 다 있다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48716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62432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53312" y="248716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컨셉 3안 비교표가 있고 선택 근거가 적혀 있다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21868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35584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53312" y="321868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블루프린트 가로축이 저니맵 단계와 연결된다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95020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408736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53312" y="395020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다섯 줄이 모두 있고 가시선이 그어져 있다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97016" y="175564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71336" y="189280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71336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10248" y="175564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백스테이지와 지원 프로세스가 비어 있지 않다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97016" y="248716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71336" y="262432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71336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010248" y="248716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미정인 칸이 물음표로 표시되어 있다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97016" y="321868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71336" y="335584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71336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010248" y="321868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자료가 8~10장이고 장표당 메시지가 하나다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97016" y="395020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71336" y="408736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71336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010248" y="395020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리허설 1회를 했고 소요 시간을 적었다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0080" y="4736592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4846320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블루프린트의 물음표는 감점 요인이 아닙니다. 물음표를 지우고 아는 척한 것이 감점 요인입니다.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7주차 서비스 컨셉 구조화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P.11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HOMEWORK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과제와 다음 주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8주차는 중간 발표입니다. 오늘 만든 블루프린트가 발표의 중심 장표입니다.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" y="1993392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26464" y="1810512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블루프린트 완성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26464" y="212140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수업에서 그린 손 그림을 Figma로 옮깁니다. 다섯 줄이 모두 채워져야 하고, 빈칸이 있으면 '미정'이라고 명시합니다.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743200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3017520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26464" y="2834640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발표 자료 8~10장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26464" y="3145536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→ 사용자 → 인사이트 → 컨셉 3안 비교 → 메인 컨셉 → 블루프린트 → 앞으로의 계획 순서. 장표당 메시지 하나.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767328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9264" y="4041648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26464" y="3858768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발표 리허설 1회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26464" y="4169664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혼자서 소리 내어 한 번. 10분을 넘기면 장표를 줄입니다. 시간을 재서 몇 분이었는지 적어 오세요.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809744"/>
            <a:ext cx="630936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901184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— 8주차 수업 시작 전까지 · 클래스룸 업로드 (발표 파일 포함)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51776" y="1719072"/>
            <a:ext cx="4199839" cy="380390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35824" y="1993392"/>
            <a:ext cx="34317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 WEEK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735824" y="2286000"/>
            <a:ext cx="34317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08주차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7735824" y="2743200"/>
            <a:ext cx="343174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중간 발표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7735824" y="3346704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35824" y="3493008"/>
            <a:ext cx="3431743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개인별 컨셉 발표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상호 피드백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 스토리라인 1차 구성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20% 반영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735824" y="4700016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35824" y="4809744"/>
            <a:ext cx="34317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준비할 것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35824" y="5065776"/>
            <a:ext cx="34317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자료 8~10장 · 블루프린트 · 컨셉 3안 비교 자료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7주차 서비스 컨셉 구조화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P.12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MIN.D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서비스디자인 · 7주차 서비스 컨셉 구조화</dc:title>
  <dc:subject>원광대학교 2026-2 · 학부 3학년 · 주 3시간 × 15주 · 졸업 전시 패널 제작</dc:subject>
  <dc:creator>MIN.D</dc:creator>
  <cp:lastModifiedBy>MIN.D</cp:lastModifiedBy>
  <cp:revision>1</cp:revision>
  <dcterms:created xsi:type="dcterms:W3CDTF">2026-08-31T11:45:54Z</dcterms:created>
  <dcterms:modified xsi:type="dcterms:W3CDTF">2026-08-31T11:45:54Z</dcterms:modified>
</cp:coreProperties>
</file>