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오늘의 함정은 '문제를 이미 안다'고 생각하는 것이다. 대부분 4주차 저니맵을 보지 않고 머릿속 인상으로 POV를 쓴다. 저니맵을 책상에 펼쳐 놓지 않은 학생은 실습을 시작하지 못하게 할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1차 크리틱이 오늘의 진짜 목적이다. 강의 시간을 줄이더라도 크리틱 25분은 반드시 확보한다. 크리틱은 '좋다/나쁘다'가 아니라 '이 POV로 무엇을 만들 수 있는지 상상되는가'만 묻게 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네 번째가 오늘 가장 어렵다. 크기 조절은 설명보다 실제 문장 세 개를 나란히 놓고 비교해야 이해된다.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35분 구간. 학생 저니맵 하나를 화면에 띄워 실시간으로 함께 문장을 만들면 가장 빠르다.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3주차 사실/해석 분리 슬라이드를 여기서 한 번 더 언급한다. 그때 노트를 반으로 접었던 학생은 오늘 재료가 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3번에 수단을 쓰는 오류가 압도적으로 많다. 실습 중 순회하며 '무엇을'과 '어떻게'를 구분해 준다.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오른쪽 세 번째가 가장 흔하다. '이미 답을 정했으면 오늘 수업이 필요 없다'고 짚어 줄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3단계에서 문장이 통째로 사라지는 학생이 나온다. 그게 오늘 배워야 할 것이라고 말해 줄 것 — 해결책만 있고 문제가 없었다는 뜻이다.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30분 구간. 두 형식의 차이를 '문장 vs 질문'으로 단순하게 잡아 주면 헷갈리지 않는다.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'왜냐하면' 뒤가 앞의 필요를 그대로 반복하는 순환 문장이 자주 나온다. 반복이면 통찰이 없는 것이다.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세 단어의 의미를 각각 설명하면 학생들이 자기 문장을 스스로 고친다. 형식만 주면 고치지 못한다.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'20안 테스트'는 학생이 혼자서도 쓸 수 있는 기준이다. 다음 주 실습과 직결되므로 반드시 남겨 둘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HMW를 POV의 단순 번역으로만 쓰는 학생이 많다. 각도를 바꾸는 예시를 칠판에 3개 적어 두면 즉시 달라진다.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25분 구간. 크리틱 규칙을 먼저 세우지 않으면 칭찬만 오간다. 다음 슬라이드를 띄워 놓고 진행할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마지막 문장이 오늘 크리틱의 핵심 규칙이다. 이걸 세워 두지 않으면 발표자가 계속 부연 설명을 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체크리스트 마지막 두 줄이 미제출 사고를 막는다. 클래스룸 과제 설명에도 같은 문장을 복사해 둘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메인 HMW를 고르지 않고 오는 학생이 매년 절반이다. 고르지 않으면 6주차 실습이 흩어진다. 클래스룸 제출 양식에 '메인 HMW' 칸을 따로 만들어 둘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2 정의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94015" y="713232"/>
            <a:ext cx="3657600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05</a:t>
            </a:r>
            <a:endParaRPr lang="en-US" sz="13200" dirty="0"/>
          </a:p>
        </p:txBody>
      </p:sp>
      <p:sp>
        <p:nvSpPr>
          <p:cNvPr id="7" name="Shape 5"/>
          <p:cNvSpPr/>
          <p:nvPr/>
        </p:nvSpPr>
        <p:spPr>
          <a:xfrm>
            <a:off x="941832" y="877824"/>
            <a:ext cx="0" cy="603504"/>
          </a:xfrm>
          <a:prstGeom prst="line">
            <a:avLst/>
          </a:prstGeom>
          <a:noFill/>
          <a:ln w="15875">
            <a:solidFill>
              <a:srgbClr val="11111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239926"/>
            <a:ext cx="301752" cy="241402"/>
          </a:xfrm>
          <a:prstGeom prst="line">
            <a:avLst/>
          </a:prstGeom>
          <a:noFill/>
          <a:ln w="15875">
            <a:solidFill>
              <a:srgbClr val="11111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941832" y="1239926"/>
            <a:ext cx="301752" cy="241402"/>
          </a:xfrm>
          <a:prstGeom prst="line">
            <a:avLst/>
          </a:prstGeom>
          <a:noFill/>
          <a:ln w="15875">
            <a:solidFill>
              <a:srgbClr val="11111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901952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05  ·  PHASE 2 정의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40080" y="2194560"/>
            <a:ext cx="859536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48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문제 정의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640080" y="3547872"/>
            <a:ext cx="78638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6E6E6E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관찰한 것을 '풀어야 할 문제'로 번역합니다.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6E6E6E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오늘부터는 사용자가 아니라 문제를 다룹니다.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0080" y="4443984"/>
            <a:ext cx="2743200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464515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과목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645920" y="464515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학부 3학년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502920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645920" y="502920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3시간 — 강의 35% · 실습과 크리틱 65% — 오늘 처음으로 남의 평가를 받습니다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541324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제출물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645920" y="5413248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POV 3문장 · HMW 10개 · 1차 크리틱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 rot="16200000">
            <a:off x="10436047" y="3291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6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WONKWANG UNIV · 2026-2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2 정의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TODAY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오늘의 3시간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강의 35% · 실습과 크리틱 65% — 오늘 처음으로 남의 평가를 받습니다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682496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719072"/>
            <a:ext cx="16002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00:00–00:15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377440" y="1719072"/>
            <a:ext cx="6888175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저니맵 상호 점검 — 문제 지점 3곳 확인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265615" y="1719072"/>
            <a:ext cx="22860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2인 1조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40080" y="2293838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312126"/>
            <a:ext cx="16002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00:15–00:50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377440" y="2312126"/>
            <a:ext cx="6888175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1 — 인사이트 스테이트먼트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265615" y="2312126"/>
            <a:ext cx="22860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강의 + 시연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40080" y="2886891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2905179"/>
            <a:ext cx="16002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00:50–01:20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377440" y="2905179"/>
            <a:ext cx="6888175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실습 1 — 인사이트 문장 다듬기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265615" y="2905179"/>
            <a:ext cx="22860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개인 워크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40080" y="3479945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3498233"/>
            <a:ext cx="16002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6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01:20–01:30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377440" y="3498233"/>
            <a:ext cx="6888175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휴식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" y="4072999"/>
            <a:ext cx="10911535" cy="7315"/>
          </a:xfrm>
          <a:prstGeom prst="rect">
            <a:avLst/>
          </a:prstGeom>
          <a:solidFill>
            <a:srgbClr val="EFEFEF"/>
          </a:solidFill>
          <a:ln w="12700">
            <a:solidFill>
              <a:srgbClr val="EFEFE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4091287"/>
            <a:ext cx="16002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01:30–02:00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2377440" y="4091287"/>
            <a:ext cx="6888175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2 — POV와 HMW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265615" y="4091287"/>
            <a:ext cx="22860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강의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40080" y="4666053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4684341"/>
            <a:ext cx="16002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02:00–02:35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2377440" y="4684341"/>
            <a:ext cx="6888175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실습 2 — POV 3문장 · HMW 10개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265615" y="4684341"/>
            <a:ext cx="22860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개인 워크 + 순회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40080" y="5259106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" y="5277394"/>
            <a:ext cx="16002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02:35–03:00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2377440" y="5277394"/>
            <a:ext cx="6888175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1차 크리틱 — 조별 상호 검토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9265615" y="5277394"/>
            <a:ext cx="22860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크리틱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40080" y="5852160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5주차 문제 정의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P.01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2 정의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OBJECTIVES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오늘 끝나면 여러분은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640080" y="1664208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810512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8105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88720" y="1719072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관찰과 인사이트를 구분해 쓸 수 있다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1188720" y="2029968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'무엇을 봤다'와 '그래서 무엇을 알게 됐다'를 한 문장 안에서 연결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2596896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761488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7614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88720" y="2670048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POV 문장을 형식에 맞게 쓸 수 있다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1188720" y="2980944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사용자 · 필요 · 통찰 세 요소가 모두 들어간 문장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" y="35478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3712464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7124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88720" y="3621024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POV를 HMW 질문으로 바꿀 수 있다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1188720" y="3931920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판단을 요구하는 문장을 아이디어를 부르는 질문으로 전환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" y="4498848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" y="4663440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46634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88720" y="4572000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문제의 크기를 조절할 수 있다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1188720" y="4882896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너무 크면 손대지 못하고, 너무 작으면 서비스가 되지 않는다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0080" y="5522976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5632704"/>
            <a:ext cx="1091153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오늘의 한 문장 — 좋은 문제 정의는 답을 미리 정하지 않으면서도 답의 범위를 좁혀 준다.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5주차 문제 정의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P.02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2 정의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45375" y="1737360"/>
            <a:ext cx="42062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0" dirty="0">
                <a:solidFill>
                  <a:srgbClr val="1B1B1B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01</a:t>
            </a:r>
            <a:endParaRPr lang="en-US" sz="20000" dirty="0"/>
          </a:p>
        </p:txBody>
      </p:sp>
      <p:sp>
        <p:nvSpPr>
          <p:cNvPr id="7" name="Shape 5"/>
          <p:cNvSpPr/>
          <p:nvPr/>
        </p:nvSpPr>
        <p:spPr>
          <a:xfrm>
            <a:off x="941832" y="1371600"/>
            <a:ext cx="0" cy="603504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733702"/>
            <a:ext cx="301752" cy="241402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941832" y="1733702"/>
            <a:ext cx="301752" cy="241402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615184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8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01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40080" y="2889504"/>
            <a:ext cx="7863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관찰에서 인사이트로</a:t>
            </a:r>
            <a:endParaRPr lang="en-US" sz="4600" dirty="0"/>
          </a:p>
        </p:txBody>
      </p:sp>
      <p:sp>
        <p:nvSpPr>
          <p:cNvPr id="12" name="Shape 10"/>
          <p:cNvSpPr/>
          <p:nvPr/>
        </p:nvSpPr>
        <p:spPr>
          <a:xfrm>
            <a:off x="640080" y="3803904"/>
            <a:ext cx="2194560" cy="731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005072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1350" dirty="0">
                <a:solidFill>
                  <a:srgbClr val="B8B8B8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저니맵의 낮은 지점은 아직 문제가 아닙니다. 왜 거기가 무너지는지 말할 수 있어야 문제가 됩니다.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 rot="16200000">
            <a:off x="10436047" y="3291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60" kern="0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SECTION 01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2 정의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10312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8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PRINCIPLE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640080" y="2395728"/>
            <a:ext cx="2194560" cy="731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596896"/>
            <a:ext cx="10241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34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'불편했다'는 관찰이 아닙니다.</a:t>
            </a:r>
            <a:endParaRPr lang="en-US" sz="34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34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관찰은 다시 볼 수 있는 것만 가리킵니다.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640080" y="4078224"/>
            <a:ext cx="9509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6000"/>
              </a:lnSpc>
              <a:buNone/>
            </a:pPr>
            <a:r>
              <a:rPr lang="en-US" sz="1400" dirty="0">
                <a:solidFill>
                  <a:srgbClr val="B8B8B8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누가 · 언제 · 무엇을 했는지 다시 재생할 수 있으면 관찰입니다. '불편했다 · 답답해했다 · 어려워했다'는 이미 내 해석이 들어간 요약입니다. 요약에서 출발하면 남의 문제가 아니라 내 짐작을 설계하게 됩니다.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 rot="16200000">
            <a:off x="10436047" y="3291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60" kern="0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WEEK 05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2 정의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STRUCTURE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인사이트 스테이트먼트 세 조각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 조각이 다 있어야 다음 사람이 그 문장으로 아이디어를 낼 수 있습니다.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737360"/>
            <a:ext cx="3393338" cy="3035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24128" y="20116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4128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024128" y="2505456"/>
            <a:ext cx="26252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관찰 — 무엇을 봤는가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024128" y="2999232"/>
            <a:ext cx="262524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재생 가능한 사실 하나. '접수 후 3분 안에 대기 화면을 두 번 확인했다.' 몇 명 중 몇 명인지 수를 붙이면 더 강해집니다.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399178" y="1737360"/>
            <a:ext cx="3393338" cy="3035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83226" y="20116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83226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783226" y="2505456"/>
            <a:ext cx="26252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긴장 — 무엇이 어긋나는가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783226" y="2999232"/>
            <a:ext cx="262524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기대와 실제가 부딪히는 지점. '표시된 대기 인원은 줄지 않는데 자기 차례는 다가온다고 느낀다.' 여기가 문장의 심장입니다.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158277" y="1737360"/>
            <a:ext cx="3393338" cy="303580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42325" y="2011680"/>
            <a:ext cx="365760" cy="365760"/>
          </a:xfrm>
          <a:prstGeom prst="ellipse">
            <a:avLst/>
          </a:prstGeom>
          <a:solidFill>
            <a:srgbClr val="11111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42325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542325" y="2505456"/>
            <a:ext cx="26252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통찰 — 그래서 무엇을 알게 됐는가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542325" y="2999232"/>
            <a:ext cx="262524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B8B8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 사람에게 무엇이 진짜 중요한지. '이들에게 필요한 것은 짧은 대기가 아니라 예측 가능한 대기다.' 해결책이 아니라 이해로 끝냅니다.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5084064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5193792"/>
            <a:ext cx="1091153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세 번째 조각에 '앱으로'나 '알림으로' 같은 수단이 들어가면 이미 아이디어입니다. 지우고 다시 쓰세요.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5주차 문제 정의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P.03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2 정의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FIX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고쳐야 할 인사이트 · 고친 인사이트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왼쪽 세 문장은 다음 주 실습의 재료가 되고, 오른쪽은 되지 않습니다.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627632"/>
            <a:ext cx="5254600" cy="2761488"/>
          </a:xfrm>
          <a:prstGeom prst="rect">
            <a:avLst/>
          </a:prstGeom>
          <a:solidFill>
            <a:srgbClr val="F2F2F2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42416" y="1901952"/>
            <a:ext cx="4449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이렇게 씁니다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297016" y="1627632"/>
            <a:ext cx="5254600" cy="2761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99352" y="1901952"/>
            <a:ext cx="4449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B9B9B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이렇게 쓰면 멈춥니다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042416" y="24505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구체성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42416" y="2688336"/>
            <a:ext cx="444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"5명 중 4명이 접수 3분 안에 대기 화면을 두 번 이상 확인했다 — 남은 시간을 스스로 계산하려는 행동으로 보인다"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699352" y="24505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구체성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699352" y="2688336"/>
            <a:ext cx="444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"사용자들은 대기 시간에 불만이 많다" — 누가 무엇을 했는지 없어 다시 볼 수 없습니다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1042416" y="3054096"/>
            <a:ext cx="4449928" cy="7315"/>
          </a:xfrm>
          <a:prstGeom prst="rect">
            <a:avLst/>
          </a:prstGeom>
          <a:solidFill>
            <a:srgbClr val="D2D2D2"/>
          </a:solidFill>
          <a:ln w="12700">
            <a:solidFill>
              <a:srgbClr val="D2D2D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699352" y="3054096"/>
            <a:ext cx="4449928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42416" y="31089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긴장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42416" y="3346704"/>
            <a:ext cx="444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"안내는 '곧'이라고만 말하는데, 이들은 다음 일정을 잡기 위해 분 단위 숫자가 필요하다"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699352" y="31089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긴장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699352" y="3346704"/>
            <a:ext cx="444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"대기 정보가 부족하다" — 무엇과 무엇이 어긋나는지 없어 설계할 지점이 보이지 않습니다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1042416" y="3712464"/>
            <a:ext cx="4449928" cy="7315"/>
          </a:xfrm>
          <a:prstGeom prst="rect">
            <a:avLst/>
          </a:prstGeom>
          <a:solidFill>
            <a:srgbClr val="D2D2D2"/>
          </a:solidFill>
          <a:ln w="12700">
            <a:solidFill>
              <a:srgbClr val="D2D2D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699352" y="3712464"/>
            <a:ext cx="4449928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42416" y="37673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끝맺음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42416" y="4005072"/>
            <a:ext cx="444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"이들에게 필요한 것은 빠른 진료가 아니라 예측 가능한 시간이다"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699352" y="37673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끝맺음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699352" y="4005072"/>
            <a:ext cx="444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"실시간 대기 알림 앱이 필요하다" — 해결책으로 끝내면 아이디어 한 개에 갇힙니다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5주차 문제 정의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P.04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2 정의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WORKSHOP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실습 1 · 인사이트 문장 다듬기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30분 · 개인 — 4주차 문제 지점 3곳을 각각 한 문장으로 만듭니다.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719072"/>
            <a:ext cx="10911535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810512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11111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10분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286000" y="1810512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근거 모으기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5669280" y="1810512"/>
            <a:ext cx="55165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문제 지점 3곳마다 어피니티 카드를 다시 찾아옵니다. 카드 번호를 문장 옆에 적습니다. 카드가 없는 지점은 오늘 버립니다.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2688336"/>
            <a:ext cx="10911535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2779776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11111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12분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286000" y="2779776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세 조각으로 쓰기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5669280" y="2779776"/>
            <a:ext cx="55165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관찰 · 긴장 · 통찰을 각각 한 줄씩, 세 지점 모두 씁니다. 아직 매끄럽게 다듬지 마세요.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3657600"/>
            <a:ext cx="10911535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374904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11111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5분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2286000" y="37490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수단 지우기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5669280" y="3749040"/>
            <a:ext cx="55165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자기 문장에서 앱 · 알림 · 시스템 같은 해결 수단 단어를 전부 찾아 지웁니다. 지우고도 문장이 남는지 확인합니다.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" y="4626864"/>
            <a:ext cx="10911535" cy="82296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5840" y="4718304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3분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2286000" y="4718304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옆 사람 검증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5669280" y="4718304"/>
            <a:ext cx="55165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B8B8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옆 사람에게 읽어 주고 '이 문장으로 아이디어가 떠오르는가'만 묻습니다. 안 떠오르면 긴장 조각이 약한 것입니다.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5주차 문제 정의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P.05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2 정의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45375" y="1737360"/>
            <a:ext cx="42062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0" dirty="0">
                <a:solidFill>
                  <a:srgbClr val="1B1B1B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02</a:t>
            </a:r>
            <a:endParaRPr lang="en-US" sz="20000" dirty="0"/>
          </a:p>
        </p:txBody>
      </p:sp>
      <p:sp>
        <p:nvSpPr>
          <p:cNvPr id="7" name="Shape 5"/>
          <p:cNvSpPr/>
          <p:nvPr/>
        </p:nvSpPr>
        <p:spPr>
          <a:xfrm>
            <a:off x="941832" y="1371600"/>
            <a:ext cx="0" cy="603504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733702"/>
            <a:ext cx="301752" cy="241402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941832" y="1733702"/>
            <a:ext cx="301752" cy="241402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615184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8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02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40080" y="2889504"/>
            <a:ext cx="7863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POV와 HMW</a:t>
            </a:r>
            <a:endParaRPr lang="en-US" sz="4600" dirty="0"/>
          </a:p>
        </p:txBody>
      </p:sp>
      <p:sp>
        <p:nvSpPr>
          <p:cNvPr id="12" name="Shape 10"/>
          <p:cNvSpPr/>
          <p:nvPr/>
        </p:nvSpPr>
        <p:spPr>
          <a:xfrm>
            <a:off x="640080" y="3803904"/>
            <a:ext cx="2194560" cy="731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005072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1350" dirty="0">
                <a:solidFill>
                  <a:srgbClr val="B8B8B8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인사이트를 설계 가능한 형식으로 바꿉니다. 형식이 생각을 이끕니다.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 rot="16200000">
            <a:off x="10436047" y="3291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60" kern="0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SECTION 02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2 정의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FORMAT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POV — 세 칸을 채우는 문장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Point of View. 누구의 · 어떤 필요를 · 왜 그런지까지 한 문장에 담습니다.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737360"/>
            <a:ext cx="3393338" cy="3035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24128" y="20116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4128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024128" y="2505456"/>
            <a:ext cx="26252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사용자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024128" y="2999232"/>
            <a:ext cx="262524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퍼소나 이름이 아니라 상태로 씁니다. '처음 방문한 60대 보호자'처럼 맥락이 붙어야 다른 사람도 같은 사람을 떠올립니다.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399178" y="1737360"/>
            <a:ext cx="3393338" cy="3035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83226" y="20116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83226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783226" y="2505456"/>
            <a:ext cx="26252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필요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783226" y="2999232"/>
            <a:ext cx="262524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동사로 씁니다. '알고 싶다 · 확인하고 싶다 · 미루고 싶다'. 명사로 쓰면(정보 · 편의성) 곧바로 뭉개집니다.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158277" y="1737360"/>
            <a:ext cx="3393338" cy="3035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42325" y="20116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42325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542325" y="2505456"/>
            <a:ext cx="26252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통찰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542325" y="2999232"/>
            <a:ext cx="262524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왜 그 필요가 생기는지. 앞의 인사이트 스테이트먼트 세 번째 조각을 그대로 가져옵니다.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5084064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5193792"/>
            <a:ext cx="1091153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양식 — "[사용자]는 [필요]가 필요하다. 왜냐하면 [통찰]이기 때문이다."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5주차 문제 정의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P.06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2 정의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FORMAT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HMW — 아이디어를 부르는 질문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How Might We. POV를 질문으로 바꾸면 뇌가 답을 찾기 시작합니다.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737360"/>
            <a:ext cx="3393338" cy="3035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24128" y="20116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4128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024128" y="2505456"/>
            <a:ext cx="26252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How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024128" y="2999232"/>
            <a:ext cx="262524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'가능한가'가 아니라 '어떻게'로 묻습니다. 가능성을 묻는 순간 토론이 되고, 방법을 물으면 아이디어가 됩니다.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399178" y="1737360"/>
            <a:ext cx="3393338" cy="3035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83226" y="20116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83226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783226" y="2505456"/>
            <a:ext cx="26252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Might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783226" y="2999232"/>
            <a:ext cx="262524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'해야 한다'가 아니라 '할 수도 있다'. 틀려도 되는 문을 열어 두는 단어입니다. 이 단어 하나로 발산량이 달라집니다.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158277" y="1737360"/>
            <a:ext cx="3393338" cy="303580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42325" y="2011680"/>
            <a:ext cx="365760" cy="365760"/>
          </a:xfrm>
          <a:prstGeom prst="ellipse">
            <a:avLst/>
          </a:prstGeom>
          <a:solidFill>
            <a:srgbClr val="11111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42325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542325" y="2505456"/>
            <a:ext cx="26252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We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542325" y="2999232"/>
            <a:ext cx="262524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B8B8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'사용자가'가 아니라 '우리가'. 설계자인 내가 움직일 수 있는 범위 안으로 문제를 끌어옵니다.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5084064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5193792"/>
            <a:ext cx="1091153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양식 — "우리는 어떻게 하면 [사용자]가 [필요]하도록 도울 수 있을까?"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5주차 문제 정의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P.07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2 정의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SCALE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문제의 크기 — 너무 크거나 너무 작을 때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같은 문제라도 크기를 어디에 두느냐로 한 학기가 갈립니다.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627632"/>
            <a:ext cx="5254600" cy="2761488"/>
          </a:xfrm>
          <a:prstGeom prst="rect">
            <a:avLst/>
          </a:prstGeom>
          <a:solidFill>
            <a:srgbClr val="F2F2F2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42416" y="1901952"/>
            <a:ext cx="4449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쓸 수 있는 크기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297016" y="1627632"/>
            <a:ext cx="5254600" cy="2761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99352" y="1901952"/>
            <a:ext cx="4449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B9B9B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손댈 수 없는 크기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042416" y="24505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너무 클 때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42416" y="2688336"/>
            <a:ext cx="444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"어떻게 하면 보호자가 대기 중 다음 일정을 스스로 계획하게 할까?"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699352" y="24505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너무 클 때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699352" y="2688336"/>
            <a:ext cx="444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"어떻게 하면 병원 대기 문제를 해결할까?" — 아이디어가 아니라 정책이 나옵니다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1042416" y="3054096"/>
            <a:ext cx="4449928" cy="7315"/>
          </a:xfrm>
          <a:prstGeom prst="rect">
            <a:avLst/>
          </a:prstGeom>
          <a:solidFill>
            <a:srgbClr val="D2D2D2"/>
          </a:solidFill>
          <a:ln w="12700">
            <a:solidFill>
              <a:srgbClr val="D2D2D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699352" y="3054096"/>
            <a:ext cx="4449928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42416" y="31089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너무 작을 때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42416" y="3346704"/>
            <a:ext cx="444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"어떻게 하면 남은 시간을 신뢰할 수 있는 형태로 알려 줄까?"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699352" y="31089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너무 작을 때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699352" y="3346704"/>
            <a:ext cx="444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"어떻게 하면 대기 화면 글자를 키울까?" — 이미 답이 하나로 정해져 발산이 없습니다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1042416" y="3712464"/>
            <a:ext cx="4449928" cy="7315"/>
          </a:xfrm>
          <a:prstGeom prst="rect">
            <a:avLst/>
          </a:prstGeom>
          <a:solidFill>
            <a:srgbClr val="D2D2D2"/>
          </a:solidFill>
          <a:ln w="12700">
            <a:solidFill>
              <a:srgbClr val="D2D2D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699352" y="3712464"/>
            <a:ext cx="4449928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42416" y="37673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확인법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42416" y="4005072"/>
            <a:ext cx="444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20안을 내라고 했을 때 서로 다른 방향이 5개 이상 나오면 크기가 맞습니다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699352" y="37673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확인법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699352" y="4005072"/>
            <a:ext cx="4449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3안에서 막히거나 100안이 나올 것 같으면 크기를 다시 잡습니다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5주차 문제 정의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P.08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2 정의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WORKSHOP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실습 2 · POV 3문장과 HMW 10개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35분 · 개인 — 오늘 다듬은 인사이트 세 개를 형식에 넣습니다.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719072"/>
            <a:ext cx="10911535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810512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11111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12분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286000" y="1810512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POV 3문장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5669280" y="1810512"/>
            <a:ext cx="55165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인사이트 하나당 POV 하나. 사용자 · 필요 · 통찰 세 칸이 다 찼는지 손가락으로 짚어 확인합니다.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2688336"/>
            <a:ext cx="10911535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2779776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11111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13분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286000" y="2779776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HMW 10개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5669280" y="2779776"/>
            <a:ext cx="55165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POV 하나에서 3~4개씩. 같은 POV라도 '막는 것을 없애기 / 다른 길 만들기 / 아예 기다리게 하지 않기'처럼 각도를 바꿔 봅니다.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3657600"/>
            <a:ext cx="10911535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374904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11111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6분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2286000" y="37490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크기 조절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5669280" y="3749040"/>
            <a:ext cx="55165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10개를 크다 · 맞다 · 작다로 표시합니다. 맞다가 3개 미만이면 큰 것 하나를 쪼개 두 개로 만듭니다.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" y="4626864"/>
            <a:ext cx="10911535" cy="82296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5840" y="4718304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4분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2286000" y="4718304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메인 1개 표시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5669280" y="4718304"/>
            <a:ext cx="55165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B8B8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주 20안을 여기서 냅니다. 내가 20안을 낼 수 있을 것 같은 것 하나에 표시하세요.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5주차 문제 정의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P.09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2 정의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45375" y="1737360"/>
            <a:ext cx="42062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0" dirty="0">
                <a:solidFill>
                  <a:srgbClr val="1B1B1B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03</a:t>
            </a:r>
            <a:endParaRPr lang="en-US" sz="20000" dirty="0"/>
          </a:p>
        </p:txBody>
      </p:sp>
      <p:sp>
        <p:nvSpPr>
          <p:cNvPr id="7" name="Shape 5"/>
          <p:cNvSpPr/>
          <p:nvPr/>
        </p:nvSpPr>
        <p:spPr>
          <a:xfrm>
            <a:off x="941832" y="1371600"/>
            <a:ext cx="0" cy="603504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733702"/>
            <a:ext cx="301752" cy="241402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941832" y="1733702"/>
            <a:ext cx="301752" cy="241402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615184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8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03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40080" y="2889504"/>
            <a:ext cx="7863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1차 크리틱</a:t>
            </a:r>
            <a:endParaRPr lang="en-US" sz="4600" dirty="0"/>
          </a:p>
        </p:txBody>
      </p:sp>
      <p:sp>
        <p:nvSpPr>
          <p:cNvPr id="12" name="Shape 10"/>
          <p:cNvSpPr/>
          <p:nvPr/>
        </p:nvSpPr>
        <p:spPr>
          <a:xfrm>
            <a:off x="640080" y="3803904"/>
            <a:ext cx="2194560" cy="731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005072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1350" dirty="0">
                <a:solidFill>
                  <a:srgbClr val="B8B8B8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오늘 처음으로 내 문제 정의를 남 앞에 놓습니다. 방어하지 않고 듣는 연습입니다.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 rot="16200000">
            <a:off x="10436047" y="3291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60" kern="0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SECTION 03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2 정의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CRITIQUE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크리틱은 이렇게 진행합니다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4인 1조 · 1인당 5분. 이 형식을 8주차 중간 발표까지 그대로 씁니다.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664208"/>
            <a:ext cx="52546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60704" y="1993392"/>
            <a:ext cx="4413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발표자 — 2분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1060704" y="2414016"/>
            <a:ext cx="4413352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60704" y="2523744"/>
            <a:ext cx="4413352" cy="2706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POV 3문장과 메인 HMW를 읽습니다</a:t>
            </a:r>
            <a:endParaRPr lang="en-US" sz="1200" dirty="0"/>
          </a:p>
          <a:p>
            <a:pPr marL="177800" indent="-177800">
              <a:lnSpc>
                <a:spcPct val="120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근거가 된 관찰을 한 가지만 덧붙입니다</a:t>
            </a:r>
            <a:endParaRPr lang="en-US" sz="1200" dirty="0"/>
          </a:p>
          <a:p>
            <a:pPr marL="177800" indent="-177800">
              <a:lnSpc>
                <a:spcPct val="120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'어디가 약한 것 같다'를 스스로 먼저 말합니다</a:t>
            </a:r>
            <a:endParaRPr lang="en-US" sz="1200" dirty="0"/>
          </a:p>
          <a:p>
            <a:pPr marL="177800" indent="-177800">
              <a:lnSpc>
                <a:spcPct val="120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규칙 — 변명하지 않고, 설명을 덧붙이지 않습니다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97016" y="1664208"/>
            <a:ext cx="5254600" cy="3749040"/>
          </a:xfrm>
          <a:prstGeom prst="rect">
            <a:avLst/>
          </a:prstGeom>
          <a:solidFill>
            <a:srgbClr val="F2F2F2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17640" y="1993392"/>
            <a:ext cx="4413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듣는 사람 — 3분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717640" y="2414016"/>
            <a:ext cx="4413352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17640" y="2523744"/>
            <a:ext cx="4413352" cy="2706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POV로 떠오른 아이디어를 한 개 말합니다</a:t>
            </a:r>
            <a:endParaRPr lang="en-US" sz="1200" dirty="0"/>
          </a:p>
          <a:p>
            <a:pPr marL="177800" indent="-177800">
              <a:lnSpc>
                <a:spcPct val="120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떠오르지 않으면 '안 떠오른다'고 말합니다 — 그게 가장 중요한 피드백입니다</a:t>
            </a:r>
            <a:endParaRPr lang="en-US" sz="1200" dirty="0"/>
          </a:p>
          <a:p>
            <a:pPr marL="177800" indent="-177800">
              <a:lnSpc>
                <a:spcPct val="120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 칸 중 비어 보이는 칸을 지목합니다</a:t>
            </a:r>
            <a:endParaRPr lang="en-US" sz="1200" dirty="0"/>
          </a:p>
          <a:p>
            <a:pPr marL="177800" indent="-177800">
              <a:lnSpc>
                <a:spcPct val="120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규칙 — 좋다 · 나쁘다로 말하지 않습니다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5541264"/>
            <a:ext cx="1091153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듣는 사람이 아이디어를 못 내면 문제 정의가 약한 것입니다. 발표자의 설명이 부족한 것이 아닙니다.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5주차 문제 정의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P.10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2 정의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SUBMIT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제출물 체크리스트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주 발산 실습이 오늘 결과물 위에서 시작합니다.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755648"/>
            <a:ext cx="5254600" cy="58521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1892808"/>
            <a:ext cx="310896" cy="31089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18928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353312" y="1755648"/>
            <a:ext cx="4267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POV가 3문장이고 각각 사용자 · 필요 · 통찰이 다 있다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2487168"/>
            <a:ext cx="5254600" cy="58521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2624328"/>
            <a:ext cx="310896" cy="31089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26243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353312" y="2487168"/>
            <a:ext cx="4267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POV의 '필요'가 명사가 아니라 동사로 쓰여 있다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3218688"/>
            <a:ext cx="5254600" cy="58521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4400" y="3355848"/>
            <a:ext cx="310896" cy="31089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33558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353312" y="3218688"/>
            <a:ext cx="4267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'왜냐하면' 뒤가 앞 내용의 반복이 아니다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" y="3950208"/>
            <a:ext cx="5254600" cy="58521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4400" y="4087368"/>
            <a:ext cx="310896" cy="31089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4087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353312" y="3950208"/>
            <a:ext cx="4267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각 POV에 근거 카드 번호나 인터뷰 인용이 붙어 있다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297016" y="1755648"/>
            <a:ext cx="5254600" cy="58521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71336" y="1892808"/>
            <a:ext cx="310896" cy="31089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71336" y="18928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010248" y="1755648"/>
            <a:ext cx="4267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HMW가 10개이고 전부 '우리는 어떻게 하면'으로 시작한다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297016" y="2487168"/>
            <a:ext cx="5254600" cy="58521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571336" y="2624328"/>
            <a:ext cx="310896" cy="31089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71336" y="26243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010248" y="2487168"/>
            <a:ext cx="4267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HMW에 크다 · 맞다 · 작다 표시가 되어 있다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297016" y="3218688"/>
            <a:ext cx="5254600" cy="58521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571336" y="3355848"/>
            <a:ext cx="310896" cy="31089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71336" y="33558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010248" y="3218688"/>
            <a:ext cx="4267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메인 HMW 1개에 표시와 선택 이유 두 줄이 있다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297016" y="3950208"/>
            <a:ext cx="5254600" cy="58521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571336" y="4087368"/>
            <a:ext cx="310896" cy="31089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71336" y="4087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010248" y="3950208"/>
            <a:ext cx="4267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크리틱에서 받은 지적과 그에 따른 수정이 기록되어 있다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40080" y="4736592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080" y="4846320"/>
            <a:ext cx="1091153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메인 HMW가 없으면 6주차 실습을 시작할 수 없습니다. 반드시 표시해서 오세요.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5주차 문제 정의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P.11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2 정의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HOMEWORK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과제와 다음 주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6주차는 오늘 고른 HMW 하나에서 아이디어를 냅니다.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719072"/>
            <a:ext cx="63093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9264" y="1993392"/>
            <a:ext cx="329184" cy="329184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9264" y="19933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426464" y="1810512"/>
            <a:ext cx="5175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POV 3문장 확정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26464" y="2121408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크리틱에서 받은 지적을 반영해 다시 씁니다. 문장을 바꾼 이유도 한 줄씩 함께 적으세요.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2743200"/>
            <a:ext cx="63093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9264" y="3017520"/>
            <a:ext cx="329184" cy="329184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9264" y="3017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426464" y="2834640"/>
            <a:ext cx="5175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HMW 10개 정리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426464" y="3145536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POV 3개에서 각각 3~4개씩 뽑습니다. 너무 크거나 너무 작아 아이디어가 나오지 않는 것은 표시해 두세요.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3767328"/>
            <a:ext cx="63093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69264" y="4041648"/>
            <a:ext cx="329184" cy="329184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9264" y="40416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426464" y="3858768"/>
            <a:ext cx="5175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메인 HMW 1개 선택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426464" y="4169664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10개 중 하나에 표시합니다. 6주차 발산 실습 20안은 전부 이 하나에서 나옵니다. 고른 이유를 두 줄로 적으세요.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" y="4809744"/>
            <a:ext cx="6309360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4901184"/>
            <a:ext cx="6309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제출 — 6주차 수업 시작 전까지 · 클래스룸 업로드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351776" y="1719072"/>
            <a:ext cx="4199839" cy="380390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35824" y="1993392"/>
            <a:ext cx="343174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NEXT WEEK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735824" y="2286000"/>
            <a:ext cx="343174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06주차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7735824" y="2743200"/>
            <a:ext cx="3431743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아이디에이션</a:t>
            </a:r>
            <a:endParaRPr lang="en-US" sz="1700" dirty="0"/>
          </a:p>
        </p:txBody>
      </p:sp>
      <p:sp>
        <p:nvSpPr>
          <p:cNvPr id="30" name="Shape 28"/>
          <p:cNvSpPr/>
          <p:nvPr/>
        </p:nvSpPr>
        <p:spPr>
          <a:xfrm>
            <a:off x="7735824" y="3346704"/>
            <a:ext cx="3431743" cy="7315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35824" y="3493008"/>
            <a:ext cx="3431743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DDDD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브레인라이팅 · SCAMPER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DDDD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컨셉 스케치 20안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DDDD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아이디어 평가 매트릭스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DDDD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컨셉 3안 압축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7735824" y="4700016"/>
            <a:ext cx="3431743" cy="7315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35824" y="4809744"/>
            <a:ext cx="343174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6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미리 준비할 것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735824" y="5065776"/>
            <a:ext cx="343174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확정한 POV 3문장 · HMW 10개 · 메인 HMW 1개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5주차 문제 정의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P.12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MIN.D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서비스디자인 · 5주차 문제 정의</dc:title>
  <dc:subject>원광대학교 2026-2 · 학부 3학년 · 주 3시간 × 15주 · 졸업 전시 패널 제작</dc:subject>
  <dc:creator>MIN.D</dc:creator>
  <cp:lastModifiedBy>MIN.D</cp:lastModifiedBy>
  <cp:revision>1</cp:revision>
  <dcterms:created xsi:type="dcterms:W3CDTF">2026-08-31T11:45:54Z</dcterms:created>
  <dcterms:modified xsi:type="dcterms:W3CDTF">2026-08-31T11:45:54Z</dcterms:modified>
</cp:coreProperties>
</file>