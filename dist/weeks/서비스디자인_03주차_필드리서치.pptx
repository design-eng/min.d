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오늘이 학기에서 심리적 장벽이 가장 높은 주다. '모르는 사람에게 말을 거는 것'을 두려워한다. 모의 인터뷰를 충분히 시켜서 내보낼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실습 40분은 가이드 작성 15 + 질문 검토 5 + 모의 인터뷰 15 + 회고 5로 쪼갠다. 모의 인터뷰를 건너뛰면 첫 인터뷰를 버리게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5번은 형식적인 항목처럼 보이지만 실제로 사고가 나는 지점이다. 반드시 짚고 넘어갈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35분 구간.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 두 명을 앞으로 불러 '어제 점심 어떻게 정했어요?'를 즉석에서 물어보면 세 간극이 그 자리에서 재현된다.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이번 주 과제가 인터뷰 2인 + 관찰 1회인 이유가 이 조합 원칙이다.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45분 구간. 예시 질문을 소리 내어 읽어주는 것이 가장 효과적이다.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⑤에서 예상 밖의 정보가 나오는 경우가 많다. 시간이 없어도 이 질문은 빼지 말라고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04 감정 질문이 4주차 저니맵의 감정선 재료가 된다. 지금 안 물으면 나중에 못 그린다.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오른쪽 질문을 강사가 소리 내어 읽어 주면 학생들이 웃는다. 웃고 나면 자기 가이드에서 같은 문장을 찾아낸다.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'침묵 3초'를 실제로 세어 보이면 학생들이 얼마나 긴지 체감한다. 대부분 1초도 못 기다린다.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25분 구간.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관찰이 처음인 학생은 '무엇을 봐야 할지 모르겠다'고 한다. AEIOU를 종이에 적어 들고 나가게 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 기록의 90%가 해석으로 채워져 있다. 노트를 반으로 접게 하는 것만으로 크게 개선된다.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취약 대상 주제를 고른 학생은 이번 주 안에 개별로 상의하도록 지시할 것. 동의서 양식 배포 여부를 오늘 확인한다.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결과물은 인터뷰 가이드 최종본 1부(수정 이력 포함)와 모의 인터뷰 회고 메모. 모의 인터뷰에서 웃음이 나오면 잘 되는 것 — 어색함을 여기서 다 소진시켜야 밖에서 말을 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원자료 60장이 4주차 수업의 전제다. 부족하면 그날 아무것도 만들 수 없다는 점을 마지막에 한 번 더 못 박을 것. 인터뷰를 미루는 학생이 반드시 나오므로 주중에 한 번 확인 연락을 돌린다.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3760" y="502920"/>
            <a:ext cx="4572000" cy="5852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500" dirty="0">
                <a:solidFill>
                  <a:srgbClr val="262A33"/>
                </a:solidFill>
                <a:latin typeface="Pretendard Thin" pitchFamily="34" charset="0"/>
                <a:ea typeface="Pretendard Thin" pitchFamily="34" charset="-122"/>
                <a:cs typeface="Pretendard Thin" pitchFamily="34" charset="-120"/>
              </a:rPr>
              <a:t>03</a:t>
            </a:r>
            <a:endParaRPr lang="en-US" sz="25500" dirty="0"/>
          </a:p>
        </p:txBody>
      </p:sp>
      <p:sp>
        <p:nvSpPr>
          <p:cNvPr id="3" name="Text 1"/>
          <p:cNvSpPr/>
          <p:nvPr/>
        </p:nvSpPr>
        <p:spPr>
          <a:xfrm>
            <a:off x="640080" y="148132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03  ·  PHASE 1 발견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31520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필드 리서치 실습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3035808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C9CDD6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사람들은 자기가 무엇을 하는지 정확히 말하지 못합니다.</a:t>
            </a:r>
            <a:endParaRPr lang="en-US" sz="17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C9CDD6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그래서 우리는 묻고, 동시에 봅니다.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3840480"/>
            <a:ext cx="2926080" cy="9144"/>
          </a:xfrm>
          <a:prstGeom prst="rect">
            <a:avLst/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05993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과목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45920" y="405993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E0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학부 3학년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444398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45920" y="444398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E0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3시간 — 강의 40% · 실습 60% — 오늘은 손이 더 많이 움직입니다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482803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제출물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45920" y="482803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E0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인터뷰 가이드 · 인터뷰 2인 · 관찰 기록 · 원자료 카드 60장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TODAY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3시간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40% · 실습 60% — 오늘은 손이 더 많이 움직입니다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719072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00:00–00:15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377440" y="1719072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 확정 확인 — 3안에서 1안으로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265615" y="1719072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개별 확인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293838"/>
            <a:ext cx="10911535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312126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00:15–00:50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77440" y="2312126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 — 왜 현장에 나가는가 / 세 가지 방법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265615" y="2312126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886891"/>
            <a:ext cx="10911535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905179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00:50–01:00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77440" y="2905179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휴식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479945"/>
            <a:ext cx="10911535" cy="9144"/>
          </a:xfrm>
          <a:prstGeom prst="rect">
            <a:avLst/>
          </a:prstGeom>
          <a:solidFill>
            <a:srgbClr val="F0F1F4"/>
          </a:solidFill>
          <a:ln w="12700">
            <a:solidFill>
              <a:srgbClr val="F0F1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498233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01:00–01:45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77440" y="3498233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2 — 인터뷰 설계와 질문의 기술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265615" y="3498233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+ 예시 분석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072999"/>
            <a:ext cx="10911535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091287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01:45–01:55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377440" y="4091287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휴식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4666053"/>
            <a:ext cx="10911535" cy="9144"/>
          </a:xfrm>
          <a:prstGeom prst="rect">
            <a:avLst/>
          </a:prstGeom>
          <a:solidFill>
            <a:srgbClr val="F0F1F4"/>
          </a:solidFill>
          <a:ln w="12700">
            <a:solidFill>
              <a:srgbClr val="F0F1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684341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01:55–02:20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377440" y="4684341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3 — 관찰 · 섀도잉 / 기록과 연구 윤리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265615" y="4684341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5259106"/>
            <a:ext cx="10911535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5277394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02:20–03:00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377440" y="5277394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— 인터뷰 가이드 작성 + 모의 인터뷰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265615" y="5277394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2인 1조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63459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3주차 필드 리서치 실습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끝나면 여러분은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1051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88720" y="171907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자기보고의 한계를 이해하고 방법을 조합할 수 있다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188720" y="202996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인터뷰만으로는 왜 부족한지 설명할 수 있는 수준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494483"/>
            <a:ext cx="10911535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659075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590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188720" y="2567635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인터뷰 가이드를 구조에 맞게 작성할 수 있다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188720" y="2878531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도입 – 워밍업 – 본질문 – 심화 – 마무리의 5단 구조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343046"/>
            <a:ext cx="10911535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50763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507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188720" y="341619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유도 · 이중 · 가정 질문을 스스로 걸러낼 수 있다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188720" y="372709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자기가 쓴 질문을 검토해 고칠 수 있다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4191610"/>
            <a:ext cx="10911535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35620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3562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188720" y="426476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AEIOU로 관찰을 기록할 수 있다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188720" y="457565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사실과 해석을 분리해서 적는 습관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5040173"/>
            <a:ext cx="10911535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5204765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20476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188720" y="5113325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연구 윤리 절차를 지켜 대상자를 섭외할 수 있다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1188720" y="5424221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사전 동의 · 익명화 · 철회권을 실제 문서로 준비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63459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3주차 필드 리서치 실습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11135" y="914400"/>
            <a:ext cx="3840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500" dirty="0">
                <a:solidFill>
                  <a:srgbClr val="262A33"/>
                </a:solidFill>
                <a:latin typeface="Pretendard Thin" pitchFamily="34" charset="0"/>
                <a:ea typeface="Pretendard Thin" pitchFamily="34" charset="-122"/>
                <a:cs typeface="Pretendard Thin" pitchFamily="34" charset="-120"/>
              </a:rPr>
              <a:t>01</a:t>
            </a:r>
            <a:endParaRPr lang="en-US" sz="25500" dirty="0"/>
          </a:p>
        </p:txBody>
      </p:sp>
      <p:sp>
        <p:nvSpPr>
          <p:cNvPr id="3" name="Text 1"/>
          <p:cNvSpPr/>
          <p:nvPr/>
        </p:nvSpPr>
        <p:spPr>
          <a:xfrm>
            <a:off x="640080" y="2487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현장에 나가는가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AEB4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설문과 검색으로 알 수 없는 것이 있습니다. 그것이 대개 문제의 핵심입니다.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말과 행동은 다릅니다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가지 간극이 자기보고를 신뢰할 수 없게 만듭니다.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3393338" cy="3035808"/>
          </a:xfrm>
          <a:prstGeom prst="roundRect">
            <a:avLst>
              <a:gd name="adj" fmla="val 2410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20116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24128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기억의 간극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24128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사람은 자기 행동을 정확히 기억하지 못합니다. 특히 습관이 된 행동일수록 의식하지 않아 설명하지 못합니다.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대응 — "최근에 실제로 그랬던 때를 하나만 떠올려 주세요"로 구체적 사건을 요청합니다.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99178" y="1737360"/>
            <a:ext cx="3393338" cy="3035808"/>
          </a:xfrm>
          <a:prstGeom prst="roundRect">
            <a:avLst>
              <a:gd name="adj" fmla="val 2410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83226" y="20116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8322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83226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체면의 간극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783226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바람직해 보이는 답을 합니다. 실제로는 안 하면서 "보통은 확인하죠"라고 말합니다.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대응 — 의견이 아니라 마지막 실제 행동을 묻습니다. "어제는 어떻게 하셨어요?"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58277" y="1737360"/>
            <a:ext cx="3393338" cy="3035808"/>
          </a:xfrm>
          <a:prstGeom prst="roundRect">
            <a:avLst>
              <a:gd name="adj" fmla="val 2410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42325" y="20116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42325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542325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언어의 간극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542325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느낌은 있지만 말로 옮기지 못합니다. "그냥 좀 불편해요"에서 멈춥니다.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대응 — 그 순간을 함께 재연하거나, 화면 · 물건을 놓고 짚어가며 말하게 합니다.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63459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3주차 필드 리서치 실습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필드 리서치 세 가지 방법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하나만 쓰지 않습니다. 최소 두 가지를 겹쳐야 근거가 됩니다.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00784"/>
            <a:ext cx="3417722" cy="3529584"/>
          </a:xfrm>
          <a:prstGeom prst="roundRect">
            <a:avLst>
              <a:gd name="adj" fmla="val 2140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인터뷰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87552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이유와 맥락을 얻는다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87552" y="2798064"/>
            <a:ext cx="2722778" cy="9144"/>
          </a:xfrm>
          <a:prstGeom prst="rect">
            <a:avLst/>
          </a:prstGeom>
          <a:solidFill>
            <a:srgbClr val="DCDEE3"/>
          </a:solidFill>
          <a:ln w="12700">
            <a:solidFill>
              <a:srgbClr val="DCDE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그렇게 했는지 알 수 있다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과거의 사건을 다룰 수 있다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한계 — 말한 것이 사실이 아닐 수 있다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권장 — 1인당 40–60분, 최소 2인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6986" y="1700784"/>
            <a:ext cx="3417722" cy="3529584"/>
          </a:xfrm>
          <a:prstGeom prst="roundRect">
            <a:avLst>
              <a:gd name="adj" fmla="val 2140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4458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관찰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734458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행동을 얻는다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34458" y="2798064"/>
            <a:ext cx="2722778" cy="9144"/>
          </a:xfrm>
          <a:prstGeom prst="rect">
            <a:avLst/>
          </a:prstGeom>
          <a:solidFill>
            <a:srgbClr val="DCDEE3"/>
          </a:solidFill>
          <a:ln w="12700">
            <a:solidFill>
              <a:srgbClr val="DCDE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34458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본인도 모르는 행동이 보인다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환경과 물리적 조건이 보인다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한계 — 이유를 알 수 없다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권장 — 같은 장소 2회 이상, 시간대를 달리해서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33893" y="1700784"/>
            <a:ext cx="3417722" cy="3529584"/>
          </a:xfrm>
          <a:prstGeom prst="roundRect">
            <a:avLst>
              <a:gd name="adj" fmla="val 2140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81365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섀도잉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481365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여정 전체를 얻는다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481365" y="2798064"/>
            <a:ext cx="2722778" cy="9144"/>
          </a:xfrm>
          <a:prstGeom prst="rect">
            <a:avLst/>
          </a:prstGeom>
          <a:solidFill>
            <a:srgbClr val="DCDEE3"/>
          </a:solidFill>
          <a:ln w="12700">
            <a:solidFill>
              <a:srgbClr val="DCDE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81365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사람을 따라다니며 전 과정을 본다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 사이의 이음매가 드러난다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한계 — 섭외가 가장 어렵다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권장 — 가능하면 1회, 어려우면 관찰로 대체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5614416"/>
            <a:ext cx="109115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인터뷰로 이유를 듣고, 관찰로 그 말을 검증합니다. 둘이 어긋나는 지점이 가장 좋은 인사이트가 됩니다.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63459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3주차 필드 리서치 실습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11135" y="914400"/>
            <a:ext cx="3840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500" dirty="0">
                <a:solidFill>
                  <a:srgbClr val="262A33"/>
                </a:solidFill>
                <a:latin typeface="Pretendard Thin" pitchFamily="34" charset="0"/>
                <a:ea typeface="Pretendard Thin" pitchFamily="34" charset="-122"/>
                <a:cs typeface="Pretendard Thin" pitchFamily="34" charset="-120"/>
              </a:rPr>
              <a:t>02</a:t>
            </a:r>
            <a:endParaRPr lang="en-US" sz="25500" dirty="0"/>
          </a:p>
        </p:txBody>
      </p:sp>
      <p:sp>
        <p:nvSpPr>
          <p:cNvPr id="3" name="Text 1"/>
          <p:cNvSpPr/>
          <p:nvPr/>
        </p:nvSpPr>
        <p:spPr>
          <a:xfrm>
            <a:off x="640080" y="2487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인터뷰 설계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AEB4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좋은 인터뷰는 대화가 아니라 설계된 구조입니다. 질문을 잘못 쓰면 답도 잘못 나옵니다.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인터뷰 가이드 5단 구조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60분 기준 시간 배분입니다.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88720" y="1719072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도입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188720" y="202996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인사 · 연구 목적 설명 · 녹음 동의 · 익명 처리와 철회 가능 고지. 여기서 신뢰가 안 생기면 나머지 55분이 형식적으로 끝납니다.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57055" y="181051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5분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406701"/>
            <a:ext cx="10911535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571293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57129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188720" y="2479853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워밍업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188720" y="2790749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답하기 쉬운 사실 질문부터. 하루 일과, 사용하는 서비스, 최근 경험. 아직 핵심을 묻지 않습니다.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57055" y="2571293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167482"/>
            <a:ext cx="10911535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33207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33207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88720" y="324063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질문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188720" y="355153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 준비한 6–8개 질문. 데스크 리서치에서 답을 못 찾은 질문들입니다. 순서는 넓은 것 → 좁은 것.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357055" y="333207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25분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3928262"/>
            <a:ext cx="10911535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409285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09285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188720" y="400141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심화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188720" y="431231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질문에서 나온 흥미로운 대목을 파고듭니다. 준비된 질문이 아니라 그 자리에서 만드는 질문. 여기서 인사이트가 나옵니다.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357055" y="409285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17분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4689043"/>
            <a:ext cx="10911535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4853635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85363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188720" y="4762195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마무리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1188720" y="5073091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"제가 안 물어본 것 중에 중요한 게 있을까요?" · 추가 연락 가능 여부 · 다른 대상자 소개 요청 · 감사 인사.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357055" y="4853635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5분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" y="5632704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질문 6–8개는 반드시 2주차 리서치 로그의 '남은 질문'에서 가져옵니다.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40080" y="63459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3주차 필드 리서치 실습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질문의 네 가지 유형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유형만 쓰면 답이 납작해집니다. 인터뷰 하나에 네 가지를 섞습니다.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453564" cy="3035808"/>
          </a:xfrm>
          <a:prstGeom prst="roundRect">
            <a:avLst>
              <a:gd name="adj" fmla="val 2981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20116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24128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행동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24128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실제로 무엇을 했는가.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"어제 택배를 어떻게 받으셨어요?"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신뢰할 수 있는 답이 나옵니다. 인터뷰의 뼈대로 삼으세요.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59404" y="1737360"/>
            <a:ext cx="2453564" cy="3035808"/>
          </a:xfrm>
          <a:prstGeom prst="roundRect">
            <a:avLst>
              <a:gd name="adj" fmla="val 2981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3452" y="20116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3452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3452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경험 · 사건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843452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구체적인 한 번의 일.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"가장 최근에 곤란했던 때가 언제였나요?"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일반론을 막고 이야기를 끌어냅니다.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78728" y="1737360"/>
            <a:ext cx="2453564" cy="3035808"/>
          </a:xfrm>
          <a:prstGeom prst="roundRect">
            <a:avLst>
              <a:gd name="adj" fmla="val 2981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62776" y="20116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6277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62776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맥락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662776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그때의 조건.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"그때 어디 계셨어요? 몇 시였죠?"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환경 · 시간 · 동행자가 행동의 진짜 원인인 경우가 많습니다.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098051" y="1737360"/>
            <a:ext cx="2453564" cy="3035808"/>
          </a:xfrm>
          <a:prstGeom prst="roundRect">
            <a:avLst>
              <a:gd name="adj" fmla="val 2981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82099" y="20116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82099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482099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감정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482099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그때 어떤 기분이었는가.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"그 순간 어떤 생각이 드셨어요?"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불안 · 짜증 · 안도가 어디서 생기는지 표시해 둡니다.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3459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3주차 필드 리서치 실습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고쳐야 할 질문 · 고친 질문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실제로 학생들이 가장 많이 쓰는 세 가지 오류입니다.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627632"/>
            <a:ext cx="5254600" cy="2761488"/>
          </a:xfrm>
          <a:prstGeom prst="roundRect">
            <a:avLst>
              <a:gd name="adj" fmla="val 2649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2416" y="1901952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이렇게 고칩니다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97016" y="1627632"/>
            <a:ext cx="5254600" cy="2761488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99352" y="1901952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이렇게 쓰면 답이 망가집니다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42416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유도 질문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42416" y="2688336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"이 서비스를 쓰실 때 어떤 순간이 기억에 남으세요?" — 좋고 나쁨을 정하지 않고 열어 둡니다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699352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유도 질문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99352" y="2688336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"이 서비스 불편하지 않으세요?" — 답을 미리 정해두고 물으면 상대는 동의해 줍니다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042416" y="3054096"/>
            <a:ext cx="4449928" cy="9144"/>
          </a:xfrm>
          <a:prstGeom prst="rect">
            <a:avLst/>
          </a:prstGeom>
          <a:solidFill>
            <a:srgbClr val="DCDEE3"/>
          </a:solidFill>
          <a:ln w="12700">
            <a:solidFill>
              <a:srgbClr val="DCD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99352" y="3054096"/>
            <a:ext cx="4449928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2416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이중 질문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42416" y="3346704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"최근 일주일에 몇 번 쓰셨어요? / 그때 어떠셨어요?" — 사실과 평가를 두 번에 나눠 묻습니다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699352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이중 질문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99352" y="3346704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"앱을 자주 쓰시고 만족하시나요?" — 두 가지를 한 번에 물어 어느 쪽 답인지 알 수 없습니다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042416" y="3712464"/>
            <a:ext cx="4449928" cy="9144"/>
          </a:xfrm>
          <a:prstGeom prst="rect">
            <a:avLst/>
          </a:prstGeom>
          <a:solidFill>
            <a:srgbClr val="DCDEE3"/>
          </a:solidFill>
          <a:ln w="12700">
            <a:solidFill>
              <a:srgbClr val="DCD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99352" y="3712464"/>
            <a:ext cx="4449928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2416" y="3767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가정 질문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42416" y="4005072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"가장 최근에 하셨을 때는 어떻게 하셨어요?" — 특정 사건을 요청하면 실제 행동이 나옵니다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699352" y="3767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가정 질문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99352" y="4005072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"보통 어떻게 하세요?" — '보통'을 물으면 사실이 아니라 인상이 나옵니다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3459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3주차 필드 리서치 실습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PROBE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심화 질문 세 가지 기법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심화 단계에서 쓰는 도구. 여기서 인터뷰의 질이 갈립니다.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3393338" cy="3035808"/>
          </a:xfrm>
          <a:prstGeom prst="roundRect">
            <a:avLst>
              <a:gd name="adj" fmla="val 2410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20116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24128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Whys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24128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"왜 그러셨어요?"를 다섯 번 되묻습니다. 표면의 이유 아래에 진짜 조건이 있습니다.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99178" y="1737360"/>
            <a:ext cx="3393338" cy="3035808"/>
          </a:xfrm>
          <a:prstGeom prst="roundRect">
            <a:avLst>
              <a:gd name="adj" fmla="val 2410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83226" y="20116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8322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83226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사건 재구성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783226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"그날을 처음부터 순서대로 말씀해 주세요." 시간순 서술은 빠뜨린 단계를 드러냅니다.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58277" y="1737360"/>
            <a:ext cx="3393338" cy="3035808"/>
          </a:xfrm>
          <a:prstGeom prst="roundRect">
            <a:avLst>
              <a:gd name="adj" fmla="val 2410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42325" y="20116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42325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542325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침묵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542325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답이 끝난 뒤 3초를 기다립니다. 가장 중요한 말은 대개 그 다음에 나옵니다.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5138928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금지 — 상대의 답을 요약해서 되돌려주지 마세요. "아, 그러니까 불편하셨다는 거죠?"는 상대의 언어를 내 언어로 덮어쓰는 행위입니다.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63459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3주차 필드 리서치 실습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11135" y="914400"/>
            <a:ext cx="3840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500" dirty="0">
                <a:solidFill>
                  <a:srgbClr val="262A33"/>
                </a:solidFill>
                <a:latin typeface="Pretendard Thin" pitchFamily="34" charset="0"/>
                <a:ea typeface="Pretendard Thin" pitchFamily="34" charset="-122"/>
                <a:cs typeface="Pretendard Thin" pitchFamily="34" charset="-120"/>
              </a:rPr>
              <a:t>03</a:t>
            </a:r>
            <a:endParaRPr lang="en-US" sz="25500" dirty="0"/>
          </a:p>
        </p:txBody>
      </p:sp>
      <p:sp>
        <p:nvSpPr>
          <p:cNvPr id="3" name="Text 1"/>
          <p:cNvSpPr/>
          <p:nvPr/>
        </p:nvSpPr>
        <p:spPr>
          <a:xfrm>
            <a:off x="640080" y="2487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관찰 · 기록 · 윤리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AEB4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것을 어떻게 적느냐가 4주차 합성의 재료를 결정합니다.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AEIOU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AEIOU — 관찰 기록 프레임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봐야 할지 모를 때 이 다섯 가지를 훑습니다.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453564" cy="3035808"/>
          </a:xfrm>
          <a:prstGeom prst="roundRect">
            <a:avLst>
              <a:gd name="adj" fmla="val 2981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20116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24128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Activity 활동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24128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무슨 일이 일어나는가. 사람들이 달성하려는 목표와 그것을 위한 일련의 행동.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59404" y="1737360"/>
            <a:ext cx="2453564" cy="3035808"/>
          </a:xfrm>
          <a:prstGeom prst="roundRect">
            <a:avLst>
              <a:gd name="adj" fmla="val 2981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3452" y="20116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3452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3452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Environment 환경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843452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일이 벌어지는 공간의 성격. 조명, 소음, 동선, 대기 공간, 표지판.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78728" y="1737360"/>
            <a:ext cx="2453564" cy="3035808"/>
          </a:xfrm>
          <a:prstGeom prst="roundRect">
            <a:avLst>
              <a:gd name="adj" fmla="val 2981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62776" y="20116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6277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62776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Interaction 상호작용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662776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사람과 사람, 사람과 사물 사이에 오가는 것. 말, 대기표, 결제, 눈짓.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098051" y="1737360"/>
            <a:ext cx="2453564" cy="3035808"/>
          </a:xfrm>
          <a:prstGeom prst="roundRect">
            <a:avLst>
              <a:gd name="adj" fmla="val 2981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82099" y="20116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82099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OU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482099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· User 사물 · 사람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482099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쓰이는 물건과 그것을 쓰는 사람. 누가 무엇을 어떻게 손에 쥐는가.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3459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3주차 필드 리서치 실습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RECORD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기록은 사실과 해석을 분리합니다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섞어 적으면 나중에 무엇이 관찰이고 무엇이 내 생각인지 구분되지 않습니다.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664208"/>
            <a:ext cx="525460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0704" y="1993392"/>
            <a:ext cx="441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사실 — 본 것 · 들은 것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60704" y="2487168"/>
            <a:ext cx="441335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"대기표를 뽑고 3분 뒤 다시 기계로 돌아와 화면을 봤다"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"직원에게 두 번 같은 질문을 했다"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"휴대폰을 꺼냈다 넣기를 4회 반복"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규칙 — 형용사와 감정어를 쓰지 않는다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97016" y="1664208"/>
            <a:ext cx="5254600" cy="3749040"/>
          </a:xfrm>
          <a:prstGeom prst="roundRect">
            <a:avLst>
              <a:gd name="adj" fmla="val 1951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17640" y="1993392"/>
            <a:ext cx="441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해석 — 내 추론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717640" y="2487168"/>
            <a:ext cx="441335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"남은 대기 인원을 확인하려는 것으로 보임"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"안내 표기를 신뢰하지 못하는 듯"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"불안 때문일 가능성 — 확인 필요"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규칙 — 모든 해석에 '확인 필요' 여부를 표시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5541264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권장 양식 — 노트를 세로로 반 나눠 왼쪽에 사실, 오른쪽에 해석. 4주차 어피니티 다이어그램에서 왼쪽만 잘라 씁니다.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63459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3주차 필드 리서치 실습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ETHICS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연구 윤리 — 반드시 지킵니다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지키지 않은 자료는 패널에 쓸 수 없습니다.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88720" y="171907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사전 동의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188720" y="202996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연구 목적, 소요 시간, 자료 사용 범위를 설명하고 구두 또는 서면 동의를 받습니다. 수업용 동의서 양식을 클래스룸에 올려두었습니다.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494483"/>
            <a:ext cx="10911535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659075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6590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188720" y="2567635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녹음 고지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88720" y="2878531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녹음 · 촬영은 반드시 사전에 알리고 허락을 받습니다. 몰래 녹음한 자료는 어떤 경우에도 사용하지 않습니다.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343046"/>
            <a:ext cx="10911535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50763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507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188720" y="341619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익명화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188720" y="372709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실명 · 소속 · 연락처는 기록에서 제거하고 P1, P2 같은 식별자를 씁니다. 패널과 발표 자료에도 동일하게 적용합니다.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191610"/>
            <a:ext cx="10911535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435620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3562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188720" y="426476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철회권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188720" y="457565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언제든 중단하거나 자료 삭제를 요청할 수 있음을 알립니다. 요청이 오면 즉시 삭제합니다.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5040173"/>
            <a:ext cx="10911535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5204765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520476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188720" y="5113325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목적 외 사용 금지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188720" y="5424221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수업 과제와 졸업 전시 외의 용도로 쓰지 않습니다. 미성년자 · 환자 등 취약 대상은 사전에 교수와 상의합니다.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63459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3주차 필드 리서치 실습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WORKSHOP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· 인터뷰 가이드 작성과 모의 인터뷰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40분 · 2인 1조 — 내 질문이 실제로 작동하는지 지금 확인합니다.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19072"/>
            <a:ext cx="10911535" cy="822960"/>
          </a:xfrm>
          <a:prstGeom prst="roundRect">
            <a:avLst>
              <a:gd name="adj" fmla="val 8889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1051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4A1C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15분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94560" y="18105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가이드 작성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669280" y="1810512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5단 구조에 맞춰 작성. 본 질문 6개는 반드시 2주차 데스크 리서치에서 '답을 못 찾은 질문'에서 가져옵니다.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688336"/>
            <a:ext cx="10911535" cy="822960"/>
          </a:xfrm>
          <a:prstGeom prst="roundRect">
            <a:avLst>
              <a:gd name="adj" fmla="val 8889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779776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4A1C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5분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194560" y="27797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 검토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669280" y="2779776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짝과 교환해 유도 · 이중 · 가정 질문을 찾아 표시합니다. 최소 2개는 나옵니다.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657600"/>
            <a:ext cx="10911535" cy="822960"/>
          </a:xfrm>
          <a:prstGeom prst="roundRect">
            <a:avLst>
              <a:gd name="adj" fmla="val 8889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749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4A1C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15분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19456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모의 인터뷰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669280" y="3749040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사람이 인터뷰어, 한 사람이 대상자 역할. 7분씩 교대. 실제로 녹음해 보세요.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626864"/>
            <a:ext cx="10911535" cy="822960"/>
          </a:xfrm>
          <a:prstGeom prst="roundRect">
            <a:avLst>
              <a:gd name="adj" fmla="val 8889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718304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4A1C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5분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194560" y="47183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회고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669280" y="4718304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AEB4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말이 막힌 질문, 답이 짧게 끝난 질문에 표시하고 고칩니다. 이것이 최종 가이드입니다.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0080" y="63459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3주차 필드 리서치 실습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과제와 다음 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4주차는 여러분이 가져온 인터뷰 기록으로 진행합니다.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19072"/>
            <a:ext cx="6309360" cy="896112"/>
          </a:xfrm>
          <a:prstGeom prst="roundRect">
            <a:avLst>
              <a:gd name="adj" fmla="val 8163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" y="199339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FF4A1C"/>
          </a:solidFill>
          <a:ln w="6350">
            <a:solidFill>
              <a:srgbClr val="FF4A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26464" y="1810512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인터뷰 2인 이상 실시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26464" y="2121408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만든 가이드로 진행. 녹음 + 전사(요약 전사 가능) + 사전 동의 확인. 인터뷰당 40분 이상.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743200"/>
            <a:ext cx="6309360" cy="896112"/>
          </a:xfrm>
          <a:prstGeom prst="roundRect">
            <a:avLst>
              <a:gd name="adj" fmla="val 8163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9264" y="301752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FF4A1C"/>
          </a:solidFill>
          <a:ln w="6350">
            <a:solidFill>
              <a:srgbClr val="FF4A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264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26464" y="2834640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관찰 기록 1회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26464" y="3145536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주제와 관련된 장소에서 30분 이상. AEIOU 프레임 사용, 사실 / 해석 분리 양식으로 작성.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767328"/>
            <a:ext cx="6309360" cy="896112"/>
          </a:xfrm>
          <a:prstGeom prst="roundRect">
            <a:avLst>
              <a:gd name="adj" fmla="val 8163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9264" y="404164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FF4A1C"/>
          </a:solidFill>
          <a:ln w="6350">
            <a:solidFill>
              <a:srgbClr val="FF4A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26464" y="3858768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원자료 정리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26464" y="4169664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인터뷰 발언과 관찰 사실을 한 줄씩 잘라 카드 형태로. 4주차 어피니티 다이어그램의 재료입니다. 최소 60장.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846320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— 4주차 수업 시작 전까지 · 원자료는 수업에 실물로 지참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51776" y="1719072"/>
            <a:ext cx="4199839" cy="3803904"/>
          </a:xfrm>
          <a:prstGeom prst="roundRect">
            <a:avLst>
              <a:gd name="adj" fmla="val 1923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35824" y="1993392"/>
            <a:ext cx="34317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 WEEK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35824" y="2286000"/>
            <a:ext cx="34317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04주차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735824" y="2743200"/>
            <a:ext cx="343174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리서치 합성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7735824" y="3346704"/>
            <a:ext cx="3431743" cy="9144"/>
          </a:xfrm>
          <a:prstGeom prst="rect">
            <a:avLst/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35824" y="3493008"/>
            <a:ext cx="3431743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E0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어피니티 다이어그램으로 묶기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E0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퍼소나 작성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E0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여정맵 그리기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E0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수업 시간 안에 완성합니다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735824" y="4700016"/>
            <a:ext cx="3431743" cy="9144"/>
          </a:xfrm>
          <a:prstGeom prst="rect">
            <a:avLst/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35824" y="4809744"/>
            <a:ext cx="34317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 준비할 것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735824" y="5065776"/>
            <a:ext cx="34317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원자료 카드 60장 이상 · 포스트잇 · 마커 · 전지 1장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63459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3주차 필드 리서치 실습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MIN.D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서비스디자인 · 3주차 필드 리서치 실습</dc:title>
  <dc:subject>원광대학교 2026-2 · 학부 3학년 · 주 3시간 × 15주 · 졸업 전시 패널 제작</dc:subject>
  <dc:creator>MIN.D</dc:creator>
  <cp:lastModifiedBy>MIN.D</cp:lastModifiedBy>
  <cp:revision>1</cp:revision>
  <dcterms:created xsi:type="dcterms:W3CDTF">2026-08-26T08:05:44Z</dcterms:created>
  <dcterms:modified xsi:type="dcterms:W3CDTF">2026-08-26T08:05:44Z</dcterms:modified>
</cp:coreProperties>
</file>