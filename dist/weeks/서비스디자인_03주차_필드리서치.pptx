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오늘이 학기에서 심리적 장벽이 가장 높은 주다. '모르는 사람에게 말을 거는 것'을 두려워한다. 리허설을 충분히 시켜서 나가게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실습 60분은 가이드 작성 30분 + 짝 리허설 30분으로 운영. 크리틱 40분은 리허설에서 나온 문제 질문을 같이 고치는 데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25분. 질문 유형이 오늘 강의의 핵심.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가장 많이 하는 실수가 '해결책을 물어보는 것'이다. 이 슬라이드를 인터뷰 전에 한 번 더 띄울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02를 못 해서 인터뷰가 5분 만에 끝나는 경우가 흔하다. '더 자세히요' 한마디만 익혀도 인터뷰 질이 확 달라진다.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오른쪽 질문을 강사가 소리 내어 읽어 주면 학생들이 웃는다. 웃고 나면 자기 가이드에서 같은 문장을 찾아낸다.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05에서 예상 밖의 정보가 나오는 경우가 정말 많다. 시간이 없어도 이 질문은 빼지 말라고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15분.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02가 관찰 훈련의 전부라고 해도 된다. 학생 기록의 90%가 해석으로 채워져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특히 의료 영역 주제를 고른 학생에게는 개별로 한 번 더 주의를 줄 것. 촬영은 기본적으로 금지로 안내하는 편이 안전하다.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04를 안내하면 막힌 학생들이 길을 찾는다. 교내 시설 담당자, 매장 직원 등 접근 가능한 운영자가 의외로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리허설을 반드시 시킬 것. 안 하고 나가면 첫 인터뷰를 버리게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짝 리허설에서 웃음이 나오면 잘 되는 것. 어색함을 여기서 다 소진시켜야 밖에서 말을 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발언 그대로 기록했는지는 제출물을 열어 보면 바로 안다. 요약본으로 낸 학생은 4주차 전에 보완시킬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몇 명의 가이드를 화면에 띄우고 공개적으로 고치면 전원에게 도움이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인터뷰를 미루는 학생이 반드시 나온다. 4주차 수업이 인터뷰 기록 없이는 성립하지 않는다는 점을 마지막에 한 번 더 못 박을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'요약하지 말 것'이 핵심. 4주차 어피니티 다이어그램은 실제 발언 단위로 붙여야 하는데, 요약해 오면 다시 할 수 없다. 녹음은 반드시 동의를 받고 하도록 재차 공지.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03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03  ·  PHASE 1 발견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필드 리서치 실습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사람에게서 직접 근거를 얻는 방법을 익히고,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실제로 2명 이상을 인터뷰한다.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180분 — 강의 70 · 실습 60 · 크리틱 40 · 랩업 10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 · 인터뷰 기록 2건 이상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180분의 흐름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만든 가이드로 이번 주 안에 실제 인터뷰를 진행합니다.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993392"/>
            <a:ext cx="3939504" cy="91440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39696"/>
            <a:ext cx="33908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14161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70</a:t>
            </a:r>
            <a:pPr algn="l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3939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3419856"/>
            <a:ext cx="415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유형 / 관찰·섀도잉 / 기록과 윤리 / 섭외 전략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7600" y="1993392"/>
            <a:ext cx="3376718" cy="914400"/>
          </a:xfrm>
          <a:prstGeom prst="roundRect">
            <a:avLst>
              <a:gd name="adj" fmla="val 800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1920" y="2139696"/>
            <a:ext cx="282807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60</a:t>
            </a:r>
            <a:pPr algn="l"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707600" y="3108960"/>
            <a:ext cx="33767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97872" y="3419856"/>
            <a:ext cx="3596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 작성 · 리허설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12334" y="1993392"/>
            <a:ext cx="2251145" cy="914400"/>
          </a:xfrm>
          <a:prstGeom prst="roundRect">
            <a:avLst>
              <a:gd name="adj" fmla="val 800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86654" y="2139696"/>
            <a:ext cx="170250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40</a:t>
            </a:r>
            <a:pPr algn="l" indent="0" marL="0">
              <a:buNone/>
            </a:pPr>
            <a:r>
              <a:rPr lang="en-US" sz="12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8212334" y="3108960"/>
            <a:ext cx="225114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02606" y="3419856"/>
            <a:ext cx="24706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 크리틱과 질문 다듬기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0591495" y="1993392"/>
            <a:ext cx="960120" cy="914400"/>
          </a:xfrm>
          <a:prstGeom prst="roundRect">
            <a:avLst>
              <a:gd name="adj" fmla="val 800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701223" y="2139696"/>
            <a:ext cx="7406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4161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</a:t>
            </a:r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0591495" y="310896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랩업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481767" y="3419856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인터뷰 일정 확인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1170432"/>
          </a:xfrm>
          <a:prstGeom prst="roundRect">
            <a:avLst>
              <a:gd name="adj" fmla="val 625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47914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97280" y="5065776"/>
            <a:ext cx="99971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10개짜리 인터뷰 가이드를 갖게 되고, 유도 질문이 무엇인지 구분할 수 있습니다.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묻는가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인터뷰는 의견을 듣는 자리가 아니라 경험을 캐내는 자리입니다.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5798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2542032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사용자는 무엇이 필요한지 모릅니다.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대신 자기가 겪은 일은 정확히 압니다.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041648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0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'어떤 앱이 있으면 좋겠어요?'라고 물으면 쓸 수 없는 답이 옵니다. '지난번에 그 일을 어떻게 처리하셨어요?'라고 물어야 근거가 나옵니다.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QUESTION TYPE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세 유형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가이드는 이 세 유형을 섞어 구성합니다.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 회상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"가장 최근에 ○○했던 때가 언제인가요? 그때 이야기를 처음부터 해주세요." 기억이 구체적으로 남아 있는 사건을 통째로 꺼내게 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구체 사례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"방금 '불편했다'고 하셨는데, 정확히 어느 지점에서요?" 추상적인 표현이 나올 때마다 사례로 되돌립니다. 이게 인터뷰의 대부분입니다.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이유 탐색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"왜 그렇게 하셨어요?" "다른 방법도 있었을 텐데요?" 행동의 이유를 캅니다. 단, 추궁처럼 들리지 않게 톤을 낮춥니다.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01로 열고 → 02로 파고 → 03으로 확인합니다. 이 순서가 무너지면 잡담이 됩니다.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좋은 질문과 유도 질문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오른쪽처럼 물으면 원하는 답이 나오지만, 근거로는 쓸 수 없습니다.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5254600" cy="4078224"/>
          </a:xfrm>
          <a:prstGeom prst="roundRect">
            <a:avLst>
              <a:gd name="adj" fmla="val 1794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경험을 캐는 질문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97016" y="1627632"/>
            <a:ext cx="5254600" cy="4078224"/>
          </a:xfrm>
          <a:prstGeom prst="roundRect">
            <a:avLst>
              <a:gd name="adj" fmla="val 1794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답을 정해 둔 질문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열기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어떻게 하셨는지 처음부터 말씀해 주세요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열기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불편하셨죠?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42416" y="3054096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99352" y="3054096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파기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'복잡하다'는 게 구체적으로 어느 부분이었나요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파기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복잡해서 그런 거 아닌가요?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42416" y="3712464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99352" y="3712464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빈도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한 달에 몇 번쯤 그런 일이 있었나요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빈도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 그러시죠?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42416" y="4370832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99352" y="4370832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다른 방법은 없었나요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대안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앱이 있으면 편하시겠죠?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42416" y="5029200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99352" y="5029200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42416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마무리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42416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제가 놓친 게 있을까요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6699352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마무리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699352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정리하면 ○○가 문제인 거죠?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GUIDE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 5단계 구조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20분짜리 인터뷰 기준입니다. 질문은 10개 내외면 충분합니다.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소개와 동의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누구인지, 왜 만나는지, 기록·녹음 동의. 2분이면 됩니다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406701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71293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몸풀기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답하기 쉬운 사실 질문으로 시작 — 얼마나 자주, 언제부터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16748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33207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— 경험 회상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최근 사건 하나를 통째로. 여기에 시간을 가장 많이 씁니다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92826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09285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파고들기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앞에서 나온 표현 중 애매한 것을 골라 구체 사례로 되묻기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4분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689043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85363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닫기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"제가 여쭙지 못한 게 있을까요" — 가장 좋은 답이 여기서 나올 때가 많습니다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질문을 30개 준비해 가면 읽느라 못 듣습니다. 10개를 외워 가는 편이 낫습니다.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보고 기록하기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말로 듣는 것과 실제로 하는 것은 다릅니다. 관찰이 그 차이를 잡아냅니다.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OBSERVATION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 · 섀도잉 세 원칙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인터뷰만으로는 잡히지 않는 것을 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돕지 않는다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헤매는 것을 보면 알려주고 싶어집니다. 참으세요. 그 헤맴이 여러분이 찾는 문제입니다. 관찰이 끝난 뒤에 도와주면 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말이 아니라 행동을 적는다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'어려워 보였다'는 해석입니다. '안내문을 3초 보고 창구 직원에게 물었다'가 기록입니다. 해석은 나중에 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시간을 적는다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 몇 분이 걸렸는지 기록합니다. 4주차 저니맵에서 시간축을 그릴 때 이 숫자가 없으면 그릴 수 없습니다.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 기록은 인터뷰 기록과 별도 문서로 남깁니다. 섞으면 나중에 구분되지 않습니다.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RECORD &amp; ETHICS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 방법과 지켜야 할 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664208"/>
            <a:ext cx="525460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0704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기록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60704" y="2487168"/>
            <a:ext cx="44133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발언은 들은 그대로 — 요약하면 4주차에 못 씁니다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녹음은 동의를 받은 뒤에만. 거절하면 메모로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둘이 가면 한 명은 묻고 한 명은 적기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끝난 직후 10분 안에 기억나는 것을 보충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 기록은 시간과 행동만, 해석은 따로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97016" y="1664208"/>
            <a:ext cx="5254600" cy="3749040"/>
          </a:xfrm>
          <a:prstGeom prst="roundRect">
            <a:avLst>
              <a:gd name="adj" fmla="val 1951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17640" y="1993392"/>
            <a:ext cx="4413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윤리 — 반드시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717640" y="2487168"/>
            <a:ext cx="44133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목적을 밝히고 시작합니다 (수업 과제임을 포함해)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이름·연락처·소속은 기록에 남기지 않습니다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의료·금융 등 민감한 이야기는 본인이 꺼낸 범위까지만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언제든 중단할 수 있다고 미리 알립니다</a:t>
            </a:r>
            <a:endParaRPr lang="en-US" sz="1200" dirty="0"/>
          </a:p>
          <a:p>
            <a:pPr marL="177800" indent="-177800">
              <a:lnSpc>
                <a:spcPct val="120000"/>
              </a:lnSpc>
              <a:spcAft>
                <a:spcPts val="1100"/>
              </a:spcAft>
              <a:buSzPct val="100000"/>
              <a:buChar char="•"/>
            </a:pPr>
            <a:r>
              <a:rPr lang="en-US" sz="120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패널·발표에 인용할 때는 별도로 동의를 받습니다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554126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동의 없이 촬영·녹음한 자료는 근거로 쓸 수 없습니다. 예외 없습니다.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RECRUIT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대상자를 구하는 네 가지 방법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'아는 사람이 없어서 못 했다'는 이번 주에 가장 많이 나올 말입니다.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현장에 간다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일이 실제로 일어나는 장소에서 끝난 사람에게 5분만 요청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확실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88720" y="2578608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다리 건너 소개받는다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88720" y="2889504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'혹시 ○○ 겪어본 분 아시나요' — 주변에 물으면 대개 나옵니다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57055" y="2670048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빠름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88720" y="343814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커뮤니티에 요청한다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88720" y="374904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 온라인 모임에 목적을 밝히고 정중히. 사례는 소액이라도 준비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57055" y="35295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 필요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422452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38912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389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88720" y="42976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운영하는 쪽을 만난다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188720" y="460857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직원·관리자는 사용자 100명을 본 사람입니다. 종종 가장 좋은 정보원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57055" y="43891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놓치기 쉬움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526694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주 2명은 완벽한 대상자가 아니어도 됩니다. 만나서 방법을 익히는 것이 목적입니다.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03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60분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가이드를 쓰고, 짝과 리허설한 뒤, 나가기 전에 질문을 고칩니다.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진행 — 60분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리허설에서 막히는 질문이 실제 인터뷰에서도 막힙니다.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초안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5단계 구조에 맞춰 질문 10개를 씁니다. 세 유형이 모두 들어갔는지 확인합니다.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유도 질문 골라내기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 질문을 다시 읽고 '답이 정해진 질문'에 표시합니다. 대개 2~3개가 나옵니다.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짝 리허설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둘이 짝을 지어 10분씩 실제로 해봅니다. 듣는 쪽은 대상자인 척 연기합니다.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고쳐 쓰기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리허설에서 답이 막혔던 질문만 다시 씁니다. 이게 오늘 제출본입니다.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 체크리스트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기록 2건은 다음 수업 24시간 전까지 올립니다.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가이드에 질문이 10개 내외 있다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53312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가지 질문 유형이 모두 들어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53312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유도 질문을 찾아 고친 흔적이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인터뷰를 2명 이상 진행했다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97016" y="175564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1336" y="189280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10248" y="175564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1인당 20분 이상 대화했다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248716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26243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10248" y="248716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발언을 요약하지 않고 그대로 적었다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321868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33558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10248" y="321868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동의를 받았고 이름·연락처는 기록하지 않았다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950208"/>
            <a:ext cx="5254600" cy="585216"/>
          </a:xfrm>
          <a:prstGeom prst="roundRect">
            <a:avLst>
              <a:gd name="adj" fmla="val 125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408736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010248" y="3950208"/>
            <a:ext cx="4248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'예상과 달랐던 것' 3가지를 적었다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57784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항목이 4주차 어피니티 다이어그램의 출발점입니다. 인터뷰 직후에 적으세요.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04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크리틱 40분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리허설에서 나온 문제 질문을 다 같이 고칩니다.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고치기 크리틱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가이드 3~4개를 화면에 띄우고 함께 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읽는다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작성자가 자기 질문 10개를 소리 내어 읽습니다. 읽다 보면 본인이 먼저 어색한 문장을 발견합니다.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표시한다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사람들이 유도 질문·추상적인 질문을 지목합니다. 좋다 나쁘다가 아니라 '어떤 답이 나올 것 같은지'로 말합니다.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다시 쓴다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지목된 질문을 그 자리에서 고쳐 씁니다. 고친 문장을 다시 읽어 확인합니다.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고친 질문으로 이번 주 안에 인터뷰를 진행합니다. 미루면 4주차 실습을 할 재료가 없습니다.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28255" y="822960"/>
            <a:ext cx="402336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04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주까지 해올 것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640080" y="270662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7066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207008" y="2670048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대상자 2인 이상을 실제로 인터뷰한다 (1인당 20분 이상)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27355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273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207008" y="3236976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기록을 발언 그대로 남긴다 — 요약하지 말 것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38404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840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207008" y="3803904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후 '예상과 달랐던 것' 3가지를 적는다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700016"/>
            <a:ext cx="713232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88289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인터뷰 가이드 · 인터뷰 기록 2건 이상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080" y="52669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마감 — 다음 수업 24시간 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5760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3주차 필드 리서치 실습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3주차 필드 리서치 실습</dc:title>
  <dc:subject>원광대학교 2026-2 · 학부 3학년 · 주 3시간 × 15주 · 졸업 전시 패널 제작</dc:subject>
  <dc:creator>MIN.D</dc:creator>
  <cp:lastModifiedBy>MIN.D</cp:lastModifiedBy>
  <cp:revision>1</cp:revision>
  <dcterms:created xsi:type="dcterms:W3CDTF">2026-08-26T04:42:18Z</dcterms:created>
  <dcterms:modified xsi:type="dcterms:W3CDTF">2026-08-26T04:42:18Z</dcterms:modified>
</cp:coreProperties>
</file>