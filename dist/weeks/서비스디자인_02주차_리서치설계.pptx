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 과제 제출 현황을 먼저 확인할 것. 미제출자는 오늘 상담에서 주제를 잡을 수 없으므로 별도로 시간을 잡아야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 상담은 실습 시간(01:55–02:35)에 순회하며 병행하고, 02:35 이후에도 이어간다. 20명 기준 한 명당 2분으로는 부족하므로 다 쓴 학생부터 부르는 방식으로 운영할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5번이 오늘의 실질적 도달점이다. 이 문장이 안 써지면 3주차 인터뷰 질문도 안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40분 구간.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03을 고른 학생이 가장 위험하다. 자료는 풍부한데 인터뷰 대상이 없어 4주차 저니맵이 상상으로 채워지는 경우가 매년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조건을 상담 체크리스트로 그대로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이름을 거론하지 말고 '작년에도 이런 경우가 있었다'는 식으로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40분 구간. 실제 검색 화면을 띄워 시연하면 이해가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문장이 오늘 강의의 핵심. 판서해서 남길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03의 '왜 충분하지 않은가'가 차별점이 된다는 점을 강조. 대부분 경쟁 서비스를 나열만 하고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만든 그럴듯한 가짜 통계가 패널에 올라오는 사고가 실제로 발생한다. 3차 자료 항목을 반드시 짚고 넘어갈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③과 ④를 섞어 쓰는 것이 가장 흔한 실수. 원문과 해석을 물리적으로 다른 칸에 적게 하는 것만으로 리서치 질이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40분 구간. 칠판에 하나를 같이 그려 보이고 시작할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03이 핵심. 갈등 지점을 찾아낸 학생의 프로젝트가 결국 좋은 패널이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결과물은 이해관계자 맵 1점(사진 촬영 제출)과 인터뷰 대상 2인 + 섭외 경로. 4단계를 못 채운 학생은 3주차에 인터뷰를 못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점검 질문 셋을 학생이 스스로 던지게 하는 것이 목표. 상담에서 이 문장부터 읽어보게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3주차에 실제 인터뷰를 하므로 대상자 확보가 안 된 학생은 진도가 막힌다. 상담에서 '접근 가능한가'와 '범위가 적정한가' 두 가지만은 반드시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  ·  PHASE 1 발견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3152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설계와 주제 후보 도출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358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관심 영역을 '연구할 수 있는 주제'로 바꿉니다.</a:t>
            </a:r>
            <a:endParaRPr lang="en-US" sz="17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이후로는 감이 아니라 근거로 말합니다.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926080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599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40599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4439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443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45% · 실습과 상담 55%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8280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48280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 + 근거 자료 · 1:1 주제 상담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3시간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45% · 실습과 상담 55%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190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1719072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지난주 과제 공유 — 관심 영역 3개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65615" y="17190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조별 발표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문제는 어디서 발견되는가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65615" y="2286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00:55–01:05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852928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01568"/>
            <a:ext cx="10911535" cy="9144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1985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01:05–01:45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419856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데스크 리서치 방법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5615" y="34198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8678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01:45–01:55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986784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11535" cy="9144"/>
          </a:xfrm>
          <a:prstGeom prst="rect">
            <a:avLst/>
          </a:prstGeom>
          <a:solidFill>
            <a:srgbClr val="F0F1F4"/>
          </a:solidFill>
          <a:ln w="12700">
            <a:solidFill>
              <a:srgbClr val="F0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537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01:55–02:35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553712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이해관계자 맵 그리기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5615" y="45537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상호 리뷰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10235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1206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02:35–03:00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5120640"/>
            <a:ext cx="6888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— 주제 스코핑 / 과제 안내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65615" y="5120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+ 1:1 상담 시작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끝나면 여러분은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주제와 나쁜 주제를 구분할 수 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'재미있어 보인다'가 아니라 네 가지 조건으로 판단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9448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5907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90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256763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리서치를 절차대로 수행할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87853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정의 → 수집 → 구조화 → 갭 발견의 4단계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4304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0763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076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88720" y="341619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자료의 신뢰도를 스스로 판단할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72709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· 2차 · 3차 자료를 구분하고 인용 가능 여부를 가른다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91610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5620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562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426476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맵을 그려 조사 대상을 정할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57565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누구를 만나야 하는지가 3주차 필드 리서치를 결정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04017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0476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2047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88720" y="511332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한 문장으로 진술할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542422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· 언제 · 무엇 때문에 형식의 스코핑 문장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어디서 발견되는가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문제는 발명하는 것이 아니라 발견하는 것입니다. 어디를 봐야 보이는지 알려드립니다.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세 가지 출처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여러분의 관심 영역은 대개 이 셋 중 하나에서 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불편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상황에서 여러 사람이 같은 방식으로 막힌다면 개인의 문제가 아니라 설계의 문제입니다.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법 — 커뮤니티 · 리뷰 · 민원 게시판에서 같은 불평이 몇 번 반복되는지 셉니다.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근거를 모으기 쉽다 / 함정: 이미 해결된 경우가 많다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제도와 현실의 틈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규정상으로는 되는데 실제로는 안 되는 지점. 안내는 있는데 아무도 안 읽는 지점.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법 — 공식 절차 문서와 실제 이용자의 후기를 나란히 놓고 비교합니다.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문제가 선명하다 / 함정: 디자인으로 못 바꾸는 부분이 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기술이 만든 새 조건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IoT · 자동화 · AI가 들어오면서 이전에 없던 상황이 생긴 영역. 아직 관습이 형성되지 않은 곳.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찾는 법 — 새로 나온 서비스의 초기 사용자 후기를 읽습니다.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선행 사례가 적어 독창적 / 함정: 당사자를 만나기 어려울 수 있다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CRITERIA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주제의 네 가지 조건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하나라도 못 넘기면 학기 중반에 반드시 막힙니다.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가능한가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당사자를 실제로 만날 수 있는가. 3주차에 인터뷰를 해야 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가능한가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상황을 내가 직접 볼 수 있는가. 말로만 듣는 주제는 깊이가 얕아집니다.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범위가 적정한가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 안에 한 바퀴 돌 수 있는 크기인가. '고령화 문제'는 주제가 아닙니다.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볼 수 있는가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4개월 동안 질리지 않을 만큼 궁금한가. 남이 좋다고 한 주제는 대개 중간에 식습니다.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1389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개 중 ①과 ③에서 걸리는 경우가 압도적으로 많습니다. 오늘 1:1 상담에서 이 두 가지를 먼저 확인하겠습니다.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PITFALL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선정의 흔한 실패 세 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매년 반복되는 패턴입니다. 미리 알고 피하세요.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큰 주제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"환경 문제를 해결하는 서비스"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조사할지 정할 수 없다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누구를 인터뷰할지 정할 수 없다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해결안이 구호에 그친다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특정 장소 · 특정 행동 · 특정 집단으로 세 번 좁힌다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6986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해결된 주제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"음식점 대기 시간이 길다"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4458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서비스를 조사하지 않은 상태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리서치를 하면 이미 다 나와 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차별점을 만들려다 억지가 된다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데스크 리서치로 선행 사례를 먼저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3893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만날 수 없는 대상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"중환자실 환자의 경험"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81365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 승인 · 접근 권한이 필요하다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관찰이 불가능해 추측으로 채운다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심사에서 근거를 요구받으면 무너진다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— 대상을 한 단계 옆으로 옮긴다 (예: 보호자)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고른 주제가 셋 중 하나에 해당한다면, 오늘 안에 바꾸는 것이 훨씬 저렴합니다.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 나가기 전에 알 수 있는 것을 먼저 다 압니다. 그래야 인터뷰에서 좋은 질문이 나옵니다.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 4단계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검색이 아니라 절차입니다.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정의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알아야 하는지 질문 목록을 먼저 씁니다. 질문 없이 검색하면 자료만 쌓입니다.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수집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갈래로 나눠 모읍니다. 시장 / 정책 · 제도 / 경쟁 서비스 / 선행연구. 출처와 날짜를 함께.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모은 것을 질문별로 다시 배치합니다. 답이 있는 질문과 없는 질문이 갈립니다.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갭 발견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없는 질문이 현장에서 물어볼 것입니다. 이것이 3주차 인터뷰 가이드의 뼈대가 됩니다.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138928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리서치의 목적은 '아는 것'이 아니라 '모르는 것을 특정하는 것'입니다. 4단계가 없으면 인터뷰가 잡담이 됩니다.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갈래로 나눠 모읍니다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무엇을, 어디서, 무엇을 확인할 것인가.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· 현황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통계청 · 정부 부처 통계, 산업 협회 자료, 언론 보도.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이 문제를 겪는 사람이 얼마나 되는가, 늘고 있는가 줄고 있는가.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3452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 · 제도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부처 고시, 지자체 조례, 서비스 약관.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디자인으로 바꿀 수 있는 부분과 없는 부분의 경계.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277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· 유사 서비스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국내외 앱 · 서비스, 공공 시범사업, 스타트업.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왜 그것으로 충분하지 않은가. 이 답이 여러분의 차별점입니다.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98051" y="1737360"/>
            <a:ext cx="2453564" cy="3035808"/>
          </a:xfrm>
          <a:prstGeom prst="roundRect">
            <a:avLst>
              <a:gd name="adj" fmla="val 2981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2099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연구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RISS · DBpia · Google Scholar.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 — 이 문제의 원인에 대해 이미 검증된 설명이 있는가.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자료의 신뢰도를 가르는 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심사와 발표에서 '출처가 뭐예요' 질문을 받게 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자료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만든 것 · 최고 신뢰도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한 인터뷰 · 관찰 기록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통계 데이터셋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기관이 발행한 원문 보고서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그대로 인용 가능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6986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자료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누군가 정리한 것 · 확인 후 사용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4458" y="2798064"/>
            <a:ext cx="2722778" cy="9144"/>
          </a:xfrm>
          <a:prstGeom prst="rect">
            <a:avLst/>
          </a:prstGeom>
          <a:solidFill>
            <a:srgbClr val="DCDEE3"/>
          </a:solidFill>
          <a:ln w="12700">
            <a:solidFill>
              <a:srgbClr val="DC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 논문, 연구 보고서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 기사, 산업 리포트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출처를 반드시 역추적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62A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숫자는 원본을 찾아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3893" y="1700784"/>
            <a:ext cx="3417722" cy="3529584"/>
          </a:xfrm>
          <a:prstGeom prst="roundRect">
            <a:avLst>
              <a:gd name="adj" fmla="val 2140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3차 자료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흐린 것 · 근거로 쓰지 않음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81365" y="2798064"/>
            <a:ext cx="2722778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블로그, 요약 카드뉴스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없는 인포그래픽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 요약문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단계의 힌트로만 사용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패널과 발표 자료에 들어가는 모든 숫자는 1차 또는 확인된 2차 자료여야 합니다. 출처 표기는 선택이 아니라 필수입니다.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TEMPLATE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로그 — 이 양식으로 기록합니다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출처를 다시 찾느라 버리는 시간이 가장 아깝습니다.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자료로 답하려던 질문. 예 — "1인 가구의 택배 수령은 실제로 어떤 방식으로 이뤄지는가?"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06701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712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2479853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790749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기관명 / 문서 제목 / 발행 연월 / URL 또는 페이지. 접속일도 함께 적습니다.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6748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3207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324063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내용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355153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인용할 문장이나 수치를 원문 그대로. 요약은 그 아래 따로. 원문과 내 해석을 섞지 않습니다.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2826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09285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88720" y="400141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해석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431231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 내 주제에 무엇을 의미하는가. 여기가 여러분의 기여입니다.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89043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8536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88720" y="476219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질문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507309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자료로 답이 안 된 것. 3주차 인터뷰 질문이 여기서 나옵니다.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양식 파일을 클래스룸에 올려두었습니다. 이번 주 과제부터 이 양식으로 제출합니다.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1135" y="914400"/>
            <a:ext cx="38404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262A33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03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누구를 만나야 하는지 모른 채 현장에 나가면 아무나 만나고 옵니다.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맵을 그리는 이유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조사 대상을 '정하는' 도구이지, 예쁘게 그리는 도표가 아닙니다.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빠뜨린 사람을 찾기 위해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서비스를 굴리는 사람, 옆에서 영향받는 사람은 대개 처음에 안 보입니다. 병원 주제에서 간호사와 원무과 직원, 배달 주제에서 라이더가 그렇습니다.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3226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누구를 먼저 만날지 정하기 위해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영향력과 관심도를 두 축으로 배치하면, 반드시 만나야 할 소수가 드러납니다. 시간은 한정되어 있습니다.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1737360"/>
            <a:ext cx="3393338" cy="3035808"/>
          </a:xfrm>
          <a:prstGeom prst="roundRect">
            <a:avLst>
              <a:gd name="adj" fmla="val 2410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2325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이해가 충돌하는 지점을 찾기 위해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A에게 좋은 것이 B에게 나쁜 지점 — 거기가 진짜 설계 문제입니다. 모두가 좋아하는 아이디어는 대개 아무 것도 바꾸지 않습니다.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· 이해관계자 맵 그리기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40분 · 개인 + 상호 리뷰 — 오늘 만든 맵이 3주차 인터뷰 대상자 명단이 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9456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나열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떠오르는 이해관계자를 포스트잇 한 장에 하나씩. 직접 사용자, 서비스 제공자, 결정권자, 주변 영향자 네 갈래로 최소 12명 이상.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8833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7977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9456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잇기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누구에게 무엇을 주고받는지 선으로 잇습니다. 돈 · 정보 · 서비스 · 감정 중 무엇이 흐르는지 선 위에 적으세요.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배치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가로축 관심도, 세로축 영향력으로 2×2에 재배치합니다. 오른쪽 위 = 핵심 이해관계자.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626864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718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4A1C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19456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특정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AEB4B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이해관계자 중 3주차에 실제로 만날 수 있는 2인을 고르고, 어떻게 섭외할지 한 줄로 적습니다.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스코핑 — 한 문장으로 진술하기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문장이 안 써지면 아직 주제가 아닙니다.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형식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「(누가)가 (어떤 상황)에서 (무엇) 때문에 (어떤 어려움)을 겪는다」 — 네 칸이 모두 구체적으로 채워져야 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0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25786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나쁜 예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8895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"1인 가구가 생활에서 불편을 겪는다" → 누가 · 언제 · 무엇이 모두 비어 있습니다. 이 문장으로는 인터뷰 질문을 만들 수 없습니다.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64992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529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3438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예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3749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"혼자 사는 20–30대 직장인이 부재중 택배를 받을 때, 안전한 보관 장소가 없어 분실과 파손을 반복적으로 겪는다"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24528"/>
            <a:ext cx="10911535" cy="9144"/>
          </a:xfrm>
          <a:prstGeom prst="rect">
            <a:avLst/>
          </a:prstGeom>
          <a:solidFill>
            <a:srgbClr val="E4E6EB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389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4161B"/>
          </a:solidFill>
          <a:ln w="6350">
            <a:solidFill>
              <a:srgbClr val="1416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89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88720" y="429768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질문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460857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문장을 읽고 ① 누구를 인터뷰할지 ② 어디를 관찰할지 ③ 무엇을 세어볼지가 바로 떠오르는가. 셋 다 떠오르면 통과입니다.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26694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과제의 후보 3안은 모두 이 형식으로 진술해 제출합니다.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과제와 다음 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3주차부터는 현장에 나갑니다.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19072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99339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 + 근거 자료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후보를 스코핑 문장으로 진술하고, 데스크 리서치 4갈래 중 최소 3갈래의 근거를 붙입니다. 리서치 로그 양식 사용.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6309360" cy="896112"/>
          </a:xfrm>
          <a:prstGeom prst="roundRect">
            <a:avLst>
              <a:gd name="adj" fmla="val 8163"/>
            </a:avLst>
          </a:prstGeom>
          <a:solidFill>
            <a:srgbClr val="F4F5F7"/>
          </a:solidFill>
          <a:ln w="12700">
            <a:solidFill>
              <a:srgbClr val="E4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30175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4A1C"/>
          </a:solidFill>
          <a:ln w="6350">
            <a:solidFill>
              <a:srgbClr val="FF4A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6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1:1 주제 상담 예약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상담을 시작합니다. 상담 전까지 후보 3안을 올려주세요. 상담에서 1안으로 좁힙니다.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82219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3주차 수업 전까지 · 클래스룸 업로드 + 상담 일정 예약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51776" y="1719072"/>
            <a:ext cx="4199839" cy="4169664"/>
          </a:xfrm>
          <a:prstGeom prst="roundRect">
            <a:avLst>
              <a:gd name="adj" fmla="val 1754"/>
            </a:avLst>
          </a:prstGeom>
          <a:solidFill>
            <a:srgbClr val="14161B"/>
          </a:solidFill>
          <a:ln w="12700">
            <a:solidFill>
              <a:srgbClr val="1416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03주차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리서치 실습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35824" y="3346704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35824" y="3493008"/>
            <a:ext cx="343174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말과 행동은 왜 다른가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질문의 네 가지 유형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질문과 나쁜 질문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AEIOU 관찰 프레임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윤리와 사전 동의</a:t>
            </a:r>
            <a:endParaRPr lang="en-US" sz="1100" dirty="0"/>
          </a:p>
          <a:p>
            <a:pPr marL="177800" indent="-1778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DE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모의 인터뷰 실습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35824" y="5065776"/>
            <a:ext cx="3431743" cy="914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35824" y="517550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35824" y="543153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4A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확정된 주제 1안 · 이해관계자 맵 · 녹음 가능한 기기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3459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2주차 리서치 설계와 주제 후보 도출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54335" y="6345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2주차 리서치 설계와 주제 후보 도출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2026-08-26T05:28:35Z</dcterms:created>
  <dcterms:modified xsi:type="dcterms:W3CDTF">2026-08-26T05:28:35Z</dcterms:modified>
</cp:coreProperties>
</file>