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수업. 학생들이 가장 불안해하는 건 '무엇을 해야 하는지 모르겠다'이므로, 오늘 안에 최종 결과물(전시 패널)의 실물 이미지를 반드시 보여준다.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휴식을 두 번 넣은 3시간 구성이다. 이 표를 매주 첫 슬라이드로 띄우면 학생이 '지금 어디쯤인지' 알아 실습 집중도가 올라간다.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한 문장을 칠판에 적어두고 학기 내내 지운 채로 두지 말 것. 매주 여기로 돌아온다.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네 구간의 이름(발견·정의·개발·전달)을 학생들이 외우게 할 것. 이후 매주 '지금 어느 구간인지'로 위치를 잡아준다.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기획안에는 '과정 45% + 결과 55%'로 적혀 있으나 6개 항목 배점(10/20/20/20/25/5)으로는 그 비율이 나오지 않는다. 여기서는 항목을 그대로 묶어 35/20/45로 표기했다. 학과 제출용 문서와 숫자를 맞출 필요가 있으면 이 슬라이드를 먼저 수정할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50분 구간. 정의를 외우게 하는 게 아니라 '내가 지금 뭘 설계하는지' 스스로 답할 수 있게 만드는 게 목적.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3학년이 가장 헷갈려 하는 지점. 자기 이전 과제가 어느 렌즈였는지 물어보면 바로 이해한다.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04를 특히 강조. 학생 제안이 심사에서 깨지는 가장 큰 이유가 '그래서 그 부담은 누가 지나요?'에 답을 못 해서다.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칠판에 가로선을 하나 긋고 위아래로 나눠 그려 보이면 30초 만에 전달된다.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40분 구간. 사례마다 5분 강의 + 5분 조별 토의로 운영하면 시간이 맞는다.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조별 토의 질문 — '이 문제를 앱으로 풀 수 있는 부분과 없는 부분은 어디서 갈리는가?'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'짧은 경험도 서비스디자인 대상이 되는가?'라는 질문이 나온다. 앞뒤(문의·분쟁 처리)까지 보면 그렇다고 답할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학과 특성상 IoT · 스마트홈 주제를 고르는 학생이 많다. 조직 경계 문제를 미리 인지시켜 두면 7주차 블루프린트가 수월해진다.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세 문장이 1주차에서 학생이 가져가야 할 핵심이다. 8주차 중간 발표 때 다시 띄운다.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실제 졸업전시 패널 사진을 보여주면 가장 효과적이다. 지난 학기 자료를 이 자리에 넣을 것.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규격이 '잠정'인 점을 반드시 말할 것. 학과 확정 전에 학생이 B0 기준으로 작업을 시작하면 나중에 다시 짜야 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1단계에서 '15개나요?'라는 반응이 나온다. 양이 질을 만든다고 설명하고 강사도 같이 칠판에 적어 보이면 분위기가 풀린다. 결과물은 다음 주 시작 때 조별로 공유한다.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관심 영역을 '분야'(예: 헬스케어)로 적어오는 학생이 대부분이다. '나는 ○○한 사람들이 △△할 때 겪는 어려움에 관심이 있다' 형식을 예시로 들어 강조할 것. 2주차 1:1 상담 순번을 오늘 배정해 공지한다.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94015" y="713232"/>
            <a:ext cx="3657600" cy="15179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2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13200" dirty="0"/>
          </a:p>
        </p:txBody>
      </p:sp>
      <p:sp>
        <p:nvSpPr>
          <p:cNvPr id="7" name="Shape 5"/>
          <p:cNvSpPr/>
          <p:nvPr/>
        </p:nvSpPr>
        <p:spPr>
          <a:xfrm>
            <a:off x="941832" y="877824"/>
            <a:ext cx="0" cy="603504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239926"/>
            <a:ext cx="301752" cy="241402"/>
          </a:xfrm>
          <a:prstGeom prst="line">
            <a:avLst/>
          </a:prstGeom>
          <a:noFill/>
          <a:ln w="15875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901952"/>
            <a:ext cx="7498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  ·  PHASE 1 발견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194560"/>
            <a:ext cx="8595360" cy="12252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2000"/>
              </a:lnSpc>
              <a:buNone/>
            </a:pPr>
            <a:r>
              <a:rPr lang="en-US" sz="4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오리엔테이션 &amp; 서비스디자인 개관</a:t>
            </a:r>
            <a:endParaRPr lang="en-US" sz="4000" dirty="0"/>
          </a:p>
        </p:txBody>
      </p:sp>
      <p:sp>
        <p:nvSpPr>
          <p:cNvPr id="12" name="Text 10"/>
          <p:cNvSpPr/>
          <p:nvPr/>
        </p:nvSpPr>
        <p:spPr>
          <a:xfrm>
            <a:off x="640080" y="3547872"/>
            <a:ext cx="786384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이 수업이 어디로 가는지, 그리고 서비스디자인이</a:t>
            </a:r>
            <a:endParaRPr lang="en-US" sz="16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6E6E6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무엇을 다루는 일인지 한 번에 정리합니다.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640080" y="4443984"/>
            <a:ext cx="274320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4645152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1645920" y="4645152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학부 3학년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40080" y="5029200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645920" y="5029200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3시간 — 강의 60% · 토의와 실습 40%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5413248"/>
            <a:ext cx="914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제출물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1645920" y="5413248"/>
            <a:ext cx="7680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 3개 · 레퍼런스 전시 패널 5점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WONKWANG UNIV · 2026-2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TODAY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오늘의 3시간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60% · 토의와 실습 40%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68249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719072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00:00–00:20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2377440" y="1719072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과목 소개 — 왜 이 수업을 듣는가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9265615" y="1719072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640080" y="229383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2312126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00:20–00:50</a:t>
            </a:r>
            <a:endParaRPr lang="en-US" sz="1050" dirty="0"/>
          </a:p>
        </p:txBody>
      </p:sp>
      <p:sp>
        <p:nvSpPr>
          <p:cNvPr id="15" name="Text 13"/>
          <p:cNvSpPr/>
          <p:nvPr/>
        </p:nvSpPr>
        <p:spPr>
          <a:xfrm>
            <a:off x="2377440" y="2312126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15주 여정과 평가 기준, 최종 산출물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9265615" y="2312126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질의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40080" y="2886891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905179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00:50–01:00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2377440" y="2905179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" y="3479945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3498233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01:00–01:50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2377440" y="3498233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1 — 서비스디자인이란 무엇인가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9265615" y="3498233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40080" y="4072999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091287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spc="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01:50–02:00</a:t>
            </a:r>
            <a:endParaRPr lang="en-US" sz="1050" dirty="0"/>
          </a:p>
        </p:txBody>
      </p:sp>
      <p:sp>
        <p:nvSpPr>
          <p:cNvPr id="26" name="Text 24"/>
          <p:cNvSpPr/>
          <p:nvPr/>
        </p:nvSpPr>
        <p:spPr>
          <a:xfrm>
            <a:off x="2377440" y="4091287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휴식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640080" y="4666053"/>
            <a:ext cx="10911535" cy="7315"/>
          </a:xfrm>
          <a:prstGeom prst="rect">
            <a:avLst/>
          </a:prstGeom>
          <a:solidFill>
            <a:srgbClr val="EFEFEF"/>
          </a:solidFill>
          <a:ln w="12700">
            <a:solidFill>
              <a:srgbClr val="EFEFEF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4684341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02:00–02:40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2377440" y="4684341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2 — 사례로 보는 서비스디자인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265615" y="4684341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강의 + 조별 토의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640080" y="525910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5277394"/>
            <a:ext cx="16002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60" kern="0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02:40–03:00</a:t>
            </a:r>
            <a:endParaRPr lang="en-US" sz="1050" dirty="0"/>
          </a:p>
        </p:txBody>
      </p:sp>
      <p:sp>
        <p:nvSpPr>
          <p:cNvPr id="33" name="Text 31"/>
          <p:cNvSpPr/>
          <p:nvPr/>
        </p:nvSpPr>
        <p:spPr>
          <a:xfrm>
            <a:off x="2377440" y="5277394"/>
            <a:ext cx="6888175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실습 — 관심 영역 찾기 / 과제 안내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9265615" y="5277394"/>
            <a:ext cx="2286000" cy="59305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개인 워크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640080" y="5852160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P.01</a:t>
            </a:r>
            <a:endParaRPr lang="en-US" sz="8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OBJECTIVES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오늘 끝나면 여러분은</a:t>
            </a:r>
            <a:endParaRPr lang="en-US" sz="3000" dirty="0"/>
          </a:p>
        </p:txBody>
      </p:sp>
      <p:sp>
        <p:nvSpPr>
          <p:cNvPr id="8" name="Shape 6"/>
          <p:cNvSpPr/>
          <p:nvPr/>
        </p:nvSpPr>
        <p:spPr>
          <a:xfrm>
            <a:off x="640080" y="166420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640080" y="1810512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810512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1188720" y="1719072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서비스디자인이 무엇을 다루는 일인지 설명할 수 있다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1188720" y="2029968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UX · UI 디자인과의 관계를 자기 말로 구분해서 말할 수 있는 수준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40080" y="2596896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640080" y="2761488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40080" y="276148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1188720" y="2670048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이 수업의 15주 흐름과 평가 기준을 안다</a:t>
            </a:r>
            <a:endParaRPr lang="en-US" sz="1450" dirty="0"/>
          </a:p>
        </p:txBody>
      </p:sp>
      <p:sp>
        <p:nvSpPr>
          <p:cNvPr id="17" name="Text 15"/>
          <p:cNvSpPr/>
          <p:nvPr/>
        </p:nvSpPr>
        <p:spPr>
          <a:xfrm>
            <a:off x="1188720" y="2980944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언제 무엇을 제출해야 하는지, 무엇으로 평가받는지 파악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40080" y="35478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40080" y="3712464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71246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1188720" y="3621024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졸업 전시 패널이 무엇을 요구하는 형식인지 안다</a:t>
            </a:r>
            <a:endParaRPr lang="en-US" sz="1450" dirty="0"/>
          </a:p>
        </p:txBody>
      </p:sp>
      <p:sp>
        <p:nvSpPr>
          <p:cNvPr id="22" name="Text 20"/>
          <p:cNvSpPr/>
          <p:nvPr/>
        </p:nvSpPr>
        <p:spPr>
          <a:xfrm>
            <a:off x="1188720" y="3931920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3m 거리에서 읽히는 정보 구조라는 제약을 이해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498848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640080" y="4663440"/>
            <a:ext cx="310896" cy="310896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466344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1188720" y="4572000"/>
            <a:ext cx="98755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자신의 관심 영역을 세 개로 좁힐 수 있다</a:t>
            </a:r>
            <a:endParaRPr lang="en-US" sz="1450" dirty="0"/>
          </a:p>
        </p:txBody>
      </p:sp>
      <p:sp>
        <p:nvSpPr>
          <p:cNvPr id="27" name="Text 25"/>
          <p:cNvSpPr/>
          <p:nvPr/>
        </p:nvSpPr>
        <p:spPr>
          <a:xfrm>
            <a:off x="1188720" y="4882896"/>
            <a:ext cx="9875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다음 주 주제 후보 도출의 출발점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40080" y="5522976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5632704"/>
            <a:ext cx="10911535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수업의 한 문장 — 한 학기 동안 '내가 발견한 문제'를 '남이 이해할 수 있는 서비스'로 만들어, 전시 패널 한 장으로 설득한다.</a:t>
            </a:r>
            <a:endParaRPr lang="en-US" sz="125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P.02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JOURNEY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15주 — 우리가 지나갈 네 구간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 중간 검증, 14주차 인쇄 마감이 두 개의 분기점입니다.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발견 · 1–4주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관심 영역에서 출발해 데스크 리서치와 필드 리서치로 사용자와 맥락을 확보합니다. 인터뷰와 관찰이 이 구간의 핵심이며, 4주차에 퍼소나와 저니맵을 완성합니다.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정의 · 5–8주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관찰을 문제 진술로 번역합니다. POV와 HMW로 문제를 재구성하고, 컨셉 3안에서 하나를 골라 서비스 블루프린트까지 구조화합니다. 8주차 중간 발표가 첫 검증점입니다.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개발 · 9–12주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정보구조와 와이어프레임에서 시작해 디자인 시스템, 고충실도 화면, 프로토타입까지 만듭니다. 12주차 사용성 테스트로 자기 설계를 스스로 반증합니다.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전달 · 13–15주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화면을 전시 패널이라는 다른 형식으로 재편집합니다. 14주차 인쇄 데이터 마감은 출력 일정과 직결되므로 예외가 없습니다.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P.03</a:t>
            </a:r>
            <a:endParaRPr lang="en-US" sz="8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GRADING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평가는 이렇게 나뉩니다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마지막 주에 몰아서 만들 수 없는 구조입니다.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과정 35%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매주 쌓이는 점수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출석 · 크리틱 참여 10%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리서치 산출물 20% (2–5주 과제 누적)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아카이브 5%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결석과 미제출이 여기서 바로 드러납니다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중간 발표 20%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8주차 1회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정의가 명료한가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 컨셉이 설득되는가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발표가 구조를 갖췄는가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방향을 바꿀 수 있는 마지막 시점입니다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결과물 45%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13–15주 집중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디자인 완성도 20%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최종 패널 25%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품질과 디자인 시스템 일관성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패널의 정보 위계와 인쇄 사양 준수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3회 이상 결석은 학칙에 따라 처리되며, 14주차 인쇄 데이터 마감 지연은 감점 사유입니다.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P.04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01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01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서비스디자인이란 무엇인가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화면을 그리는 일과 무엇이 다른지, 왜 '보이지 않는 것'을 설계한다고 말하는지.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01</a:t>
            </a:r>
            <a:endParaRPr lang="en-US" sz="8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SCOPE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UI · UX · 서비스디자인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같은 프로젝트를 다른 크기의 렌즈로 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987552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UI 디자인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987552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한 장의 문제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987552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987552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버튼, 타이포, 색, 간격 — 눈에 보이는 것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다루는 단위: 스크린과 컴포넌트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질문: 이 화면이 명확하고 아름다운가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86986" y="1700784"/>
            <a:ext cx="3417722" cy="35295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34458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UX 디자인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4734458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사람의 흐름 문제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4734458" y="2798064"/>
            <a:ext cx="2722778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734458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과업을 끝내기까지의 경로와 마찰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다루는 단위: 플로우와 세션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1F1F1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질문: 이 사람이 원하는 것을 해낼 수 있는가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33893" y="1700784"/>
            <a:ext cx="3417722" cy="3529584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481365" y="1956816"/>
            <a:ext cx="2722778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서비스디자인</a:t>
            </a:r>
            <a:endParaRPr lang="en-US" sz="1700" dirty="0"/>
          </a:p>
        </p:txBody>
      </p:sp>
      <p:sp>
        <p:nvSpPr>
          <p:cNvPr id="21" name="Text 19"/>
          <p:cNvSpPr/>
          <p:nvPr/>
        </p:nvSpPr>
        <p:spPr>
          <a:xfrm>
            <a:off x="8481365" y="2395728"/>
            <a:ext cx="2722778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000" b="1" spc="1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사람과 시간의 문제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8481365" y="2798064"/>
            <a:ext cx="2722778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481365" y="2944368"/>
            <a:ext cx="2722778" cy="1975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밖의 콜센터, 배송, 직원, 정책까지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다루는 단위: 채널 · 조직 · 시간 전체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900"/>
              </a:spcAft>
              <a:buSzPct val="100000"/>
              <a:buChar char="•"/>
            </a:pPr>
            <a:r>
              <a:rPr lang="en-US" sz="115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질문: 이 경험이 끝까지 작동하는가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5504688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5614416"/>
            <a:ext cx="1091153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셋은 대체 관계가 아니라 포함 관계입니다. 이 수업은 서비스디자인의 렌즈로 문제를 찾고, UX · UI의 손으로 그것을 만듭니다.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P.05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PRINCIPLE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서비스디자인의 네 가지 태도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방법론 이전에 이 네 가지가 습관이 되어야 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사람 중심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사용자만이 아니라 그 서비스를 굴리는 직원, 영향을 받는 주변인까지 사람으로 봅니다. 콜센터 상담원의 화면이 나쁘면 고객 경험도 나빠집니다.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공동 창작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디자이너 혼자 답을 내지 않습니다. 이해관계자를 설계 과정에 끌어들여 함께 만듭니다. 그래야 실제로 실행됩니다.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순차성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경험은 한 장면이 아니라 시간 위에 놓인 연속입니다. 전 · 중 · 후로 나눠 보면 진짜 문제는 대개 '전'이나 '후'에 있습니다.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총체성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터치포인트 하나만 고치면 문제는 옆으로 옮겨갑니다. 앱을 고쳤는데 전화 문의가 늘었다면 해결한 게 아닙니다.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P.06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INVISIBLE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서비스는 눈에 보이지 않습니다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우리가 설계하는 것의 4분의 3은 화면 밖에 있습니다.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터치포인트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고객이 실제로 만나는 접점. 앱 화면, 안내문, 직원의 말, 문자 알림, 물리적 공간.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가시선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고객이 볼 수 있는 것과 없는 것을 가르는 선. 서비스 블루프린트의 핵심 개념입니다.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백스테이지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고객은 못 보지만 경험을 결정하는 것. 직원 업무, 승인 절차, 내부 시스템.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지원 프로세스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더 뒤에 있는 정책, 계약, 데이터 구조, 법 제도. 가장 바꾸기 어려운 층입니다.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5084064"/>
            <a:ext cx="10911535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193792"/>
            <a:ext cx="10911535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7주차에 서비스 블루프린트를 그릴 때 이 네 개 층을 실제로 나눠 그립니다. 오늘은 '화면만 보면 안 된다'는 감각만 가져가면 충분합니다.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3" name="Text 31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P.07</a:t>
            </a:r>
            <a:endParaRPr lang="en-US" sz="8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02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02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사례로 보는 서비스디자인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세 가지 유형의 서비스를 같은 틀로 뜯어봅니다. 여러분의 주제도 결국 이 중 하나를 닮게 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02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 01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공공 서비스 — 병원 외래 진료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전형적인 '기다림의 문제'. 화면이 아니라 순서와 정보가 경험을 만듭니다.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10911535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865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여정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42416" y="2139696"/>
            <a:ext cx="101068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증상 인지 → 병원 · 과 선택 → 예약 → 방문 · 접수 → 대기 → 진료 → 검사 → 수납 → 처방 · 약국 → 재방문 결정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9264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53312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관찰되는 문제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69264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대기 시간 자체보다 '얼마나 더 기다려야 하는지 모르는 상태'가 불안을 만듭니다. 검사와 진료 사이 이동 동선이 안내되지 않아 같은 질문이 반복됩니다.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86986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6170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6170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100218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밖의 원인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716170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진료 순서는 의료진의 판단으로 실시간 바뀝니다. 즉 앱의 대기 표시는 백스테이지의 스케줄 시스템과 연결되지 않으면 거짓말이 됩니다.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33893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63077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63077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847125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여기서 배울 것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463077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터치포인트(앱)만 고쳐서는 해결되지 않는 문제의 전형입니다. 문제의 원인이 가시선 아래에 있을 때 무엇을 할 수 있는지 생각해 보세요.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P.08</a:t>
            </a:r>
            <a:endParaRPr lang="en-US" sz="8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 02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금융 앱 — 송금이라는 짧은 경험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경쟁의 축이 기능에서 '마찰의 제거'로 옮겨간 영역입니다.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10911535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865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여정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42416" y="2139696"/>
            <a:ext cx="101068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송금 필요 인지 → 앱 실행 → 인증 → 수취인 선택 → 금액 입력 → 확인 → 실행 → 완료 확인 → (문제 발생 시) 문의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9264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53312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설계의 초점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69264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단계 수를 줄이는 것보다 '틀리면 어떡하지'라는 불안을 줄이는 것이 핵심입니다. 수취인 이름 재확인, 되돌릴 수 있다는 신호, 완료의 명확한 피드백.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86986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6170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6170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100218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밖의 원인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716170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인증 단계는 디자이너가 마음대로 줄일 수 없습니다. 금융 규제와 보안 정책이라는 지원 프로세스가 경험의 상한선을 정합니다.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33893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63077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63077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847125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여기서 배울 것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463077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제약 조건을 먼저 파악해야 현실적인 컨셉이 나옵니다. '단계를 없애자'는 제안은 대개 실행되지 않습니다.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P.09</a:t>
            </a:r>
            <a:endParaRPr lang="en-US" sz="8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CASE 03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IoT 커넥티드 서비스 — 스마트홈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기기 · 앱 · 설치 · 고장 대응이 하나의 서비스로 묶이는 영역입니다.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00784"/>
            <a:ext cx="10911535" cy="102412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42416" y="1865376"/>
            <a:ext cx="1280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4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여정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042416" y="2139696"/>
            <a:ext cx="1010686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구매 결정 → 설치 · 연동 → 초기 설정 → 일상 사용 → 오작동 · 연결 끊김 → 고장 신고 → 방문 수리 → 교체 또는 해지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40080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969264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69264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1353312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관찰되는 문제</a:t>
            </a:r>
            <a:endParaRPr lang="en-US" sz="1350" dirty="0"/>
          </a:p>
        </p:txBody>
      </p:sp>
      <p:sp>
        <p:nvSpPr>
          <p:cNvPr id="16" name="Text 14"/>
          <p:cNvSpPr/>
          <p:nvPr/>
        </p:nvSpPr>
        <p:spPr>
          <a:xfrm>
            <a:off x="969264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경험의 만족도가 '잘 될 때'가 아니라 '안 될 때' 결정됩니다. 연결이 끊겼을 때 원인이 기기인지 통신인지 앱인지 사용자가 판단할 수 없습니다.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4386986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716170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16170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5100218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화면 밖의 원인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4716170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제조사 · 통신사 · 설치기사 · 플랫폼이 각각 다른 조직입니다. 책임 경계가 불명확하면 사용자는 어디에 전화해야 할지 모릅니다.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8133893" y="2944368"/>
            <a:ext cx="3417722" cy="2615184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463077" y="3255264"/>
            <a:ext cx="292608" cy="292608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8463077" y="3255264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8847125" y="3255264"/>
            <a:ext cx="237530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여기서 배울 것</a:t>
            </a:r>
            <a:endParaRPr lang="en-US" sz="1350" dirty="0"/>
          </a:p>
        </p:txBody>
      </p:sp>
      <p:sp>
        <p:nvSpPr>
          <p:cNvPr id="26" name="Text 24"/>
          <p:cNvSpPr/>
          <p:nvPr/>
        </p:nvSpPr>
        <p:spPr>
          <a:xfrm>
            <a:off x="8463077" y="3730752"/>
            <a:ext cx="2759354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 조직이 얽힌 서비스에서는 '누가 무엇을 책임지는가'를 그리는 것 자체가 디자인 결과물이 됩니다.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P.10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PATTERN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세 사례의 공통점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여러분이 주제를 고를 때 이 세 가지를 기준으로 삼으세요.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문제는 대체로 접점 사이에 있다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단계는 멀쩡한데 단계와 단계를 잇는 곳에서 사람이 길을 잃습니다. 병원의 검사↔진료 사이, 스마트홈의 설치↔사용 사이. 주제를 고를 때 '어느 화면'이 아니라 '어느 이음매'인지 물어보세요.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99178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78322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78322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4783226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불안이 불편보다 크게 작동한다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4783226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느린 것보다 '언제 끝날지 모르는 것'이, 어려운 것보다 '틀릴까 봐 무서운 것'이 경험을 망칩니다. 감정을 관찰 대상으로 삼으면 좋은 문제를 찾게 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8158277" y="1737360"/>
            <a:ext cx="3393338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542325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42325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542325" y="2505456"/>
            <a:ext cx="262524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제약을 모르면 컨셉이 뜬다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8542325" y="2999232"/>
            <a:ext cx="2625242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규제, 조직 구조, 비용 — 화면 밖 조건을 모르고 낸 아이디어는 심사에서 바로 무너집니다. 2주차 데스크 리서치가 이 제약을 찾는 작업입니다.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P.11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1111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345375" y="1737360"/>
            <a:ext cx="4206240" cy="3291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0000" dirty="0">
                <a:solidFill>
                  <a:srgbClr val="1B1B1B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03</a:t>
            </a:r>
            <a:endParaRPr lang="en-US" sz="20000" dirty="0"/>
          </a:p>
        </p:txBody>
      </p:sp>
      <p:sp>
        <p:nvSpPr>
          <p:cNvPr id="7" name="Shape 5"/>
          <p:cNvSpPr/>
          <p:nvPr/>
        </p:nvSpPr>
        <p:spPr>
          <a:xfrm>
            <a:off x="941832" y="1371600"/>
            <a:ext cx="0" cy="603504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941832" y="1733702"/>
            <a:ext cx="301752" cy="241402"/>
          </a:xfrm>
          <a:prstGeom prst="line">
            <a:avLst/>
          </a:prstGeom>
          <a:noFill/>
          <a:ln w="15875">
            <a:solidFill>
              <a:srgbClr val="FFFFF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615184"/>
            <a:ext cx="7863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8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PART 03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40080" y="2889504"/>
            <a:ext cx="786384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최종 산출물 — 졸업 전시 패널</a:t>
            </a:r>
            <a:endParaRPr lang="en-US" sz="4600" dirty="0"/>
          </a:p>
        </p:txBody>
      </p:sp>
      <p:sp>
        <p:nvSpPr>
          <p:cNvPr id="12" name="Shape 10"/>
          <p:cNvSpPr/>
          <p:nvPr/>
        </p:nvSpPr>
        <p:spPr>
          <a:xfrm>
            <a:off x="640080" y="3803904"/>
            <a:ext cx="2194560" cy="7315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0080" y="4005072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4000"/>
              </a:lnSpc>
              <a:buNone/>
            </a:pPr>
            <a:r>
              <a:rPr lang="en-US" sz="1350" dirty="0">
                <a:solidFill>
                  <a:srgbClr val="B8B8B8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한 학기의 결과를 한 장으로 압축하는 형식. 이 제약이 13–15주의 설계를 지배합니다.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 rot="16200000">
            <a:off x="10436047" y="32918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spc="260" kern="0" dirty="0">
                <a:solidFill>
                  <a:srgbClr val="7A7A7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SECTION 03</a:t>
            </a:r>
            <a:endParaRPr lang="en-US" sz="8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PANEL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패널은 발표 자료가 아닙니다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발표자가 없는 상태에서 혼자 작동해야 하는 매체입니다.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24128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24128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1024128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관람 조건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024128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관람자는 평균 20–30초를 씁니다. 3m에서 제목이 읽히고, 1.5m에서 구조가 파악되고, 50cm에서 디테일이 보여야 합니다. 세 개의 거리를 위한 세 개의 정보 층이 필요합니다.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3459404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843452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843452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843452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규격 (잠정)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3843452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B0 900×1200mm 세로. CMYK 300dpi, 재단 여백 3mm 포함. 14주차에 인쇄 데이터를 제출하고 15주차 전에 출력합니다. 규격은 학과 확정 후 공지합니다.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278728" y="1737360"/>
            <a:ext cx="2453564" cy="3035808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662776" y="2011680"/>
            <a:ext cx="365760" cy="36576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662776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6662776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심사 관점</a:t>
            </a:r>
            <a:endParaRPr lang="en-US" sz="1700" dirty="0"/>
          </a:p>
        </p:txBody>
      </p:sp>
      <p:sp>
        <p:nvSpPr>
          <p:cNvPr id="23" name="Text 21"/>
          <p:cNvSpPr/>
          <p:nvPr/>
        </p:nvSpPr>
        <p:spPr>
          <a:xfrm>
            <a:off x="6662776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① 문제가 무엇인지 20초 안에 전달되는가 ② 리서치 근거가 보이는가 ③ 해결안이 문제와 논리적으로 연결되는가 ④ 시각적 완성도.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9098051" y="1737360"/>
            <a:ext cx="2453564" cy="3035808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9482099" y="2011680"/>
            <a:ext cx="365760" cy="365760"/>
          </a:xfrm>
          <a:prstGeom prst="ellipse">
            <a:avLst/>
          </a:prstGeom>
          <a:solidFill>
            <a:srgbClr val="111111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9482099" y="20116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9482099" y="2505456"/>
            <a:ext cx="16854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4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흔한 실패</a:t>
            </a:r>
            <a:endParaRPr lang="en-US" sz="1700" dirty="0"/>
          </a:p>
        </p:txBody>
      </p:sp>
      <p:sp>
        <p:nvSpPr>
          <p:cNvPr id="28" name="Text 26"/>
          <p:cNvSpPr/>
          <p:nvPr/>
        </p:nvSpPr>
        <p:spPr>
          <a:xfrm>
            <a:off x="9482099" y="2999232"/>
            <a:ext cx="1685468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이미지를 크게 여러 장 붙이고 설명을 작게 넣는 구성. 관람자는 무슨 서비스인지 알 수 없습니다. 패널의 주인공은 화면이 아니라 문제입니다.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P.12</a:t>
            </a:r>
            <a:endParaRPr lang="en-US" sz="8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WORKSHOP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실습 · 관심 영역 찾기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20분 · 개인 — 한 학기 동안 지치지 않고 관찰할 수 있는 영역 세 개를 찾습니다.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5840" y="1810512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7분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286000" y="1810512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흩뿌리기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5669280" y="1810512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최근 3개월 안에 내가 겪은 불편, 답답함, 이상하다고 느낀 순간을 형식 없이 15개 이상 적습니다. 판단하지 말고 양으로 밀어붙이세요.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40080" y="2688336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05840" y="2779776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5" name="Text 13"/>
          <p:cNvSpPr/>
          <p:nvPr/>
        </p:nvSpPr>
        <p:spPr>
          <a:xfrm>
            <a:off x="2286000" y="2779776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묶기</a:t>
            </a:r>
            <a:endParaRPr lang="en-US" sz="1450" dirty="0"/>
          </a:p>
        </p:txBody>
      </p:sp>
      <p:sp>
        <p:nvSpPr>
          <p:cNvPr id="16" name="Text 14"/>
          <p:cNvSpPr/>
          <p:nvPr/>
        </p:nvSpPr>
        <p:spPr>
          <a:xfrm>
            <a:off x="5669280" y="2779776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적은 것들을 비슷한 것끼리 묶습니다. 3–5개 덩어리가 나옵니다. 각 덩어리에 이름을 붙이세요.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3657600"/>
            <a:ext cx="10911535" cy="822960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005840" y="3749040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111111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5분</a:t>
            </a:r>
            <a:endParaRPr lang="en-US" sz="2200" dirty="0"/>
          </a:p>
        </p:txBody>
      </p:sp>
      <p:sp>
        <p:nvSpPr>
          <p:cNvPr id="19" name="Text 17"/>
          <p:cNvSpPr/>
          <p:nvPr/>
        </p:nvSpPr>
        <p:spPr>
          <a:xfrm>
            <a:off x="2286000" y="374904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거르기</a:t>
            </a:r>
            <a:endParaRPr lang="en-US" sz="1450" dirty="0"/>
          </a:p>
        </p:txBody>
      </p:sp>
      <p:sp>
        <p:nvSpPr>
          <p:cNvPr id="20" name="Text 18"/>
          <p:cNvSpPr/>
          <p:nvPr/>
        </p:nvSpPr>
        <p:spPr>
          <a:xfrm>
            <a:off x="5669280" y="3749040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각 덩어리에 물어봅니다 — 이 영역의 당사자를 내가 실제로 만날 수 있는가? 만날 수 없으면 지웁니다.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40080" y="4626864"/>
            <a:ext cx="10911535" cy="822960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5840" y="4718304"/>
            <a:ext cx="1188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3분</a:t>
            </a:r>
            <a:endParaRPr lang="en-US" sz="2200" dirty="0"/>
          </a:p>
        </p:txBody>
      </p:sp>
      <p:sp>
        <p:nvSpPr>
          <p:cNvPr id="23" name="Text 21"/>
          <p:cNvSpPr/>
          <p:nvPr/>
        </p:nvSpPr>
        <p:spPr>
          <a:xfrm>
            <a:off x="2286000" y="4718304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문장화</a:t>
            </a:r>
            <a:endParaRPr lang="en-US" sz="1450" dirty="0"/>
          </a:p>
        </p:txBody>
      </p:sp>
      <p:sp>
        <p:nvSpPr>
          <p:cNvPr id="24" name="Text 22"/>
          <p:cNvSpPr/>
          <p:nvPr/>
        </p:nvSpPr>
        <p:spPr>
          <a:xfrm>
            <a:off x="5669280" y="4718304"/>
            <a:ext cx="551657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4000"/>
              </a:lnSpc>
              <a:buNone/>
            </a:pPr>
            <a:r>
              <a:rPr lang="en-US" sz="1150" dirty="0">
                <a:solidFill>
                  <a:srgbClr val="B8B8B8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남은 것 중 셋을 골라 '나는 ○○한 사람들이 △△할 때 겪는 어려움에 관심이 있다' 형식으로 씁니다.</a:t>
            </a:r>
            <a:endParaRPr lang="en-US" sz="1150" dirty="0"/>
          </a:p>
        </p:txBody>
      </p:sp>
      <p:sp>
        <p:nvSpPr>
          <p:cNvPr id="25" name="Shape 23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P.13</a:t>
            </a:r>
            <a:endParaRPr lang="en-US" sz="85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74320"/>
            <a:ext cx="3657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480560" y="274320"/>
            <a:ext cx="4572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spc="12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PHASE 1 발견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8808415" y="274320"/>
            <a:ext cx="2743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spc="20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WEEK 01</a:t>
            </a:r>
            <a:endParaRPr lang="en-US" sz="900" dirty="0"/>
          </a:p>
        </p:txBody>
      </p:sp>
      <p:sp>
        <p:nvSpPr>
          <p:cNvPr id="5" name="Shape 3"/>
          <p:cNvSpPr/>
          <p:nvPr/>
        </p:nvSpPr>
        <p:spPr>
          <a:xfrm>
            <a:off x="640080" y="548640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640080" y="64008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8A8A8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HOMEWORK</a:t>
            </a:r>
            <a:endParaRPr lang="en-US" sz="950" dirty="0"/>
          </a:p>
        </p:txBody>
      </p:sp>
      <p:sp>
        <p:nvSpPr>
          <p:cNvPr id="7" name="Text 5"/>
          <p:cNvSpPr/>
          <p:nvPr/>
        </p:nvSpPr>
        <p:spPr>
          <a:xfrm>
            <a:off x="640080" y="859536"/>
            <a:ext cx="1091153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과제와 다음 주</a:t>
            </a:r>
            <a:endParaRPr lang="en-US" sz="3000" dirty="0"/>
          </a:p>
        </p:txBody>
      </p:sp>
      <p:sp>
        <p:nvSpPr>
          <p:cNvPr id="8" name="Text 6"/>
          <p:cNvSpPr/>
          <p:nvPr/>
        </p:nvSpPr>
        <p:spPr>
          <a:xfrm>
            <a:off x="640080" y="1371600"/>
            <a:ext cx="10911535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2주차는 오늘 만든 관심 영역에서 시작합니다.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40080" y="1719072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969264" y="1993392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69264" y="1993392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426464" y="1810512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관심 영역 3개 정리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1426464" y="2121408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오늘 실습 결과를 다듬어 A4 1매. 각 영역마다 '왜 관심이 있는지' 두세 문장을 덧붙입니다.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40080" y="2743200"/>
            <a:ext cx="6309360" cy="896112"/>
          </a:xfrm>
          <a:prstGeom prst="rect">
            <a:avLst/>
          </a:prstGeom>
          <a:solidFill>
            <a:srgbClr val="FFFFFF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969264" y="3017520"/>
            <a:ext cx="329184" cy="329184"/>
          </a:xfrm>
          <a:prstGeom prst="ellipse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69264" y="3017520"/>
            <a:ext cx="32918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2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426464" y="2834640"/>
            <a:ext cx="5175504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11111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레퍼런스 전시 패널 5점 수집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426464" y="3145536"/>
            <a:ext cx="517550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2000"/>
              </a:lnSpc>
              <a:buNone/>
            </a:pPr>
            <a:r>
              <a:rPr lang="en-US" sz="1100" dirty="0">
                <a:solidFill>
                  <a:srgbClr val="6E6E6E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선배 졸업전시, 국내외 디자인 어워드 수상작 등. 이미지와 출처를 함께 정리하고, 각 패널의 '읽히는 순서'를 화살표로 표시해 오세요.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640080" y="3785616"/>
            <a:ext cx="6309360" cy="7315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640080" y="3877056"/>
            <a:ext cx="63093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1111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제출 — 2주차 수업 시작 전까지 · 클래스룸 업로드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7351776" y="1719072"/>
            <a:ext cx="4199839" cy="4096512"/>
          </a:xfrm>
          <a:prstGeom prst="rect">
            <a:avLst/>
          </a:prstGeom>
          <a:solidFill>
            <a:srgbClr val="111111"/>
          </a:solidFill>
          <a:ln w="12700">
            <a:solidFill>
              <a:srgbClr val="111111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35824" y="1993392"/>
            <a:ext cx="3431743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spc="260" kern="0" dirty="0">
                <a:solidFill>
                  <a:srgbClr val="9A9A9A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NEXT WEEK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7735824" y="2286000"/>
            <a:ext cx="3431743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FFFF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02주차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7735824" y="2743200"/>
            <a:ext cx="3431743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60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Pretendard Black" pitchFamily="34" charset="0"/>
                <a:ea typeface="Pretendard Black" pitchFamily="34" charset="-122"/>
                <a:cs typeface="Pretendard Black" pitchFamily="34" charset="-120"/>
              </a:rPr>
              <a:t>리서치 설계와 주제 후보 도출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7735824" y="334670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35824" y="3493008"/>
            <a:ext cx="3431743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문제는 어디서 발견되는가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데스크 리서치 4단계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소스의 신뢰도 판단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이해관계자 맵 그리기 실습</a:t>
            </a:r>
            <a:endParaRPr lang="en-US" sz="1150" dirty="0"/>
          </a:p>
          <a:p>
            <a:pPr marL="177800" indent="-177800">
              <a:lnSpc>
                <a:spcPct val="120000"/>
              </a:lnSpc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DDDDD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주제 스코핑</a:t>
            </a:r>
            <a:endParaRPr lang="en-US" sz="1150" dirty="0"/>
          </a:p>
        </p:txBody>
      </p:sp>
      <p:sp>
        <p:nvSpPr>
          <p:cNvPr id="27" name="Shape 25"/>
          <p:cNvSpPr/>
          <p:nvPr/>
        </p:nvSpPr>
        <p:spPr>
          <a:xfrm>
            <a:off x="7735824" y="4992624"/>
            <a:ext cx="3431743" cy="7315"/>
          </a:xfrm>
          <a:prstGeom prst="rect">
            <a:avLst/>
          </a:prstGeom>
          <a:solidFill>
            <a:srgbClr val="33333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7735824" y="5102352"/>
            <a:ext cx="3431743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spc="16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미리 준비할 것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7735824" y="5358384"/>
            <a:ext cx="3431743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b="1" dirty="0">
                <a:solidFill>
                  <a:srgbClr val="FFFFFF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노트북 · 관심 영역 3개 · 레퍼런스 패널 파일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6291072"/>
            <a:ext cx="10911535" cy="7315"/>
          </a:xfrm>
          <a:prstGeom prst="rect">
            <a:avLst/>
          </a:prstGeom>
          <a:solidFill>
            <a:srgbClr val="DCDCDC"/>
          </a:solidFill>
          <a:ln w="12700">
            <a:solidFill>
              <a:srgbClr val="DCDCD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6382512"/>
            <a:ext cx="7772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spc="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서비스디자인 · 1주차 오리엔테이션 &amp; 서비스디자인 개관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10271455" y="6382512"/>
            <a:ext cx="1280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50" spc="140" kern="0" dirty="0">
                <a:solidFill>
                  <a:srgbClr val="9B9B9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P.14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MIN.D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서비스디자인 · 1주차 오리엔테이션 &amp; 서비스디자인 개관</dc:title>
  <dc:subject>원광대학교 2026-2 · 학부 3학년 · 주 3시간 × 15주 · 졸업 전시 패널 제작</dc:subject>
  <dc:creator>MIN.D</dc:creator>
  <cp:lastModifiedBy>MIN.D</cp:lastModifiedBy>
  <cp:revision>1</cp:revision>
  <dcterms:created xsi:type="dcterms:W3CDTF">2026-08-31T11:45:54Z</dcterms:created>
  <dcterms:modified xsi:type="dcterms:W3CDTF">2026-08-31T11:45:54Z</dcterms:modified>
</cp:coreProperties>
</file>