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 오리엔테이션 첫 화면. 과목명보다 '전시 패널로 완결한다'는 목표를 먼저 각인시킬 것. 15주가 하나의 프로젝트를 처음부터 끝까지 도는 구조라는 점을 표지에서 이미 말해둔다.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 기대치를 맞추는 슬라이드. 특히 '주 3시간 중 강의는 1시간 남짓'이라는 점을 여기서 못 박아야 이후 실습 비중에 대한 저항이 줄어든다. 개인 프로젝트라는 점도 함께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규정의 근거를 원칙에서 끌어오는 슬라이드. 규정을 먼저 말하면 통제로 들리지만, 원칙을 먼저 말하면 납득이 된다. 출력 일정이 물리적으로 되돌릴 수 없다는 점을 여기서 언급해둔다.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'알게 된다'가 아니라 '할 수 있게 된다'로 쓴 점을 짚을 것. 오른쪽 검증 주차는 평가 배점 슬라이드와 1:1로 연결된다. 학기 말에 이 슬라이드를 다시 띄워 자가진단하게 하면 효과가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과목을 함께 지도하거나 연계 수강하는 학생이 있을 때 쓰는 슬라이드. 학부만 대상이면 마지막 문장은 건너뛰어도 된다. 03·04가 어두운 카드인 것은 이 과목의 무게중심을 시각적으로 표시한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패널 규격은 학과 전시 운영에 따라 바뀔 수 있다. 규격이 확정되지 않았다면 이 슬라이드를 띄우기 전에 학과와 협의할 것 — 13주차 그리드 실습이 이 수치에 묶여 있다. 부속 산출물 5종은 평가의 '아카이브 5%' 근거이기도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여기서 20분 정도 전체 지도를 훑고, 세부는 주차별 슬라이드에서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지도. 각 Phase를 30초씩만 짚는다. 왼쪽 두 개(발견·정의)는 '무엇을 만들지 정하는' 기간, 오른쪽 두 개(개발·전달)는 '실제로 만들어 끝내는' 기간이라는 대비를 강조. 어두운 카드가 이 과목의 무게중심.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검증점을 '평가'가 아니라 '다음 단계로 가는 관문'으로 설명할 것. 특히 8주차에 컨셉이 확정되지 않은 학생이 매년 나오는데, 그 경우 9주차 IA 작업이 공회전한다. 8주차 전에 1:1로 미리 걸러낼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배분은 기획안의 '강의 40% / 실습·크리틱 60%'를 분 단위로 옮긴 값이다. 실제 강의실 사정에 따라 조정하되 비율은 유지할 것. 수강 인원이 30명을 넘으면 5·11주차 전원 크리틱을 조별로 전환해야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01 · PHASE 1 발견 — 오리엔테이션 &amp; 서비스디자인 개관
실습 운영: 60분 안에 끝낼 수 있는 범위로 쪼개 제시하고, 막힌 학생부터 순회 지도.
제출물: 관심 영역 3개 · 레퍼런스 전시 패널 5점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02 · PHASE 1 발견 — 리서치 설계와 주제 후보 도출
실습 운영: 60분 안에 끝낼 수 있는 범위로 쪼개 제시하고, 막힌 학생부터 순회 지도.
제출물: 주제 후보 3안 + 근거 자료 · 1:1 주제 상담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03 · PHASE 1 발견 — 필드 리서치 실습
실습 운영: 60분 안에 끝낼 수 있는 범위로 쪼개 제시하고, 막힌 학생부터 순회 지도.
제출물: 인터뷰 가이드 · 인터뷰 기록 2건 이상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04 · PHASE 1 발견 — 리서치 합성
실습 운영: 60분 안에 끝낼 수 있는 범위로 쪼개 제시하고, 막힌 학생부터 순회 지도.
제출물: 퍼소나 1~2인 · 저니맵 1점 (수업 중 제작 완료)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05 · PHASE 2 정의 — 문제 정의
실습 운영: 60분 안에 끝낼 수 있는 범위로 쪼개 제시하고, 막힌 학생부터 순회 지도.
제출물: POV 3문장 · HMW 10개 · 1차 크리틱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06 · PHASE 2 정의 — 아이디에이션
실습 운영: 60분 안에 끝낼 수 있는 범위로 쪼개 제시하고, 막힌 학생부터 순회 지도.
제출물: 컨셉 스케치 20안 → 컨셉 3안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07 · PHASE 2 정의 — 서비스 컨셉 구조화
실습 운영: 60분 안에 끝낼 수 있는 범위로 쪼개 제시하고, 막힌 학생부터 순회 지도.
제출물: 서비스 블루프린트 1점 · 중간 발표 자료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08 · PHASE 2 정의 — 중간 발표
실습 운영: 60분 안에 끝낼 수 있는 범위로 쪼개 제시하고, 막힌 학생부터 순회 지도.
제출물: 중간 발표 (평가 20%) · 패널 스토리보드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09 · PHASE 3 개발 — 정보구조 &amp; 와이어프레임
실습 운영: 60분 안에 끝낼 수 있는 범위로 쪼개 제시하고, 막힌 학생부터 순회 지도.
제출물: 핵심 플로우 3개 · 와이어프레임 12화면 이상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10 · PHASE 3 개발 — UI 디자인 시스템
실습 운영: 60분 안에 끝낼 수 있는 범위로 쪼개 제시하고, 막힌 학생부터 순회 지도.
제출물: 디자인 토큰 · Figma 컴포넌트 세트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11 · PHASE 3 개발 — 화면 디자인
실습 운영: 60분 안에 끝낼 수 있는 범위로 쪼개 제시하고, 막힌 학생부터 순회 지도.
제출물: 주요 화면 8~12개 · 2차 크리틱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12 · PHASE 3 개발 — 프로토타입 &amp; 사용성 테스트
실습 운영: 60분 안에 끝낼 수 있는 범위로 쪼개 제시하고, 막힌 학생부터 순회 지도.
제출물: 프로토타입 1식 · 사용성 테스트 결과 리포트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13 · PHASE 4 전달 — 패널 레이아웃 설계
실습 운영: 60분 안에 끝낼 수 있는 범위로 쪼개 제시하고, 막힌 학생부터 순회 지도.
제출물: 패널 시안 2안 (B0) · 축소 출력 검토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14 · PHASE 4 전달 — 패널 제작 &amp; 인쇄 데이터
실습 운영: 60분 안에 끝낼 수 있는 범위로 쪼개 제시하고, 막힌 학생부터 순회 지도.
제출물: 인쇄용 최종 데이터 (마감) · 출력 발주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15 · PHASE 4 전달 — 최종 발표 &amp; 아카이빙
실습 운영: 60분 안에 끝낼 수 있는 범위로 쪼개 제시하고, 막힌 학생부터 순회 지도.
제출물: 최종 발표 (평가 25%) · 포트폴리오 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평가 기준을 1주차에 전부 공개하는 것이 원칙 — 기준이 공개되어야 학생이 자가진단을 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1주차에 반드시 공개. 학생들이 가장 궁금해하는 슬라이드이므로 질문 시간을 충분히 준다. '패널만 잘 만들면 된다'는 오해를 여기서 깨야 2–5주 리서치 과제의 제출률이 유지된다.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B와 C의 차이를 구체적으로 설명해줄 것 — '프로세스는 충실한데 완성도가 아쉬운' 경우와 '결과물은 그럴듯한데 근거가 없는' 경우. 후자가 C라는 점이 이 과목의 성격을 가장 잘 드러낸다.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출력 비용 부담 주체가 확정되지 않았다면 '별도 공지'로 두고 넘어갈 것. 학생 부담이면 1주차에 금액 범위를 미리 알려야 나중에 문제가 생기지 않는다. 인원이 30명을 넘는 경우 크리틱 운영 방식은 2주차 전까지 확정해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오리엔테이션 마무리. 과제 3개는 화면에 띄운 채 읽어주고 강의 게시판에도 동일하게 공지한다. '주제가 없어도 괜찮다'로 끝내면 1주차 이탈이 줄어든다. 2주차 1:1 상담 시간표도 이때 배포할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15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UNIV. · 2026-2 · 학부 3학년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92224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98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프로세스를 한 바퀴 돌려, 전시 패널로 완결한다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92608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039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38039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3시간 × 15주 (총 45시간) · 실습형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1879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18795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/ 실습 · 크리틱 60%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5720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전시용 패널 1점 (B0 900×1200mm)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한눈에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640080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개강 · 주 1회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5026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45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시간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3450260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026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3시간 × 15주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044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단계</a:t>
            </a:r>
            <a:endParaRPr lang="en-US" sz="6800" dirty="0"/>
          </a:p>
        </p:txBody>
      </p:sp>
      <p:sp>
        <p:nvSpPr>
          <p:cNvPr id="11" name="Shape 9"/>
          <p:cNvSpPr/>
          <p:nvPr/>
        </p:nvSpPr>
        <p:spPr>
          <a:xfrm>
            <a:off x="6260440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044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· 정의 · 개발 · 전달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70619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점</a:t>
            </a:r>
            <a:endParaRPr lang="en-US" sz="6800" dirty="0"/>
          </a:p>
        </p:txBody>
      </p:sp>
      <p:sp>
        <p:nvSpPr>
          <p:cNvPr id="14" name="Shape 12"/>
          <p:cNvSpPr/>
          <p:nvPr/>
        </p:nvSpPr>
        <p:spPr>
          <a:xfrm>
            <a:off x="9070619" y="3054096"/>
            <a:ext cx="2480996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619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패널 (개인)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과목의 원칙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809744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만들면서 이해한다. 강의는 40%, 나머지 60%는 손으로 만들고 서로 크리틱한다.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97280" y="5230368"/>
            <a:ext cx="9997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프로젝트 기반 · 권장 20명 내외 · 실습실 · Figma 계정 · A0 출력 협력업체 필요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과목이 설계된 방식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원칙이 15주 전체의 운영과 평가를 결정합니다.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프로세스를 한 바퀴 돌린다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발견에서 전달까지 네 단계를 빠짐없이 통과한다. 한 단계를 건너뛰면 다음 단계의 근거가 사라지기 때문에, 중간에 합류하거나 되돌아가는 설계를 두지 않는다.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손으로 만든다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이론은 40%까지만 쓴다. 저니맵도 블루프린트도 패널 시안도 수업 시간 안에 만들기 시작한다. 집에서 완성할 것을 전제로 강의하지 않는다.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공적 형식으로 끝낸다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산출물은 제출물이 아니라 전시 패널이다. 남이 3m 밖에서 보고 이해하는 형식까지 가야 프로젝트가 끝난 것으로 본다.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901184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그래서 결석 3회, 14주차 인쇄 마감 지연에는 예외를 두지 않습니다.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후 할 수 있게 되는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목표는 특정 주차의 산출물로 검증됩니다.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17556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프로세스 전 과정을 스스로 한 바퀴 돌려본다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07008" y="2084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리서치부터 전달까지 남의 지시 없이 다음 단계를 판단할 수 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22815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1–15주 검증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0545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8833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07008" y="26151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결과를 인사이트와 문제 진술로 번역할 수 있다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07008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관찰한 것과 해석한 것을 구분해 POV·HMW로 쓴다.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22815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검증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07008" y="3474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컨셉을 화면·시나리오 수준까지 구체화한다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07008" y="3803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블루프린트에서 프로토타입까지 끊기지 않게 이어간다.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22815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7·12주차 검증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2452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4074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07008" y="433425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자신의 프로젝트를 전시 패널이라는 공적 형식으로 편집한다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07008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거리에서 읽히는 정보 위계와 인쇄 사양을 갖춘다.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22815" y="4407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13–14주차 검증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07008" y="51937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포트폴리오로 재사용 가능한 아카이브를 남긴다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07008" y="5522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 작업이 다음 지원에 그대로 쓰이는 상태로 정리한다.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2815" y="52669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검증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역량을 순차적으로 쌓습니다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 과목은 이 중 03 구현 · 04 전달에 시수 비중을 더 둡니다.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2494712" cy="3200400"/>
          </a:xfrm>
          <a:prstGeom prst="roundRect">
            <a:avLst>
              <a:gd name="adj" fmla="val 2932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찾아내는 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24128" y="3913632"/>
            <a:ext cx="1726616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· 필드 리서치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1–4주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45688" y="1700784"/>
            <a:ext cx="2494712" cy="3200400"/>
          </a:xfrm>
          <a:prstGeom prst="roundRect">
            <a:avLst>
              <a:gd name="adj" fmla="val 2932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9736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829736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29736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진술로 번역하는 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29736" y="3913632"/>
            <a:ext cx="1726616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9736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· POV · 컨셉 진술문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29736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5–8주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1296" y="1700784"/>
            <a:ext cx="2494712" cy="3200400"/>
          </a:xfrm>
          <a:prstGeom prst="roundRect">
            <a:avLst>
              <a:gd name="adj" fmla="val 2932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5344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635344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35344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개념을 형태와 논리로 만드는 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35344" y="3913632"/>
            <a:ext cx="1726616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5344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· 디자인 시스템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35344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6903" y="1700784"/>
            <a:ext cx="2494712" cy="3200400"/>
          </a:xfrm>
          <a:prstGeom prst="roundRect">
            <a:avLst>
              <a:gd name="adj" fmla="val 2932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40951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440951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440951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설득 가능한 형식으로 짓는 힘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40951" y="3913632"/>
            <a:ext cx="1726616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0951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 · 포트폴리오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40951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51389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대학원「컨셉트와 프로세스」와 같은 역량 축을 공유하되, 학부는 만들고 전달하는 쪽에 무게를 둡니다. 중복이 아니라 층위의 차이입니다.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 — 졸업 전시 패널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120640" cy="3968496"/>
          </a:xfrm>
          <a:prstGeom prst="roundRect">
            <a:avLst>
              <a:gd name="adj" fmla="val 1843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97510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1점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2304288"/>
            <a:ext cx="4169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115568" y="3273552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900 × 1200 mm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15568" y="3803904"/>
            <a:ext cx="4169664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3968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396849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 필수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15568" y="4352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해상도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4352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300dpi 이상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5568" y="4736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가독성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473659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기준 설계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15568" y="5120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512064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예외 없음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63056" y="1700784"/>
            <a:ext cx="5388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산출물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2029968"/>
            <a:ext cx="5388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한 장이 전부가 아닙니다. 아래 다섯 가지가 남아야 다음 학기와 취업 지원에 그대로 재사용됩니다.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3056" y="27980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724912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리포트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980944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2–3주차 데스크·필드 리서치 정리본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3401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3328416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584448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퍼소나와 함께 제작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63056" y="40050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393192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418795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 컨셉 구조화 결과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460857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4535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프로토타입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4791456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 사용성 테스트에 사용한 1식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63056" y="5212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5138928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PDF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539496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최종 정리본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커리큘럼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단계를 어떤 순서로, 매주 몇 분씩, 어떤 산출물로 채우는지 전체 지도를 먼저 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CURRICULUM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전체 지도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→ 정의 → 개발 → 전달. 각 단계는 다음 단계의 재료를 만듭니다.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2494712" cy="3730752"/>
          </a:xfrm>
          <a:prstGeom prst="roundRect">
            <a:avLst>
              <a:gd name="adj" fmla="val 2932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05840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1–4주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328416"/>
            <a:ext cx="1763192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9616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서비스디자인 개관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9616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설계와 주제 후보 도출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9616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리서치 실습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99616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합성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45688" y="1700784"/>
            <a:ext cx="2494712" cy="3730752"/>
          </a:xfrm>
          <a:prstGeom prst="roundRect">
            <a:avLst>
              <a:gd name="adj" fmla="val 2932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1448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11448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5–8주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11448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11448" y="3328416"/>
            <a:ext cx="1763192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1448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05224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1448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05224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아이디에이션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1144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05224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 구조화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11448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305224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51296" y="1700784"/>
            <a:ext cx="2494712" cy="3730752"/>
          </a:xfrm>
          <a:prstGeom prst="roundRect">
            <a:avLst>
              <a:gd name="adj" fmla="val 2932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7056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17056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</a:t>
            </a:r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9–12주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17056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17056" y="3328416"/>
            <a:ext cx="1763192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7056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10832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정보구조 &amp; 와이어프레임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17056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10832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디자인 시스템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17056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10832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디자인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17056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10832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&amp; 사용성 테스트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56903" y="1700784"/>
            <a:ext cx="2494712" cy="3730752"/>
          </a:xfrm>
          <a:prstGeom prst="roundRect">
            <a:avLst>
              <a:gd name="adj" fmla="val 2932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22663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422663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</a:t>
            </a:r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13–15주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422663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422663" y="3328416"/>
            <a:ext cx="1763192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22663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916439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레이아웃 설계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422663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916439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제작 &amp; 인쇄 데이터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422663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A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916439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&amp; 아카이빙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" y="561441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중간 발표 · 12주차 사용성 테스트 리뷰 · 14주차 인쇄 데이터 마감이 세 개의 검증점입니다.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개의 검증점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시점을 통과하지 못하면 다음 단계로 넘어갈 수 없습니다.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3393338" cy="3749040"/>
          </a:xfrm>
          <a:prstGeom prst="roundRect">
            <a:avLst>
              <a:gd name="adj" fmla="val 2156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08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42416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2416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검증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15분 발표로 문제 정의와 서비스 컨셉의 설득력을 검증한다. 여기서 컨셉이 확정되어야 9주차부터 화면 작업에 들어갈 수 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42416" y="4882896"/>
            <a:ext cx="2588666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20%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99178" y="1719072"/>
            <a:ext cx="3393338" cy="3749040"/>
          </a:xfrm>
          <a:prstGeom prst="roundRect">
            <a:avLst>
              <a:gd name="adj" fmla="val 2156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1514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801514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사용성 테스트 리뷰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1514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검증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1514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결과를 리뷰해 화면과 플로우의 문제를 드러낸다. 여기서 나온 수정 사항이 13주차 패널 내용의 근거가 된다.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1514" y="4882896"/>
            <a:ext cx="2588666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1514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 20%에 반영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58277" y="1719072"/>
            <a:ext cx="3393338" cy="3749040"/>
          </a:xfrm>
          <a:prstGeom prst="roundRect">
            <a:avLst>
              <a:gd name="adj" fmla="val 2156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0613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60613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데이터 마감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60613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 검증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60613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발주와 직결되므로 지연 시 감점하며 예외를 두지 않는다. CMYK · 300dpi · 도련 사양을 모두 만족해야 접수된다.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60613" y="4882896"/>
            <a:ext cx="2588666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60613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지연 시 감점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61441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이와 별도로 5주차 1차 크리틱 · 11주차 2차 크리틱 · 14주차 최종 크리틱이 운영됩니다.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180분은 이렇게 씁니다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· 실습과 크리틱 60%. 만들면서 배우는 구조입니다.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3939504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76272"/>
            <a:ext cx="339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70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145536"/>
            <a:ext cx="393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56432"/>
            <a:ext cx="412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이론과 사례 분석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7600" y="2029968"/>
            <a:ext cx="3376718" cy="914400"/>
          </a:xfrm>
          <a:prstGeom prst="roundRect">
            <a:avLst>
              <a:gd name="adj" fmla="val 8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1920" y="2176272"/>
            <a:ext cx="28280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60</a:t>
            </a:r>
            <a:pPr algn="l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07600" y="3145536"/>
            <a:ext cx="3376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6160" y="3456432"/>
            <a:ext cx="3559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자리에서 만들기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12334" y="2029968"/>
            <a:ext cx="2251145" cy="914400"/>
          </a:xfrm>
          <a:prstGeom prst="roundRect">
            <a:avLst>
              <a:gd name="adj" fmla="val 8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6654" y="2176272"/>
            <a:ext cx="17025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12334" y="3145536"/>
            <a:ext cx="22511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0894" y="3456432"/>
            <a:ext cx="2434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· 교수 피드백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91495" y="2029968"/>
            <a:ext cx="96012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01223" y="2176272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161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</a:t>
            </a:r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91495" y="31455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랩업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00055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안내와 정리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339333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종료 시 다음 주 실습 과제를 공지합니다. 제출 마감은 다음 수업 24시간 전입니다.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99178" y="4626864"/>
            <a:ext cx="339333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9178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99178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· 11 · 14주차는 전원 크리틱입니다. 그 외 주차는 순회 지도와 조별 크리틱으로 운영합니다.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58277" y="4626864"/>
            <a:ext cx="339333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8277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58277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주제 상담은 1:1로 진행합니다. 20명 기준 한 명당 10분을 배정합니다.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  ·  PHASE 1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서비스디자인 개관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운영·평가 기준 안내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서비스디자인의 정의와 산업 사례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패널의 목표와 심사 관점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문장으로 적고, 레퍼런스 전시 패널 5점을 수집해 무엇이 읽히는지 분석한다.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 · 레퍼런스 전시 패널 5점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  ·  PHASE 1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설계와 주제 후보 도출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발견의 출발점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 방법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 초안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스코핑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3안을 근거 자료와 함께 정리하고, 1:1 주제 상담을 진행한다.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 + 근거 자료 · 1:1 주제 상담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  ·  PHASE 1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리서치 실습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설계와 질문 유형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관찰·섀도잉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기록과 윤리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대상자 섭외 전략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69664"/>
            <a:ext cx="6309360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70064" y="1572768"/>
            <a:ext cx="4181551" cy="1883664"/>
          </a:xfrm>
          <a:prstGeom prst="roundRect">
            <a:avLst>
              <a:gd name="adj" fmla="val 388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가이드를 작성하고 대상자 2인 이상을 실제로 인터뷰한다.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70064" y="3694176"/>
            <a:ext cx="4181551" cy="1920240"/>
          </a:xfrm>
          <a:prstGeom prst="roundRect">
            <a:avLst>
              <a:gd name="adj" fmla="val 381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 · 인터뷰 기록 2건 이상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합성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04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 작성 실습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 안에 퍼소나와 저니맵을 완성한다. 집으로 가져가지 않는다.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1~2인 · 저니맵 1점 (수업 중 제작 완료)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  ·  PHASE 2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스테이트먼트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문장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 질문 전환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 조정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3문장과 HMW 10개를 도출하고 1차 크리틱을 받는다.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 · HMW 10개 · 1차 크리틱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  ·  PHASE 2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아이디에이션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발산 기법 — 브레인라이팅 · SCAMPER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 평가 매트릭스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69664"/>
            <a:ext cx="6309360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70064" y="1572768"/>
            <a:ext cx="4181551" cy="1883664"/>
          </a:xfrm>
          <a:prstGeom prst="roundRect">
            <a:avLst>
              <a:gd name="adj" fmla="val 388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20안을 만든 뒤 평가 매트릭스로 3안까지 압축한다.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70064" y="3694176"/>
            <a:ext cx="4181551" cy="1920240"/>
          </a:xfrm>
          <a:prstGeom prst="roundRect">
            <a:avLst>
              <a:gd name="adj" fmla="val 381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 → 컨셉 3안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  ·  PHASE 2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 구조화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07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 프로포지션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터치포인트와 IoT 연동 시나리오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 1점을 작성하고 중간 발표 자료를 구성한다.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 1점 · 중간 발표 자료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  ·  PHASE 2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57055" y="188366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컨셉 발표 15분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피드백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스토리라인 1차 구성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 받은 피드백을 패널 스토리보드에 즉시 반영한다.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(평가 20%) · 패널 스토리보드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  ·  PHASE 3 개발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정보구조 &amp; 와이어프레임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설계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플로우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저충실도 와이어프레임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69664"/>
            <a:ext cx="6309360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70064" y="1572768"/>
            <a:ext cx="4181551" cy="1883664"/>
          </a:xfrm>
          <a:prstGeom prst="roundRect">
            <a:avLst>
              <a:gd name="adj" fmla="val 388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3개를 정하고 와이어프레임 12화면 이상을 그린다.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70064" y="3694176"/>
            <a:ext cx="4181551" cy="1920240"/>
          </a:xfrm>
          <a:prstGeom prst="roundRect">
            <a:avLst>
              <a:gd name="adj" fmla="val 381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 · 와이어프레임 12화면 이상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  ·  PHASE 3 개발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디자인 시스템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10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컬러·타이포 스케일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컴포넌트와 상태 정의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라이브러리 구성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토큰을 정리하고 재사용 가능한 컴포넌트 세트를 구축한다.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 · Figma 컴포넌트 세트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  ·  PHASE 3 개발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디자인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화면 고충실도 디자인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위계와 정렬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대비 점검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8~12개를 완성하고 2차 크리틱을 받는다.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 · 2차 크리틱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  ·  PHASE 3 개발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&amp; 사용성 테스트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인터랙션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시나리오 설계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진행과 기록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69664"/>
            <a:ext cx="6309360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70064" y="1572768"/>
            <a:ext cx="4181551" cy="1883664"/>
          </a:xfrm>
          <a:prstGeom prst="roundRect">
            <a:avLst>
              <a:gd name="adj" fmla="val 388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프로토타입을 연결하고 5인 사용성 테스트를 실시해 결과를 정리한다.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70064" y="3694176"/>
            <a:ext cx="4181551" cy="1920240"/>
          </a:xfrm>
          <a:prstGeom prst="roundRect">
            <a:avLst>
              <a:gd name="adj" fmla="val 381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1식 · 사용성 테스트 결과 리포트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  ·  PHASE 4 전달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레이아웃 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986784" cy="4041648"/>
          </a:xfrm>
          <a:prstGeom prst="roundRect">
            <a:avLst>
              <a:gd name="adj" fmla="val 1835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4A1C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13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패널의 정보 위계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가독성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그리드와 여백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스토리텔링 순서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3456432"/>
            <a:ext cx="6540703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기준 패널 시안 2안을 만들고 축소 출력으로 가독성을 검토한다.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4590288"/>
            <a:ext cx="6540703" cy="1024128"/>
          </a:xfrm>
          <a:prstGeom prst="roundRect">
            <a:avLst>
              <a:gd name="adj" fmla="val 714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시안 2안 (B0) · 축소 출력 검토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  ·  PHASE 4 전달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제작 &amp; 인쇄 데이터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57055" y="188366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300dpi 이미지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 여백과 도련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사양 확정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크리틱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5274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1034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데이터를 확정해 제출하고 출력을 발주한다. 마감 예외 없음.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70469" y="2816352"/>
            <a:ext cx="3381146" cy="2798064"/>
          </a:xfrm>
          <a:prstGeom prst="roundRect">
            <a:avLst>
              <a:gd name="adj" fmla="val 2614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36229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 (마감) · 출력 발주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  ·  PHASE 4 전달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&amp; 아카이빙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기반 최종 발표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시뮬레이션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정리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169664"/>
            <a:ext cx="6309360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70064" y="1572768"/>
            <a:ext cx="4181551" cy="1883664"/>
          </a:xfrm>
          <a:prstGeom prst="roundRect">
            <a:avLst>
              <a:gd name="adj" fmla="val 388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앞에서 최종 발표를 진행하고 포트폴리오 아카이브를 정리한다.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70064" y="3694176"/>
            <a:ext cx="4181551" cy="1920240"/>
          </a:xfrm>
          <a:prstGeom prst="roundRect">
            <a:avLst>
              <a:gd name="adj" fmla="val 381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(평가 25%) · 포트폴리오 PDF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제출 · 학기 종료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평가와 운영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어떤 기준으로 평가하는지, 무엇을 준비해야 하는지 첫 주에 모두 공개합니다.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배점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항목 · 합계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70432" y="1737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· 참여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2011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및 크리틱 참여도. 3회 이상 결석 시 학칙에 따라 처리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0" y="1847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주차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25535" y="1883664"/>
            <a:ext cx="2103120" cy="128016"/>
          </a:xfrm>
          <a:prstGeom prst="roundRect">
            <a:avLst>
              <a:gd name="adj" fmla="val 21429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25535" y="1883664"/>
            <a:ext cx="841248" cy="128016"/>
          </a:xfrm>
          <a:prstGeom prst="roundRect">
            <a:avLst>
              <a:gd name="adj" fmla="val 2142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74375" y="17739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688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산출물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2633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설계의 타당성, 퍼소나·저니맵의 근거 충실도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2–5주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25535" y="2505456"/>
            <a:ext cx="2103120" cy="128016"/>
          </a:xfrm>
          <a:prstGeom prst="roundRect">
            <a:avLst>
              <a:gd name="adj" fmla="val 21429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5535" y="2505456"/>
            <a:ext cx="1682496" cy="128016"/>
          </a:xfrm>
          <a:prstGeom prst="roundRect">
            <a:avLst>
              <a:gd name="adj" fmla="val 2142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74375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290779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09067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" y="29809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70432" y="32552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정의의 명료성, 서비스 컨셉의 설득력, 발표 구성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3090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25535" y="3127248"/>
            <a:ext cx="2103120" cy="128016"/>
          </a:xfrm>
          <a:prstGeom prst="roundRect">
            <a:avLst>
              <a:gd name="adj" fmla="val 21429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25535" y="3127248"/>
            <a:ext cx="1682496" cy="128016"/>
          </a:xfrm>
          <a:prstGeom prst="roundRect">
            <a:avLst>
              <a:gd name="adj" fmla="val 2142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74375" y="30175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40080" y="3529584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70432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7043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디자인 품질, 디자인 시스템 일관성, 사용성 테스트 반영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37124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625535" y="3749040"/>
            <a:ext cx="2103120" cy="128016"/>
          </a:xfrm>
          <a:prstGeom prst="roundRect">
            <a:avLst>
              <a:gd name="adj" fmla="val 21429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25535" y="3749040"/>
            <a:ext cx="1682496" cy="128016"/>
          </a:xfrm>
          <a:prstGeom prst="roundRect">
            <a:avLst>
              <a:gd name="adj" fmla="val 2142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74375" y="363931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40080" y="415137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43342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70432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패널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70432" y="44988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위계와 가독성, 스토리텔링, 인쇄 사양 준수, 전시 완성도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58000" y="4334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25535" y="4370832"/>
            <a:ext cx="2103120" cy="128016"/>
          </a:xfrm>
          <a:prstGeom prst="roundRect">
            <a:avLst>
              <a:gd name="adj" fmla="val 21429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25535" y="4370832"/>
            <a:ext cx="2103120" cy="128016"/>
          </a:xfrm>
          <a:prstGeom prst="roundRect">
            <a:avLst>
              <a:gd name="adj" fmla="val 21429"/>
            </a:avLst>
          </a:prstGeom>
          <a:solidFill>
            <a:srgbClr val="FF4A1C"/>
          </a:solidFill>
          <a:ln w="12700">
            <a:solidFill>
              <a:srgbClr val="FF4A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74375" y="426110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640080" y="477316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" y="49560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70432" y="4846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70432" y="5120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PDF 정리 상태 및 재사용 가능성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85800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625535" y="4992624"/>
            <a:ext cx="2103120" cy="128016"/>
          </a:xfrm>
          <a:prstGeom prst="roundRect">
            <a:avLst>
              <a:gd name="adj" fmla="val 21429"/>
            </a:avLst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25535" y="4992624"/>
            <a:ext cx="420624" cy="128016"/>
          </a:xfrm>
          <a:prstGeom prst="roundRect">
            <a:avLst>
              <a:gd name="adj" fmla="val 2142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774375" y="48828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640080" y="55046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배점이 가장 높은 항목은 최종 패널 25%입니다. 다만 리서치 20 · 중간 발표 20 · 디자인 완성도 20을 합한 60%가 학기 중 과정에 배정되어 있어, 마지막 결과물만으로는 학점이 나오지 않습니다.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RUBRIC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 기준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평가 항목에 아래 4단계 루브릭을 공통으로 적용합니다.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2480996" cy="2286000"/>
          </a:xfrm>
          <a:prstGeom prst="roundRect">
            <a:avLst>
              <a:gd name="adj" fmla="val 32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2412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탁월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완성도 · 독창성을 모두 충족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0260" y="1719072"/>
            <a:ext cx="2480996" cy="2286000"/>
          </a:xfrm>
          <a:prstGeom prst="roundRect">
            <a:avLst>
              <a:gd name="adj" fmla="val 320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3430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83430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3430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프로세스는 충실하나 완성도가 일부 미흡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0440" y="1719072"/>
            <a:ext cx="2480996" cy="2286000"/>
          </a:xfrm>
          <a:prstGeom prst="roundRect">
            <a:avLst>
              <a:gd name="adj" fmla="val 320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64448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4448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이행은 했으나 근거가 빈약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619" y="1719072"/>
            <a:ext cx="2480996" cy="2286000"/>
          </a:xfrm>
          <a:prstGeom prst="roundRect">
            <a:avLst>
              <a:gd name="adj" fmla="val 320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4667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AAF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9454667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54667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누락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10911535" cy="1426464"/>
          </a:xfrm>
          <a:prstGeom prst="roundRect">
            <a:avLst>
              <a:gd name="adj" fmla="val 5128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감점 규정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4809744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패널 인쇄 데이터 마감은 출력 일정과 직결되므로 예외를 두지 않습니다.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지연 제출 시 최종 패널 항목에서 감점하며, 출력 발주가 불가능해지면 전시 참여 자체가 어려워집니다.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 환경과 준비물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25460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개강 전 준비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0704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 — 교육 플랜(무료) 신청, 1주차 전 완료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— Figma가 원활히 동작하는 사양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문장으로 적어 올 것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전시 패널 5점 수집 (선배 졸업전시·공모전 등)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대상자 후보 리스트 — 3주차에 실제 섭외로 이어집니다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7016" y="1664208"/>
            <a:ext cx="5254600" cy="3584448"/>
          </a:xfrm>
          <a:prstGeom prst="roundRect">
            <a:avLst>
              <a:gd name="adj" fmla="val 204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7640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환경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17640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인원 20명 내외 · 개인 프로젝트 기반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실습실 — 매 수업 실습과 크리틱을 병행합니다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A0 출력 협력업체 — 14주차 발주, 비용과 일정은 별도 공지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결석 3회 이상은 학칙에 따라 처리됩니다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인원이 30명을 넘으면 5·11주차 전원 크리틱을 조별로 전환합니다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35838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사용법 자체는 수업에서 가르치지 않습니다. Figma 기초가 필요한 경우 1주차에 별도 워밍업 세션을 안내합니다.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345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· 서비스디자인 · 15주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8255" y="822960"/>
            <a:ext cx="4023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주까지 해올 것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734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07008" y="26974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각각 한 문장으로 적어 온다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009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7008" y="32644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전시 패널 5점을 수집하고, 무엇이 먼저 읽혔는지 메모한다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07008" y="3831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계정을 만들고 교육 플랜을 신청한다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73168"/>
            <a:ext cx="694944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9262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주제가 아직 없어도 괜찮습니다. 2주차에 후보 3안을 함께 좁혀 나갑니다.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원광대학교 2026-2 · 포트폴리오 · 서비스디자인 · 학부 3학년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원광대학교 2026-2 · 포트폴리오 · 서비스디자인 (학부 3학년)</dc:title>
  <dc:subject>주 3시간 × 15주 실습형 · 졸업 전시 패널 제작 커리큘럼 강의자료</dc:subject>
  <dc:creator>MIN.D</dc:creator>
  <cp:lastModifiedBy>MIN.D</cp:lastModifiedBy>
  <cp:revision>1</cp:revision>
  <dcterms:created xsi:type="dcterms:W3CDTF">2026-08-25T23:08:05Z</dcterms:created>
  <dcterms:modified xsi:type="dcterms:W3CDTF">2026-08-25T23:08:05Z</dcterms:modified>
</cp:coreProperties>
</file>