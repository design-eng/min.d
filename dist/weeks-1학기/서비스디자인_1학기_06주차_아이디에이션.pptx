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오늘 가장 많이 듣는 말은 '20개는 못 내겠다'이다. 못 내는 이유는 상상력이 아니라 첫 3개에서 평가를 시작하기 때문이다. 발산과 수렴을 시간으로 확실히 잘라 주는 것이 오늘 운영의 전부다.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타이머를 반드시 쓴다. 브레인라이팅은 3분씩 끊어야 작동하고, 시간이 남으면 오히려 아이디어가 줄어든다. 실습 1과 2 사이에 평가를 끼워 넣지 말 것 — 20안이 다 나온 뒤에 평가한다.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30분 구간. 규칙을 먼저 세우고 기법을 준다. 순서를 바꾸면 기법만 흉내 내고 검열은 그대로다.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이 슬라이드를 실습 내내 화면에 띄워 둔다. 조별로 '안 될 것 같은데'가 나오면 다른 사람이 지적하게 하면 분위기가 만들어진다.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실제로는 4인 조로 4바퀴만 돌려도 충분하다. 시간이 없으면 3분씩 4바퀴로 줄일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일곱 글자를 다 외우게 하지 말 것. '빼고 · 더하고 · 바꾸고 · 뒤집고' 네 동사만 남으면 충분하다.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2단계에서 '앞 사람 것을 안 읽고 자기 것만 쓰는' 학생이 나온다. 읽지 않으면 브레인라이팅이 아니라 각자 쓰기다. 순회하며 짚어 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20분 구간. 매트릭스 자체보다 '기준을 먼저 정한다'는 순서가 중요하다.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그림 실력을 걱정하는 학생이 매년 나온다. 강사가 칠판에 막대 인간으로 예시를 그려 보이면 바로 안심한다.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축을 학생이 직접 바꾸겠다고 하면 허용하되 세 개는 유지시킨다. 두 개면 변별이 안 되고 네 개면 시간이 모자란다.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3단계 '서로 다른 방향'이 핵심이다. 점수 상위 3개를 그냥 고르면 대개 같은 방향이 나온다. 방향이 겹치면 4위를 올리라고 지도할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오른쪽 첫 줄이 압도적으로 많다. '화면이 다른 것'과 '방향이 다른 것'을 구분해 예시로 보여 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탈락안을 버리는 학생이 많다. 발표에서 비교 근거가 없으면 컨셉 설득력이 절반으로 떨어진다고 미리 말해 둘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3안을 끝까지 세 개로 들고 가려는 학생이 있다. 8주차 발표까지 세 개를 유지하면 어느 것도 깊어지지 않는다. 하나를 고르되 나머지를 버리는 게 아니라 '비교 근거로 쓴다'고 말해 주면 놓는다.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94015" y="713232"/>
            <a:ext cx="36576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2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06</a:t>
            </a:r>
            <a:endParaRPr lang="en-US" sz="13200" dirty="0"/>
          </a:p>
        </p:txBody>
      </p:sp>
      <p:sp>
        <p:nvSpPr>
          <p:cNvPr id="7" name="Shape 5"/>
          <p:cNvSpPr/>
          <p:nvPr/>
        </p:nvSpPr>
        <p:spPr>
          <a:xfrm>
            <a:off x="941832" y="877824"/>
            <a:ext cx="0" cy="603504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01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06  ·  PHASE 2 정의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85953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아이디에이션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메인 HMW 하나에서 20안을 펼치고,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근거를 가지고 3안까지 줄입니다.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274320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6451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45920" y="46451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학부 3학년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45920" y="50292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3시간 — 강의 30% · 실습 70% — 오늘은 양이 질을 만듭니다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4132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제출물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645920" y="541324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컨셉 스케치 20안 → 컨셉 3안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TODAY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오늘의 3시간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30% · 실습 70% — 오늘은 양이 질을 만듭니다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8249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19072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00:00–00:15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377440" y="1719072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메인 HMW 확인 — 없는 사람 즉시 확정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265615" y="1719072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 점검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29383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312126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00:15–00:45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377440" y="2312126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 — 발산의 규칙과 기법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265615" y="2312126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+ 시연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2886891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05179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00:45–01:30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377440" y="2905179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1 — 브레인라이팅 · SCAMPER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65615" y="2905179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+ 조별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3479945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498233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01:30–01:40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377440" y="3498233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휴식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072999"/>
            <a:ext cx="10911535" cy="7315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091287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01:40–02:00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377440" y="4091287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 — 컨셉 스케치와 평가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65615" y="4091287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666053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684341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02:00–02:40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377440" y="4684341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2 — 스케치 20안 → 평가 매트릭스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265615" y="4684341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워크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" y="525910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277394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02:40–03:00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377440" y="5277394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3안 선정과 근거 공유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265615" y="5277394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조별 크리틱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5852160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6주차 아이디에이션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발산 — 판단을 미루는 시간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아이디어가 안 나오는 이유는 대부분 상상력이 아니라 자기 검열입니다.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031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2395728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96896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발산하는 20분 동안에는</a:t>
            </a:r>
            <a:endParaRPr lang="en-US" sz="3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'그건 안 될 것 같은데'를 말하지 않습니다.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40080" y="4078224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140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실현 가능성 · 예산 · 기술은 수렴 단계의 기준입니다. 발산 중에 끌어오면 아이디어는 이미 아는 것 주변에만 머뭅니다. 안 될 것 같은 아이디어가 될 것 같은 아이디어의 재료가 되는 경우가 훨씬 많습니다.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WEEK 06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브레인라이팅 6-3-5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말하지 않고 씁니다. 목소리 큰 사람에게 끌려가지 않는 발산법입니다.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6명 · 3안 · 5분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각자 종이에 자기 HMW를 적고 5분 동안 아이디어 3개를 씁니다. 그림도 좋고 단어도 좋습니다. 말은 하지 않습니다.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옆으로 넘기기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5분이 지나면 종이를 옆 사람에게 넘깁니다. 받은 사람은 위에 적힌 3개를 읽고, 그것을 발판 삼아 새로운 3개를 씁니다.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여섯 바퀴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여섯 번 돌면 종이 한 장에 18개가 쌓입니다. 뒤로 갈수록 앞의 것을 비틀게 되므로 후반 아이디어가 더 멉니다.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조가 4명이면 4-3-5로 조정합니다. 인원보다 '읽고 이어 쓴다'는 구조가 핵심입니다.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6주차 아이디에이션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P.02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SCAMPER — 막혔을 때 꺼내는 일곱 개 손잡이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빈 종이를 노려보는 대신 기존 아이디어에 동사를 걸어 비틉니다.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빼기 · 더하기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S(대체) · C(결합) · A(응용). 대기 화면을 없애면? 예약과 결제를 하나로 합치면? 다른 업종의 방식을 가져오면?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바꾸기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M(변형) · P(용도 변경). 알림을 소리 대신 진동으로? 대기표를 순번이 아니라 시간으로? 같은 것을 다른 곳에 쓰면?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덜어내기 · 뒤집기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E(제거) · R(역발상). 안내를 아예 없애면 무슨 일이 생기나? 사용자가 기다리는 대신 병원이 기다리게 하면?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마지막 R(역발상)에서 가장 멀리 나갑니다. 20안 중 마지막 5개는 R로만 채워 보세요.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6주차 아이디에이션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P.03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실습 1 · 브레인라이팅과 비틀기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45분 · 개인 + 조별 — 20안의 재료를 확보합니다.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1051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5분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HMW 적기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669280" y="1810512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A3 종이 맨 위에 자기 메인 HMW를 크게 적습니다. 조원이 읽을 수 있어야 하므로 줄임말을 쓰지 않습니다.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688336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77977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20분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8600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브레인라이팅 4바퀴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0" y="2779776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5분씩 4바퀴. 받은 종이의 앞 아이디어를 반드시 읽고 시작합니다. 말은 하지 않습니다.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49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12분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2860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SCAMPER로 비틀기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0" y="3749040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자기 종이를 돌려받아 빼고 · 더하고 · 바꾸고 · 뒤집기 네 동사를 걸어 5개를 더 만듭니다.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626864"/>
            <a:ext cx="10911535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71830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8분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28600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중복 정리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669280" y="4718304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말을 다르게 쓴 것을 합칩니다. 20개 미만이면 R(역발상)로 부족한 만큼 채웁니다.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6주차 아이디에이션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수렴 — 기준을 먼저 정한다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고르고 나서 이유를 붙이면 취향이고, 기준을 정하고 고르면 설계입니다.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02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SKETCH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컨셉 스케치 — 3분 안에 알아보게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 그린 그림이 아니라 남이 이해하는 그림이 목표입니다.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한 줄 제목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그림 위에 아이디어를 한 문장으로 적습니다. 그림만 있으면 일주일 뒤 자기도 못 알아봅니다.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장면 하나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화면을 그리지 말고 장면을 그립니다. 누가 · 어디서 · 무엇을 하고 있는지. 막대 인간으로 충분합니다.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달라지는 것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아이디어가 있으면 무엇이 달라지는지 화살표 하나로 표시합니다. 전 · 후를 나란히 그려도 좋습니다.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20안 전부를 이 형식으로 그리지 않습니다. 매트릭스로 8안까지 줄인 뒤 8장만 제대로 그립니다.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6주차 아이디에이션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MATRIX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평가 매트릭스 — 세 축으로 거릅니다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축은 바꿔도 되지만, 반드시 실습 전에 정합니다.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사용자 영향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87552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누구에게 얼마나 달라지는가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87552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퍼소나의 문제 지점에 직접 닿는가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일부에게 크게 vs 전체에게 조금 — 둘 다 유효합니다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닿지 않으면 아무리 참신해도 이번 학기에는 버립니다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4주차 저니맵을 옆에 펼쳐 놓고 표시하세요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86986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4458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실현 가능성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34458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15주 안에 만들 수 있는가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34458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4458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Figma로 화면과 프로토타입을 만들 수 있는 범위인가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하드웨어나 실제 데이터 연동이 필요하면 시안 수준으로 대체 가능한가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불가능이 아니라 '이번 학기 안에'가 기준입니다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여기서 0점이면 아이디어가 아니라 규모가 문제입니다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3893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81365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차별성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81365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 있는 것과 다른가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481365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81365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서비스를 검색해 실제로 확인합니다 — 짐작하지 않습니다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것이 있어도 '누구에게' 다르면 유효합니다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완전히 새로울 필요는 없습니다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전시 패널에서 심사위원이 가장 먼저 묻는 축입니다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50468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614416"/>
            <a:ext cx="109115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축 5점 만점으로 20안을 채점해 상위 8안을 남기고, 8안을 스케치한 뒤 3안까지 줄입니다.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6주차 아이디에이션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P.06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실습 2 · 20안에서 3안으로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40분 · 개인 — 오늘의 결과물을 여기서 만듭니다.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1051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20안 채점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669280" y="1810512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축에 각각 1~5점. 빠르게 매깁니다. 고민이 길어지면 이미 아는 답을 방어하는 중입니다.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688336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77977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18분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8600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상위 8안 스케치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0" y="2779776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8장을 각각 2분씩. 한 줄 제목 · 장면 · 달라지는 것 세 요소를 넣습니다.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49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7분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2860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3안 압축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0" y="3749040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8안을 놓고 서로 다른 방향 3개를 고릅니다. 비슷한 것 3개를 고르면 8주차 비교가 되지 않습니다.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626864"/>
            <a:ext cx="10911535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71830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5분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28600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고른 이유 쓰기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669280" y="4718304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3안 각각에 '어느 축에서 강한지' 한 줄. 탈락한 5안에도 탈락 이유 한 줄씩 적습니다.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6주차 아이디에이션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P.07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CHECK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3안이 잘 골라졌는지 확인하는 법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조별 크리틱 20분 동안 서로에게 이것만 확인해 줍니다.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27632"/>
            <a:ext cx="5254600" cy="2761488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90195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잘 골라진 3안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97016" y="1627632"/>
            <a:ext cx="5254600" cy="2761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99352" y="190195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B9B9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다시 골라야 하는 3안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42416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방향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42416" y="26883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안이 각각 다른 곳을 건드린다 — 하나는 예방, 하나는 대체, 하나는 전환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699352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방향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99352" y="26883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안이 같은 아이디어의 화면 변형이다 — 앱 A안 · B안 · C안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42416" y="3054096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99352" y="3054096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42416" y="3346704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안이 저니맵의 서로 다른 문제 지점에서 나왔다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699352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99352" y="3346704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안 모두 같은 지점에서 나왔고 나머지 지점은 비어 있다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42416" y="3712464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99352" y="3712464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2416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42416" y="400507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이 세 개인지 매트릭스를 가리키며 말할 수 있다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699352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99352" y="400507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"이게 제일 나아 보여서" 외에 할 말이 없다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6주차 아이디에이션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P.08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SUBMIT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제출물 체크리스트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7주차 블루프린트는 메인 컨셉 1안으로만 만듭니다.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53312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브레인라이팅 종이 사진이 있다 (원본 그대로)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53312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아이디어가 중복 정리 후 20개 이상이다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53312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매트릭스에 세 축과 20안 점수가 다 있다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53312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상위 8안 스케치가 있고 각각 한 줄 제목이 붙어 있다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97016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71336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71336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10248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컨셉 3안이 A4 한 장씩 정리되어 있다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97016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71336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71336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10248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3안이 서로 다른 방향이고 그 차이를 한 줄로 설명했다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97016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71336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71336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10248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탈락한 5안에 탈락 이유가 적혀 있다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97016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71336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71336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010248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메인 컨셉 1안에 표시와 선택 근거가 있다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0080" y="4736592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846320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탈락한 안을 지우지 마세요. 8주차 발표에서 '왜 이것이 아니라 저것인가'의 근거가 됩니다.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6주차 아이디에이션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P.09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HOMEWORK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과제와 다음 주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7주차는 오늘 고른 3안 중 하나를 서비스로 구조화합니다.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1993392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26464" y="1810512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컨셉 3안 정리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26464" y="212140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안을 A4 한 장씩. 한 줄 설명 · 스케치 · 누구에게 무엇이 달라지는지 세 가지를 담습니다.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3017520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26464" y="2834640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평가 매트릭스 기록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26464" y="3145536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20안을 어떤 기준으로 걸렀는지 표로 남깁니다. 탈락한 안도 지우지 말고 이유를 적어 두세요.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767328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9264" y="4041648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26464" y="3858768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메인 컨셉 1안 선택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26464" y="4169664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3안 중 하나에 표시합니다. 7주차 블루프린트는 이 하나로만 만듭니다. 나머지 2안은 8주차 발표에서 비교 근거로 씁니다.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809744"/>
            <a:ext cx="630936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901184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— 7주차 수업 시작 전까지 · 클래스룸 업로드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51776" y="1719072"/>
            <a:ext cx="4199839" cy="380390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35824" y="1993392"/>
            <a:ext cx="34317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WEEK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735824" y="2286000"/>
            <a:ext cx="34317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07주차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735824" y="2743200"/>
            <a:ext cx="34317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서비스 컨셉 구조화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7735824" y="3346704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35824" y="3493008"/>
            <a:ext cx="3431743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밸류 프로포지션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블루프린트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터치포인트 설계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 발표 자료 구성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735824" y="4700016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35824" y="4809744"/>
            <a:ext cx="34317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준비할 것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35824" y="5065776"/>
            <a:ext cx="3431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컨셉 3안 · 평가 매트릭스 · 메인 컨셉 1안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6주차 아이디에이션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P.10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MIN.D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서비스디자인 · 6주차 아이디에이션</dc:title>
  <dc:subject>원광대학교 · 학부 3학년 · 주 3시간 × 15주 · 리서치에서 컨셉 정의까지 (1학기용)</dc:subject>
  <dc:creator>MIN.D</dc:creator>
  <cp:lastModifiedBy>MIN.D</cp:lastModifiedBy>
  <cp:revision>1</cp:revision>
  <dcterms:created xsi:type="dcterms:W3CDTF">2026-10-06T11:49:44Z</dcterms:created>
  <dcterms:modified xsi:type="dcterms:W3CDTF">2026-10-06T11:49:44Z</dcterms:modified>
</cp:coreProperties>
</file>