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원자료가 없으면 오늘 아무것도 만들 수 없다. 첫 15분에 카드 수를 실제로 세어 확인하고, 부족한 학생은 즉시 옆 사람 자료로 실습에 참여시키되 과제로 자기 자료를 보완하게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오늘은 강의를 짧게 끊고 실습을 길게 준다. 어피니티 50분은 짧게 느껴지지만, 시간을 넉넉히 주면 오히려 완성하지 못한다. 타이머를 화면에 띄워두고 진행할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30분 구간. 강사가 자기 카드 10장으로 시연하는 것이 설명보다 빠르다.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학생 대부분이 카테고리를 먼저 정한다. 이 슬라이드를 실습 직전에 한 번 더 띄울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③에서 시간이 가장 많이 걸린다. 순회하며 명사 라벨을 발견하면 그 자리에서 문장으로 바꾸게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오른쪽이 '틀렸다'가 아니라 '다음 단계로 못 넘어간다'는 점을 짚을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20분 구간. 두 도구 모두 '보고서'가 아니라 '작업 도구'임을 강조.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퍼소나를 만들 때 스톡 사진과 MBTI를 채우느라 시간을 쓰는 학생이 많다. 04 장벽이 비어 있으면 그 퍼소나는 쓸모가 없다고 말해줄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왼쪽 예시는 3주차 관찰 기록에서 그대로 온 문장이라는 점을 강조. 원자료를 잘 남긴 학생이 여기서 유리해진다.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감정선을 '예쁘게' 그리려고 곡선을 다듬는 학생이 있다. 근거 있는 지점만 찍고 잇게 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03이 학생들이 가장 많이 놓치는 지점. '아무 일도 없는 구간'을 저니맵에서 지워버리는 경우가 많다.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'말하지 말고 손으로만'이 의외로 효과가 크다. 말로 설명하기 시작하면 자기 가설을 방어하게 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45분은 빠듯하다. 퍼소나를 2인 만들려는 학생은 1인으로 줄이게 하고, 남으면 과제로 돌린다.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체크리스트를 인쇄해 실습 중에 나눠주면 순회 지도가 훨씬 빨라진다.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[운영 메모]
인사이트 문장을 '사용자는 불편해했다' 수준으로 써 오는 경우가 대부분이다. 관찰과 해석이 한 문장에 다 들어가야 한다는 점을 예시로 보여줄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04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리서치 합성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흩어진 원자료를 묶어 패턴을 찾고,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퍼소나와 저니맵을 수업 시간 안에 완성합니다.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30% · 실습 70% — 오늘은 만든 것을 그대로 가져갑니다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 1~2인 · 저니맵 1점 (수업 중 제작 완료)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30% · 실습 70% — 오늘은 만든 것을 그대로 가져갑니다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00:00–00:15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원자료 점검 — 카드 60장 확인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 확인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00:15–00:45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어피니티 다이어그램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시연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00:45–01:35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1 — 어피니티 다이어그램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265615" y="2905179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 + 순회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01:35–01:45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01:45–02:05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퍼소나와 사용자 여정맵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265615" y="4091287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02:05–02:50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2 — 퍼소나 + 저니맵 작성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02:50–03:00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상호 리뷰 / 과제 안내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조별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어피니티 다이어그램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60장의 카드를 앞에 놓고 시작합니다. 답을 정해두지 않는 것이 이 방법의 전부입니다.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103120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395728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596896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묶기 전에 해석하지 마세요.</a:t>
            </a:r>
            <a:endParaRPr lang="en-US" sz="3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34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카테고리는 데이터에서 올라옵니다.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4078224"/>
            <a:ext cx="9509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6000"/>
              </a:lnSpc>
              <a:buNone/>
            </a:pPr>
            <a:r>
              <a:rPr lang="en-US" sz="140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'접근성 / 편의성 / 심미성' 같은 이름을 먼저 정해놓고 카드를 나눠 담으면, 이미 알고 있던 것만 다시 확인하게 됩니다. 빈 책상 위에서 시작하세요.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WEEK 04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PROCESS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어피니티 4단계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안에 한 바퀴를 돕니다. 완벽하게 하려 하지 마세요.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펼치기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60장을 전지 위에 전부 펼칩니다. 읽으면서 분류하지 말고, 일단 눈으로 한 번 훑습니다.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묶기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"이건 저것과 비슷한데" 싶은 것을 붙여 나갑니다. 이유는 나중에 붙입니다. 3~7장짜리 묶음이 적당합니다.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이름 붙이기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묶음마다 이름을 답니다. '대기' 같은 명사가 아니라 '얼마나 남았는지 모른다' 같은 문장으로 답니다.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다시 묶기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붙은 묶음끼리 다시 묶습니다. 2~3개 큰 덩어리가 나오면 그것이 여러분 프로젝트의 뼈대입니다.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이름을 문장으로 다는 것이 핵심입니다. 명사로 달면 나중에 아무 의미도 남지 않습니다.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쓸모 있는 묶음과 아닌 묶음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카드로도 결과가 완전히 달라집니다.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27632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627632"/>
            <a:ext cx="5254600" cy="640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42416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쓸모 있는 묶음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6297016" y="1627632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699352" y="1901952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아무것도 남지 않는 묶음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42416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42416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"얼마나 기다려야 하는지 알 수 없다"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699352" y="24505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699352" y="26883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"대기"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1042416" y="3054096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699352" y="3054096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42416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42416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4건 · 관찰 2건에서 나온 카드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99352" y="31089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699352" y="3346704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1장, 한 사람의 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42416" y="3712464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699352" y="3712464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42416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1042416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문장으로 바로 옮길 수 있다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6699352" y="376732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699352" y="400507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할지 떠오르지 않는다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1042416" y="437083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699352" y="437083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042416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1042416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다른 사람이 봐도 같은 카드를 넣는다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699352" y="44256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699352" y="466344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본인만 이해하는 기준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퍼소나와 사용자 여정맵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묶음에서 나온 패턴을 사람과 시간이라는 두 형식으로 옮깁니다.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PERSONA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퍼소나에 무엇을 담는가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인구통계는 최소로. 나머지 네 가지가 실제로 쓰입니다.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맥락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사람이 어떤 상황에 놓여 있는가. 직업 · 동거 형태 · 하루 리듬 중 문제와 관련된 것만.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목표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무엇을 하려고 하는가. 서비스를 쓰는 것이 목적이 아니라, 그 뒤에 이루려는 일이 목표입니다.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행동 패턴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실제로 어떻게 하는가. 3주차 인터뷰의 '행동 질문'에서 나온 답이 여기 들어갑니다.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장벽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무엇이 막고 있는가. 어피니티 묶음 이름이 대부분 여기로 옮겨집니다.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이름과 사진은 기억을 돕는 장치일 뿐입니다. 없어도 됩니다 — 대신 인용문 한 줄을 넣으세요.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COMPARE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작업 도구인 퍼소나와 장식인 퍼소나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481328"/>
            <a:ext cx="5254600" cy="3419856"/>
          </a:xfrm>
          <a:prstGeom prst="rect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481328"/>
            <a:ext cx="5254600" cy="640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작업 도구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297016" y="1481328"/>
            <a:ext cx="5254600" cy="3419856"/>
          </a:xfrm>
          <a:prstGeom prst="rect">
            <a:avLst/>
          </a:prstGeom>
          <a:solidFill>
            <a:srgbClr val="F2F2F2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99352" y="1755648"/>
            <a:ext cx="44499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B9B9B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장식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42416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42416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2인 + 관찰에서 나온 실제 행동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699352" y="230428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출처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699352" y="2542032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"이런 사람이 있을 것 같다"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1042416" y="2907792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99352" y="2907792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2416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장벽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"검사실 위치를 두 번 물어봐야 했다"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699352" y="29626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장벽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699352" y="3200400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"디지털에 익숙하지 않음"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1042416" y="3566160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699352" y="3566160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2416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42416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 원문 그대로 한 줄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6699352" y="36210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인용문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6699352" y="3858768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없거나 지어낸 말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1042416" y="4224528"/>
            <a:ext cx="4449928" cy="7315"/>
          </a:xfrm>
          <a:prstGeom prst="rect">
            <a:avLst/>
          </a:prstGeom>
          <a:solidFill>
            <a:srgbClr val="D2D2D2"/>
          </a:solidFill>
          <a:ln w="12700">
            <a:solidFill>
              <a:srgbClr val="D2D2D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99352" y="4224528"/>
            <a:ext cx="4449928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42416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쓰임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42416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그릴 때 "이 사람이면?"으로 판단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699352" y="427939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쓰임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699352" y="4517136"/>
            <a:ext cx="44499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패널에 붙이고 다시 안 봄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JOURNEY MAP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저니맵의 다섯 개 층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가로축은 시간, 세로축은 이 다섯 가지입니다.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188720" y="1719072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단계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1188720" y="2029968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경험을 5~8개 구간으로 나눕니다. 3주차 관찰에서 적은 시간 기록이 여기서 쓰입니다.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357055" y="181051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가로축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40080" y="240670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571293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2571293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88720" y="2479853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행동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188720" y="2790749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단계에서 실제로 무엇을 하는가. 추측이 아니라 관찰한 것만 적습니다.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16748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333207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33207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1188720" y="324063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접점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1188720" y="355153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그때 무엇과 만나는가. 앱 · 안내문 · 직원 · 전화 · 공간.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40080" y="392826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0080" y="409285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409285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88720" y="4001414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감정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1188720" y="4312310"/>
            <a:ext cx="7498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높낮이로 그립니다. 3주차 인터뷰의 '감정 질문' 답이 여기 들어갑니다.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357055" y="4092854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12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4689043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40080" y="4853635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0080" y="4853635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88720" y="4762195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· 기회</a:t>
            </a:r>
            <a:endParaRPr lang="en-US" sz="1450" dirty="0"/>
          </a:p>
        </p:txBody>
      </p:sp>
      <p:sp>
        <p:nvSpPr>
          <p:cNvPr id="35" name="Text 33"/>
          <p:cNvSpPr/>
          <p:nvPr/>
        </p:nvSpPr>
        <p:spPr>
          <a:xfrm>
            <a:off x="1188720" y="5073091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감정이 떨어지는 지점에 표시합니다. 여기가 5주차 POV의 후보입니다.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4층 감정선과 5층 문제 표시가 없는 저니맵은 그냥 순서도입니다.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EMOTION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감정선은 이렇게 찍습니다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인상이 아니라 근거로 찍어야 5주차에 쓸 수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말에서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인터뷰에서 감정어가 나온 대목. "짜증났다" "불안했다" "그제서야 안심했다" — 그 발언이 어느 단계인지 찾아 표시합니다.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행동에서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 기록에서 망설임 · 반복 · 되돌아감이 있던 지점. 감정어가 없어도 행동이 말해 줍니다.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공백에서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아무 일도 안 일어나는 구간. 기다림과 무소식은 대개 가장 낮은 지점입니다. 빈 구간을 그냥 넘기지 마세요.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표시 옆에 근거가 된 카드 번호를 적어 두세요. 크리틱에서 반드시 물어봅니다.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1 · 어피니티 다이어그램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50분 · 개인 — 전지 위에서 손으로 진행합니다.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펼치기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카드 60장을 전지 위에 전부 펼칩니다. 이 단계에서 읽기만 하고 옮기지 않습니다.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묶기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것끼리 붙입니다. 말하지 말고 손으로만. 다 묶은 뒤 남는 카드가 있어도 괜찮습니다.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이름 붙이기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묶음마다 문장으로 이름을 답니다. 명사 한 단어는 금지. 최소 5개 묶음.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다시 묶기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이름 붙은 묶음끼리 2~3개 큰 덩어리로 다시 묶고, 사진을 찍어 둡니다.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 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실습 2 · 퍼소나와 저니맵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45분 · 개인 — 오늘 안에 완성합니다. 집으로 가져가지 않습니다.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퍼소나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큰 덩어리를 근거로 퍼소나 1인을 작성합니다. 맥락 · 목표 · 행동 패턴 · 장벽 네 칸을 채웁니다.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10분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단계 나누기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사람의 경험을 5~8개 단계로 나눠 가로로 배치합니다.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층 채우기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행동 · 접점 · 감정을 채웁니다. 감정 표시 옆에는 근거 카드 번호를 적습니다.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표시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감정이 가장 낮은 3곳에 표시합니다. 이것이 다음 주 POV의 후보입니다.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SUBMIT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제출물 체크리스트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 중 완성이 원칙입니다. 디지털화만 과제로 나갑니다.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14400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353312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다이어그램 사진이 있다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40080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14400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353312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묶음이 5개 이상이고 이름이 문장으로 달려 있다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353312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묶음 이름에 명사 한 단어짜리가 없다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40080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14400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353312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퍼소나에 맥락 · 목표 · 행동 패턴 · 장벽 네 칸이 다 있다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297016" y="175564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71336" y="189280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71336" y="189280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010248" y="175564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퍼소나에 인터뷰 원문 인용이 한 줄 이상 있다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297016" y="248716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71336" y="262432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71336" y="26243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7010248" y="248716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 단계가 5~8개다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297016" y="321868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571336" y="335584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571336" y="3355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7010248" y="321868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감정선이 있고 표시마다 근거 카드 번호가 적혀 있다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297016" y="3950208"/>
            <a:ext cx="5254600" cy="585216"/>
          </a:xfrm>
          <a:prstGeom prst="rect">
            <a:avLst/>
          </a:prstGeom>
          <a:solidFill>
            <a:srgbClr val="F2F2F2"/>
          </a:solidFill>
          <a:ln w="12700">
            <a:solidFill>
              <a:srgbClr val="F2F2F2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71336" y="4087368"/>
            <a:ext cx="310896" cy="310896"/>
          </a:xfrm>
          <a:prstGeom prst="ellipse">
            <a:avLst/>
          </a:prstGeom>
          <a:solidFill>
            <a:srgbClr val="F2F2F2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71336" y="40873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010248" y="3950208"/>
            <a:ext cx="4267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지점 3곳에 표시와 한 줄 설명이 있다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640080" y="4736592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080" y="4846320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감정선의 근거 번호가 비어 있으면 5주차 크리틱에서 그 지점은 근거 없는 것으로 봅니다.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04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5주차는 오늘 만든 저니맵에서 문제를 정의합니다.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저니맵 디지털화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수업에서 손으로 만든 저니맵을 Figma로 옮깁니다. 손으로 만든 원본 사진도 함께 제출하세요.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인사이트 문장 5개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어피니티 묶음마다 한 문장씩. '무엇을 관찰했고, 그래서 무엇을 알게 되었는가' 구조로 씁니다.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67328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69264" y="4041648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9264" y="4041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426464" y="3858768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지점 3곳 표시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426464" y="4169664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저니맵에서 감정이 가장 낮은 지점 3곳에 표시하고, 왜 거기가 무너지는지 한 줄씩 적습니다. 5주차 POV의 후보가 됩니다.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" y="4809744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901184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5주차 수업 시작 전까지 · 클래스룸 업로드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7351776" y="1719072"/>
            <a:ext cx="4199839" cy="409651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05주차</a:t>
            </a:r>
            <a:endParaRPr lang="en-US" sz="2600" dirty="0"/>
          </a:p>
        </p:txBody>
      </p:sp>
      <p:sp>
        <p:nvSpPr>
          <p:cNvPr id="29" name="Text 27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 스테이트먼트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POV 문장 만들기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HMW 질문으로 전환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문제의 크기 조정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크리틱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7735824" y="499262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완성된 저니맵 · 퍼소나 · 인사이트 문장 5개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4주차 리서치 합성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4주차 리서치 합성</dc:title>
  <dc:subject>원광대학교 · 학부 3학년 · 주 3시간 × 15주 · 리서치에서 컨셉 정의까지 (1학기용)</dc:subject>
  <dc:creator>MIN.D</dc:creator>
  <cp:lastModifiedBy>MIN.D</cp:lastModifiedBy>
  <cp:revision>1</cp:revision>
  <dcterms:created xsi:type="dcterms:W3CDTF">2026-10-06T13:04:16Z</dcterms:created>
  <dcterms:modified xsi:type="dcterms:W3CDTF">2026-10-06T13:04:16Z</dcterms:modified>
</cp:coreProperties>
</file>