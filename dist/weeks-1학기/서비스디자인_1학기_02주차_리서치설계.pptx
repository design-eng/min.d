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1주차 과제 제출 현황을 먼저 확인할 것. 미제출자는 오늘 상담에서 주제를 잡을 수 없으므로 별도로 시간을 잡아야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1:1 상담은 실습 시간(01:55–02:35)에 순회하며 병행하고, 02:35 이후에도 이어간다. 20명 기준 한 명당 2분으로는 부족하므로 다 쓴 학생부터 부르는 방식으로 운영할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40분 구간.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03을 고른 학생이 가장 위험하다. 자료는 풍부한데 인터뷰 대상이 없어 4주차 저니맵이 상상으로 채워지는 경우가 매년 나온다.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이 네 조건을 상담 체크리스트로 그대로 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학생 이름을 거론하지 말고 '작년에도 이런 경우가 있었다'는 식으로 말할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40분 구간. 실제 검색 화면을 띄워 시연하면 이해가 빠르다.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이 한 문장이 오늘 강의의 핵심. 판서해서 남길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03의 '왜 충분하지 않은가'가 차별점이 된다는 점을 강조. 대부분 경쟁 서비스를 나열만 하고 끝낸다.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AI가 만든 그럴듯한 가짜 통계가 패널에 올라오는 사고가 실제로 발생한다. 3차 자료 항목을 반드시 짚고 넘어갈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③과 ④를 섞어 쓰는 것이 가장 흔한 실수. 원문과 해석을 물리적으로 다른 칸에 적게 하는 것만으로 리서치 질이 올라간다.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실습 40분 구간. 칠판에 하나를 같이 그려 보이고 시작할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03이 핵심. 갈등 지점을 찾아낸 학생의 프로젝트가 결국 좋은 패널이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결과물은 이해관계자 맵 1점(사진 촬영 제출)과 인터뷰 대상 2인 + 섭외 경로. 4단계를 못 채운 학생은 3주차에 인터뷰를 못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점검 질문 셋을 학생이 스스로 던지게 하는 것이 목표. 상담에서 이 문장부터 읽어보게 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3주차에 실제 인터뷰를 하므로 대상자 확보가 안 된 학생은 진도가 막힌다. 상담에서 '접근 가능한가'와 '범위가 적정한가' 두 가지만은 반드시 확인할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발견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94015" y="713232"/>
            <a:ext cx="36576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2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13200" dirty="0"/>
          </a:p>
        </p:txBody>
      </p:sp>
      <p:sp>
        <p:nvSpPr>
          <p:cNvPr id="7" name="Shape 5"/>
          <p:cNvSpPr/>
          <p:nvPr/>
        </p:nvSpPr>
        <p:spPr>
          <a:xfrm>
            <a:off x="941832" y="877824"/>
            <a:ext cx="0" cy="603504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019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02  ·  PHASE 1 발견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194560"/>
            <a:ext cx="85953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리서치 설계와 주제 후보 도출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7863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관심 영역을 '연구할 수 있는 주제'로 바꿉니다.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오늘 이후로는 감이 아니라 근거로 말합니다.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443984"/>
            <a:ext cx="274320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6451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과목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645920" y="464515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학부 3학년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45920" y="50292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3시간 — 강의 45% · 실습과 상담 55%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54132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제출물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645920" y="541324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 후보 3안 + 근거 자료 · 1:1 주제 상담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발견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TODAY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오늘의 3시간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45% · 실습과 상담 55%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82496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19072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00:00–00:15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377440" y="1719072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지난주 과제 공유 — 관심 영역 3개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265615" y="1719072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조별 발표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229383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312126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00:15–00:55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377440" y="2312126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 — 문제는 어디서 발견되는가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265615" y="2312126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2886891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905179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00:55–01:05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377440" y="2905179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휴식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479945"/>
            <a:ext cx="10911535" cy="7315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498233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01:05–01:45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377440" y="3498233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2 — 데스크 리서치 방법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65615" y="3498233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+ 시연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4072999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091287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01:45–01:55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377440" y="4091287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휴식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4666053"/>
            <a:ext cx="10911535" cy="7315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684341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01:55–02:35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377440" y="4684341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— 이해관계자 맵 그리기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265615" y="4684341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워크 + 상호 리뷰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0080" y="525910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5277394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02:35–03:00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377440" y="5277394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3 — 주제 스코핑 / 과제 안내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265615" y="5277394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+ 1:1 상담 시작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0080" y="5852160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2주차 리서치 설계와 주제 후보 도출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발견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문제는 어디서 발견되는가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좋은 문제는 발명하는 것이 아니라 발견하는 것입니다. 어디를 봐야 보이는지 알려드립니다.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발견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문제의 세 가지 출처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여러분의 관심 영역은 대개 이 셋 중 하나에서 옵니다.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반복되는 불편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상황에서 여러 사람이 같은 방식으로 막힌다면 개인의 문제가 아니라 설계의 문제입니다.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찾는 법 — 커뮤니티 · 리뷰 · 민원 게시판에서 같은 불평이 몇 번 반복되는지 셉니다.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장점: 근거를 모으기 쉽다 / 함정: 이미 해결된 경우가 많다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99178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3226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322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83226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제도와 현실의 틈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83226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규정상으로는 되는데 실제로는 안 되는 지점. 안내는 있는데 아무도 안 읽는 지점.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찾는 법 — 공식 절차 문서와 실제 이용자의 후기를 나란히 놓고 비교합니다.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장점: 문제가 선명하다 / 함정: 디자인으로 못 바꾸는 부분이 있다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58277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2325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2325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42325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기술이 만든 새 조건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42325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· 자동화 · AI가 들어오면서 이전에 없던 상황이 생긴 영역. 아직 관습이 형성되지 않은 곳.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찾는 법 — 새로 나온 서비스의 초기 사용자 후기를 읽습니다.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장점: 선행 사례가 적어 독창적 / 함정: 당사자를 만나기 어려울 수 있다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2주차 리서치 설계와 주제 후보 도출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P.02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발견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CRITERIA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좋은 주제의 네 가지 조건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하나라도 못 넘기면 학기 중반에 반드시 막힙니다.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2453564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접근 가능한가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당사자를 실제로 만날 수 있는가. 3주차에 인터뷰를 해야 합니다.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59404" y="1737360"/>
            <a:ext cx="2453564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3452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3452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843452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관찰 가능한가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843452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상황을 내가 직접 볼 수 있는가. 말로만 듣는 주제는 깊이가 얕아집니다.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78728" y="1737360"/>
            <a:ext cx="2453564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62776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6277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662776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범위가 적정한가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662776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15주 안에 한 바퀴 돌 수 있는 크기인가. '고령화 문제'는 주제가 아닙니다.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098051" y="1737360"/>
            <a:ext cx="2453564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82099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82099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482099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계속 볼 수 있는가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482099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4개월 동안 질리지 않을 만큼 궁금한가. 남이 좋다고 한 주제는 대개 중간에 식습니다.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" y="5084064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193792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 개 중 ①과 ③에서 걸리는 경우가 압도적으로 많습니다. 오늘 1:1 상담에서 이 두 가지를 먼저 확인하겠습니다.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2주차 리서치 설계와 주제 후보 도출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P.03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발견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PITFALL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주제 선정의 흔한 실패 세 가지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매년 반복되는 패턴입니다. 미리 알고 피하세요.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너무 큰 주제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87552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"환경 문제를 해결하는 서비스"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87552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조사할지 정할 수 없다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누구를 인터뷰할지 정할 수 없다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해결안이 구호에 그친다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처방 — 특정 장소 · 특정 행동 · 특정 집단으로 세 번 좁힌다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86986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4458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이미 해결된 주제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34458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"음식점 대기 시간이 길다"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34458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4458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서비스를 조사하지 않은 상태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리서치를 하면 이미 다 나와 있다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차별점을 만들려다 억지가 된다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처방 — 데스크 리서치로 선행 사례를 먼저 확인한다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33893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81365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만날 수 없는 대상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481365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"중환자실 환자의 경험"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481365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81365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윤리 승인 · 접근 권한이 필요하다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관찰이 불가능해 추측으로 채운다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심사에서 근거를 요구받으면 무너진다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처방 — 대상을 한 단계 옆으로 옮긴다 (예: 보호자)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50468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614416"/>
            <a:ext cx="109115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고른 주제가 셋 중 하나에 해당한다면, 오늘 안에 바꾸는 것이 훨씬 저렴합니다.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2주차 리서치 설계와 주제 후보 도출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P.04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발견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데스크 리서치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현장에 나가기 전에 알 수 있는 것을 먼저 다 압니다. 그래야 인터뷰에서 좋은 질문이 나옵니다.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02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발견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PROCESS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데스크 리서치 4단계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검색이 아니라 절차입니다.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2453564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범위 정의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알아야 하는지 질문 목록을 먼저 씁니다. 질문 없이 검색하면 자료만 쌓입니다.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59404" y="1737360"/>
            <a:ext cx="2453564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3452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3452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843452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소스 수집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843452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 갈래로 나눠 모읍니다. 시장 / 정책 · 제도 / 경쟁 서비스 / 선행연구. 출처와 날짜를 함께.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78728" y="1737360"/>
            <a:ext cx="2453564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62776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6277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662776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구조화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662776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모은 것을 질문별로 다시 배치합니다. 답이 있는 질문과 없는 질문이 갈립니다.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098051" y="1737360"/>
            <a:ext cx="2453564" cy="3035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82099" y="2011680"/>
            <a:ext cx="365760" cy="36576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82099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482099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갭 발견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482099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답이 없는 질문이 현장에서 물어볼 것입니다. 이것이 3주차 인터뷰 가이드의 뼈대가 됩니다.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" y="5084064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193792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데스크 리서치의 목적은 '아는 것'이 아니라 '모르는 것을 특정하는 것'입니다. 4단계가 없으면 인터뷰가 잡담이 됩니다.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2주차 리서치 설계와 주제 후보 도출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발견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네 갈래로 나눠 모읍니다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무엇을, 어디서, 무엇을 확인할 것인가.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2453564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시장 · 현황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통계청 · 정부 부처 통계, 산업 협회 자료, 언론 보도.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확인할 것 — 이 문제를 겪는 사람이 얼마나 되는가, 늘고 있는가 줄고 있는가.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59404" y="1737360"/>
            <a:ext cx="2453564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3452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3452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843452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정책 · 제도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843452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관련 부처 고시, 지자체 조례, 서비스 약관.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확인할 것 — 디자인으로 바꿀 수 있는 부분과 없는 부분의 경계.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78728" y="1737360"/>
            <a:ext cx="2453564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62776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6277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662776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경쟁 · 유사 서비스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662776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국내외 앱 · 서비스, 공공 시범사업, 스타트업.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확인할 것 — 왜 그것으로 충분하지 않은가. 이 답이 여러분의 차별점입니다.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098051" y="1737360"/>
            <a:ext cx="2453564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82099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82099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482099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선행 연구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482099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RISS · DBpia · Google Scholar.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확인할 것 — 이 문제의 원인에 대해 이미 검증된 설명이 있는가.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2주차 리서치 설계와 주제 후보 도출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P.06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발견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RELIABILITY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자료의 신뢰도를 가르는 법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 심사와 발표에서 '출처가 뭐예요' 질문을 받게 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1차 자료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87552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만든 것 · 최고 신뢰도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87552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내가 한 인터뷰 · 관찰 기록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원본 통계 데이터셋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기관이 발행한 원문 보고서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패널에 그대로 인용 가능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86986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4458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2차 자료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34458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누군가 정리한 것 · 확인 후 사용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34458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4458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학술 논문, 연구 보고서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언론 기사, 산업 리포트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원문 출처를 반드시 역추적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숫자는 원본을 찾아 확인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33893" y="1700784"/>
            <a:ext cx="3417722" cy="352958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81365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3차 자료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481365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출처가 흐린 것 · 근거로 쓰지 않음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481365" y="2798064"/>
            <a:ext cx="2722778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81365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블로그, 요약 카드뉴스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없는 인포그래픽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생성 요약문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탐색 단계의 힌트로만 사용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50468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614416"/>
            <a:ext cx="109115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패널과 발표 자료에 들어가는 모든 숫자는 1차 또는 확인된 2차 자료여야 합니다. 출처 표기는 선택이 아니라 필수입니다.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2주차 리서치 설계와 주제 후보 도출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발견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TEMPLATE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리서치 로그 — 이 양식으로 기록합니다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나중에 출처를 다시 찾느라 버리는 시간이 가장 아깝습니다.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6420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81051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171907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질문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88720" y="202996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자료로 답하려던 질문. 예 — "1인 가구의 택배 수령은 실제로 어떤 방식으로 이뤄지는가?"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406701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571293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57129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88720" y="2479853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출처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188720" y="2790749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기관명 / 문서 제목 / 발행 연월 / URL 또는 페이지. 접속일도 함께 적습니다.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16748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332074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33207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88720" y="3240634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핵심 내용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188720" y="355153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인용할 문장이나 수치를 원문 그대로. 요약은 그 아래 따로. 원문과 내 해석을 섞지 않습니다.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392826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4092854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09285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88720" y="4001414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내 해석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188720" y="431231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이것이 내 주제에 무엇을 의미하는가. 여기가 여러분의 기여입니다.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4689043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" y="4853635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485363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88720" y="4762195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남은 질문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1188720" y="5073091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자료로 답이 안 된 것. 3주차 인터뷰 질문이 여기서 나옵니다.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" y="5522976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5632704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양식 파일을 클래스룸에 올려두었습니다. 이번 주 과제부터 이 양식으로 제출합니다.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2주차 리서치 설계와 주제 후보 도출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P.08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발견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03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이해관계자 맵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누구를 만나야 하는지 모른 채 현장에 나가면 아무나 만나고 옵니다.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03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발견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이해관계자 맵을 그리는 이유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조사 대상을 '정하는' 도구이지, 예쁘게 그리는 도표가 아닙니다.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빠뜨린 사람을 찾기 위해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서비스를 굴리는 사람, 옆에서 영향받는 사람은 대개 처음에 안 보입니다. 병원 주제에서 간호사와 원무과 직원, 배달 주제에서 라이더가 그렇습니다.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99178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3226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322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83226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누구를 먼저 만날지 정하기 위해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83226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영향력과 관심도를 두 축으로 배치하면, 반드시 만나야 할 소수가 드러납니다. 시간은 한정되어 있습니다.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58277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2325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2325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42325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이해가 충돌하는 지점을 찾기 위해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42325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A에게 좋은 것이 B에게 나쁜 지점 — 거기가 진짜 설계 문제입니다. 모두가 좋아하는 아이디어는 대개 아무 것도 바꾸지 않습니다.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2주차 리서치 설계와 주제 후보 도출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P.09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발견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실습 · 이해관계자 맵 그리기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40분 · 개인 + 상호 리뷰 — 오늘 만든 맵이 3주차 인터뷰 대상자 명단이 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10512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10분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0" y="18105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나열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669280" y="1810512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떠오르는 이해관계자를 포스트잇 한 장에 하나씩. 직접 사용자, 서비스 제공자, 결정권자, 주변 영향자 네 갈래로 최소 12명 이상.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688336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77977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8분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286000" y="27797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관계 잇기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669280" y="2779776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누가 누구에게 무엇을 주고받는지 선으로 잇습니다. 돈 · 정보 · 서비스 · 감정 중 무엇이 흐르는지 선 위에 적으세요.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7490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12분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28600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배치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669280" y="3749040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가로축 관심도, 세로축 영향력으로 2×2에 재배치합니다. 오른쪽 위 = 핵심 이해관계자.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626864"/>
            <a:ext cx="10911535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718304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10분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286000" y="47183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대상 특정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669280" y="4718304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이해관계자 중 3주차에 실제로 만날 수 있는 2인을 고르고, 어떻게 섭외할지 한 줄로 적습니다.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2주차 리서치 설계와 주제 후보 도출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P.10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발견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SCOPING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주제 스코핑 — 한 문장으로 진술하기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문장이 안 써지면 아직 주제가 아닙니다.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6420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81051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171907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기본 형식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88720" y="202996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「(누가)가 (어떤 상황)에서 (무엇) 때문에 (어떤 어려움)을 겪는다」 — 네 칸이 모두 구체적으로 채워져야 합니다.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59689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76148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761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88720" y="267004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나쁜 예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188720" y="298094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"1인 가구가 생활에서 불편을 겪는다" → 누가 · 언제 · 무엇이 모두 비어 있습니다. 이 문장으로는 인터뷰 질문을 만들 수 없습니다.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5478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712464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712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88720" y="3621024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좋은 예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188720" y="393192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"혼자 사는 20–30대 직장인이 부재중 택배를 받을 때, 안전한 보관 장소가 없어 분실과 파손을 반복적으로 겪는다"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49884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466344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663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88720" y="457200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점검 질문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188720" y="4882896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문장을 읽고 ① 누구를 인터뷰할지 ② 어디를 관찰할지 ③ 무엇을 세어볼지가 바로 떠오르는가. 셋 다 떠오르면 통과입니다.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5522976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632704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주 과제의 후보 3안은 모두 이 형식으로 진술해 제출합니다.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2주차 리서치 설계와 주제 후보 도출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P.11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발견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HOMEWORK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과제와 다음 주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3주차부터는 현장에 나갑니다.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264" y="1993392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26464" y="1810512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주제 후보 3안 + 근거 자료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26464" y="212140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후보를 스코핑 문장으로 진술하고, 데스크 리서치 4갈래 중 최소 3갈래의 근거를 붙입니다. 리서치 로그 양식 사용.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743200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" y="3017520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26464" y="2834640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1:1 주제 상담 예약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26464" y="3145536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오늘부터 상담을 시작합니다. 상담 전까지 후보 3안을 올려주세요. 상담에서 1안으로 좁힙니다.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785616"/>
            <a:ext cx="630936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877056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— 3주차 수업 전까지 · 클래스룸 업로드 + 상담 일정 예약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51776" y="1719072"/>
            <a:ext cx="4199839" cy="416966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35824" y="1993392"/>
            <a:ext cx="34317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 WEEK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735824" y="2286000"/>
            <a:ext cx="34317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03주차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735824" y="2743200"/>
            <a:ext cx="343174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필드 리서치 실습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7735824" y="3346704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35824" y="3493008"/>
            <a:ext cx="3431743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말과 행동은 왜 다른가</a:t>
            </a:r>
            <a:endParaRPr lang="en-US" sz="1100" dirty="0"/>
          </a:p>
          <a:p>
            <a:pPr marL="177800" indent="-1778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인터뷰 질문의 네 가지 유형</a:t>
            </a:r>
            <a:endParaRPr lang="en-US" sz="1100" dirty="0"/>
          </a:p>
          <a:p>
            <a:pPr marL="177800" indent="-1778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좋은 질문과 나쁜 질문</a:t>
            </a:r>
            <a:endParaRPr lang="en-US" sz="1100" dirty="0"/>
          </a:p>
          <a:p>
            <a:pPr marL="177800" indent="-1778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AEIOU 관찰 프레임</a:t>
            </a:r>
            <a:endParaRPr lang="en-US" sz="1100" dirty="0"/>
          </a:p>
          <a:p>
            <a:pPr marL="177800" indent="-1778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연구 윤리와 사전 동의</a:t>
            </a:r>
            <a:endParaRPr lang="en-US" sz="1100" dirty="0"/>
          </a:p>
          <a:p>
            <a:pPr marL="177800" indent="-1778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모의 인터뷰 실습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735824" y="5065776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35824" y="5175504"/>
            <a:ext cx="34317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 준비할 것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35824" y="5431536"/>
            <a:ext cx="34317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확정된 주제 1안 · 이해관계자 맵 · 녹음 가능한 기기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2주차 리서치 설계와 주제 후보 도출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P.12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MIN.D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서비스디자인 · 2주차 리서치 설계와 주제 후보 도출</dc:title>
  <dc:subject>원광대학교 · 학부 3학년 · 주 3시간 × 15주 · 리서치에서 컨셉 정의까지 (1학기용)</dc:subject>
  <dc:creator>MIN.D</dc:creator>
  <cp:lastModifiedBy>MIN.D</cp:lastModifiedBy>
  <cp:revision>1</cp:revision>
  <dcterms:created xsi:type="dcterms:W3CDTF">2026-10-06T13:04:16Z</dcterms:created>
  <dcterms:modified xsi:type="dcterms:W3CDTF">2026-10-06T13:04:16Z</dcterms:modified>
</cp:coreProperties>
</file>