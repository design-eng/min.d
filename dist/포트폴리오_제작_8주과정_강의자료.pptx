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소개. 첫 문장으로 프레임을 잡는다 — 포트폴리오는 예쁜 작품집이 아니라 '이 사람과 일하고 싶다'를 만드는 설득 문서다. 8주 동안 만들 결과물(케이스 스터디 3편 + 완성본 1종)을 먼저 보여주고 시작할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수강생에게 직접 물어보며 시작하면 좋다: '지금 포트폴리오에서 가장 막히는 지점이 뭔가요?' 대부분 세 가지 중 하나로 수렴한다. 이 세 병목이 각각 3주차(선정), 4주차(과정 서술), 7주차(크리틱·마감)에 대응된다고 예고할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근거로 기대치를 맞추는 슬라이드. 특히 '주 1회 제출'이 협상 대상이 아님을 이 시점에 못 박는다. 180분 구성은 9번 슬라이드에서 자세히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목표를 '알게 된다'가 아니라 '할 수 있게 된다'로 쓴 점을 짚어줄 것. 오른쪽 검증 주차는 평가 루브릭(24p)과 1:1로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'완성작이 없어도 된다'는 마지막 줄이 중요하다. 수강 포기의 가장 큰 이유가 '넣을 게 없다'는 자기 판단이기 때문. 1주차 전에 Figma 가입과 원본 파일 수집만 확실히 공지할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여기서부터 30분 정도 커리큘럼 전체를 훑는다. 세부는 주차별 슬라이드에서.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지도. 각 주차 카드를 3초씩만 짚고 넘어간다. 위 4개(1~4주)는 '무엇을 어떻게 말할까'를 정하는 기간, 아래 4개(5~8주)는 '실제로 만들어 끝내는' 기간이라는 대비를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1을 건너뛰고 싶어 하는 수강생이 반드시 나온다. '빨리 만들고 싶다'는 요구를 인정하되, 1~3주 산출물이 4주차 이후 작업 속도를 좌우한다는 점을 사례로 설득할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 자체가 이 과정의 교육 철학이다 — 강의 45분 대 실습·크리틱 120분. 첫 수업에서 이 비율을 못 박아야 '왜 이렇게 실습이 많냐'는 저항이 줄어든다. 크리틱 발표 순번은 1주차에 미리 배정할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01 — 포트폴리오의 목적과 목표 설정
학습 목표: 포트폴리오가 작품집이 아니라 설득 문서임을 이해하고, 내가 설득할 대상을 특정한다.
실습 운영: 60분 안에 끝낼 수 있는 범위로 쪼개서 제시하고, 막힌 수강생부터 순회 지도.
제출물: 목표 정의서 1p — 목표 직무 · 요구 역량 10개 · 내가 증명해야 할 것 3개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02 — 리서치와 포지셔닝
학습 목표: 레퍼런스와 경쟁 지원자 사이에서 나의 강점을 한 문장으로 정의한다.
실습 운영: 60분 안에 끝낼 수 있는 범위로 쪼개서 제시하고, 막힌 수강생부터 순회 지도.
제출물: 벤치마킹 보드 + 포지셔닝 문장 1개 (초안)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03 — 프로젝트 선정과 전체 구조 설계
학습 목표: 넣을 것과 뺄 것을 기준에 따라 결정하고 목차를 확정한다.
실습 운영: 60분 안에 끝낼 수 있는 범위로 쪼개서 제시하고, 막힌 수강생부터 순회 지도.
제출물: 포트폴리오 목차 + 페이지 와이어프레임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04 — 케이스 스터디 스토리텔링
학습 목표: 프로젝트를 문제–과정–결과의 서사로 다시 쓴다.
실습 운영: 60분 안에 끝낼 수 있는 범위로 쪼개서 제시하고, 막힌 수강생부터 순회 지도.
제출물: 케이스 스터디 A 텍스트 초안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05 — 비주얼 디자인과 레이아웃
학습 목표: 읽히는 지면을 만든다 — 그리드 · 타이포 위계 · 여백을 근거를 가지고 쓴다.
실습 운영: 60분 안에 끝낼 수 있는 범위로 쪼개서 제시하고, 막힌 수강생부터 순회 지도.
제출물: 비주얼 적용된 케이스 스터디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06 — 확장과 포맷 제작
학습 목표: PDF와 웹, 두 포맷으로 실제 지원에 쓸 수 있는 상태를 만든다.
실습 운영: 60분 안에 끝낼 수 있는 범위로 쪼개서 제시하고, 막힌 수강생부터 순회 지도.
제출물: 전체 초안 v1 (PDF + 웹 링크)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07 — 크리틱과 리파인
학습 목표: 피드백을 구조적으로 받고, 우선순위를 정해 반영한다.
실습 운영: 60분 안에 끝낼 수 있는 범위로 쪼개서 제시하고, 막힌 수강생부터 순회 지도.
제출물: 수정 반영본 v2 + 수정 계획표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08 — 최종 발표와 커리어 연결
학습 목표: 3분 안에 나를 설명하고, 포트폴리오를 지원 패키지로 연결한다.
실습 운영: 60분 안에 끝낼 수 있는 범위로 쪼개서 제시하고, 막힌 수강생부터 순회 지도.
제출물: 최종본 + 3분 발표 스크립트 + 이력서 1p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여기부터는 매주 재사용하는 '도구' 설명이다. 인쇄 배포용 핸드아웃으로 뽑아두면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6블록은 4주차 실습의 템플릿이자 7주차 크리틱의 체크리스트다. 실제 사례 하나를 골라 여섯 칸을 함께 채워보는 시연을 15분 정도 하면 이해가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왼쪽과 오른쪽은 같은 프로젝트를 다르게 쓴 것이라는 점을 반드시 말할 것. 작업의 질이 아니라 서술의 질 차이라는 메시지가 핵심이다. 수강생이 자기 포트폴리오를 이 표에 대입해보게 5분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처방이 각각 몇 주차에서 다뤄지는지 연결해 말할 것 (1→4주, 2→3주, 3→4주, 4→6주, 5→7주). 이 슬라이드는 7주차 크리틱 때 다시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크리틱 전에 이 규칙을 소리 내어 함께 읽는다. 특히 4번(변론 금지)은 강사가 매번 개입해서 지켜줘야 한다. 규칙이 지켜지면 크리틱이 수업에서 가장 만족도 높은 시간이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평가 기준을 첫 주에 전부 공개하는 것이 이 과정의 원칙. 기준이 공개되어야 자가진단이 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배점 공개는 첫 주에. '과정의 논리성 25%'가 최고 배점인 이유를 설명하는 데 시간을 쓸 것 — 결과물의 미적 완성도만 신경 쓰는 관성을 깨는 장치다. 4주차 이후 매주 이 기준으로 크리틱한다.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인쇄해서 나눠주거나 강의 게시판 상단에 고정해둔다. 제출 누락이 발생하는 주차는 대개 4주와 6주 — 분량이 갑자기 늘어나기 때문. 해당 주차 전에 별도 리마인드할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선택으로 첫 2주를 낭비하는 수강생이 많다. '지금 가장 익숙한 도구로 시작하라'고 명확히 지시할 것. 도구를 바꿀 거면 3주차 이전에 결정하도록.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 2주는 8주 수료자 대상 옵션. 8주차 발표에서 실제 지원 의사가 확인된 수강생 위주로 안내한다. 1:1 리뷰 30분은 강사 리소스가 크므로 인원 상한을 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마무리. 과제 3개는 반드시 화면에 띄운 채로 읽어주고, 게시판에도 동일하게 공지한다. 마지막 문장('완성된 작업이 없어도 괜찮다')으로 끝내면 1주차 이탈이 눈에 띄게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08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8-WEEK CURRICULUM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816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작품집이 아니라, 나를 설득하는 문서를 만든다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584448"/>
            <a:ext cx="292608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22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38221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전공생 · 아카데미 수강생 · 주니어 지원자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42062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180분 × 8주 (심화 2주 선택)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5902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459028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3편 + 완성 포트폴리오 1종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포트폴리오는 왜 늘 어려운가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커리큘럼은 아래 세 가지 병목을 순서대로 해체하는 구조로 설계했습니다.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2761488"/>
          </a:xfrm>
          <a:prstGeom prst="roundRect">
            <a:avLst>
              <a:gd name="adj" fmla="val 264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84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78608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넣을지 모른다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3054096"/>
            <a:ext cx="26252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가진 프로젝트를 전부 넣거나, 반대로 "완성된 게 없다"며 시작을 미룬다. 선정 기준이 없기 때문이다.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2761488"/>
          </a:xfrm>
          <a:prstGeom prst="roundRect">
            <a:avLst>
              <a:gd name="adj" fmla="val 264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84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78608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결과만 있고 과정이 없다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3054096"/>
            <a:ext cx="26252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화면 이미지는 많은데, 왜 그렇게 결정했는지가 없다. 읽는 사람은 실력을 판단할 근거를 얻지 못한다.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2761488"/>
          </a:xfrm>
          <a:prstGeom prst="roundRect">
            <a:avLst>
              <a:gd name="adj" fmla="val 264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84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78608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끝을 못 낸다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3054096"/>
            <a:ext cx="26252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고치다가 지원 시점을 놓친다. 마감과 피드백 루프가 없으면 완성도는 오히려 떨어진다.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882896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선정 기준을 먼저 세우고 · 의사결정을 글로 남기고 · 매주 크리틱으로 마감한다.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한눈에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640080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82112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· 총 8회차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5026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180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분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3450260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0260" y="3182112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· 실습 · 크리틱 · 랩업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044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편</a:t>
            </a:r>
            <a:endParaRPr lang="en-US" sz="6800" dirty="0"/>
          </a:p>
        </p:txBody>
      </p:sp>
      <p:sp>
        <p:nvSpPr>
          <p:cNvPr id="11" name="Shape 9"/>
          <p:cNvSpPr/>
          <p:nvPr/>
        </p:nvSpPr>
        <p:spPr>
          <a:xfrm>
            <a:off x="6260440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0440" y="3182112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케이스 스터디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70619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종</a:t>
            </a:r>
            <a:endParaRPr lang="en-US" sz="6800" dirty="0"/>
          </a:p>
        </p:txBody>
      </p:sp>
      <p:sp>
        <p:nvSpPr>
          <p:cNvPr id="14" name="Shape 12"/>
          <p:cNvSpPr/>
          <p:nvPr/>
        </p:nvSpPr>
        <p:spPr>
          <a:xfrm>
            <a:off x="9070619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619" y="3182112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· 웹 포맷 동시 산출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과정의 원칙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80974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결과물을 제출한다. 완벽한 초안보다 고칠 수 있는 초안이 빠르다.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97280" y="5230368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동안 제출 → 크리틱 → 수정 루프를 8번 돈다. 이 반복 횟수가 최종 완성도를 결정한다.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후 할 수 있게 되는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목표는 특정 주차의 산출물로 검증됩니다.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75564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직무에 맞춰 넣을 프로젝트를 스스로 선정한다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07008" y="2084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관련성 · 완성도 · 차별성 세 축의 기준표로 판단한다.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22815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 검증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8833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2615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문제–과정–결과의 서사로 재구성한다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07008" y="2944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6블록 케이스 스터디 구조로 의사결정 근거까지 쓴다.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22815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검증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34747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읽히는 지면을 만든다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07008" y="38039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 · 타이포 위계 · 여백을 근거를 가지고 운용한다.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22815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검증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4074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07008" y="433425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PDF와 웹 두 포맷으로 전달 가능한 상태를 만든다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07008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용량 · 규격 · 링크 배포까지 실제 지원에 쓸 수 있게 세팅한다.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22815" y="4407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07008" y="519379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안에 나를 설명한다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07008" y="55229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스크립트와 예상 질문 답변을 준비해 인터뷰로 연결한다.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2815" y="52669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검증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 대상과 준비물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25460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분께 맞습니다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0704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졸업/취업을 앞두고 첫 포트폴리오를 만드는 전공생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작업물은 있는데 정리해 본 적이 없는 주니어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 과제 중심 포트폴리오를 실무형으로 바꾸고 싶은 분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이직을 위해 기존 포트폴리오를 다시 짜야 하는 1~3년차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포트폴리오는 있지만 서류 단계에서 자주 걸러지는 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7016" y="1664208"/>
            <a:ext cx="5254600" cy="3584448"/>
          </a:xfrm>
          <a:prstGeom prst="roundRect">
            <a:avLst>
              <a:gd name="adj" fmla="val 204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7640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준비물 · 선수 지식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17640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(Figma가 원활히 동작하는 사양)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 — 교육 플랜 무료, 1주차 전 가입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지금까지의 작업 파일 원본 (학교 과제 · 개인 작업 · 사이드 프로젝트 모두)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그래픽 툴 기초 조작 능력 (레이어 · 정렬 · 마스크 수준)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완성작이 없어도 괜찮습니다. 3주차에 '무엇을 완성할지'부터 함께 정합니다.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커리큘럼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8주를 어떤 순서로, 매주 몇 분씩, 어떤 산출물로 채우는지 전체 지도를 먼저 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CURRICULUM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커리큘럼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1~2주 기반 · 3~4주 구조와 서사 · 5~6주 제작 · 7~8주 완성과 전달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0482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9264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9264" y="2761488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포트폴리오의 목적과 목표 설정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6544" y="1792224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5728" y="20482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65728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65728" y="2761488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리서치와 포지셔닝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1792224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2192" y="20482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62192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62192" y="2761488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선정과 전체 구조 설계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29471" y="1792224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8655" y="20482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58655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358655" y="2761488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스토리텔링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69264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9264" y="4992624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디자인과 레이아웃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36544" y="4023360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5728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765728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65728" y="4992624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확장과 포맷 제작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3008" y="4023360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2192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562192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62192" y="4992624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크리틱과 리파인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29471" y="4023360"/>
            <a:ext cx="2522144" cy="1975104"/>
          </a:xfrm>
          <a:prstGeom prst="roundRect">
            <a:avLst>
              <a:gd name="adj" fmla="val 3704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58655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358655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358655" y="4992624"/>
            <a:ext cx="1863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발표와 커리어 연결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단계로 나눈 8주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3393338" cy="3913632"/>
          </a:xfrm>
          <a:prstGeom prst="roundRect">
            <a:avLst>
              <a:gd name="adj" fmla="val 2156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029968"/>
            <a:ext cx="2588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2416" y="2359152"/>
            <a:ext cx="25886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세우기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1–3주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2416" y="2871216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누구에게 무엇을 증명할지 정한다. 이 단계를 건너뛰면 나머지 5주가 방향 없이 예뻐지기만 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42416" y="4096512"/>
            <a:ext cx="258866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4224528"/>
            <a:ext cx="2588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42416" y="4498848"/>
            <a:ext cx="25886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정의서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포지셔닝 문장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· 와이어프레임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9178" y="1700784"/>
            <a:ext cx="3393338" cy="3913632"/>
          </a:xfrm>
          <a:prstGeom prst="roundRect">
            <a:avLst>
              <a:gd name="adj" fmla="val 2156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1514" y="2029968"/>
            <a:ext cx="2588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1514" y="2359152"/>
            <a:ext cx="25886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4–6주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1514" y="2871216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구조 위에 실제 지면을 만든다. 글을 먼저 쓰고 비주얼을 입히는 순서를 지킨다.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1514" y="4096512"/>
            <a:ext cx="258866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1514" y="4224528"/>
            <a:ext cx="2588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1514" y="4498848"/>
            <a:ext cx="25886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3편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적용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· 웹 포맷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8277" y="1700784"/>
            <a:ext cx="3393338" cy="3913632"/>
          </a:xfrm>
          <a:prstGeom prst="roundRect">
            <a:avLst>
              <a:gd name="adj" fmla="val 2156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0613" y="2029968"/>
            <a:ext cx="2588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60613" y="2359152"/>
            <a:ext cx="25886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끝내기</a:t>
            </a:r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7–8주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60613" y="2871216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피드백으로 완성도를 올리고 지원 패키지로 연결한다. 마감이 있어야 완성된다.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60613" y="4096512"/>
            <a:ext cx="2588666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0613" y="4224528"/>
            <a:ext cx="2588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60613" y="4498848"/>
            <a:ext cx="25886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 2라운드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반영본 v2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최종본 + 발표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180분은 이렇게 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강의보다 실습과 크리틱에 더 많은 시간을 씁니다. 만들면서 배우는 구조입니다.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2631872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208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45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145536"/>
            <a:ext cx="263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281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이론과 사례 분석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9968" y="2029968"/>
            <a:ext cx="3509162" cy="914400"/>
          </a:xfrm>
          <a:prstGeom prst="roundRect">
            <a:avLst>
              <a:gd name="adj" fmla="val 8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4288" y="2176272"/>
            <a:ext cx="29605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60</a:t>
            </a:r>
            <a:pPr algn="l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99968" y="3145536"/>
            <a:ext cx="35091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8528" y="3456432"/>
            <a:ext cx="3692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자리에서 만들기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37146" y="2029968"/>
            <a:ext cx="3509162" cy="914400"/>
          </a:xfrm>
          <a:prstGeom prst="roundRect">
            <a:avLst>
              <a:gd name="adj" fmla="val 8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1466" y="2176272"/>
            <a:ext cx="29605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60</a:t>
            </a:r>
            <a:pPr algn="l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37146" y="3145536"/>
            <a:ext cx="35091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5706" y="3456432"/>
            <a:ext cx="3692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· 강사 피드백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674325" y="2029968"/>
            <a:ext cx="877291" cy="914400"/>
          </a:xfrm>
          <a:prstGeom prst="roundRect">
            <a:avLst>
              <a:gd name="adj" fmla="val 8338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4053" y="2176272"/>
            <a:ext cx="6578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74325" y="3145536"/>
            <a:ext cx="877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랩업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82885" y="3456432"/>
            <a:ext cx="106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안내와 정리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339333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339333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종료 시 다음 주 실습 과제를 공지합니다. 제출 마감은 다음 수업 24시간 전입니다.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9178" y="4626864"/>
            <a:ext cx="339333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9178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99178" y="5029200"/>
            <a:ext cx="339333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3~4명이 발표대에 섭니다. 8주 동안 전원이 최소 2회 이상 발표합니다.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8277" y="4626864"/>
            <a:ext cx="339333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8277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58277" y="5029200"/>
            <a:ext cx="339333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결석 시 녹화본과 과제 가이드를 제공하지만, 크리틱은 대체되지 않습니다.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포트폴리오의 목적과 목표 설정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821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3072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포트폴리오가 작품집이 아니라 설득 문서임을 이해하고, 내가 설득할 대상을 특정한다.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사람은 누구인가 — 채용 담당자 · 실무 리더 · 교수의 서로 다른 관심사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포트폴리오의 3요소: 판단 근거 · 역할의 명확성 · 읽는 속도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직무별 기대치 차이 (UX / UI / BX / 그래픽 / 영상)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목표 직무 3곳을 고르고 채용 공고(JD)를 요구 역량 단위로 분해한다.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정의서 1p — 목표 직무 · 요구 역량 10개 · 내가 증명해야 할 것 3개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리서치와 포지셔닝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100702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레퍼런스와 경쟁 지원자 사이에서 나의 강점을 한 문장으로 정의한다.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벤치마킹하는 법 — 베끼는 것과 구조를 읽는 것의 차이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아카이브 구축과 태깅 (구성 / 서술 / 비주얼로 분리 수집)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포지셔닝 스테이트먼트 작성 공식과 흔한 실패 사례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20개를 수집해 3개 축으로 분류하고, 강점 후보 3개를 도출한다.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벤치마킹 보드 + 포지셔닝 문장 1개 (초안)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선정과 전체 구조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03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821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3072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넣을 것과 뺄 것을 기준에 따라 결정하고 목차를 확정한다.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3기준 — 관련성 · 완성도 · 차별성, 그리고 가중치 두는 법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3~5개인가 — 분량과 신뢰도의 관계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설계: 첫 프로젝트에 무엇을 둘 것인가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프로젝트 인벤토리를 만들고 우선순위 매트릭스에 배치한다.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목차 + 페이지 와이어프레임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스토리텔링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100702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문제–과정–결과의 서사로 다시 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6블록 구조 — 맥락 / 문제 / 접근 / 과정 / 결과 / 회고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근거 쓰기 — "A를 골랐다"가 아니라 "B를 버린 이유"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결과가 없을 때의 정성 결과 표현법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 1개를 6블록 구조로 다시 쓴다. 이미지 없이 글부터.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A 텍스트 초안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디자인과 레이아웃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05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821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3072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읽히는 지면을 만든다 — 그리드 · 타이포 위계 · 여백을 근거를 가지고 쓴다.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그리드와 마진 — 한 번 정하면 끝까지 지키는 규칙 세우기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 위계 3단계와 대비, 컬러는 몇 개까지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· 목업 퀄리티: 해상도 · 크롭 · 그림자 남용 피하기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A에 디자인 시스템을 적용해 지면으로 완성한다.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적용된 케이스 스터디 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확장과 포맷 제작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100702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PDF와 웹, 두 포맷으로 실제 지원에 쓸 수 있는 상태를 만든다.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규격 — 페이지 비율 · 용량 · 폰트 임베딩 · 파일명 규칙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포트폴리오 플랫폼 비교와 선택 기준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배포 전략 · 반응형 · 기본적인 접근성 점검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B · C를 같은 규칙으로 제작하고 두 포맷을 세팅한다.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초안 v1 (PDF + 웹 링크)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크리틱과 리파인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07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821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3072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피드백을 구조적으로 받고, 우선순위를 정해 반영한다.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 규칙 — 취향이 아니라 목표를 기준으로 말하기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자가진단 체크리스트 22항목 사용법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피드백을 반영하지 않는 법 — 수정 우선순위 정하기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크리틱 2라운드를 진행하고 수정 계획표를 작성한다.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반영본 v2 + 수정 계획표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발표와 커리어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100702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안에 나를 설명하고, 포트폴리오를 지원 패키지로 연결한다.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발표 구조 — 무엇을 먼저 말하고 무엇을 버릴 것인가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 · 자기소개서와의 연계, 중복 없이 보강하기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기반 예상 질문 10개와 답변 준비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최종 발표 + 상호 피드백, 지원 패키지 점검.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최종본 + 3분 발표 스크립트 + 이력서 1p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프레임워크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전체에서 반복해서 쓰는 도구들입니다. 4주차 이후 매주 이 기준으로 크리틱합니다.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6블록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프로젝트를 이 여섯 칸에 채웁니다. 채워지지 않는 칸이 곧 보완할 지점입니다.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341772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665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2066544"/>
            <a:ext cx="2247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6862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조직 · 기간 · 팀 규모에서, 나의 역할은 무엇이었나.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1792224"/>
            <a:ext cx="341772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2746" y="20665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274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91658" y="2066544"/>
            <a:ext cx="2247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2746" y="2560320"/>
            <a:ext cx="26862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문제였나. 한 문장으로 쓸 수 없다면 아직 정의되지 않은 것.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3893" y="1792224"/>
            <a:ext cx="341772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9653" y="20665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9653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38565" y="2066544"/>
            <a:ext cx="2247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99653" y="2560320"/>
            <a:ext cx="26862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방법을 택했나. 고려했다가 버린 대안과 그 이유.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675888"/>
            <a:ext cx="341772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950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44752" y="3950208"/>
            <a:ext cx="2247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05840" y="4443984"/>
            <a:ext cx="26862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무엇을 했나. 중간 산출물 · 실패한 시도 · 바뀐 판단.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6986" y="3675888"/>
            <a:ext cx="341772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2746" y="3950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2746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1658" y="3950208"/>
            <a:ext cx="2247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752746" y="4443984"/>
            <a:ext cx="26862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달라졌나. 숫자가 없으면 관찰 · 인용 · 전후 비교로.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3893" y="3675888"/>
            <a:ext cx="341772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99653" y="3950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99653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38565" y="3950208"/>
            <a:ext cx="2247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499653" y="4443984"/>
            <a:ext cx="26862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한다면 무엇을 바꾸겠나. 여기서 성장 가능성이 읽힌다.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563270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접근과 06 회고가 비어 있는 포트폴리오가 가장 많습니다. 그리고 그 두 칸이 실력을 가장 잘 드러냅니다.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프로젝트, 다른 서술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5254600" cy="4114800"/>
          </a:xfrm>
          <a:prstGeom prst="roundRect">
            <a:avLst>
              <a:gd name="adj" fmla="val 1778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865376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설득되는 서술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97016" y="1591056"/>
            <a:ext cx="52546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9352" y="1865376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서술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2416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" y="265176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"배송 조회 이탈률이 높다"는 한 문장과 그 근거 데이터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99352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99352" y="265176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"사용자 경험을 개선하고자 했다"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42416" y="3017520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9352" y="3017520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42416" y="331012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안을 만들고 A/B로 검증, 2안을 버린 이유까지 기록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9352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9352" y="331012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"리서치를 진행했다" 이후 바로 최종 화면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42416" y="3675888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9352" y="3675888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역할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" y="396849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"4인 팀, IA와 3개 핵심 플로우 담당"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9352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역할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9352" y="396849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프로젝트라는 사실만 표기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" y="4334256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9352" y="4334256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" y="462686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완료율 변화 + 담당자 인용 + 전후 화면 비교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9352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99352" y="462686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화면 12장 나열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2416" y="4992624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9352" y="4992624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시간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" y="52852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3분이면 판단 가능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99352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시간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99352" y="52852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스크롤 20분, 끝까지 안 읽힘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PITFALLS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하는 실수 다섯 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1907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DBE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26464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이미지만 나열한다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26464" y="20299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예쁜 최종 화면 20장보다, 판단 근거가 담긴 3장이 더 강하다.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1792224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6블록 중 접근 · 과정을 먼저 쓴다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7860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DBE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26464" y="25603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가진 것을 전부 넣는다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26464" y="28895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약한 프로젝트 하나가 전체 평균을 끌어내린다.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265176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3~5개로 제한하고 선정 기준표로 판단한다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3814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DBE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26464" y="34198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프로젝트에서 내 역할이 안 보인다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26464" y="37490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"우리는"으로만 서술하면 기여도를 확인할 방법이 없다.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3511296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팀 구성 · 담당 범위 · 내 결정물을 명시한다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8795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976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DBE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426464" y="42793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파일이 무겁고 안 열린다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26464" y="46085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20MB PDF는 열리기 전에 닫힌다. 링크가 깨지면 끝이다.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4370832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용량 · 파일명 · 링크 접근 권한을 매번 점검한다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15721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DBE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426464" y="5138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끝내지 못한다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26464" y="54681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완벽을 기다리다 지원 시점을 놓치는 경우가 가장 많다.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52303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마감을 먼저 정하고 그 안에서 완성도를 올린다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 네 가지 규칙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4주차부터 매주 60분씩 진행합니다. 규칙 없는 피드백은 상처만 남기고 아무것도 바꾸지 못합니다.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5272888" cy="1956816"/>
          </a:xfrm>
          <a:prstGeom prst="roundRect">
            <a:avLst>
              <a:gd name="adj" fmla="val 3738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0848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99616" y="2084832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의도를 먼저 묻는다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2416" y="2596896"/>
            <a:ext cx="446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발표자가 무엇을 노렸는지 듣기 전에는 평가하지 않는다. 첫 질문은 언제나 "이 페이지로 무엇을 전하고 싶었나요?"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719072"/>
            <a:ext cx="5272888" cy="1956816"/>
          </a:xfrm>
          <a:prstGeom prst="roundRect">
            <a:avLst>
              <a:gd name="adj" fmla="val 3738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81064" y="20848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1064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8264" y="2084832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취향이 아니라 목표로 말한다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81064" y="2596896"/>
            <a:ext cx="446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"저는 이게 별로예요"가 아니라 "목표가 A라면 이 요소가 방해가 됩니다"로 말한다.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68496"/>
            <a:ext cx="5272888" cy="1956816"/>
          </a:xfrm>
          <a:prstGeom prst="roundRect">
            <a:avLst>
              <a:gd name="adj" fmla="val 3738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433425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99616" y="4334256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· 영향 · 제안 순서로 말한다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2416" y="4846320"/>
            <a:ext cx="446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"제목이 본문과 크기가 비슷하다(관찰) · 그래서 어디부터 읽을지 모르겠다(영향) · 제목을 키우거나 본문을 줄이면 어떨까(제안)"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3968496"/>
            <a:ext cx="5272888" cy="1956816"/>
          </a:xfrm>
          <a:prstGeom prst="roundRect">
            <a:avLst>
              <a:gd name="adj" fmla="val 3738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1064" y="433425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1064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8264" y="4334256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받는 사람은 변론하지 않고 기록한다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81064" y="4846320"/>
            <a:ext cx="446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자리에서 설명하고 싶은 충동을 참는다. 다 듣고 나서 무엇을 반영할지는 본인이 정한다.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평가와 운영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어떤 기준으로 평가하는지, 무엇을 제출해야 하는지 첫 주에 모두 공개합니다.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RUBRIC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결과물 70% + 주차별 제출 성실도 20% + 크리틱 참여 10%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792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정의와 리서치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문제가 한 문장으로 정의되고 근거가 제시되는가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51215" y="1938528"/>
            <a:ext cx="2377440" cy="146304"/>
          </a:xfrm>
          <a:prstGeom prst="roundRect">
            <a:avLst>
              <a:gd name="adj" fmla="val 1875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51215" y="1938528"/>
            <a:ext cx="1901952" cy="146304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74375" y="18288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41401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15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88720" y="25054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과정의 논리성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8720" y="2816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선택의 이유와 버린 대안이 드러나는가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51215" y="2651760"/>
            <a:ext cx="2377440" cy="146304"/>
          </a:xfrm>
          <a:prstGeom prst="roundRect">
            <a:avLst>
              <a:gd name="adj" fmla="val 1875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1215" y="2651760"/>
            <a:ext cx="2377440" cy="146304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1270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4375" y="25420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12724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28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3218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임팩트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3529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달라졌는지 정량 또는 정성으로 확인되는가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51215" y="3364992"/>
            <a:ext cx="2377440" cy="146304"/>
          </a:xfrm>
          <a:prstGeom prst="roundRect">
            <a:avLst>
              <a:gd name="adj" fmla="val 1875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1215" y="3364992"/>
            <a:ext cx="1901952" cy="146304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74375" y="32552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0416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88720" y="3931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완성도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88720" y="42428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 · 위계 · 여백이 일관되게 운용되는가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51215" y="4078224"/>
            <a:ext cx="2377440" cy="146304"/>
          </a:xfrm>
          <a:prstGeom prst="roundRect">
            <a:avLst>
              <a:gd name="adj" fmla="val 1875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1215" y="4078224"/>
            <a:ext cx="1901952" cy="146304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74375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" y="455371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7548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88720" y="46451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전달력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188720" y="49560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안에 핵심이 전달되는가 (문서 · 발표 공통)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51215" y="4791456"/>
            <a:ext cx="2377440" cy="146304"/>
          </a:xfrm>
          <a:prstGeom prst="roundRect">
            <a:avLst>
              <a:gd name="adj" fmla="val 1875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1215" y="4791456"/>
            <a:ext cx="1426464" cy="146304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74375" y="46817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0080" y="5614416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배점이 높은 항목은 결과물의 완성도가 아니라 과정의 논리성입니다. 실무에서 재현 가능한 실력을 보기 때문입니다.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동안 제출하는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마감은 다음 수업 24시간 전입니다.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92224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922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9344" y="1792224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정의서 1p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4203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9344" y="2542032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벤치마킹 보드 + 포지셔닝 문장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9184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9344" y="3291840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목차 · 와이어프레임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4164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9344" y="4041648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스터디 A 텍스트 초안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7016" y="1792224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9624" y="17922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6280" y="1792224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적용된 케이스 스터디 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7016" y="2542032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9624" y="254203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6280" y="2542032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초안 v1 (PDF + 웹 링크)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97016" y="3291840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9624" y="329184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6280" y="3291840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반영본 v2 + 수정 계획표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97016" y="4041648"/>
            <a:ext cx="5254600" cy="603504"/>
          </a:xfrm>
          <a:prstGeom prst="roundRect">
            <a:avLst>
              <a:gd name="adj" fmla="val 121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9624" y="404164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6280" y="4041648"/>
            <a:ext cx="399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최종본 · 3분 발표 스크립트 · 이력서 1p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956048"/>
            <a:ext cx="10911535" cy="1042416"/>
          </a:xfrm>
          <a:prstGeom prst="roundRect">
            <a:avLst>
              <a:gd name="adj" fmla="val 7018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20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제출 패키지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0704" y="5413248"/>
            <a:ext cx="100702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포트폴리오 (PDF + 웹 링크) · 케이스 스터디 3편 · 3분 발표 스크립트 · 이력서 1p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도구와 레퍼런스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도구는 자유입니다. 다만 팀 크리틱을 위해 링크 공유가 되는 도구를 권장합니다.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03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2204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615184"/>
            <a:ext cx="26252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— 지면 · 웹 포트폴리오 공용, 이 수업의 기본 도구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Adobe InDesign — 페이지 수가 많은 인쇄형 포트폴리오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Keynote · PowerPoint — 발표형으로 빠르게 만들 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55648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103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22138" y="2103120"/>
            <a:ext cx="2204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배포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83226" y="2615184"/>
            <a:ext cx="26252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Framer — 노코드로 반응형 웹 포트폴리오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 — 가장 빠른 시작, 구조 중심 정리에 유리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Webflow · 개인 도메인 — 커스터마이징 여지가 클 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55648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103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81237" y="2103120"/>
            <a:ext cx="2204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2325" y="2615184"/>
            <a:ext cx="26252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Behance · Dribbble — 비주얼 레퍼런스 수집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Are.na · Pinterest — 태깅 기반 아카이브 구축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공고 사이트 — 요구 역량 원본 자료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35838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사용법 자체는 수업에서 가르치지 않습니다. 필요한 경우 1주차에 별도 워밍업 세션을 안내합니다.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2주 (선택)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과정을 마친 뒤, 실제 지원까지 이어가고 싶은 수강생을 위한 확장 과정입니다.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5254600" cy="3913632"/>
          </a:xfrm>
          <a:prstGeom prst="roundRect">
            <a:avLst>
              <a:gd name="adj" fmla="val 186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011680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09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60704" y="2706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" y="3035808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직무별 심화 리파인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60704" y="3474720"/>
            <a:ext cx="4413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 · UI · BX · 그래픽 등 지원 직무별로 요구 포인트가 다릅니다. 직무 그룹으로 나눠 맞춤 리파인을 진행하고, 1:1 개별 리뷰 30분을 배정합니다.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60704" y="4517136"/>
            <a:ext cx="4413352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4681728"/>
            <a:ext cx="4413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직무별 기대치 정밀 분석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개별 리뷰 30분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 맞춤 수정본 v3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7016" y="1719072"/>
            <a:ext cx="5254600" cy="3913632"/>
          </a:xfrm>
          <a:prstGeom prst="roundRect">
            <a:avLst>
              <a:gd name="adj" fmla="val 186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7640" y="2011680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717640" y="2706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17640" y="3035808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모의 면접과 실전 지원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17640" y="3474720"/>
            <a:ext cx="4413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포트폴리오를 실제 지원 패키지로 완성합니다. 예상 질문 기반 모의 면접을 진행하고, 지원처별 커스터마이징 전략을 세웁니다.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17640" y="4517136"/>
            <a:ext cx="4413352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7640" y="4681728"/>
            <a:ext cx="4413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기반 모의 면접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지원처별 커스터마이징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패키지 최종 점검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8255" y="822960"/>
            <a:ext cx="4023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주까지 해올 것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34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07008" y="26974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계정을 만들고 교육 플랜을 신청한다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7008" y="32644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지금까지의 작업 파일 원본을 한 폴더에 모은다 (학교 과제 · 개인 작업 전부)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07008" y="3831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가고 싶은 회사 또는 직무 3곳의 채용 공고를 캡처해 온다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73168"/>
            <a:ext cx="694944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9262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완성된 작업이 없어도 괜찮습니다. 3주차에 무엇을 완성할지부터 함께 정합니다.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제작 · 8주 과정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 제작 · 8주 과정</dc:title>
  <dc:subject>대학 · 아카데미용 포트폴리오 제작 커리큘럼 강의자료</dc:subject>
  <dc:creator>MIN.D</dc:creator>
  <cp:lastModifiedBy>MIN.D</cp:lastModifiedBy>
  <cp:revision>1</cp:revision>
  <dcterms:created xsi:type="dcterms:W3CDTF">2026-08-20T03:16:04Z</dcterms:created>
  <dcterms:modified xsi:type="dcterms:W3CDTF">2026-08-20T03:16:04Z</dcterms:modified>
</cp:coreProperties>
</file>