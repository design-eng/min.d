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서비스디자인 두 번째 시간입니다.
지난주에 각자 뭘 가지고 이번 학기를 시작하는지 확인했고, 공통으로 보이는 문제 다섯 가지를 짚었습니다. 그중 첫 번째와 두 번째 — 화면마다 규격이 다르고, 같은 요소를 여러 번 그렸다 — 를 오늘 함께 풉니다.
대상은 하단 GNB 하나입니다. 모든 화면에 반복되는 그 바를 수치로 정의하고, 한 번 고치면 전부 바뀌는 컴포넌트로 만드는 데까지 오늘 안에 갑니다.
오늘 배우는 방식은 GNB에만 쓰는 게 아닙니다. 3주차부터 나머지 공통 요소에 그대로 반복합니다.
[운영 메모]
오늘의 목적은 GNB 하나를 예쁘게 만드는 것이 아니라, '수치가 근거에서 나온다'는 사고방식을 하나의 요소로 끝까지 체험시키는 것이다. 이 방식을 GNB에서 익히면 3주차 이후 모든 컴포넌트에 그대로 적용된다.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오늘 세 시간은 이렇게 씁니다.
먼저 15분, 과제로 재 오신 실측표를 함께 봅니다. 그다음 35분 강의, 35분 실습. 쉬고 나서 30분 강의, 40분 실습입니다. 마지막 15분은 검증입니다 — 만든 컴포넌트가 실제로 작동하는지 서로 확인합니다.
오늘은 노트북을 계속 켜 두셔야 합니다. 강의 중에도 자기 파일을 열어 놓고 대조하시면 훨씬 잘 들어옵니다.
[운영 메모]
첫 15분 실측 공유가 오늘의 동기를 만든다. 같은 하단 바인데 학생마다 높이가 62 · 78 · 83 · 90으로 다르게 나오고, 심지어 한 사람 안에서도 화면마다 다르다. 그 표를 화면에 띄우고 시작하면 이후 설명이 필요 없다.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오늘의 목표 네 가지입니다.
첫째, 화면 기준 폭을 하나로 고정합니다. 모든 수치가 이 하나에서 갈라져 나옵니다.
둘째, GNB의 모든 값을 근거와 함께 말할 수 있게 됩니다. 높이가 왜 90인지 두 단계로 설명하실 수 있어야 합니다.
셋째, Tab Item을 컴포넌트로 만듭니다.
넷째 — 하나를 고쳐서 전 화면을 바꿉니다. 오늘 수업 마지막 15분에 직접 확인하실 겁니다.
아래 문장이 오늘의 핵심입니다. 디자인은 자유롭게 시작하지 않습니다. 제약을 먼저 계산하고, 남는 자유도 안에서 결정합니다.
[운영 메모]
네 번째를 수업 끝에 실제로 시연시킬 것. 마스터 컴포넌트 색 하나를 바꿔 12개 화면이 동시에 바뀌는 것을 본인 파일에서 봐야 체득된다.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먼저 수치가 어디서 오는지 봅니다.
하단 바의 높이는 취향이 아닙니다. 손가락 크기에서 시작해서 계산으로 내려옵니다.
그 전에 — 과제로 재 오신 실측표를 잠깐 보겠습니다. 화면에 띄울게요. 같은 하단 바인데 62, 78, 83, 90… 다 다르시죠. 심지어 한 분 안에서도 화면마다 다릅니다. 왜 이렇게 됐을까요?
[운영 메모]
35분 구간. 실측표를 먼저 띄우고 '왜 다 다른가'로 시작한다. 답을 주지 말고 물어볼 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이 문장이 오늘 가장 중요합니다.
"보기 좋아서 80으로 했어요"는 다음 사람이 이어 만들 수 없는 값입니다.
값의 근거가 취향이면 그 값을 바꿀 수도, 다른 화면에 적용할 수도 없습니다. 왜냐하면 기준이 그때그때 달라지니까요.
반대로 '터치 타깃 48을 보장하려면 콘텐츠 영역이 최소 56이고, 하단 안전 영역 34를 더해 90'이라고 말할 수 있으면, 화면이 바뀌어도 같은 논리로 다시 계산됩니다.
수치적 접근이란 이 계산의 사슬을 끊지 않는 것입니다. 오늘 실습 내내 제가 물어볼 게 딱 하나입니다 — 이 값의 근거는요?
[운영 메모]
이 슬라이드를 실습 내내 화면에 띄워 둔다. 순회하며 '이 값의 근거는요?'만 물으면 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첫 단계, 기준 화면을 하나로 고정합니다. 이걸 안 정하면 뒤의 모든 수치가 흔들립니다.
이번 학기 기준은 390 곱하기 844입니다. iPhone 14 계열의 논리 해상도고 Figma 프리셋에 있습니다. 어떤 값을 고르느냐보다 하나로 고정하는 게 훨씬 중요합니다.
검증 폭은 360으로 잡겠습니다. 안드로이드 다수 기기의 폭인데, 390에서 만든 뒤 360에 붙여 안 깨지면 대부분을 덮습니다. 오늘 과제에 들어갑니다.
그리고 단위는 pt나 dp입니다. px가 아닙니다. @2x, @3x는 내보낼 때의 배율이에요. 설계는 논리 단위로 합니다. 실측표에 px로 적으셨다면 배율로 나눠서 다시 적으세요.
실측표 보니까 기준 폭이 375, 390, 414로 갈리셨죠. 오늘부터 390으로 통일합니다.
[운영 메모]
단위 혼동(px vs pt)이 실측표에서 가장 많이 나오는 오류다. 첫 15분에 반드시 정리할 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높이는 세 단계로 내려옵니다. 각 단계에 근거가 있습니다.
첫 번째는 터치 타깃입니다. 애플 가이드라인은 최소 44, 머티리얼은 48이에요. 둘 중 큰 값 48을 안전선으로 쓰겠습니다. 여기는 디자이너가 정할 수 없는 값입니다. 손가락 크기에서 온 거니까요.
두 번째, 콘텐츠 높이 56. 48을 담고 남는 여백을 계산한 겁니다. 상단 패딩 6, 아이콘 24, 간격 4, 라벨 라인높이 14, 하단 패딩 8. 더하면 56이고 48보다 큽니다.
세 번째, 전체 높이 90. 콘텐츠 56에 하단 안전 영역 34를 더했습니다. 34는 홈 인디케이터가 차지하는 높이예요. 이걸 비워 두지 않으면 라벨이 가려집니다. 배경은 90 전체를 채우고, 터치 요소는 위쪽 56 안에 둡니다.
참고로 실제 iOS 탭바는 49 더하기 34로 83이고, 머티리얼은 56 더하기 24로 80입니다. 어느 쪽이든 좋습니다. 정답을 찾는 문제가 아니에요. 중요한 건 값이 계산에서 나왔고 학기 내내 같다는 점입니다.
[운영 메모]
'정답이 하나가 아니다'를 반드시 말할 것. 정답을 찾는 문제로 받아들이면 계산 과정을 건너뛰고 숫자만 외운다.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이걸 표로 정리하면 이렇게 됩니다. 항목, 값, 근거 세 칸이요.
탭 폭을 보세요. 390 나누기 4는 97.5입니다. 소수점이 나오죠. 이건 잠시 뒤에 다루겠습니다.
아이콘은 24 곱하기 24인데 실제 그림은 20 안쪽에 그리세요. 바깥 2씩을 비워야 시각적 크기가 맞습니다.
라벨은 11pt에 라인높이 14, 한 줄 고정입니다. 한글 네 자면 약 44 폭이니 탭이 다섯 개여서 78로 줄어도 안 잘립니다.
간격은 전부 4의 배수예요. 그 합이 콘텐츠 높이 56을 만듭니다.
맨 아래 문장 보세요. 근거 칸에 '보기 좋아서'가 들어가는 항목이 하나라도 있으면, 그 값은 아직 정해지지 않은 겁니다.
[운영 메모]
이 표를 인쇄해 나눠 주고 오른쪽 값 칸을 비운 채로 실습시키면 훨씬 잘 따라온다.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아까 미뤄둔 소수점 이야기입니다. 390 나누기 4는 97.5. 딱 안 떨어지죠.
이걸 어떻게 처리하느냐가 컴포넌트의 수준을 가릅니다.
고정 폭으로 박으면 어떻게 되나 보세요. 98씩 네 개면 392라서 2가 삐져나옵니다. 360 화면에 붙이면 직접 다시 계산해서 네 개를 다 고쳐야 하고요. 탭을 하나 늘리면 다섯 개를 전부 다시 입력해야 합니다.
반면 오토레이아웃에 맡기고 각 탭을 Fill container로 두면, 390에서는 97.5씩 정확히 나뉘고 360에서는 90씩으로 자동 재분배됩니다. 탭을 늘려도 알아서 78씩으로 바뀌고요.
값을 박아 넣는 대신 규칙을 넣는 겁니다. 이게 컴포넌트화의 출발점입니다. 뒤에서 이어서 하겠습니다.
[운영 메모]
이 슬라이드가 PART 1과 PART 2를 잇는다. '수치를 정한다'에서 '수치가 스스로 계산되게 한다'로 넘어가는 지점.</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자, 35분 실습입니다. 아직 Figma에서 만들지 않습니다. 표를 먼저 채웁니다.
먼저 8분. 화면 폭을 390으로 통일하고 탭 개수를 3에서 5 사이로 확정하세요. 지금 탭이 여섯 개 이상이신 분은 오늘 줄이셔야 합니다.
다음 12분. 여섯 항목을 채웁니다. 높이, 탭 폭, 아이콘, 라벨, 간격, 구분선. 값과 근거를 함께 쓰세요. 근거를 못 쓰겠으면 그 값을 다시 계산하셔야 한다는 뜻입니다.
다음 8분. 상태를 정의합니다. 기본과 활성 두 가지요. 색만으로 구분하지 마시고 아이콘을 outline과 fill로 함께 바꾸세요. 색각 이상이신 분도 구분할 수 있어야 합니다.
마지막 7분이 오늘 제일 중요합니다. 검산이에요. 상단 패딩 더하기 아이콘 더하기 간격 더하기 라벨 더하기 하단 패딩이 콘텐츠 높이와 일치하는지 실제로 더해 보세요. 안 맞으면 어느 값이 근거 없이 정해진 겁니다.
[운영 메모]
4단계 검산이 오늘 가장 중요한 순간이다. 더해서 안 맞는 학생이 절반이고, 그때 '어디가 임의로 정한 값인지'를 스스로 찾는다.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이제 정한 수치를 컴포넌트에 담습니다.
한 곳에 담아 두고, 화면에서는 꺼내 쓰기만 하는 구조를 만들 겁니다.
[운영 메모]
30분 구간. 세 장치(배리언트 · 오토레이아웃 · 컴포넌트 프로퍼티)를 화면 공유로 천천히 시연할 것. 여기서 못 따라오면 실습이 통째로 막힌다.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세 층으로 쌓습니다. 작은 것부터 만들어 올라가요.
가장 아래가 아이콘과 라벨입니다. 아이콘은 24 프레임 안에 정렬해서 컴포넌트로 만들고, 라벨은 텍스트 스타일로 등록합니다. 여기까지는 GNB 전용이 아니에요. 다른 데도 씁니다.
가운데가 Tab Item입니다. 아이콘 더하기 라벨 더하기 상태를 묶은 단위인데, 오늘 만드는 것 중 제일 중요합니다. 세로 오토레이아웃, 간격 4, 패딩은 위 6 아래 8.
맨 위가 GNB입니다. Tab Item 인스턴스 서너 개에 배경, 상단 구분선, 안전 영역 스페이서를 더한 거예요. 가로 오토레이아웃이고 각 아이템은 Fill container입니다.
화면에 붙이는 건 세 번째뿐입니다. Tab Item을 화면에 직접 놓지 마세요. 그러면 GNB가 화면마다 조금씩 달라집니다.
[운영 메모]
'Tab Item을 화면에 직접 놓지 않는다'는 규칙을 명시할 것. 이 실수가 나중에 정렬 문제로 돌아온다.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Figma에서 쓸 장치가 세 가지입니다. 이 셋을 쓰면 값을 다시 입력할 일이 없어집니다.
첫째 오토레이아웃. 간격을 규칙으로 만듭니다. Tab Item은 세로에 간격 4, 패딩 6과 8. GNB는 가로에 각 아이템 Fill container. 이러면 탭을 늘리거나 화면 폭이 바뀌어도 자동으로 재분배됩니다. 아까 그 97.5를 손으로 계산할 일이 없어져요.
둘째 배리언트. Tab Item에 State를 Default와 Active 두 개로 만듭니다. 인스턴스에서 드롭다운으로 전환하면 되니까, 화면마다 어느 탭이 활성인지만 바꾸면 됩니다.
셋째 컴포넌트 프로퍼티. 라벨은 Text property, 아이콘은 Instance swap, 배지는 Boolean으로 노출합니다. 그러면 Tab Item 컴포넌트 하나로 모든 탭을 만들 수 있어요.
세 장치를 다 쓰면 마스터 컴포넌트는 단 하나입니다. 탭이 네 개여도 컴포넌트는 하나, 인스턴스가 네 개인 거죠.
[운영 메모]
컴포넌트 프로퍼티를 처음 쓰는 학생이 많다. 라벨(Text)만이라도 반드시 적용시킬 것 — 나머지는 과제로 넘겨도 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40분 실습입니다. 만드는 것보다 화면에 적용하는 게 오늘의 목표입니다.
먼저 10분. Tab Item을 만듭니다. 아이콘 24, 간격 4, 라벨 11pt를 세로 오토레이아웃으로 묶고 패딩 위 6 아래 8. 컴포넌트로 만드세요.
다음 8분. State 배리언트 두 개를 만들고 라벨을 Text property로 노출합니다. 프로퍼티가 처음이신 분은 라벨만이라도 해 보세요. 나머지는 과제로 하셔도 됩니다.
다음 10분. GNB를 조립합니다. Tab Item 인스턴스 네 개를 가로 오토레이아웃에 넣고 각각 Fill container로. 배경 90 높이에 상단 구분선, 하단 34 스페이서까지.
마지막 12분. 1학기 화면의 하단 바를 전부 지우고 GNB 인스턴스로 교체하세요. 시간이 모자라면 최소 다섯 화면까지는 하시고 나머지는 과제로 넘기시면 됩니다. 다만 한 번은 직접 교체해 보셔야 합니다.
[운영 메모]
4단계에서 시간이 모자라는 학생이 대부분이다. 수업에서 최소 5화면까지 적용시키고 나머지는 과제로. 한 번이라도 교체해 봐야 과제로 이어진다.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마지막 15분입니다. 2인 1조로 서로의 파일에서 확인하겠습니다.
마스터 Tab Item에서 라벨 색을 한 단계 진하게 바꿔 보세요. 그리고 적용한 화면들을 넘겨 보면서 전부 바뀌었는지 봅니다. 안 바뀐 화면이 있으면 그 화면은 인스턴스가 아닌 겁니다.
그다음 GNB 폭을 360으로 줄여서 탭이 균등하게 재분배되는지 보세요.
오른쪽이 자주 나오는 문제들입니다. 복사한 인스턴스를 Detach 해서 연결이 끊긴 경우, Tab Item을 화면에 직접 놓아서 GNB를 안 거친 경우, 탭 폭을 Fill이 아니라 고정으로 둬서 360에서 넘치는 경우, 안전 영역 34를 안 넣어서 라벨이 화면 밖으로 나간 경우.
확인이 끝나면 바꾼 색은 원래대로 되돌리세요. 되돌릴 때도 마스터 하나만 고치면 됩니다. 그게 오늘의 결론입니다.
[운영 메모]
이 검증을 수업 안에서 반드시 시킬 것. 눈으로 본 학생과 설명만 들은 학생의 3주차 작업 속도가 확연히 다르다.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제출물 체크리스트입니다. 열두 개인데 아홉 번째와 열 번째를 보세요.
모든 화면의 하단 바가 GNB 인스턴스로 교체되었는가. 직접 그린 하단 바가 한 개도 남아 있지 않은가.
이 둘이 오늘의 실질입니다. 컴포넌트만 만들고 화면에 적용하지 않으면 다음 주에도 낱개 화면을 고치고 계실 겁니다.
그리고 세 번째 — 근거 칸에 '보기 좋아서'가 하나도 없어야 합니다. 네 번째 검산도 꼭 하시고요.
3주차부터는 이 방식을 상단 헤더, 리스트, 카드로 확장합니다. 오늘 만든 게 그 출발점입니다.
[운영 메모]
체크리스트를 클래스룸 과제 설명에 그대로 복사해 둘 것. 특히 10번을 명시해야 실제로 교체한다.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정리하겠습니다.
과제 세 가지입니다. GNB 규격 명세서 확정, 전 화면 인스턴스 적용, 그리고 360폭 검증.
두 번째가 오늘의 진짜 과제입니다. 1학기에 만든 모든 화면의 하단 바를 오늘 만든 컴포넌트 인스턴스로 교체하세요. 직접 그린 하단 바가 한 개도 남으면 안 됩니다. 한 개라도 남아 있으면 다음 주에도 낱개 화면을 고치고 계실 겁니다.
세 번째는 화면 폭 360 프레임을 하나 만들어 GNB를 붙여 보는 겁니다. 깨지는 곳이 있으면 오토레이아웃 설정을 고치세요.
다음 주에는 나머지 공통 요소로 같은 작업을 확장합니다. 상단 헤더, 리스트, 카드요. 오늘 방식을 그대로 반복하니까 오늘 이해하고 가시는 게 중요합니다.
질문 있으신 분?
[운영 메모]
2번이 오늘의 실질이다. 컴포넌트만 만들고 화면에 적용하지 않으면 다음 주에도 낱개 화면을 고치고 있게 된다. 클래스룸 과제 설명에 '직접 그린 하단 바가 남아 있으면 미제출로 본다'고 명시할 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서비스디자인</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1 기준</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02</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7894015" y="713232"/>
            <a:ext cx="3657600" cy="1517904"/>
          </a:xfrm>
          <a:prstGeom prst="rect">
            <a:avLst/>
          </a:prstGeom>
          <a:noFill/>
          <a:ln/>
        </p:spPr>
        <p:txBody>
          <a:bodyPr wrap="square" lIns="0" tIns="0" rIns="0" bIns="0" rtlCol="0" anchor="ctr"/>
          <a:lstStyle/>
          <a:p>
            <a:pPr algn="r" indent="0" marL="0">
              <a:buNone/>
            </a:pPr>
            <a:r>
              <a:rPr lang="en-US" sz="13200" dirty="0">
                <a:solidFill>
                  <a:srgbClr val="111111"/>
                </a:solidFill>
                <a:latin typeface="Pretendard Black" pitchFamily="34" charset="0"/>
                <a:ea typeface="Pretendard Black" pitchFamily="34" charset="-122"/>
                <a:cs typeface="Pretendard Black" pitchFamily="34" charset="-120"/>
              </a:rPr>
              <a:t>02</a:t>
            </a:r>
            <a:endParaRPr lang="en-US" sz="13200" dirty="0"/>
          </a:p>
        </p:txBody>
      </p:sp>
      <p:sp>
        <p:nvSpPr>
          <p:cNvPr id="7" name="Shape 5"/>
          <p:cNvSpPr/>
          <p:nvPr/>
        </p:nvSpPr>
        <p:spPr>
          <a:xfrm>
            <a:off x="941832" y="877824"/>
            <a:ext cx="0" cy="603504"/>
          </a:xfrm>
          <a:prstGeom prst="line">
            <a:avLst/>
          </a:prstGeom>
          <a:noFill/>
          <a:ln w="15875">
            <a:solidFill>
              <a:srgbClr val="111111"/>
            </a:solidFill>
            <a:prstDash val="solid"/>
          </a:ln>
        </p:spPr>
      </p:sp>
      <p:sp>
        <p:nvSpPr>
          <p:cNvPr id="8" name="Shape 6"/>
          <p:cNvSpPr/>
          <p:nvPr/>
        </p:nvSpPr>
        <p:spPr>
          <a:xfrm>
            <a:off x="640080" y="1239926"/>
            <a:ext cx="301752" cy="241402"/>
          </a:xfrm>
          <a:prstGeom prst="line">
            <a:avLst/>
          </a:prstGeom>
          <a:noFill/>
          <a:ln w="15875">
            <a:solidFill>
              <a:srgbClr val="111111"/>
            </a:solidFill>
            <a:prstDash val="solid"/>
          </a:ln>
        </p:spPr>
      </p:sp>
      <p:sp>
        <p:nvSpPr>
          <p:cNvPr id="9" name="Shape 7"/>
          <p:cNvSpPr/>
          <p:nvPr/>
        </p:nvSpPr>
        <p:spPr>
          <a:xfrm flipV="1">
            <a:off x="941832" y="1239926"/>
            <a:ext cx="301752" cy="241402"/>
          </a:xfrm>
          <a:prstGeom prst="line">
            <a:avLst/>
          </a:prstGeom>
          <a:noFill/>
          <a:ln w="15875">
            <a:solidFill>
              <a:srgbClr val="111111"/>
            </a:solidFill>
            <a:prstDash val="solid"/>
          </a:ln>
        </p:spPr>
      </p:sp>
      <p:sp>
        <p:nvSpPr>
          <p:cNvPr id="10" name="Text 8"/>
          <p:cNvSpPr/>
          <p:nvPr/>
        </p:nvSpPr>
        <p:spPr>
          <a:xfrm>
            <a:off x="640080" y="1901952"/>
            <a:ext cx="7498080" cy="237744"/>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WEEK 02  ·  PHASE 1 기준</a:t>
            </a:r>
            <a:endParaRPr lang="en-US" sz="950" dirty="0"/>
          </a:p>
        </p:txBody>
      </p:sp>
      <p:sp>
        <p:nvSpPr>
          <p:cNvPr id="11" name="Text 9"/>
          <p:cNvSpPr/>
          <p:nvPr/>
        </p:nvSpPr>
        <p:spPr>
          <a:xfrm>
            <a:off x="640080" y="2194560"/>
            <a:ext cx="8595360" cy="1225296"/>
          </a:xfrm>
          <a:prstGeom prst="rect">
            <a:avLst/>
          </a:prstGeom>
          <a:noFill/>
          <a:ln/>
        </p:spPr>
        <p:txBody>
          <a:bodyPr wrap="square" lIns="0" tIns="0" rIns="0" bIns="0" rtlCol="0" anchor="t"/>
          <a:lstStyle/>
          <a:p>
            <a:pPr indent="0" marL="0">
              <a:lnSpc>
                <a:spcPct val="112000"/>
              </a:lnSpc>
              <a:buNone/>
            </a:pPr>
            <a:r>
              <a:rPr lang="en-US" sz="4000" dirty="0">
                <a:solidFill>
                  <a:srgbClr val="111111"/>
                </a:solidFill>
                <a:latin typeface="Pretendard Black" pitchFamily="34" charset="0"/>
                <a:ea typeface="Pretendard Black" pitchFamily="34" charset="-122"/>
                <a:cs typeface="Pretendard Black" pitchFamily="34" charset="-120"/>
              </a:rPr>
              <a:t>하단 GNB · 수치로 짓는 컴포넌트</a:t>
            </a:r>
            <a:endParaRPr lang="en-US" sz="4000" dirty="0"/>
          </a:p>
        </p:txBody>
      </p:sp>
      <p:sp>
        <p:nvSpPr>
          <p:cNvPr id="12" name="Text 10"/>
          <p:cNvSpPr/>
          <p:nvPr/>
        </p:nvSpPr>
        <p:spPr>
          <a:xfrm>
            <a:off x="640080" y="3547872"/>
            <a:ext cx="7863840" cy="694944"/>
          </a:xfrm>
          <a:prstGeom prst="rect">
            <a:avLst/>
          </a:prstGeom>
          <a:noFill/>
          <a:ln/>
        </p:spPr>
        <p:txBody>
          <a:bodyPr wrap="square" lIns="0" tIns="0" rIns="0" bIns="0" rtlCol="0" anchor="t"/>
          <a:lstStyle/>
          <a:p>
            <a:pPr indent="0" marL="0">
              <a:lnSpc>
                <a:spcPct val="130000"/>
              </a:lnSpc>
              <a:buNone/>
            </a:pPr>
            <a:r>
              <a:rPr lang="en-US" sz="1600" dirty="0">
                <a:solidFill>
                  <a:srgbClr val="6E6E6E"/>
                </a:solidFill>
                <a:latin typeface="Pretendard Light" pitchFamily="34" charset="0"/>
                <a:ea typeface="Pretendard Light" pitchFamily="34" charset="-122"/>
                <a:cs typeface="Pretendard Light" pitchFamily="34" charset="-120"/>
              </a:rPr>
              <a:t>모든 화면에 반복되는 하단 바를 수치로 정의하고,</a:t>
            </a:r>
            <a:endParaRPr lang="en-US" sz="1600" dirty="0"/>
          </a:p>
          <a:p>
            <a:pPr indent="0" marL="0">
              <a:lnSpc>
                <a:spcPct val="130000"/>
              </a:lnSpc>
              <a:buNone/>
            </a:pPr>
            <a:r>
              <a:rPr lang="en-US" sz="1600" dirty="0">
                <a:solidFill>
                  <a:srgbClr val="6E6E6E"/>
                </a:solidFill>
                <a:latin typeface="Pretendard Light" pitchFamily="34" charset="0"/>
                <a:ea typeface="Pretendard Light" pitchFamily="34" charset="-122"/>
                <a:cs typeface="Pretendard Light" pitchFamily="34" charset="-120"/>
              </a:rPr>
              <a:t>한 번 고치면 전부 바뀌는 컴포넌트로 만듭니다.</a:t>
            </a:r>
            <a:endParaRPr lang="en-US" sz="1600" dirty="0"/>
          </a:p>
        </p:txBody>
      </p:sp>
      <p:sp>
        <p:nvSpPr>
          <p:cNvPr id="13" name="Shape 11"/>
          <p:cNvSpPr/>
          <p:nvPr/>
        </p:nvSpPr>
        <p:spPr>
          <a:xfrm>
            <a:off x="640080" y="4443984"/>
            <a:ext cx="2743200" cy="7315"/>
          </a:xfrm>
          <a:prstGeom prst="rect">
            <a:avLst/>
          </a:prstGeom>
          <a:solidFill>
            <a:srgbClr val="111111"/>
          </a:solidFill>
          <a:ln w="12700">
            <a:solidFill>
              <a:srgbClr val="111111"/>
            </a:solidFill>
            <a:prstDash val="solid"/>
          </a:ln>
        </p:spPr>
      </p:sp>
      <p:sp>
        <p:nvSpPr>
          <p:cNvPr id="14" name="Text 12"/>
          <p:cNvSpPr/>
          <p:nvPr/>
        </p:nvSpPr>
        <p:spPr>
          <a:xfrm>
            <a:off x="640080" y="4645152"/>
            <a:ext cx="914400" cy="292608"/>
          </a:xfrm>
          <a:prstGeom prst="rect">
            <a:avLst/>
          </a:prstGeom>
          <a:noFill/>
          <a:ln/>
        </p:spPr>
        <p:txBody>
          <a:bodyPr wrap="square" lIns="0" tIns="0" rIns="0" bIns="0" rtlCol="0" anchor="ctr"/>
          <a:lstStyle/>
          <a:p>
            <a:pPr indent="0" marL="0">
              <a:buNone/>
            </a:pPr>
            <a:r>
              <a:rPr lang="en-US" sz="950" spc="140" kern="0" dirty="0">
                <a:solidFill>
                  <a:srgbClr val="9B9B9B"/>
                </a:solidFill>
                <a:latin typeface="Pretendard" pitchFamily="34" charset="0"/>
                <a:ea typeface="Pretendard" pitchFamily="34" charset="-122"/>
                <a:cs typeface="Pretendard" pitchFamily="34" charset="-120"/>
              </a:rPr>
              <a:t>과목</a:t>
            </a:r>
            <a:endParaRPr lang="en-US" sz="950" dirty="0"/>
          </a:p>
        </p:txBody>
      </p:sp>
      <p:sp>
        <p:nvSpPr>
          <p:cNvPr id="15" name="Text 13"/>
          <p:cNvSpPr/>
          <p:nvPr/>
        </p:nvSpPr>
        <p:spPr>
          <a:xfrm>
            <a:off x="1645920" y="4645152"/>
            <a:ext cx="7680960" cy="292608"/>
          </a:xfrm>
          <a:prstGeom prst="rect">
            <a:avLst/>
          </a:prstGeom>
          <a:noFill/>
          <a:ln/>
        </p:spPr>
        <p:txBody>
          <a:bodyPr wrap="square" lIns="0" tIns="0" rIns="0" bIns="0" rtlCol="0" anchor="ctr"/>
          <a:lstStyle/>
          <a:p>
            <a:pPr indent="0" marL="0">
              <a:buNone/>
            </a:pPr>
            <a:r>
              <a:rPr lang="en-US" sz="1200" dirty="0">
                <a:solidFill>
                  <a:srgbClr val="1F1F1F"/>
                </a:solidFill>
                <a:latin typeface="Pretendard" pitchFamily="34" charset="0"/>
                <a:ea typeface="Pretendard" pitchFamily="34" charset="-122"/>
                <a:cs typeface="Pretendard" pitchFamily="34" charset="-120"/>
              </a:rPr>
              <a:t>서비스디자인 · 학부 3학년</a:t>
            </a:r>
            <a:endParaRPr lang="en-US" sz="1200" dirty="0"/>
          </a:p>
        </p:txBody>
      </p:sp>
      <p:sp>
        <p:nvSpPr>
          <p:cNvPr id="16" name="Text 14"/>
          <p:cNvSpPr/>
          <p:nvPr/>
        </p:nvSpPr>
        <p:spPr>
          <a:xfrm>
            <a:off x="640080" y="5029200"/>
            <a:ext cx="914400" cy="292608"/>
          </a:xfrm>
          <a:prstGeom prst="rect">
            <a:avLst/>
          </a:prstGeom>
          <a:noFill/>
          <a:ln/>
        </p:spPr>
        <p:txBody>
          <a:bodyPr wrap="square" lIns="0" tIns="0" rIns="0" bIns="0" rtlCol="0" anchor="ctr"/>
          <a:lstStyle/>
          <a:p>
            <a:pPr indent="0" marL="0">
              <a:buNone/>
            </a:pPr>
            <a:r>
              <a:rPr lang="en-US" sz="950" spc="140" kern="0" dirty="0">
                <a:solidFill>
                  <a:srgbClr val="9B9B9B"/>
                </a:solidFill>
                <a:latin typeface="Pretendard" pitchFamily="34" charset="0"/>
                <a:ea typeface="Pretendard" pitchFamily="34" charset="-122"/>
                <a:cs typeface="Pretendard" pitchFamily="34" charset="-120"/>
              </a:rPr>
              <a:t>오늘</a:t>
            </a:r>
            <a:endParaRPr lang="en-US" sz="950" dirty="0"/>
          </a:p>
        </p:txBody>
      </p:sp>
      <p:sp>
        <p:nvSpPr>
          <p:cNvPr id="17" name="Text 15"/>
          <p:cNvSpPr/>
          <p:nvPr/>
        </p:nvSpPr>
        <p:spPr>
          <a:xfrm>
            <a:off x="1645920" y="5029200"/>
            <a:ext cx="7680960" cy="292608"/>
          </a:xfrm>
          <a:prstGeom prst="rect">
            <a:avLst/>
          </a:prstGeom>
          <a:noFill/>
          <a:ln/>
        </p:spPr>
        <p:txBody>
          <a:bodyPr wrap="square" lIns="0" tIns="0" rIns="0" bIns="0" rtlCol="0" anchor="ctr"/>
          <a:lstStyle/>
          <a:p>
            <a:pPr indent="0" marL="0">
              <a:buNone/>
            </a:pPr>
            <a:r>
              <a:rPr lang="en-US" sz="1200" dirty="0">
                <a:solidFill>
                  <a:srgbClr val="1F1F1F"/>
                </a:solidFill>
                <a:latin typeface="Pretendard" pitchFamily="34" charset="0"/>
                <a:ea typeface="Pretendard" pitchFamily="34" charset="-122"/>
                <a:cs typeface="Pretendard" pitchFamily="34" charset="-120"/>
              </a:rPr>
              <a:t>3시간 — 강의 35% · 실습 65% — 오늘 만든 규격이 학기 내내 기준이 됩니다</a:t>
            </a:r>
            <a:endParaRPr lang="en-US" sz="1200" dirty="0"/>
          </a:p>
        </p:txBody>
      </p:sp>
      <p:sp>
        <p:nvSpPr>
          <p:cNvPr id="18" name="Text 16"/>
          <p:cNvSpPr/>
          <p:nvPr/>
        </p:nvSpPr>
        <p:spPr>
          <a:xfrm>
            <a:off x="640080" y="5413248"/>
            <a:ext cx="914400" cy="292608"/>
          </a:xfrm>
          <a:prstGeom prst="rect">
            <a:avLst/>
          </a:prstGeom>
          <a:noFill/>
          <a:ln/>
        </p:spPr>
        <p:txBody>
          <a:bodyPr wrap="square" lIns="0" tIns="0" rIns="0" bIns="0" rtlCol="0" anchor="ctr"/>
          <a:lstStyle/>
          <a:p>
            <a:pPr indent="0" marL="0">
              <a:buNone/>
            </a:pPr>
            <a:r>
              <a:rPr lang="en-US" sz="950" spc="140" kern="0" dirty="0">
                <a:solidFill>
                  <a:srgbClr val="9B9B9B"/>
                </a:solidFill>
                <a:latin typeface="Pretendard" pitchFamily="34" charset="0"/>
                <a:ea typeface="Pretendard" pitchFamily="34" charset="-122"/>
                <a:cs typeface="Pretendard" pitchFamily="34" charset="-120"/>
              </a:rPr>
              <a:t>제출물</a:t>
            </a:r>
            <a:endParaRPr lang="en-US" sz="950" dirty="0"/>
          </a:p>
        </p:txBody>
      </p:sp>
      <p:sp>
        <p:nvSpPr>
          <p:cNvPr id="19" name="Text 17"/>
          <p:cNvSpPr/>
          <p:nvPr/>
        </p:nvSpPr>
        <p:spPr>
          <a:xfrm>
            <a:off x="1645920" y="5413248"/>
            <a:ext cx="7680960" cy="292608"/>
          </a:xfrm>
          <a:prstGeom prst="rect">
            <a:avLst/>
          </a:prstGeom>
          <a:noFill/>
          <a:ln/>
        </p:spPr>
        <p:txBody>
          <a:bodyPr wrap="square" lIns="0" tIns="0" rIns="0" bIns="0" rtlCol="0" anchor="ctr"/>
          <a:lstStyle/>
          <a:p>
            <a:pPr indent="0" marL="0">
              <a:buNone/>
            </a:pPr>
            <a:r>
              <a:rPr lang="en-US" sz="1200" dirty="0">
                <a:solidFill>
                  <a:srgbClr val="1F1F1F"/>
                </a:solidFill>
                <a:latin typeface="Pretendard" pitchFamily="34" charset="0"/>
                <a:ea typeface="Pretendard" pitchFamily="34" charset="-122"/>
                <a:cs typeface="Pretendard" pitchFamily="34" charset="-120"/>
              </a:rPr>
              <a:t>GNB 규격 명세서 · Figma Tab Item 컴포넌트 · 전 화면 인스턴스 적용</a:t>
            </a:r>
            <a:endParaRPr lang="en-US" sz="1200" dirty="0"/>
          </a:p>
        </p:txBody>
      </p:sp>
      <p:sp>
        <p:nvSpPr>
          <p:cNvPr id="20" name="Text 18"/>
          <p:cNvSpPr/>
          <p:nvPr/>
        </p:nvSpPr>
        <p:spPr>
          <a:xfrm rot="16200000">
            <a:off x="10436047" y="3291840"/>
            <a:ext cx="2743200" cy="274320"/>
          </a:xfrm>
          <a:prstGeom prst="rect">
            <a:avLst/>
          </a:prstGeom>
          <a:noFill/>
          <a:ln/>
        </p:spPr>
        <p:txBody>
          <a:bodyPr wrap="square" lIns="0" tIns="0" rIns="0" bIns="0" rtlCol="0" anchor="ctr"/>
          <a:lstStyle/>
          <a:p>
            <a:pPr algn="ctr" indent="0" marL="0">
              <a:buNone/>
            </a:pPr>
            <a:r>
              <a:rPr lang="en-US" sz="850" spc="260" kern="0" dirty="0">
                <a:solidFill>
                  <a:srgbClr val="9B9B9B"/>
                </a:solidFill>
                <a:latin typeface="Pretendard" pitchFamily="34" charset="0"/>
                <a:ea typeface="Pretendard" pitchFamily="34" charset="-122"/>
                <a:cs typeface="Pretendard" pitchFamily="34" charset="-120"/>
              </a:rPr>
              <a:t>WONKWANG UNIV · 2026-2</a:t>
            </a:r>
            <a:endParaRPr lang="en-US" sz="850" dirty="0"/>
          </a:p>
        </p:txBody>
      </p:sp>
      <p:sp>
        <p:nvSpPr>
          <p:cNvPr id="21" name="Shape 19"/>
          <p:cNvSpPr/>
          <p:nvPr/>
        </p:nvSpPr>
        <p:spPr>
          <a:xfrm>
            <a:off x="640080" y="6291072"/>
            <a:ext cx="10911535" cy="7315"/>
          </a:xfrm>
          <a:prstGeom prst="rect">
            <a:avLst/>
          </a:prstGeom>
          <a:solidFill>
            <a:srgbClr val="DCDCDC"/>
          </a:solidFill>
          <a:ln w="12700">
            <a:solidFill>
              <a:srgbClr val="DCDCDC"/>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서비스디자인</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1 기준</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02</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TODAY</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Black" pitchFamily="34" charset="0"/>
                <a:ea typeface="Pretendard Black" pitchFamily="34" charset="-122"/>
                <a:cs typeface="Pretendard Black" pitchFamily="34" charset="-120"/>
              </a:rPr>
              <a:t>오늘의 3시간</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강의 35% · 실습 65% — 오늘 만든 규격이 학기 내내 기준이 됩니다</a:t>
            </a:r>
            <a:endParaRPr lang="en-US" sz="1150" dirty="0"/>
          </a:p>
        </p:txBody>
      </p:sp>
      <p:sp>
        <p:nvSpPr>
          <p:cNvPr id="9" name="Shape 7"/>
          <p:cNvSpPr/>
          <p:nvPr/>
        </p:nvSpPr>
        <p:spPr>
          <a:xfrm>
            <a:off x="640080" y="1682496"/>
            <a:ext cx="10911535" cy="7315"/>
          </a:xfrm>
          <a:prstGeom prst="rect">
            <a:avLst/>
          </a:prstGeom>
          <a:solidFill>
            <a:srgbClr val="111111"/>
          </a:solidFill>
          <a:ln w="12700">
            <a:solidFill>
              <a:srgbClr val="111111"/>
            </a:solidFill>
            <a:prstDash val="solid"/>
          </a:ln>
        </p:spPr>
      </p:sp>
      <p:sp>
        <p:nvSpPr>
          <p:cNvPr id="10" name="Text 8"/>
          <p:cNvSpPr/>
          <p:nvPr/>
        </p:nvSpPr>
        <p:spPr>
          <a:xfrm>
            <a:off x="640080" y="1719072"/>
            <a:ext cx="1600200" cy="593054"/>
          </a:xfrm>
          <a:prstGeom prst="rect">
            <a:avLst/>
          </a:prstGeom>
          <a:noFill/>
          <a:ln/>
        </p:spPr>
        <p:txBody>
          <a:bodyPr wrap="square" lIns="0" tIns="0" rIns="0" bIns="0" rtlCol="0" anchor="ctr"/>
          <a:lstStyle/>
          <a:p>
            <a:pPr indent="0" marL="0">
              <a:buNone/>
            </a:pPr>
            <a:r>
              <a:rPr lang="en-US" sz="1050" b="1" spc="60" kern="0" dirty="0">
                <a:solidFill>
                  <a:srgbClr val="111111"/>
                </a:solidFill>
                <a:latin typeface="Pretendard" pitchFamily="34" charset="0"/>
                <a:ea typeface="Pretendard" pitchFamily="34" charset="-122"/>
                <a:cs typeface="Pretendard" pitchFamily="34" charset="-120"/>
              </a:rPr>
              <a:t>00:00–00:15</a:t>
            </a:r>
            <a:endParaRPr lang="en-US" sz="1050" dirty="0"/>
          </a:p>
        </p:txBody>
      </p:sp>
      <p:sp>
        <p:nvSpPr>
          <p:cNvPr id="11" name="Text 9"/>
          <p:cNvSpPr/>
          <p:nvPr/>
        </p:nvSpPr>
        <p:spPr>
          <a:xfrm>
            <a:off x="2377440" y="1719072"/>
            <a:ext cx="6888175" cy="593054"/>
          </a:xfrm>
          <a:prstGeom prst="rect">
            <a:avLst/>
          </a:prstGeom>
          <a:noFill/>
          <a:ln/>
        </p:spPr>
        <p:txBody>
          <a:bodyPr wrap="square" lIns="0" tIns="0" rIns="0" bIns="0" rtlCol="0" anchor="ctr"/>
          <a:lstStyle/>
          <a:p>
            <a:pPr indent="0" marL="0">
              <a:buNone/>
            </a:pPr>
            <a:r>
              <a:rPr lang="en-US" sz="1300" b="1" dirty="0">
                <a:solidFill>
                  <a:srgbClr val="111111"/>
                </a:solidFill>
                <a:latin typeface="Pretendard" pitchFamily="34" charset="0"/>
                <a:ea typeface="Pretendard" pitchFamily="34" charset="-122"/>
                <a:cs typeface="Pretendard" pitchFamily="34" charset="-120"/>
              </a:rPr>
              <a:t>실측표 공유 — 내 화면은 지금 몇인가</a:t>
            </a:r>
            <a:endParaRPr lang="en-US" sz="1300" dirty="0"/>
          </a:p>
        </p:txBody>
      </p:sp>
      <p:sp>
        <p:nvSpPr>
          <p:cNvPr id="12" name="Text 10"/>
          <p:cNvSpPr/>
          <p:nvPr/>
        </p:nvSpPr>
        <p:spPr>
          <a:xfrm>
            <a:off x="9265615" y="1719072"/>
            <a:ext cx="2286000" cy="593054"/>
          </a:xfrm>
          <a:prstGeom prst="rect">
            <a:avLst/>
          </a:prstGeom>
          <a:noFill/>
          <a:ln/>
        </p:spPr>
        <p:txBody>
          <a:bodyPr wrap="square" lIns="0" tIns="0" rIns="0" bIns="0" rtlCol="0" anchor="ctr"/>
          <a:lstStyle/>
          <a:p>
            <a:pPr algn="r" indent="0" marL="0">
              <a:buNone/>
            </a:pPr>
            <a:r>
              <a:rPr lang="en-US" sz="1050" dirty="0">
                <a:solidFill>
                  <a:srgbClr val="6E6E6E"/>
                </a:solidFill>
                <a:latin typeface="Pretendard" pitchFamily="34" charset="0"/>
                <a:ea typeface="Pretendard" pitchFamily="34" charset="-122"/>
                <a:cs typeface="Pretendard" pitchFamily="34" charset="-120"/>
              </a:rPr>
              <a:t>2인 1조</a:t>
            </a:r>
            <a:endParaRPr lang="en-US" sz="1050" dirty="0"/>
          </a:p>
        </p:txBody>
      </p:sp>
      <p:sp>
        <p:nvSpPr>
          <p:cNvPr id="13" name="Shape 11"/>
          <p:cNvSpPr/>
          <p:nvPr/>
        </p:nvSpPr>
        <p:spPr>
          <a:xfrm>
            <a:off x="640080" y="2293838"/>
            <a:ext cx="10911535" cy="7315"/>
          </a:xfrm>
          <a:prstGeom prst="rect">
            <a:avLst/>
          </a:prstGeom>
          <a:solidFill>
            <a:srgbClr val="DCDCDC"/>
          </a:solidFill>
          <a:ln w="12700">
            <a:solidFill>
              <a:srgbClr val="DCDCDC"/>
            </a:solidFill>
            <a:prstDash val="solid"/>
          </a:ln>
        </p:spPr>
      </p:sp>
      <p:sp>
        <p:nvSpPr>
          <p:cNvPr id="14" name="Text 12"/>
          <p:cNvSpPr/>
          <p:nvPr/>
        </p:nvSpPr>
        <p:spPr>
          <a:xfrm>
            <a:off x="640080" y="2312126"/>
            <a:ext cx="1600200" cy="593054"/>
          </a:xfrm>
          <a:prstGeom prst="rect">
            <a:avLst/>
          </a:prstGeom>
          <a:noFill/>
          <a:ln/>
        </p:spPr>
        <p:txBody>
          <a:bodyPr wrap="square" lIns="0" tIns="0" rIns="0" bIns="0" rtlCol="0" anchor="ctr"/>
          <a:lstStyle/>
          <a:p>
            <a:pPr indent="0" marL="0">
              <a:buNone/>
            </a:pPr>
            <a:r>
              <a:rPr lang="en-US" sz="1050" b="1" spc="60" kern="0" dirty="0">
                <a:solidFill>
                  <a:srgbClr val="111111"/>
                </a:solidFill>
                <a:latin typeface="Pretendard" pitchFamily="34" charset="0"/>
                <a:ea typeface="Pretendard" pitchFamily="34" charset="-122"/>
                <a:cs typeface="Pretendard" pitchFamily="34" charset="-120"/>
              </a:rPr>
              <a:t>00:15–00:50</a:t>
            </a:r>
            <a:endParaRPr lang="en-US" sz="1050" dirty="0"/>
          </a:p>
        </p:txBody>
      </p:sp>
      <p:sp>
        <p:nvSpPr>
          <p:cNvPr id="15" name="Text 13"/>
          <p:cNvSpPr/>
          <p:nvPr/>
        </p:nvSpPr>
        <p:spPr>
          <a:xfrm>
            <a:off x="2377440" y="2312126"/>
            <a:ext cx="6888175" cy="593054"/>
          </a:xfrm>
          <a:prstGeom prst="rect">
            <a:avLst/>
          </a:prstGeom>
          <a:noFill/>
          <a:ln/>
        </p:spPr>
        <p:txBody>
          <a:bodyPr wrap="square" lIns="0" tIns="0" rIns="0" bIns="0" rtlCol="0" anchor="ctr"/>
          <a:lstStyle/>
          <a:p>
            <a:pPr indent="0" marL="0">
              <a:buNone/>
            </a:pPr>
            <a:r>
              <a:rPr lang="en-US" sz="1300" b="1" dirty="0">
                <a:solidFill>
                  <a:srgbClr val="111111"/>
                </a:solidFill>
                <a:latin typeface="Pretendard" pitchFamily="34" charset="0"/>
                <a:ea typeface="Pretendard" pitchFamily="34" charset="-122"/>
                <a:cs typeface="Pretendard" pitchFamily="34" charset="-120"/>
              </a:rPr>
              <a:t>PART 1 — 수치는 어디서 오는가</a:t>
            </a:r>
            <a:endParaRPr lang="en-US" sz="1300" dirty="0"/>
          </a:p>
        </p:txBody>
      </p:sp>
      <p:sp>
        <p:nvSpPr>
          <p:cNvPr id="16" name="Text 14"/>
          <p:cNvSpPr/>
          <p:nvPr/>
        </p:nvSpPr>
        <p:spPr>
          <a:xfrm>
            <a:off x="9265615" y="2312126"/>
            <a:ext cx="2286000" cy="593054"/>
          </a:xfrm>
          <a:prstGeom prst="rect">
            <a:avLst/>
          </a:prstGeom>
          <a:noFill/>
          <a:ln/>
        </p:spPr>
        <p:txBody>
          <a:bodyPr wrap="square" lIns="0" tIns="0" rIns="0" bIns="0" rtlCol="0" anchor="ctr"/>
          <a:lstStyle/>
          <a:p>
            <a:pPr algn="r" indent="0" marL="0">
              <a:buNone/>
            </a:pPr>
            <a:r>
              <a:rPr lang="en-US" sz="1050" dirty="0">
                <a:solidFill>
                  <a:srgbClr val="6E6E6E"/>
                </a:solidFill>
                <a:latin typeface="Pretendard" pitchFamily="34" charset="0"/>
                <a:ea typeface="Pretendard" pitchFamily="34" charset="-122"/>
                <a:cs typeface="Pretendard" pitchFamily="34" charset="-120"/>
              </a:rPr>
              <a:t>강의 + 시연</a:t>
            </a:r>
            <a:endParaRPr lang="en-US" sz="1050" dirty="0"/>
          </a:p>
        </p:txBody>
      </p:sp>
      <p:sp>
        <p:nvSpPr>
          <p:cNvPr id="17" name="Shape 15"/>
          <p:cNvSpPr/>
          <p:nvPr/>
        </p:nvSpPr>
        <p:spPr>
          <a:xfrm>
            <a:off x="640080" y="2886891"/>
            <a:ext cx="10911535" cy="7315"/>
          </a:xfrm>
          <a:prstGeom prst="rect">
            <a:avLst/>
          </a:prstGeom>
          <a:solidFill>
            <a:srgbClr val="DCDCDC"/>
          </a:solidFill>
          <a:ln w="12700">
            <a:solidFill>
              <a:srgbClr val="DCDCDC"/>
            </a:solidFill>
            <a:prstDash val="solid"/>
          </a:ln>
        </p:spPr>
      </p:sp>
      <p:sp>
        <p:nvSpPr>
          <p:cNvPr id="18" name="Text 16"/>
          <p:cNvSpPr/>
          <p:nvPr/>
        </p:nvSpPr>
        <p:spPr>
          <a:xfrm>
            <a:off x="640080" y="2905179"/>
            <a:ext cx="1600200" cy="593054"/>
          </a:xfrm>
          <a:prstGeom prst="rect">
            <a:avLst/>
          </a:prstGeom>
          <a:noFill/>
          <a:ln/>
        </p:spPr>
        <p:txBody>
          <a:bodyPr wrap="square" lIns="0" tIns="0" rIns="0" bIns="0" rtlCol="0" anchor="ctr"/>
          <a:lstStyle/>
          <a:p>
            <a:pPr indent="0" marL="0">
              <a:buNone/>
            </a:pPr>
            <a:r>
              <a:rPr lang="en-US" sz="1050" b="1" spc="60" kern="0" dirty="0">
                <a:solidFill>
                  <a:srgbClr val="111111"/>
                </a:solidFill>
                <a:latin typeface="Pretendard" pitchFamily="34" charset="0"/>
                <a:ea typeface="Pretendard" pitchFamily="34" charset="-122"/>
                <a:cs typeface="Pretendard" pitchFamily="34" charset="-120"/>
              </a:rPr>
              <a:t>00:50–01:25</a:t>
            </a:r>
            <a:endParaRPr lang="en-US" sz="1050" dirty="0"/>
          </a:p>
        </p:txBody>
      </p:sp>
      <p:sp>
        <p:nvSpPr>
          <p:cNvPr id="19" name="Text 17"/>
          <p:cNvSpPr/>
          <p:nvPr/>
        </p:nvSpPr>
        <p:spPr>
          <a:xfrm>
            <a:off x="2377440" y="2905179"/>
            <a:ext cx="6888175" cy="593054"/>
          </a:xfrm>
          <a:prstGeom prst="rect">
            <a:avLst/>
          </a:prstGeom>
          <a:noFill/>
          <a:ln/>
        </p:spPr>
        <p:txBody>
          <a:bodyPr wrap="square" lIns="0" tIns="0" rIns="0" bIns="0" rtlCol="0" anchor="ctr"/>
          <a:lstStyle/>
          <a:p>
            <a:pPr indent="0" marL="0">
              <a:buNone/>
            </a:pPr>
            <a:r>
              <a:rPr lang="en-US" sz="1300" b="1" dirty="0">
                <a:solidFill>
                  <a:srgbClr val="111111"/>
                </a:solidFill>
                <a:latin typeface="Pretendard" pitchFamily="34" charset="0"/>
                <a:ea typeface="Pretendard" pitchFamily="34" charset="-122"/>
                <a:cs typeface="Pretendard" pitchFamily="34" charset="-120"/>
              </a:rPr>
              <a:t>실습 1 — GNB 규격 명세 작성</a:t>
            </a:r>
            <a:endParaRPr lang="en-US" sz="1300" dirty="0"/>
          </a:p>
        </p:txBody>
      </p:sp>
      <p:sp>
        <p:nvSpPr>
          <p:cNvPr id="20" name="Text 18"/>
          <p:cNvSpPr/>
          <p:nvPr/>
        </p:nvSpPr>
        <p:spPr>
          <a:xfrm>
            <a:off x="9265615" y="2905179"/>
            <a:ext cx="2286000" cy="593054"/>
          </a:xfrm>
          <a:prstGeom prst="rect">
            <a:avLst/>
          </a:prstGeom>
          <a:noFill/>
          <a:ln/>
        </p:spPr>
        <p:txBody>
          <a:bodyPr wrap="square" lIns="0" tIns="0" rIns="0" bIns="0" rtlCol="0" anchor="ctr"/>
          <a:lstStyle/>
          <a:p>
            <a:pPr algn="r" indent="0" marL="0">
              <a:buNone/>
            </a:pPr>
            <a:r>
              <a:rPr lang="en-US" sz="1050" dirty="0">
                <a:solidFill>
                  <a:srgbClr val="6E6E6E"/>
                </a:solidFill>
                <a:latin typeface="Pretendard" pitchFamily="34" charset="0"/>
                <a:ea typeface="Pretendard" pitchFamily="34" charset="-122"/>
                <a:cs typeface="Pretendard" pitchFamily="34" charset="-120"/>
              </a:rPr>
              <a:t>개인 워크</a:t>
            </a:r>
            <a:endParaRPr lang="en-US" sz="1050" dirty="0"/>
          </a:p>
        </p:txBody>
      </p:sp>
      <p:sp>
        <p:nvSpPr>
          <p:cNvPr id="21" name="Shape 19"/>
          <p:cNvSpPr/>
          <p:nvPr/>
        </p:nvSpPr>
        <p:spPr>
          <a:xfrm>
            <a:off x="640080" y="3479945"/>
            <a:ext cx="10911535" cy="7315"/>
          </a:xfrm>
          <a:prstGeom prst="rect">
            <a:avLst/>
          </a:prstGeom>
          <a:solidFill>
            <a:srgbClr val="DCDCDC"/>
          </a:solidFill>
          <a:ln w="12700">
            <a:solidFill>
              <a:srgbClr val="DCDCDC"/>
            </a:solidFill>
            <a:prstDash val="solid"/>
          </a:ln>
        </p:spPr>
      </p:sp>
      <p:sp>
        <p:nvSpPr>
          <p:cNvPr id="22" name="Text 20"/>
          <p:cNvSpPr/>
          <p:nvPr/>
        </p:nvSpPr>
        <p:spPr>
          <a:xfrm>
            <a:off x="640080" y="3498233"/>
            <a:ext cx="1600200" cy="593054"/>
          </a:xfrm>
          <a:prstGeom prst="rect">
            <a:avLst/>
          </a:prstGeom>
          <a:noFill/>
          <a:ln/>
        </p:spPr>
        <p:txBody>
          <a:bodyPr wrap="square" lIns="0" tIns="0" rIns="0" bIns="0" rtlCol="0" anchor="ctr"/>
          <a:lstStyle/>
          <a:p>
            <a:pPr indent="0" marL="0">
              <a:buNone/>
            </a:pPr>
            <a:r>
              <a:rPr lang="en-US" sz="1050" spc="60" kern="0" dirty="0">
                <a:solidFill>
                  <a:srgbClr val="9B9B9B"/>
                </a:solidFill>
                <a:latin typeface="Pretendard" pitchFamily="34" charset="0"/>
                <a:ea typeface="Pretendard" pitchFamily="34" charset="-122"/>
                <a:cs typeface="Pretendard" pitchFamily="34" charset="-120"/>
              </a:rPr>
              <a:t>01:25–01:35</a:t>
            </a:r>
            <a:endParaRPr lang="en-US" sz="1050" dirty="0"/>
          </a:p>
        </p:txBody>
      </p:sp>
      <p:sp>
        <p:nvSpPr>
          <p:cNvPr id="23" name="Text 21"/>
          <p:cNvSpPr/>
          <p:nvPr/>
        </p:nvSpPr>
        <p:spPr>
          <a:xfrm>
            <a:off x="2377440" y="3498233"/>
            <a:ext cx="6888175" cy="593054"/>
          </a:xfrm>
          <a:prstGeom prst="rect">
            <a:avLst/>
          </a:prstGeom>
          <a:noFill/>
          <a:ln/>
        </p:spPr>
        <p:txBody>
          <a:bodyPr wrap="square" lIns="0" tIns="0" rIns="0" bIns="0" rtlCol="0" anchor="ctr"/>
          <a:lstStyle/>
          <a:p>
            <a:pPr indent="0" marL="0">
              <a:buNone/>
            </a:pPr>
            <a:r>
              <a:rPr lang="en-US" sz="1100" dirty="0">
                <a:solidFill>
                  <a:srgbClr val="9B9B9B"/>
                </a:solidFill>
                <a:latin typeface="Pretendard" pitchFamily="34" charset="0"/>
                <a:ea typeface="Pretendard" pitchFamily="34" charset="-122"/>
                <a:cs typeface="Pretendard" pitchFamily="34" charset="-120"/>
              </a:rPr>
              <a:t>휴식</a:t>
            </a:r>
            <a:endParaRPr lang="en-US" sz="1100" dirty="0"/>
          </a:p>
        </p:txBody>
      </p:sp>
      <p:sp>
        <p:nvSpPr>
          <p:cNvPr id="24" name="Shape 22"/>
          <p:cNvSpPr/>
          <p:nvPr/>
        </p:nvSpPr>
        <p:spPr>
          <a:xfrm>
            <a:off x="640080" y="4072999"/>
            <a:ext cx="10911535" cy="7315"/>
          </a:xfrm>
          <a:prstGeom prst="rect">
            <a:avLst/>
          </a:prstGeom>
          <a:solidFill>
            <a:srgbClr val="EFEFEF"/>
          </a:solidFill>
          <a:ln w="12700">
            <a:solidFill>
              <a:srgbClr val="EFEFEF"/>
            </a:solidFill>
            <a:prstDash val="solid"/>
          </a:ln>
        </p:spPr>
      </p:sp>
      <p:sp>
        <p:nvSpPr>
          <p:cNvPr id="25" name="Text 23"/>
          <p:cNvSpPr/>
          <p:nvPr/>
        </p:nvSpPr>
        <p:spPr>
          <a:xfrm>
            <a:off x="640080" y="4091287"/>
            <a:ext cx="1600200" cy="593054"/>
          </a:xfrm>
          <a:prstGeom prst="rect">
            <a:avLst/>
          </a:prstGeom>
          <a:noFill/>
          <a:ln/>
        </p:spPr>
        <p:txBody>
          <a:bodyPr wrap="square" lIns="0" tIns="0" rIns="0" bIns="0" rtlCol="0" anchor="ctr"/>
          <a:lstStyle/>
          <a:p>
            <a:pPr indent="0" marL="0">
              <a:buNone/>
            </a:pPr>
            <a:r>
              <a:rPr lang="en-US" sz="1050" b="1" spc="60" kern="0" dirty="0">
                <a:solidFill>
                  <a:srgbClr val="111111"/>
                </a:solidFill>
                <a:latin typeface="Pretendard" pitchFamily="34" charset="0"/>
                <a:ea typeface="Pretendard" pitchFamily="34" charset="-122"/>
                <a:cs typeface="Pretendard" pitchFamily="34" charset="-120"/>
              </a:rPr>
              <a:t>01:35–02:05</a:t>
            </a:r>
            <a:endParaRPr lang="en-US" sz="1050" dirty="0"/>
          </a:p>
        </p:txBody>
      </p:sp>
      <p:sp>
        <p:nvSpPr>
          <p:cNvPr id="26" name="Text 24"/>
          <p:cNvSpPr/>
          <p:nvPr/>
        </p:nvSpPr>
        <p:spPr>
          <a:xfrm>
            <a:off x="2377440" y="4091287"/>
            <a:ext cx="6888175" cy="593054"/>
          </a:xfrm>
          <a:prstGeom prst="rect">
            <a:avLst/>
          </a:prstGeom>
          <a:noFill/>
          <a:ln/>
        </p:spPr>
        <p:txBody>
          <a:bodyPr wrap="square" lIns="0" tIns="0" rIns="0" bIns="0" rtlCol="0" anchor="ctr"/>
          <a:lstStyle/>
          <a:p>
            <a:pPr indent="0" marL="0">
              <a:buNone/>
            </a:pPr>
            <a:r>
              <a:rPr lang="en-US" sz="1300" b="1" dirty="0">
                <a:solidFill>
                  <a:srgbClr val="111111"/>
                </a:solidFill>
                <a:latin typeface="Pretendard" pitchFamily="34" charset="0"/>
                <a:ea typeface="Pretendard" pitchFamily="34" charset="-122"/>
                <a:cs typeface="Pretendard" pitchFamily="34" charset="-120"/>
              </a:rPr>
              <a:t>PART 2 — 컴포넌트화</a:t>
            </a:r>
            <a:endParaRPr lang="en-US" sz="1300" dirty="0"/>
          </a:p>
        </p:txBody>
      </p:sp>
      <p:sp>
        <p:nvSpPr>
          <p:cNvPr id="27" name="Text 25"/>
          <p:cNvSpPr/>
          <p:nvPr/>
        </p:nvSpPr>
        <p:spPr>
          <a:xfrm>
            <a:off x="9265615" y="4091287"/>
            <a:ext cx="2286000" cy="593054"/>
          </a:xfrm>
          <a:prstGeom prst="rect">
            <a:avLst/>
          </a:prstGeom>
          <a:noFill/>
          <a:ln/>
        </p:spPr>
        <p:txBody>
          <a:bodyPr wrap="square" lIns="0" tIns="0" rIns="0" bIns="0" rtlCol="0" anchor="ctr"/>
          <a:lstStyle/>
          <a:p>
            <a:pPr algn="r" indent="0" marL="0">
              <a:buNone/>
            </a:pPr>
            <a:r>
              <a:rPr lang="en-US" sz="1050" dirty="0">
                <a:solidFill>
                  <a:srgbClr val="6E6E6E"/>
                </a:solidFill>
                <a:latin typeface="Pretendard" pitchFamily="34" charset="0"/>
                <a:ea typeface="Pretendard" pitchFamily="34" charset="-122"/>
                <a:cs typeface="Pretendard" pitchFamily="34" charset="-120"/>
              </a:rPr>
              <a:t>강의 + 시연</a:t>
            </a:r>
            <a:endParaRPr lang="en-US" sz="1050" dirty="0"/>
          </a:p>
        </p:txBody>
      </p:sp>
      <p:sp>
        <p:nvSpPr>
          <p:cNvPr id="28" name="Shape 26"/>
          <p:cNvSpPr/>
          <p:nvPr/>
        </p:nvSpPr>
        <p:spPr>
          <a:xfrm>
            <a:off x="640080" y="4666053"/>
            <a:ext cx="10911535" cy="7315"/>
          </a:xfrm>
          <a:prstGeom prst="rect">
            <a:avLst/>
          </a:prstGeom>
          <a:solidFill>
            <a:srgbClr val="DCDCDC"/>
          </a:solidFill>
          <a:ln w="12700">
            <a:solidFill>
              <a:srgbClr val="DCDCDC"/>
            </a:solidFill>
            <a:prstDash val="solid"/>
          </a:ln>
        </p:spPr>
      </p:sp>
      <p:sp>
        <p:nvSpPr>
          <p:cNvPr id="29" name="Text 27"/>
          <p:cNvSpPr/>
          <p:nvPr/>
        </p:nvSpPr>
        <p:spPr>
          <a:xfrm>
            <a:off x="640080" y="4684341"/>
            <a:ext cx="1600200" cy="593054"/>
          </a:xfrm>
          <a:prstGeom prst="rect">
            <a:avLst/>
          </a:prstGeom>
          <a:noFill/>
          <a:ln/>
        </p:spPr>
        <p:txBody>
          <a:bodyPr wrap="square" lIns="0" tIns="0" rIns="0" bIns="0" rtlCol="0" anchor="ctr"/>
          <a:lstStyle/>
          <a:p>
            <a:pPr indent="0" marL="0">
              <a:buNone/>
            </a:pPr>
            <a:r>
              <a:rPr lang="en-US" sz="1050" b="1" spc="60" kern="0" dirty="0">
                <a:solidFill>
                  <a:srgbClr val="111111"/>
                </a:solidFill>
                <a:latin typeface="Pretendard" pitchFamily="34" charset="0"/>
                <a:ea typeface="Pretendard" pitchFamily="34" charset="-122"/>
                <a:cs typeface="Pretendard" pitchFamily="34" charset="-120"/>
              </a:rPr>
              <a:t>02:05–02:45</a:t>
            </a:r>
            <a:endParaRPr lang="en-US" sz="1050" dirty="0"/>
          </a:p>
        </p:txBody>
      </p:sp>
      <p:sp>
        <p:nvSpPr>
          <p:cNvPr id="30" name="Text 28"/>
          <p:cNvSpPr/>
          <p:nvPr/>
        </p:nvSpPr>
        <p:spPr>
          <a:xfrm>
            <a:off x="2377440" y="4684341"/>
            <a:ext cx="6888175" cy="593054"/>
          </a:xfrm>
          <a:prstGeom prst="rect">
            <a:avLst/>
          </a:prstGeom>
          <a:noFill/>
          <a:ln/>
        </p:spPr>
        <p:txBody>
          <a:bodyPr wrap="square" lIns="0" tIns="0" rIns="0" bIns="0" rtlCol="0" anchor="ctr"/>
          <a:lstStyle/>
          <a:p>
            <a:pPr indent="0" marL="0">
              <a:buNone/>
            </a:pPr>
            <a:r>
              <a:rPr lang="en-US" sz="1300" b="1" dirty="0">
                <a:solidFill>
                  <a:srgbClr val="111111"/>
                </a:solidFill>
                <a:latin typeface="Pretendard" pitchFamily="34" charset="0"/>
                <a:ea typeface="Pretendard" pitchFamily="34" charset="-122"/>
                <a:cs typeface="Pretendard" pitchFamily="34" charset="-120"/>
              </a:rPr>
              <a:t>실습 2 — Figma 컴포넌트 제작과 적용</a:t>
            </a:r>
            <a:endParaRPr lang="en-US" sz="1300" dirty="0"/>
          </a:p>
        </p:txBody>
      </p:sp>
      <p:sp>
        <p:nvSpPr>
          <p:cNvPr id="31" name="Text 29"/>
          <p:cNvSpPr/>
          <p:nvPr/>
        </p:nvSpPr>
        <p:spPr>
          <a:xfrm>
            <a:off x="9265615" y="4684341"/>
            <a:ext cx="2286000" cy="593054"/>
          </a:xfrm>
          <a:prstGeom prst="rect">
            <a:avLst/>
          </a:prstGeom>
          <a:noFill/>
          <a:ln/>
        </p:spPr>
        <p:txBody>
          <a:bodyPr wrap="square" lIns="0" tIns="0" rIns="0" bIns="0" rtlCol="0" anchor="ctr"/>
          <a:lstStyle/>
          <a:p>
            <a:pPr algn="r" indent="0" marL="0">
              <a:buNone/>
            </a:pPr>
            <a:r>
              <a:rPr lang="en-US" sz="1050" dirty="0">
                <a:solidFill>
                  <a:srgbClr val="6E6E6E"/>
                </a:solidFill>
                <a:latin typeface="Pretendard" pitchFamily="34" charset="0"/>
                <a:ea typeface="Pretendard" pitchFamily="34" charset="-122"/>
                <a:cs typeface="Pretendard" pitchFamily="34" charset="-120"/>
              </a:rPr>
              <a:t>개인 워크 + 순회</a:t>
            </a:r>
            <a:endParaRPr lang="en-US" sz="1050" dirty="0"/>
          </a:p>
        </p:txBody>
      </p:sp>
      <p:sp>
        <p:nvSpPr>
          <p:cNvPr id="32" name="Shape 30"/>
          <p:cNvSpPr/>
          <p:nvPr/>
        </p:nvSpPr>
        <p:spPr>
          <a:xfrm>
            <a:off x="640080" y="5259106"/>
            <a:ext cx="10911535" cy="7315"/>
          </a:xfrm>
          <a:prstGeom prst="rect">
            <a:avLst/>
          </a:prstGeom>
          <a:solidFill>
            <a:srgbClr val="DCDCDC"/>
          </a:solidFill>
          <a:ln w="12700">
            <a:solidFill>
              <a:srgbClr val="DCDCDC"/>
            </a:solidFill>
            <a:prstDash val="solid"/>
          </a:ln>
        </p:spPr>
      </p:sp>
      <p:sp>
        <p:nvSpPr>
          <p:cNvPr id="33" name="Text 31"/>
          <p:cNvSpPr/>
          <p:nvPr/>
        </p:nvSpPr>
        <p:spPr>
          <a:xfrm>
            <a:off x="640080" y="5277394"/>
            <a:ext cx="1600200" cy="593054"/>
          </a:xfrm>
          <a:prstGeom prst="rect">
            <a:avLst/>
          </a:prstGeom>
          <a:noFill/>
          <a:ln/>
        </p:spPr>
        <p:txBody>
          <a:bodyPr wrap="square" lIns="0" tIns="0" rIns="0" bIns="0" rtlCol="0" anchor="ctr"/>
          <a:lstStyle/>
          <a:p>
            <a:pPr indent="0" marL="0">
              <a:buNone/>
            </a:pPr>
            <a:r>
              <a:rPr lang="en-US" sz="1050" b="1" spc="60" kern="0" dirty="0">
                <a:solidFill>
                  <a:srgbClr val="111111"/>
                </a:solidFill>
                <a:latin typeface="Pretendard" pitchFamily="34" charset="0"/>
                <a:ea typeface="Pretendard" pitchFamily="34" charset="-122"/>
                <a:cs typeface="Pretendard" pitchFamily="34" charset="-120"/>
              </a:rPr>
              <a:t>02:45–03:00</a:t>
            </a:r>
            <a:endParaRPr lang="en-US" sz="1050" dirty="0"/>
          </a:p>
        </p:txBody>
      </p:sp>
      <p:sp>
        <p:nvSpPr>
          <p:cNvPr id="34" name="Text 32"/>
          <p:cNvSpPr/>
          <p:nvPr/>
        </p:nvSpPr>
        <p:spPr>
          <a:xfrm>
            <a:off x="2377440" y="5277394"/>
            <a:ext cx="6888175" cy="593054"/>
          </a:xfrm>
          <a:prstGeom prst="rect">
            <a:avLst/>
          </a:prstGeom>
          <a:noFill/>
          <a:ln/>
        </p:spPr>
        <p:txBody>
          <a:bodyPr wrap="square" lIns="0" tIns="0" rIns="0" bIns="0" rtlCol="0" anchor="ctr"/>
          <a:lstStyle/>
          <a:p>
            <a:pPr indent="0" marL="0">
              <a:buNone/>
            </a:pPr>
            <a:r>
              <a:rPr lang="en-US" sz="1300" b="1" dirty="0">
                <a:solidFill>
                  <a:srgbClr val="111111"/>
                </a:solidFill>
                <a:latin typeface="Pretendard" pitchFamily="34" charset="0"/>
                <a:ea typeface="Pretendard" pitchFamily="34" charset="-122"/>
                <a:cs typeface="Pretendard" pitchFamily="34" charset="-120"/>
              </a:rPr>
              <a:t>검증 — 하나 바꿔 전부 바뀌는가</a:t>
            </a:r>
            <a:endParaRPr lang="en-US" sz="1300" dirty="0"/>
          </a:p>
        </p:txBody>
      </p:sp>
      <p:sp>
        <p:nvSpPr>
          <p:cNvPr id="35" name="Text 33"/>
          <p:cNvSpPr/>
          <p:nvPr/>
        </p:nvSpPr>
        <p:spPr>
          <a:xfrm>
            <a:off x="9265615" y="5277394"/>
            <a:ext cx="2286000" cy="593054"/>
          </a:xfrm>
          <a:prstGeom prst="rect">
            <a:avLst/>
          </a:prstGeom>
          <a:noFill/>
          <a:ln/>
        </p:spPr>
        <p:txBody>
          <a:bodyPr wrap="square" lIns="0" tIns="0" rIns="0" bIns="0" rtlCol="0" anchor="ctr"/>
          <a:lstStyle/>
          <a:p>
            <a:pPr algn="r" indent="0" marL="0">
              <a:buNone/>
            </a:pPr>
            <a:r>
              <a:rPr lang="en-US" sz="1050" dirty="0">
                <a:solidFill>
                  <a:srgbClr val="6E6E6E"/>
                </a:solidFill>
                <a:latin typeface="Pretendard" pitchFamily="34" charset="0"/>
                <a:ea typeface="Pretendard" pitchFamily="34" charset="-122"/>
                <a:cs typeface="Pretendard" pitchFamily="34" charset="-120"/>
              </a:rPr>
              <a:t>2인 1조</a:t>
            </a:r>
            <a:endParaRPr lang="en-US" sz="1050" dirty="0"/>
          </a:p>
        </p:txBody>
      </p:sp>
      <p:sp>
        <p:nvSpPr>
          <p:cNvPr id="36" name="Shape 34"/>
          <p:cNvSpPr/>
          <p:nvPr/>
        </p:nvSpPr>
        <p:spPr>
          <a:xfrm>
            <a:off x="640080" y="5852160"/>
            <a:ext cx="10911535" cy="7315"/>
          </a:xfrm>
          <a:prstGeom prst="rect">
            <a:avLst/>
          </a:prstGeom>
          <a:solidFill>
            <a:srgbClr val="111111"/>
          </a:solidFill>
          <a:ln w="12700">
            <a:solidFill>
              <a:srgbClr val="111111"/>
            </a:solidFill>
            <a:prstDash val="solid"/>
          </a:ln>
        </p:spPr>
      </p:sp>
      <p:sp>
        <p:nvSpPr>
          <p:cNvPr id="37" name="Shape 35"/>
          <p:cNvSpPr/>
          <p:nvPr/>
        </p:nvSpPr>
        <p:spPr>
          <a:xfrm>
            <a:off x="640080" y="6291072"/>
            <a:ext cx="10911535" cy="7315"/>
          </a:xfrm>
          <a:prstGeom prst="rect">
            <a:avLst/>
          </a:prstGeom>
          <a:solidFill>
            <a:srgbClr val="DCDCDC"/>
          </a:solidFill>
          <a:ln w="12700">
            <a:solidFill>
              <a:srgbClr val="DCDCDC"/>
            </a:solidFill>
            <a:prstDash val="solid"/>
          </a:ln>
        </p:spPr>
      </p:sp>
      <p:sp>
        <p:nvSpPr>
          <p:cNvPr id="38" name="Text 36"/>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서비스디자인 · 2주차 하단 GNB · 수치로 짓는 컴포넌트</a:t>
            </a:r>
            <a:endParaRPr lang="en-US" sz="850" dirty="0"/>
          </a:p>
        </p:txBody>
      </p:sp>
      <p:sp>
        <p:nvSpPr>
          <p:cNvPr id="39" name="Text 37"/>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P.01</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서비스디자인</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1 기준</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02</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OBJECTIVES</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Black" pitchFamily="34" charset="0"/>
                <a:ea typeface="Pretendard Black" pitchFamily="34" charset="-122"/>
                <a:cs typeface="Pretendard Black" pitchFamily="34" charset="-120"/>
              </a:rPr>
              <a:t>오늘 끝나면 여러분은</a:t>
            </a:r>
            <a:endParaRPr lang="en-US" sz="3000" dirty="0"/>
          </a:p>
        </p:txBody>
      </p:sp>
      <p:sp>
        <p:nvSpPr>
          <p:cNvPr id="8" name="Shape 6"/>
          <p:cNvSpPr/>
          <p:nvPr/>
        </p:nvSpPr>
        <p:spPr>
          <a:xfrm>
            <a:off x="640080" y="1664208"/>
            <a:ext cx="10911535" cy="7315"/>
          </a:xfrm>
          <a:prstGeom prst="rect">
            <a:avLst/>
          </a:prstGeom>
          <a:solidFill>
            <a:srgbClr val="111111"/>
          </a:solidFill>
          <a:ln w="12700">
            <a:solidFill>
              <a:srgbClr val="111111"/>
            </a:solidFill>
            <a:prstDash val="solid"/>
          </a:ln>
        </p:spPr>
      </p:sp>
      <p:sp>
        <p:nvSpPr>
          <p:cNvPr id="9" name="Shape 7"/>
          <p:cNvSpPr/>
          <p:nvPr/>
        </p:nvSpPr>
        <p:spPr>
          <a:xfrm>
            <a:off x="640080" y="1810512"/>
            <a:ext cx="310896" cy="310896"/>
          </a:xfrm>
          <a:prstGeom prst="ellipse">
            <a:avLst/>
          </a:prstGeom>
          <a:solidFill>
            <a:srgbClr val="FFFFFF"/>
          </a:solidFill>
          <a:ln w="12700">
            <a:solidFill>
              <a:srgbClr val="111111"/>
            </a:solidFill>
            <a:prstDash val="solid"/>
          </a:ln>
        </p:spPr>
      </p:sp>
      <p:sp>
        <p:nvSpPr>
          <p:cNvPr id="10" name="Text 8"/>
          <p:cNvSpPr/>
          <p:nvPr/>
        </p:nvSpPr>
        <p:spPr>
          <a:xfrm>
            <a:off x="640080" y="1810512"/>
            <a:ext cx="310896" cy="310896"/>
          </a:xfrm>
          <a:prstGeom prst="rect">
            <a:avLst/>
          </a:prstGeom>
          <a:noFill/>
          <a:ln/>
        </p:spPr>
        <p:txBody>
          <a:bodyPr wrap="square" lIns="0" tIns="0" rIns="0" bIns="0" rtlCol="0" anchor="ctr"/>
          <a:lstStyle/>
          <a:p>
            <a:pPr algn="ctr" indent="0" marL="0">
              <a:buNone/>
            </a:pPr>
            <a:r>
              <a:rPr lang="en-US" sz="1000" b="1" dirty="0">
                <a:solidFill>
                  <a:srgbClr val="111111"/>
                </a:solidFill>
                <a:latin typeface="Pretendard" pitchFamily="34" charset="0"/>
                <a:ea typeface="Pretendard" pitchFamily="34" charset="-122"/>
                <a:cs typeface="Pretendard" pitchFamily="34" charset="-120"/>
              </a:rPr>
              <a:t>1</a:t>
            </a:r>
            <a:endParaRPr lang="en-US" sz="1000" dirty="0"/>
          </a:p>
        </p:txBody>
      </p:sp>
      <p:sp>
        <p:nvSpPr>
          <p:cNvPr id="11" name="Text 9"/>
          <p:cNvSpPr/>
          <p:nvPr/>
        </p:nvSpPr>
        <p:spPr>
          <a:xfrm>
            <a:off x="1188720" y="1719072"/>
            <a:ext cx="9875520" cy="310896"/>
          </a:xfrm>
          <a:prstGeom prst="rect">
            <a:avLst/>
          </a:prstGeom>
          <a:noFill/>
          <a:ln/>
        </p:spPr>
        <p:txBody>
          <a:bodyPr wrap="square" lIns="0" tIns="0" rIns="0" bIns="0" rtlCol="0" anchor="ctr"/>
          <a:lstStyle/>
          <a:p>
            <a:pPr indent="0" marL="0">
              <a:buNone/>
            </a:pPr>
            <a:r>
              <a:rPr lang="en-US" sz="1450" dirty="0">
                <a:solidFill>
                  <a:srgbClr val="111111"/>
                </a:solidFill>
                <a:latin typeface="Pretendard Black" pitchFamily="34" charset="0"/>
                <a:ea typeface="Pretendard Black" pitchFamily="34" charset="-122"/>
                <a:cs typeface="Pretendard Black" pitchFamily="34" charset="-120"/>
              </a:rPr>
              <a:t>화면 기준 폭을 하나로 고정할 수 있다</a:t>
            </a:r>
            <a:endParaRPr lang="en-US" sz="1450" dirty="0"/>
          </a:p>
        </p:txBody>
      </p:sp>
      <p:sp>
        <p:nvSpPr>
          <p:cNvPr id="12" name="Text 10"/>
          <p:cNvSpPr/>
          <p:nvPr/>
        </p:nvSpPr>
        <p:spPr>
          <a:xfrm>
            <a:off x="1188720" y="2029968"/>
            <a:ext cx="9875520" cy="292608"/>
          </a:xfrm>
          <a:prstGeom prst="rect">
            <a:avLst/>
          </a:prstGeom>
          <a:noFill/>
          <a:ln/>
        </p:spPr>
        <p:txBody>
          <a:bodyPr wrap="square" lIns="0" tIns="0" rIns="0" bIns="0" rtlCol="0" anchor="ctr"/>
          <a:lstStyle/>
          <a:p>
            <a:pPr indent="0" marL="0">
              <a:buNone/>
            </a:pPr>
            <a:r>
              <a:rPr lang="en-US" sz="1100" dirty="0">
                <a:solidFill>
                  <a:srgbClr val="6E6E6E"/>
                </a:solidFill>
                <a:latin typeface="Pretendard" pitchFamily="34" charset="0"/>
                <a:ea typeface="Pretendard" pitchFamily="34" charset="-122"/>
                <a:cs typeface="Pretendard" pitchFamily="34" charset="-120"/>
              </a:rPr>
              <a:t>모든 수치가 이 하나에서 갈라져 나옵니다</a:t>
            </a:r>
            <a:endParaRPr lang="en-US" sz="1100" dirty="0"/>
          </a:p>
        </p:txBody>
      </p:sp>
      <p:sp>
        <p:nvSpPr>
          <p:cNvPr id="13" name="Shape 11"/>
          <p:cNvSpPr/>
          <p:nvPr/>
        </p:nvSpPr>
        <p:spPr>
          <a:xfrm>
            <a:off x="640080" y="2596896"/>
            <a:ext cx="10911535" cy="7315"/>
          </a:xfrm>
          <a:prstGeom prst="rect">
            <a:avLst/>
          </a:prstGeom>
          <a:solidFill>
            <a:srgbClr val="DCDCDC"/>
          </a:solidFill>
          <a:ln w="12700">
            <a:solidFill>
              <a:srgbClr val="DCDCDC"/>
            </a:solidFill>
            <a:prstDash val="solid"/>
          </a:ln>
        </p:spPr>
      </p:sp>
      <p:sp>
        <p:nvSpPr>
          <p:cNvPr id="14" name="Shape 12"/>
          <p:cNvSpPr/>
          <p:nvPr/>
        </p:nvSpPr>
        <p:spPr>
          <a:xfrm>
            <a:off x="640080" y="2761488"/>
            <a:ext cx="310896" cy="310896"/>
          </a:xfrm>
          <a:prstGeom prst="ellipse">
            <a:avLst/>
          </a:prstGeom>
          <a:solidFill>
            <a:srgbClr val="FFFFFF"/>
          </a:solidFill>
          <a:ln w="12700">
            <a:solidFill>
              <a:srgbClr val="111111"/>
            </a:solidFill>
            <a:prstDash val="solid"/>
          </a:ln>
        </p:spPr>
      </p:sp>
      <p:sp>
        <p:nvSpPr>
          <p:cNvPr id="15" name="Text 13"/>
          <p:cNvSpPr/>
          <p:nvPr/>
        </p:nvSpPr>
        <p:spPr>
          <a:xfrm>
            <a:off x="640080" y="2761488"/>
            <a:ext cx="310896" cy="310896"/>
          </a:xfrm>
          <a:prstGeom prst="rect">
            <a:avLst/>
          </a:prstGeom>
          <a:noFill/>
          <a:ln/>
        </p:spPr>
        <p:txBody>
          <a:bodyPr wrap="square" lIns="0" tIns="0" rIns="0" bIns="0" rtlCol="0" anchor="ctr"/>
          <a:lstStyle/>
          <a:p>
            <a:pPr algn="ctr" indent="0" marL="0">
              <a:buNone/>
            </a:pPr>
            <a:r>
              <a:rPr lang="en-US" sz="1000" b="1" dirty="0">
                <a:solidFill>
                  <a:srgbClr val="111111"/>
                </a:solidFill>
                <a:latin typeface="Pretendard" pitchFamily="34" charset="0"/>
                <a:ea typeface="Pretendard" pitchFamily="34" charset="-122"/>
                <a:cs typeface="Pretendard" pitchFamily="34" charset="-120"/>
              </a:rPr>
              <a:t>2</a:t>
            </a:r>
            <a:endParaRPr lang="en-US" sz="1000" dirty="0"/>
          </a:p>
        </p:txBody>
      </p:sp>
      <p:sp>
        <p:nvSpPr>
          <p:cNvPr id="16" name="Text 14"/>
          <p:cNvSpPr/>
          <p:nvPr/>
        </p:nvSpPr>
        <p:spPr>
          <a:xfrm>
            <a:off x="1188720" y="2670048"/>
            <a:ext cx="9875520" cy="310896"/>
          </a:xfrm>
          <a:prstGeom prst="rect">
            <a:avLst/>
          </a:prstGeom>
          <a:noFill/>
          <a:ln/>
        </p:spPr>
        <p:txBody>
          <a:bodyPr wrap="square" lIns="0" tIns="0" rIns="0" bIns="0" rtlCol="0" anchor="ctr"/>
          <a:lstStyle/>
          <a:p>
            <a:pPr indent="0" marL="0">
              <a:buNone/>
            </a:pPr>
            <a:r>
              <a:rPr lang="en-US" sz="1450" dirty="0">
                <a:solidFill>
                  <a:srgbClr val="111111"/>
                </a:solidFill>
                <a:latin typeface="Pretendard Black" pitchFamily="34" charset="0"/>
                <a:ea typeface="Pretendard Black" pitchFamily="34" charset="-122"/>
                <a:cs typeface="Pretendard Black" pitchFamily="34" charset="-120"/>
              </a:rPr>
              <a:t>GNB의 모든 값을 근거와 함께 말할 수 있다</a:t>
            </a:r>
            <a:endParaRPr lang="en-US" sz="1450" dirty="0"/>
          </a:p>
        </p:txBody>
      </p:sp>
      <p:sp>
        <p:nvSpPr>
          <p:cNvPr id="17" name="Text 15"/>
          <p:cNvSpPr/>
          <p:nvPr/>
        </p:nvSpPr>
        <p:spPr>
          <a:xfrm>
            <a:off x="1188720" y="2980944"/>
            <a:ext cx="9875520" cy="292608"/>
          </a:xfrm>
          <a:prstGeom prst="rect">
            <a:avLst/>
          </a:prstGeom>
          <a:noFill/>
          <a:ln/>
        </p:spPr>
        <p:txBody>
          <a:bodyPr wrap="square" lIns="0" tIns="0" rIns="0" bIns="0" rtlCol="0" anchor="ctr"/>
          <a:lstStyle/>
          <a:p>
            <a:pPr indent="0" marL="0">
              <a:buNone/>
            </a:pPr>
            <a:r>
              <a:rPr lang="en-US" sz="1100" dirty="0">
                <a:solidFill>
                  <a:srgbClr val="6E6E6E"/>
                </a:solidFill>
                <a:latin typeface="Pretendard" pitchFamily="34" charset="0"/>
                <a:ea typeface="Pretendard" pitchFamily="34" charset="-122"/>
                <a:cs typeface="Pretendard" pitchFamily="34" charset="-120"/>
              </a:rPr>
              <a:t>높이 90이 왜 90인지 두 단계로 설명한다</a:t>
            </a:r>
            <a:endParaRPr lang="en-US" sz="1100" dirty="0"/>
          </a:p>
        </p:txBody>
      </p:sp>
      <p:sp>
        <p:nvSpPr>
          <p:cNvPr id="18" name="Shape 16"/>
          <p:cNvSpPr/>
          <p:nvPr/>
        </p:nvSpPr>
        <p:spPr>
          <a:xfrm>
            <a:off x="640080" y="3547872"/>
            <a:ext cx="10911535" cy="7315"/>
          </a:xfrm>
          <a:prstGeom prst="rect">
            <a:avLst/>
          </a:prstGeom>
          <a:solidFill>
            <a:srgbClr val="DCDCDC"/>
          </a:solidFill>
          <a:ln w="12700">
            <a:solidFill>
              <a:srgbClr val="DCDCDC"/>
            </a:solidFill>
            <a:prstDash val="solid"/>
          </a:ln>
        </p:spPr>
      </p:sp>
      <p:sp>
        <p:nvSpPr>
          <p:cNvPr id="19" name="Shape 17"/>
          <p:cNvSpPr/>
          <p:nvPr/>
        </p:nvSpPr>
        <p:spPr>
          <a:xfrm>
            <a:off x="640080" y="3712464"/>
            <a:ext cx="310896" cy="310896"/>
          </a:xfrm>
          <a:prstGeom prst="ellipse">
            <a:avLst/>
          </a:prstGeom>
          <a:solidFill>
            <a:srgbClr val="FFFFFF"/>
          </a:solidFill>
          <a:ln w="12700">
            <a:solidFill>
              <a:srgbClr val="111111"/>
            </a:solidFill>
            <a:prstDash val="solid"/>
          </a:ln>
        </p:spPr>
      </p:sp>
      <p:sp>
        <p:nvSpPr>
          <p:cNvPr id="20" name="Text 18"/>
          <p:cNvSpPr/>
          <p:nvPr/>
        </p:nvSpPr>
        <p:spPr>
          <a:xfrm>
            <a:off x="640080" y="3712464"/>
            <a:ext cx="310896" cy="310896"/>
          </a:xfrm>
          <a:prstGeom prst="rect">
            <a:avLst/>
          </a:prstGeom>
          <a:noFill/>
          <a:ln/>
        </p:spPr>
        <p:txBody>
          <a:bodyPr wrap="square" lIns="0" tIns="0" rIns="0" bIns="0" rtlCol="0" anchor="ctr"/>
          <a:lstStyle/>
          <a:p>
            <a:pPr algn="ctr" indent="0" marL="0">
              <a:buNone/>
            </a:pPr>
            <a:r>
              <a:rPr lang="en-US" sz="1000" b="1" dirty="0">
                <a:solidFill>
                  <a:srgbClr val="111111"/>
                </a:solidFill>
                <a:latin typeface="Pretendard" pitchFamily="34" charset="0"/>
                <a:ea typeface="Pretendard" pitchFamily="34" charset="-122"/>
                <a:cs typeface="Pretendard" pitchFamily="34" charset="-120"/>
              </a:rPr>
              <a:t>3</a:t>
            </a:r>
            <a:endParaRPr lang="en-US" sz="1000" dirty="0"/>
          </a:p>
        </p:txBody>
      </p:sp>
      <p:sp>
        <p:nvSpPr>
          <p:cNvPr id="21" name="Text 19"/>
          <p:cNvSpPr/>
          <p:nvPr/>
        </p:nvSpPr>
        <p:spPr>
          <a:xfrm>
            <a:off x="1188720" y="3621024"/>
            <a:ext cx="9875520" cy="310896"/>
          </a:xfrm>
          <a:prstGeom prst="rect">
            <a:avLst/>
          </a:prstGeom>
          <a:noFill/>
          <a:ln/>
        </p:spPr>
        <p:txBody>
          <a:bodyPr wrap="square" lIns="0" tIns="0" rIns="0" bIns="0" rtlCol="0" anchor="ctr"/>
          <a:lstStyle/>
          <a:p>
            <a:pPr indent="0" marL="0">
              <a:buNone/>
            </a:pPr>
            <a:r>
              <a:rPr lang="en-US" sz="1450" dirty="0">
                <a:solidFill>
                  <a:srgbClr val="111111"/>
                </a:solidFill>
                <a:latin typeface="Pretendard Black" pitchFamily="34" charset="0"/>
                <a:ea typeface="Pretendard Black" pitchFamily="34" charset="-122"/>
                <a:cs typeface="Pretendard Black" pitchFamily="34" charset="-120"/>
              </a:rPr>
              <a:t>Tab Item을 컴포넌트로 만들 수 있다</a:t>
            </a:r>
            <a:endParaRPr lang="en-US" sz="1450" dirty="0"/>
          </a:p>
        </p:txBody>
      </p:sp>
      <p:sp>
        <p:nvSpPr>
          <p:cNvPr id="22" name="Text 20"/>
          <p:cNvSpPr/>
          <p:nvPr/>
        </p:nvSpPr>
        <p:spPr>
          <a:xfrm>
            <a:off x="1188720" y="3931920"/>
            <a:ext cx="9875520" cy="292608"/>
          </a:xfrm>
          <a:prstGeom prst="rect">
            <a:avLst/>
          </a:prstGeom>
          <a:noFill/>
          <a:ln/>
        </p:spPr>
        <p:txBody>
          <a:bodyPr wrap="square" lIns="0" tIns="0" rIns="0" bIns="0" rtlCol="0" anchor="ctr"/>
          <a:lstStyle/>
          <a:p>
            <a:pPr indent="0" marL="0">
              <a:buNone/>
            </a:pPr>
            <a:r>
              <a:rPr lang="en-US" sz="1100" dirty="0">
                <a:solidFill>
                  <a:srgbClr val="6E6E6E"/>
                </a:solidFill>
                <a:latin typeface="Pretendard" pitchFamily="34" charset="0"/>
                <a:ea typeface="Pretendard" pitchFamily="34" charset="-122"/>
                <a:cs typeface="Pretendard" pitchFamily="34" charset="-120"/>
              </a:rPr>
              <a:t>배리언트 · 오토레이아웃 · 컴포넌트 프로퍼티 세 장치</a:t>
            </a:r>
            <a:endParaRPr lang="en-US" sz="1100" dirty="0"/>
          </a:p>
        </p:txBody>
      </p:sp>
      <p:sp>
        <p:nvSpPr>
          <p:cNvPr id="23" name="Shape 21"/>
          <p:cNvSpPr/>
          <p:nvPr/>
        </p:nvSpPr>
        <p:spPr>
          <a:xfrm>
            <a:off x="640080" y="4498848"/>
            <a:ext cx="10911535" cy="7315"/>
          </a:xfrm>
          <a:prstGeom prst="rect">
            <a:avLst/>
          </a:prstGeom>
          <a:solidFill>
            <a:srgbClr val="DCDCDC"/>
          </a:solidFill>
          <a:ln w="12700">
            <a:solidFill>
              <a:srgbClr val="DCDCDC"/>
            </a:solidFill>
            <a:prstDash val="solid"/>
          </a:ln>
        </p:spPr>
      </p:sp>
      <p:sp>
        <p:nvSpPr>
          <p:cNvPr id="24" name="Shape 22"/>
          <p:cNvSpPr/>
          <p:nvPr/>
        </p:nvSpPr>
        <p:spPr>
          <a:xfrm>
            <a:off x="640080" y="4663440"/>
            <a:ext cx="310896" cy="310896"/>
          </a:xfrm>
          <a:prstGeom prst="ellipse">
            <a:avLst/>
          </a:prstGeom>
          <a:solidFill>
            <a:srgbClr val="FFFFFF"/>
          </a:solidFill>
          <a:ln w="12700">
            <a:solidFill>
              <a:srgbClr val="111111"/>
            </a:solidFill>
            <a:prstDash val="solid"/>
          </a:ln>
        </p:spPr>
      </p:sp>
      <p:sp>
        <p:nvSpPr>
          <p:cNvPr id="25" name="Text 23"/>
          <p:cNvSpPr/>
          <p:nvPr/>
        </p:nvSpPr>
        <p:spPr>
          <a:xfrm>
            <a:off x="640080" y="4663440"/>
            <a:ext cx="310896" cy="310896"/>
          </a:xfrm>
          <a:prstGeom prst="rect">
            <a:avLst/>
          </a:prstGeom>
          <a:noFill/>
          <a:ln/>
        </p:spPr>
        <p:txBody>
          <a:bodyPr wrap="square" lIns="0" tIns="0" rIns="0" bIns="0" rtlCol="0" anchor="ctr"/>
          <a:lstStyle/>
          <a:p>
            <a:pPr algn="ctr" indent="0" marL="0">
              <a:buNone/>
            </a:pPr>
            <a:r>
              <a:rPr lang="en-US" sz="1000" b="1" dirty="0">
                <a:solidFill>
                  <a:srgbClr val="111111"/>
                </a:solidFill>
                <a:latin typeface="Pretendard" pitchFamily="34" charset="0"/>
                <a:ea typeface="Pretendard" pitchFamily="34" charset="-122"/>
                <a:cs typeface="Pretendard" pitchFamily="34" charset="-120"/>
              </a:rPr>
              <a:t>4</a:t>
            </a:r>
            <a:endParaRPr lang="en-US" sz="1000" dirty="0"/>
          </a:p>
        </p:txBody>
      </p:sp>
      <p:sp>
        <p:nvSpPr>
          <p:cNvPr id="26" name="Text 24"/>
          <p:cNvSpPr/>
          <p:nvPr/>
        </p:nvSpPr>
        <p:spPr>
          <a:xfrm>
            <a:off x="1188720" y="4572000"/>
            <a:ext cx="9875520" cy="310896"/>
          </a:xfrm>
          <a:prstGeom prst="rect">
            <a:avLst/>
          </a:prstGeom>
          <a:noFill/>
          <a:ln/>
        </p:spPr>
        <p:txBody>
          <a:bodyPr wrap="square" lIns="0" tIns="0" rIns="0" bIns="0" rtlCol="0" anchor="ctr"/>
          <a:lstStyle/>
          <a:p>
            <a:pPr indent="0" marL="0">
              <a:buNone/>
            </a:pPr>
            <a:r>
              <a:rPr lang="en-US" sz="1450" dirty="0">
                <a:solidFill>
                  <a:srgbClr val="111111"/>
                </a:solidFill>
                <a:latin typeface="Pretendard Black" pitchFamily="34" charset="0"/>
                <a:ea typeface="Pretendard Black" pitchFamily="34" charset="-122"/>
                <a:cs typeface="Pretendard Black" pitchFamily="34" charset="-120"/>
              </a:rPr>
              <a:t>하나를 고쳐 전 화면을 바꿀 수 있다</a:t>
            </a:r>
            <a:endParaRPr lang="en-US" sz="1450" dirty="0"/>
          </a:p>
        </p:txBody>
      </p:sp>
      <p:sp>
        <p:nvSpPr>
          <p:cNvPr id="27" name="Text 25"/>
          <p:cNvSpPr/>
          <p:nvPr/>
        </p:nvSpPr>
        <p:spPr>
          <a:xfrm>
            <a:off x="1188720" y="4882896"/>
            <a:ext cx="9875520" cy="292608"/>
          </a:xfrm>
          <a:prstGeom prst="rect">
            <a:avLst/>
          </a:prstGeom>
          <a:noFill/>
          <a:ln/>
        </p:spPr>
        <p:txBody>
          <a:bodyPr wrap="square" lIns="0" tIns="0" rIns="0" bIns="0" rtlCol="0" anchor="ctr"/>
          <a:lstStyle/>
          <a:p>
            <a:pPr indent="0" marL="0">
              <a:buNone/>
            </a:pPr>
            <a:r>
              <a:rPr lang="en-US" sz="1100" dirty="0">
                <a:solidFill>
                  <a:srgbClr val="6E6E6E"/>
                </a:solidFill>
                <a:latin typeface="Pretendard" pitchFamily="34" charset="0"/>
                <a:ea typeface="Pretendard" pitchFamily="34" charset="-122"/>
                <a:cs typeface="Pretendard" pitchFamily="34" charset="-120"/>
              </a:rPr>
              <a:t>오늘 수업의 마지막 15분에 직접 확인합니다</a:t>
            </a:r>
            <a:endParaRPr lang="en-US" sz="1100" dirty="0"/>
          </a:p>
        </p:txBody>
      </p:sp>
      <p:sp>
        <p:nvSpPr>
          <p:cNvPr id="28" name="Shape 26"/>
          <p:cNvSpPr/>
          <p:nvPr/>
        </p:nvSpPr>
        <p:spPr>
          <a:xfrm>
            <a:off x="640080" y="5522976"/>
            <a:ext cx="10911535" cy="7315"/>
          </a:xfrm>
          <a:prstGeom prst="rect">
            <a:avLst/>
          </a:prstGeom>
          <a:solidFill>
            <a:srgbClr val="111111"/>
          </a:solidFill>
          <a:ln w="12700">
            <a:solidFill>
              <a:srgbClr val="111111"/>
            </a:solidFill>
            <a:prstDash val="solid"/>
          </a:ln>
        </p:spPr>
      </p:sp>
      <p:sp>
        <p:nvSpPr>
          <p:cNvPr id="29" name="Text 27"/>
          <p:cNvSpPr/>
          <p:nvPr/>
        </p:nvSpPr>
        <p:spPr>
          <a:xfrm>
            <a:off x="640080" y="5632704"/>
            <a:ext cx="10911535" cy="402336"/>
          </a:xfrm>
          <a:prstGeom prst="rect">
            <a:avLst/>
          </a:prstGeom>
          <a:noFill/>
          <a:ln/>
        </p:spPr>
        <p:txBody>
          <a:bodyPr wrap="square" lIns="0" tIns="0" rIns="0" bIns="0" rtlCol="0" anchor="t"/>
          <a:lstStyle/>
          <a:p>
            <a:pPr indent="0" marL="0">
              <a:lnSpc>
                <a:spcPct val="120000"/>
              </a:lnSpc>
              <a:buNone/>
            </a:pPr>
            <a:r>
              <a:rPr lang="en-US" sz="1250" b="1" dirty="0">
                <a:solidFill>
                  <a:srgbClr val="111111"/>
                </a:solidFill>
                <a:latin typeface="Pretendard" pitchFamily="34" charset="0"/>
                <a:ea typeface="Pretendard" pitchFamily="34" charset="-122"/>
                <a:cs typeface="Pretendard" pitchFamily="34" charset="-120"/>
              </a:rPr>
              <a:t>오늘의 한 문장 — 디자인은 자유롭게 시작하지 않는다. 제약을 먼저 계산하고, 남는 자유도 안에서 결정한다.</a:t>
            </a:r>
            <a:endParaRPr lang="en-US" sz="1250" dirty="0"/>
          </a:p>
        </p:txBody>
      </p:sp>
      <p:sp>
        <p:nvSpPr>
          <p:cNvPr id="30" name="Shape 28"/>
          <p:cNvSpPr/>
          <p:nvPr/>
        </p:nvSpPr>
        <p:spPr>
          <a:xfrm>
            <a:off x="640080" y="6291072"/>
            <a:ext cx="10911535" cy="7315"/>
          </a:xfrm>
          <a:prstGeom prst="rect">
            <a:avLst/>
          </a:prstGeom>
          <a:solidFill>
            <a:srgbClr val="DCDCDC"/>
          </a:solidFill>
          <a:ln w="12700">
            <a:solidFill>
              <a:srgbClr val="DCDCDC"/>
            </a:solidFill>
            <a:prstDash val="solid"/>
          </a:ln>
        </p:spPr>
      </p:sp>
      <p:sp>
        <p:nvSpPr>
          <p:cNvPr id="31" name="Text 29"/>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서비스디자인 · 2주차 하단 GNB · 수치로 짓는 컴포넌트</a:t>
            </a:r>
            <a:endParaRPr lang="en-US" sz="850" dirty="0"/>
          </a:p>
        </p:txBody>
      </p:sp>
      <p:sp>
        <p:nvSpPr>
          <p:cNvPr id="32" name="Text 30"/>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P.02</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9A9A9A"/>
                </a:solidFill>
                <a:latin typeface="Pretendard" pitchFamily="34" charset="0"/>
                <a:ea typeface="Pretendard" pitchFamily="34" charset="-122"/>
                <a:cs typeface="Pretendard" pitchFamily="34" charset="-120"/>
              </a:rPr>
              <a:t>서비스디자인</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9A9A9A"/>
                </a:solidFill>
                <a:latin typeface="Pretendard" pitchFamily="34" charset="0"/>
                <a:ea typeface="Pretendard" pitchFamily="34" charset="-122"/>
                <a:cs typeface="Pretendard" pitchFamily="34" charset="-120"/>
              </a:rPr>
              <a:t>PHASE 1 기준</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9A9A9A"/>
                </a:solidFill>
                <a:latin typeface="Pretendard" pitchFamily="34" charset="0"/>
                <a:ea typeface="Pretendard" pitchFamily="34" charset="-122"/>
                <a:cs typeface="Pretendard" pitchFamily="34" charset="-120"/>
              </a:rPr>
              <a:t>WEEK 02</a:t>
            </a:r>
            <a:endParaRPr lang="en-US" sz="900" dirty="0"/>
          </a:p>
        </p:txBody>
      </p:sp>
      <p:sp>
        <p:nvSpPr>
          <p:cNvPr id="5" name="Shape 3"/>
          <p:cNvSpPr/>
          <p:nvPr/>
        </p:nvSpPr>
        <p:spPr>
          <a:xfrm>
            <a:off x="640080" y="548640"/>
            <a:ext cx="10911535" cy="7315"/>
          </a:xfrm>
          <a:prstGeom prst="rect">
            <a:avLst/>
          </a:prstGeom>
          <a:solidFill>
            <a:srgbClr val="333333"/>
          </a:solidFill>
          <a:ln w="12700">
            <a:solidFill>
              <a:srgbClr val="333333"/>
            </a:solidFill>
            <a:prstDash val="solid"/>
          </a:ln>
        </p:spPr>
      </p:sp>
      <p:sp>
        <p:nvSpPr>
          <p:cNvPr id="6" name="Text 4"/>
          <p:cNvSpPr/>
          <p:nvPr/>
        </p:nvSpPr>
        <p:spPr>
          <a:xfrm>
            <a:off x="7345375" y="1737360"/>
            <a:ext cx="4206240" cy="3291840"/>
          </a:xfrm>
          <a:prstGeom prst="rect">
            <a:avLst/>
          </a:prstGeom>
          <a:noFill/>
          <a:ln/>
        </p:spPr>
        <p:txBody>
          <a:bodyPr wrap="square" lIns="0" tIns="0" rIns="0" bIns="0" rtlCol="0" anchor="ctr"/>
          <a:lstStyle/>
          <a:p>
            <a:pPr algn="r" indent="0" marL="0">
              <a:buNone/>
            </a:pPr>
            <a:r>
              <a:rPr lang="en-US" sz="20000" dirty="0">
                <a:solidFill>
                  <a:srgbClr val="1B1B1B"/>
                </a:solidFill>
                <a:latin typeface="Pretendard Black" pitchFamily="34" charset="0"/>
                <a:ea typeface="Pretendard Black" pitchFamily="34" charset="-122"/>
                <a:cs typeface="Pretendard Black" pitchFamily="34" charset="-120"/>
              </a:rPr>
              <a:t>01</a:t>
            </a:r>
            <a:endParaRPr lang="en-US" sz="20000" dirty="0"/>
          </a:p>
        </p:txBody>
      </p:sp>
      <p:sp>
        <p:nvSpPr>
          <p:cNvPr id="7" name="Shape 5"/>
          <p:cNvSpPr/>
          <p:nvPr/>
        </p:nvSpPr>
        <p:spPr>
          <a:xfrm>
            <a:off x="941832" y="1371600"/>
            <a:ext cx="0" cy="603504"/>
          </a:xfrm>
          <a:prstGeom prst="line">
            <a:avLst/>
          </a:prstGeom>
          <a:noFill/>
          <a:ln w="15875">
            <a:solidFill>
              <a:srgbClr val="FFFFFF"/>
            </a:solidFill>
            <a:prstDash val="solid"/>
          </a:ln>
        </p:spPr>
      </p:sp>
      <p:sp>
        <p:nvSpPr>
          <p:cNvPr id="8" name="Shape 6"/>
          <p:cNvSpPr/>
          <p:nvPr/>
        </p:nvSpPr>
        <p:spPr>
          <a:xfrm>
            <a:off x="640080" y="1733702"/>
            <a:ext cx="301752" cy="241402"/>
          </a:xfrm>
          <a:prstGeom prst="line">
            <a:avLst/>
          </a:prstGeom>
          <a:noFill/>
          <a:ln w="15875">
            <a:solidFill>
              <a:srgbClr val="FFFFFF"/>
            </a:solidFill>
            <a:prstDash val="solid"/>
          </a:ln>
        </p:spPr>
      </p:sp>
      <p:sp>
        <p:nvSpPr>
          <p:cNvPr id="9" name="Shape 7"/>
          <p:cNvSpPr/>
          <p:nvPr/>
        </p:nvSpPr>
        <p:spPr>
          <a:xfrm flipV="1">
            <a:off x="941832" y="1733702"/>
            <a:ext cx="301752" cy="241402"/>
          </a:xfrm>
          <a:prstGeom prst="line">
            <a:avLst/>
          </a:prstGeom>
          <a:noFill/>
          <a:ln w="15875">
            <a:solidFill>
              <a:srgbClr val="FFFFFF"/>
            </a:solidFill>
            <a:prstDash val="solid"/>
          </a:ln>
        </p:spPr>
      </p:sp>
      <p:sp>
        <p:nvSpPr>
          <p:cNvPr id="10" name="Text 8"/>
          <p:cNvSpPr/>
          <p:nvPr/>
        </p:nvSpPr>
        <p:spPr>
          <a:xfrm>
            <a:off x="640080" y="2615184"/>
            <a:ext cx="7863840" cy="256032"/>
          </a:xfrm>
          <a:prstGeom prst="rect">
            <a:avLst/>
          </a:prstGeom>
          <a:noFill/>
          <a:ln/>
        </p:spPr>
        <p:txBody>
          <a:bodyPr wrap="square" lIns="0" tIns="0" rIns="0" bIns="0" rtlCol="0" anchor="ctr"/>
          <a:lstStyle/>
          <a:p>
            <a:pPr indent="0" marL="0">
              <a:buNone/>
            </a:pPr>
            <a:r>
              <a:rPr lang="en-US" sz="950" spc="280" kern="0" dirty="0">
                <a:solidFill>
                  <a:srgbClr val="9A9A9A"/>
                </a:solidFill>
                <a:latin typeface="Pretendard" pitchFamily="34" charset="0"/>
                <a:ea typeface="Pretendard" pitchFamily="34" charset="-122"/>
                <a:cs typeface="Pretendard" pitchFamily="34" charset="-120"/>
              </a:rPr>
              <a:t>PART 01</a:t>
            </a:r>
            <a:endParaRPr lang="en-US" sz="950" dirty="0"/>
          </a:p>
        </p:txBody>
      </p:sp>
      <p:sp>
        <p:nvSpPr>
          <p:cNvPr id="11" name="Text 9"/>
          <p:cNvSpPr/>
          <p:nvPr/>
        </p:nvSpPr>
        <p:spPr>
          <a:xfrm>
            <a:off x="640080" y="2889504"/>
            <a:ext cx="7863840" cy="786384"/>
          </a:xfrm>
          <a:prstGeom prst="rect">
            <a:avLst/>
          </a:prstGeom>
          <a:noFill/>
          <a:ln/>
        </p:spPr>
        <p:txBody>
          <a:bodyPr wrap="square" lIns="0" tIns="0" rIns="0" bIns="0" rtlCol="0" anchor="ctr"/>
          <a:lstStyle/>
          <a:p>
            <a:pPr indent="0" marL="0">
              <a:buNone/>
            </a:pPr>
            <a:r>
              <a:rPr lang="en-US" sz="4600" dirty="0">
                <a:solidFill>
                  <a:srgbClr val="FFFFFF"/>
                </a:solidFill>
                <a:latin typeface="Pretendard Black" pitchFamily="34" charset="0"/>
                <a:ea typeface="Pretendard Black" pitchFamily="34" charset="-122"/>
                <a:cs typeface="Pretendard Black" pitchFamily="34" charset="-120"/>
              </a:rPr>
              <a:t>수치는 어디서 오는가</a:t>
            </a:r>
            <a:endParaRPr lang="en-US" sz="4600" dirty="0"/>
          </a:p>
        </p:txBody>
      </p:sp>
      <p:sp>
        <p:nvSpPr>
          <p:cNvPr id="12" name="Shape 10"/>
          <p:cNvSpPr/>
          <p:nvPr/>
        </p:nvSpPr>
        <p:spPr>
          <a:xfrm>
            <a:off x="640080" y="3803904"/>
            <a:ext cx="2194560" cy="7315"/>
          </a:xfrm>
          <a:prstGeom prst="rect">
            <a:avLst/>
          </a:prstGeom>
          <a:solidFill>
            <a:srgbClr val="FFFFFF"/>
          </a:solidFill>
          <a:ln w="12700">
            <a:solidFill>
              <a:srgbClr val="FFFFFF"/>
            </a:solidFill>
            <a:prstDash val="solid"/>
          </a:ln>
        </p:spPr>
      </p:sp>
      <p:sp>
        <p:nvSpPr>
          <p:cNvPr id="13" name="Text 11"/>
          <p:cNvSpPr/>
          <p:nvPr/>
        </p:nvSpPr>
        <p:spPr>
          <a:xfrm>
            <a:off x="640080" y="4005072"/>
            <a:ext cx="6949440" cy="731520"/>
          </a:xfrm>
          <a:prstGeom prst="rect">
            <a:avLst/>
          </a:prstGeom>
          <a:noFill/>
          <a:ln/>
        </p:spPr>
        <p:txBody>
          <a:bodyPr wrap="square" lIns="0" tIns="0" rIns="0" bIns="0" rtlCol="0" anchor="t"/>
          <a:lstStyle/>
          <a:p>
            <a:pPr indent="0" marL="0">
              <a:lnSpc>
                <a:spcPct val="134000"/>
              </a:lnSpc>
              <a:buNone/>
            </a:pPr>
            <a:r>
              <a:rPr lang="en-US" sz="1350" dirty="0">
                <a:solidFill>
                  <a:srgbClr val="B8B8B8"/>
                </a:solidFill>
                <a:latin typeface="Pretendard Light" pitchFamily="34" charset="0"/>
                <a:ea typeface="Pretendard Light" pitchFamily="34" charset="-122"/>
                <a:cs typeface="Pretendard Light" pitchFamily="34" charset="-120"/>
              </a:rPr>
              <a:t>하단 바의 높이는 취향이 아니라 손가락 크기에서 시작해 계산으로 내려옵니다.</a:t>
            </a:r>
            <a:endParaRPr lang="en-US" sz="1350" dirty="0"/>
          </a:p>
        </p:txBody>
      </p:sp>
      <p:sp>
        <p:nvSpPr>
          <p:cNvPr id="14" name="Text 12"/>
          <p:cNvSpPr/>
          <p:nvPr/>
        </p:nvSpPr>
        <p:spPr>
          <a:xfrm rot="16200000">
            <a:off x="10436047" y="3291840"/>
            <a:ext cx="2743200" cy="274320"/>
          </a:xfrm>
          <a:prstGeom prst="rect">
            <a:avLst/>
          </a:prstGeom>
          <a:noFill/>
          <a:ln/>
        </p:spPr>
        <p:txBody>
          <a:bodyPr wrap="square" lIns="0" tIns="0" rIns="0" bIns="0" rtlCol="0" anchor="ctr"/>
          <a:lstStyle/>
          <a:p>
            <a:pPr algn="ctr" indent="0" marL="0">
              <a:buNone/>
            </a:pPr>
            <a:r>
              <a:rPr lang="en-US" sz="850" spc="260" kern="0" dirty="0">
                <a:solidFill>
                  <a:srgbClr val="7A7A7A"/>
                </a:solidFill>
                <a:latin typeface="Pretendard" pitchFamily="34" charset="0"/>
                <a:ea typeface="Pretendard" pitchFamily="34" charset="-122"/>
                <a:cs typeface="Pretendard" pitchFamily="34" charset="-120"/>
              </a:rPr>
              <a:t>SECTION 01</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9A9A9A"/>
                </a:solidFill>
                <a:latin typeface="Pretendard" pitchFamily="34" charset="0"/>
                <a:ea typeface="Pretendard" pitchFamily="34" charset="-122"/>
                <a:cs typeface="Pretendard" pitchFamily="34" charset="-120"/>
              </a:rPr>
              <a:t>서비스디자인</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9A9A9A"/>
                </a:solidFill>
                <a:latin typeface="Pretendard" pitchFamily="34" charset="0"/>
                <a:ea typeface="Pretendard" pitchFamily="34" charset="-122"/>
                <a:cs typeface="Pretendard" pitchFamily="34" charset="-120"/>
              </a:rPr>
              <a:t>PHASE 1 기준</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9A9A9A"/>
                </a:solidFill>
                <a:latin typeface="Pretendard" pitchFamily="34" charset="0"/>
                <a:ea typeface="Pretendard" pitchFamily="34" charset="-122"/>
                <a:cs typeface="Pretendard" pitchFamily="34" charset="-120"/>
              </a:rPr>
              <a:t>WEEK 02</a:t>
            </a:r>
            <a:endParaRPr lang="en-US" sz="900" dirty="0"/>
          </a:p>
        </p:txBody>
      </p:sp>
      <p:sp>
        <p:nvSpPr>
          <p:cNvPr id="5" name="Shape 3"/>
          <p:cNvSpPr/>
          <p:nvPr/>
        </p:nvSpPr>
        <p:spPr>
          <a:xfrm>
            <a:off x="640080" y="548640"/>
            <a:ext cx="10911535" cy="7315"/>
          </a:xfrm>
          <a:prstGeom prst="rect">
            <a:avLst/>
          </a:prstGeom>
          <a:solidFill>
            <a:srgbClr val="333333"/>
          </a:solidFill>
          <a:ln w="12700">
            <a:solidFill>
              <a:srgbClr val="333333"/>
            </a:solidFill>
            <a:prstDash val="solid"/>
          </a:ln>
        </p:spPr>
      </p:sp>
      <p:sp>
        <p:nvSpPr>
          <p:cNvPr id="6" name="Text 4"/>
          <p:cNvSpPr/>
          <p:nvPr/>
        </p:nvSpPr>
        <p:spPr>
          <a:xfrm>
            <a:off x="640080" y="2103120"/>
            <a:ext cx="9144000" cy="256032"/>
          </a:xfrm>
          <a:prstGeom prst="rect">
            <a:avLst/>
          </a:prstGeom>
          <a:noFill/>
          <a:ln/>
        </p:spPr>
        <p:txBody>
          <a:bodyPr wrap="square" lIns="0" tIns="0" rIns="0" bIns="0" rtlCol="0" anchor="ctr"/>
          <a:lstStyle/>
          <a:p>
            <a:pPr indent="0" marL="0">
              <a:buNone/>
            </a:pPr>
            <a:r>
              <a:rPr lang="en-US" sz="950" spc="280" kern="0" dirty="0">
                <a:solidFill>
                  <a:srgbClr val="9A9A9A"/>
                </a:solidFill>
                <a:latin typeface="Pretendard" pitchFamily="34" charset="0"/>
                <a:ea typeface="Pretendard" pitchFamily="34" charset="-122"/>
                <a:cs typeface="Pretendard" pitchFamily="34" charset="-120"/>
              </a:rPr>
              <a:t>PRINCIPLE</a:t>
            </a:r>
            <a:endParaRPr lang="en-US" sz="950" dirty="0"/>
          </a:p>
        </p:txBody>
      </p:sp>
      <p:sp>
        <p:nvSpPr>
          <p:cNvPr id="7" name="Shape 5"/>
          <p:cNvSpPr/>
          <p:nvPr/>
        </p:nvSpPr>
        <p:spPr>
          <a:xfrm>
            <a:off x="640080" y="2395728"/>
            <a:ext cx="2194560" cy="7315"/>
          </a:xfrm>
          <a:prstGeom prst="rect">
            <a:avLst/>
          </a:prstGeom>
          <a:solidFill>
            <a:srgbClr val="FFFFFF"/>
          </a:solidFill>
          <a:ln w="12700">
            <a:solidFill>
              <a:srgbClr val="FFFFFF"/>
            </a:solidFill>
            <a:prstDash val="solid"/>
          </a:ln>
        </p:spPr>
      </p:sp>
      <p:sp>
        <p:nvSpPr>
          <p:cNvPr id="8" name="Text 6"/>
          <p:cNvSpPr/>
          <p:nvPr/>
        </p:nvSpPr>
        <p:spPr>
          <a:xfrm>
            <a:off x="640080" y="2596896"/>
            <a:ext cx="10241280" cy="1371600"/>
          </a:xfrm>
          <a:prstGeom prst="rect">
            <a:avLst/>
          </a:prstGeom>
          <a:noFill/>
          <a:ln/>
        </p:spPr>
        <p:txBody>
          <a:bodyPr wrap="square" lIns="0" tIns="0" rIns="0" bIns="0" rtlCol="0" anchor="t"/>
          <a:lstStyle/>
          <a:p>
            <a:pPr indent="0" marL="0">
              <a:lnSpc>
                <a:spcPct val="122000"/>
              </a:lnSpc>
              <a:buNone/>
            </a:pPr>
            <a:r>
              <a:rPr lang="en-US" sz="3400" dirty="0">
                <a:solidFill>
                  <a:srgbClr val="FFFFFF"/>
                </a:solidFill>
                <a:latin typeface="Pretendard Black" pitchFamily="34" charset="0"/>
                <a:ea typeface="Pretendard Black" pitchFamily="34" charset="-122"/>
                <a:cs typeface="Pretendard Black" pitchFamily="34" charset="-120"/>
              </a:rPr>
              <a:t>"보기 좋아서 80으로 했어요"는</a:t>
            </a:r>
            <a:endParaRPr lang="en-US" sz="3400" dirty="0"/>
          </a:p>
          <a:p>
            <a:pPr indent="0" marL="0">
              <a:lnSpc>
                <a:spcPct val="122000"/>
              </a:lnSpc>
              <a:buNone/>
            </a:pPr>
            <a:r>
              <a:rPr lang="en-US" sz="3400" dirty="0">
                <a:solidFill>
                  <a:srgbClr val="FFFFFF"/>
                </a:solidFill>
                <a:latin typeface="Pretendard Black" pitchFamily="34" charset="0"/>
                <a:ea typeface="Pretendard Black" pitchFamily="34" charset="-122"/>
                <a:cs typeface="Pretendard Black" pitchFamily="34" charset="-120"/>
              </a:rPr>
              <a:t>다음 사람이 이어 만들 수 없는 값입니다.</a:t>
            </a:r>
            <a:endParaRPr lang="en-US" sz="3400" dirty="0"/>
          </a:p>
        </p:txBody>
      </p:sp>
      <p:sp>
        <p:nvSpPr>
          <p:cNvPr id="9" name="Text 7"/>
          <p:cNvSpPr/>
          <p:nvPr/>
        </p:nvSpPr>
        <p:spPr>
          <a:xfrm>
            <a:off x="640080" y="4078224"/>
            <a:ext cx="9509760" cy="914400"/>
          </a:xfrm>
          <a:prstGeom prst="rect">
            <a:avLst/>
          </a:prstGeom>
          <a:noFill/>
          <a:ln/>
        </p:spPr>
        <p:txBody>
          <a:bodyPr wrap="square" lIns="0" tIns="0" rIns="0" bIns="0" rtlCol="0" anchor="t"/>
          <a:lstStyle/>
          <a:p>
            <a:pPr indent="0" marL="0">
              <a:lnSpc>
                <a:spcPct val="136000"/>
              </a:lnSpc>
              <a:buNone/>
            </a:pPr>
            <a:r>
              <a:rPr lang="en-US" sz="1400" dirty="0">
                <a:solidFill>
                  <a:srgbClr val="B8B8B8"/>
                </a:solidFill>
                <a:latin typeface="Pretendard Light" pitchFamily="34" charset="0"/>
                <a:ea typeface="Pretendard Light" pitchFamily="34" charset="-122"/>
                <a:cs typeface="Pretendard Light" pitchFamily="34" charset="-120"/>
              </a:rPr>
              <a:t>값의 근거가 취향이면 그 값을 바꿀 수도, 다른 화면에 적용할 수도 없습니다. 반대로 '터치 타깃 48을 보장하려면 콘텐츠 영역이 최소 56이고, 하단 안전 영역 34를 더해 90'이라고 말할 수 있으면 화면이 바뀌어도 같은 논리로 다시 계산됩니다. 수치적 접근이란 이 계산의 사슬을 끊지 않는 것입니다.</a:t>
            </a:r>
            <a:endParaRPr lang="en-US" sz="1400" dirty="0"/>
          </a:p>
        </p:txBody>
      </p:sp>
      <p:sp>
        <p:nvSpPr>
          <p:cNvPr id="10" name="Text 8"/>
          <p:cNvSpPr/>
          <p:nvPr/>
        </p:nvSpPr>
        <p:spPr>
          <a:xfrm rot="16200000">
            <a:off x="10436047" y="3291840"/>
            <a:ext cx="2743200" cy="274320"/>
          </a:xfrm>
          <a:prstGeom prst="rect">
            <a:avLst/>
          </a:prstGeom>
          <a:noFill/>
          <a:ln/>
        </p:spPr>
        <p:txBody>
          <a:bodyPr wrap="square" lIns="0" tIns="0" rIns="0" bIns="0" rtlCol="0" anchor="ctr"/>
          <a:lstStyle/>
          <a:p>
            <a:pPr algn="ctr" indent="0" marL="0">
              <a:buNone/>
            </a:pPr>
            <a:r>
              <a:rPr lang="en-US" sz="850" spc="260" kern="0" dirty="0">
                <a:solidFill>
                  <a:srgbClr val="7A7A7A"/>
                </a:solidFill>
                <a:latin typeface="Pretendard" pitchFamily="34" charset="0"/>
                <a:ea typeface="Pretendard" pitchFamily="34" charset="-122"/>
                <a:cs typeface="Pretendard" pitchFamily="34" charset="-120"/>
              </a:rPr>
              <a:t>서비스디자인 · WEEK 02</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서비스디자인</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1 기준</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02</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STEP 1</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Black" pitchFamily="34" charset="0"/>
                <a:ea typeface="Pretendard Black" pitchFamily="34" charset="-122"/>
                <a:cs typeface="Pretendard Black" pitchFamily="34" charset="-120"/>
              </a:rPr>
              <a:t>먼저 기준 화면을 하나로 고정합니다</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이것을 정하지 않으면 뒤의 모든 수치가 흔들립니다.</a:t>
            </a:r>
            <a:endParaRPr lang="en-US" sz="1150" dirty="0"/>
          </a:p>
        </p:txBody>
      </p:sp>
      <p:sp>
        <p:nvSpPr>
          <p:cNvPr id="9" name="Shape 7"/>
          <p:cNvSpPr/>
          <p:nvPr/>
        </p:nvSpPr>
        <p:spPr>
          <a:xfrm>
            <a:off x="640080" y="1737360"/>
            <a:ext cx="3393338" cy="3035808"/>
          </a:xfrm>
          <a:prstGeom prst="rect">
            <a:avLst/>
          </a:prstGeom>
          <a:solidFill>
            <a:srgbClr val="FFFFFF"/>
          </a:solidFill>
          <a:ln w="12700">
            <a:solidFill>
              <a:srgbClr val="DCDCDC"/>
            </a:solidFill>
            <a:prstDash val="solid"/>
          </a:ln>
        </p:spPr>
      </p:sp>
      <p:sp>
        <p:nvSpPr>
          <p:cNvPr id="10" name="Shape 8"/>
          <p:cNvSpPr/>
          <p:nvPr/>
        </p:nvSpPr>
        <p:spPr>
          <a:xfrm>
            <a:off x="1024128" y="2011680"/>
            <a:ext cx="365760" cy="365760"/>
          </a:xfrm>
          <a:prstGeom prst="ellipse">
            <a:avLst/>
          </a:prstGeom>
          <a:solidFill>
            <a:srgbClr val="FFFFFF"/>
          </a:solidFill>
          <a:ln w="12700">
            <a:solidFill>
              <a:srgbClr val="111111"/>
            </a:solidFill>
            <a:prstDash val="solid"/>
          </a:ln>
        </p:spPr>
      </p:sp>
      <p:sp>
        <p:nvSpPr>
          <p:cNvPr id="11" name="Text 9"/>
          <p:cNvSpPr/>
          <p:nvPr/>
        </p:nvSpPr>
        <p:spPr>
          <a:xfrm>
            <a:off x="1024128" y="2011680"/>
            <a:ext cx="365760" cy="365760"/>
          </a:xfrm>
          <a:prstGeom prst="rect">
            <a:avLst/>
          </a:prstGeom>
          <a:noFill/>
          <a:ln/>
        </p:spPr>
        <p:txBody>
          <a:bodyPr wrap="square" lIns="0" tIns="0" rIns="0" bIns="0" rtlCol="0" anchor="ctr"/>
          <a:lstStyle/>
          <a:p>
            <a:pPr algn="ctr" indent="0" marL="0">
              <a:buNone/>
            </a:pPr>
            <a:r>
              <a:rPr lang="en-US" sz="1150" b="1" dirty="0">
                <a:solidFill>
                  <a:srgbClr val="111111"/>
                </a:solidFill>
                <a:latin typeface="Pretendard" pitchFamily="34" charset="0"/>
                <a:ea typeface="Pretendard" pitchFamily="34" charset="-122"/>
                <a:cs typeface="Pretendard" pitchFamily="34" charset="-120"/>
              </a:rPr>
              <a:t>1</a:t>
            </a:r>
            <a:endParaRPr lang="en-US" sz="1150" dirty="0"/>
          </a:p>
        </p:txBody>
      </p:sp>
      <p:sp>
        <p:nvSpPr>
          <p:cNvPr id="12" name="Text 10"/>
          <p:cNvSpPr/>
          <p:nvPr/>
        </p:nvSpPr>
        <p:spPr>
          <a:xfrm>
            <a:off x="1024128" y="2505456"/>
            <a:ext cx="2625242" cy="457200"/>
          </a:xfrm>
          <a:prstGeom prst="rect">
            <a:avLst/>
          </a:prstGeom>
          <a:noFill/>
          <a:ln/>
        </p:spPr>
        <p:txBody>
          <a:bodyPr wrap="square" lIns="0" tIns="0" rIns="0" bIns="0" rtlCol="0" anchor="t"/>
          <a:lstStyle/>
          <a:p>
            <a:pPr indent="0" marL="0">
              <a:lnSpc>
                <a:spcPct val="114000"/>
              </a:lnSpc>
              <a:buNone/>
            </a:pPr>
            <a:r>
              <a:rPr lang="en-US" sz="1700" dirty="0">
                <a:solidFill>
                  <a:srgbClr val="111111"/>
                </a:solidFill>
                <a:latin typeface="Pretendard Black" pitchFamily="34" charset="0"/>
                <a:ea typeface="Pretendard Black" pitchFamily="34" charset="-122"/>
                <a:cs typeface="Pretendard Black" pitchFamily="34" charset="-120"/>
              </a:rPr>
              <a:t>이번 학기 기준 — 390 × 844</a:t>
            </a:r>
            <a:endParaRPr lang="en-US" sz="1700" dirty="0"/>
          </a:p>
        </p:txBody>
      </p:sp>
      <p:sp>
        <p:nvSpPr>
          <p:cNvPr id="13" name="Text 11"/>
          <p:cNvSpPr/>
          <p:nvPr/>
        </p:nvSpPr>
        <p:spPr>
          <a:xfrm>
            <a:off x="1024128" y="2999232"/>
            <a:ext cx="2625242" cy="1645920"/>
          </a:xfrm>
          <a:prstGeom prst="rect">
            <a:avLst/>
          </a:prstGeom>
          <a:noFill/>
          <a:ln/>
        </p:spPr>
        <p:txBody>
          <a:bodyPr wrap="square" lIns="0" tIns="0" rIns="0" bIns="0" rtlCol="0" anchor="t"/>
          <a:lstStyle/>
          <a:p>
            <a:pPr indent="0" marL="0">
              <a:lnSpc>
                <a:spcPct val="130000"/>
              </a:lnSpc>
              <a:buNone/>
            </a:pPr>
            <a:r>
              <a:rPr lang="en-US" sz="1150" dirty="0">
                <a:solidFill>
                  <a:srgbClr val="6E6E6E"/>
                </a:solidFill>
                <a:latin typeface="Pretendard" pitchFamily="34" charset="0"/>
                <a:ea typeface="Pretendard" pitchFamily="34" charset="-122"/>
                <a:cs typeface="Pretendard" pitchFamily="34" charset="-120"/>
              </a:rPr>
              <a:t>iPhone 14 계열의 논리 해상도입니다. Figma 프리셋에 있습니다. 하나로 고정하는 것이 어떤 값을 고르는지보다 중요합니다.</a:t>
            </a:r>
            <a:endParaRPr lang="en-US" sz="1150" dirty="0"/>
          </a:p>
        </p:txBody>
      </p:sp>
      <p:sp>
        <p:nvSpPr>
          <p:cNvPr id="14" name="Shape 12"/>
          <p:cNvSpPr/>
          <p:nvPr/>
        </p:nvSpPr>
        <p:spPr>
          <a:xfrm>
            <a:off x="4399178" y="1737360"/>
            <a:ext cx="3393338" cy="3035808"/>
          </a:xfrm>
          <a:prstGeom prst="rect">
            <a:avLst/>
          </a:prstGeom>
          <a:solidFill>
            <a:srgbClr val="FFFFFF"/>
          </a:solidFill>
          <a:ln w="12700">
            <a:solidFill>
              <a:srgbClr val="DCDCDC"/>
            </a:solidFill>
            <a:prstDash val="solid"/>
          </a:ln>
        </p:spPr>
      </p:sp>
      <p:sp>
        <p:nvSpPr>
          <p:cNvPr id="15" name="Shape 13"/>
          <p:cNvSpPr/>
          <p:nvPr/>
        </p:nvSpPr>
        <p:spPr>
          <a:xfrm>
            <a:off x="4783226" y="2011680"/>
            <a:ext cx="365760" cy="365760"/>
          </a:xfrm>
          <a:prstGeom prst="ellipse">
            <a:avLst/>
          </a:prstGeom>
          <a:solidFill>
            <a:srgbClr val="FFFFFF"/>
          </a:solidFill>
          <a:ln w="12700">
            <a:solidFill>
              <a:srgbClr val="111111"/>
            </a:solidFill>
            <a:prstDash val="solid"/>
          </a:ln>
        </p:spPr>
      </p:sp>
      <p:sp>
        <p:nvSpPr>
          <p:cNvPr id="16" name="Text 14"/>
          <p:cNvSpPr/>
          <p:nvPr/>
        </p:nvSpPr>
        <p:spPr>
          <a:xfrm>
            <a:off x="4783226" y="2011680"/>
            <a:ext cx="365760" cy="365760"/>
          </a:xfrm>
          <a:prstGeom prst="rect">
            <a:avLst/>
          </a:prstGeom>
          <a:noFill/>
          <a:ln/>
        </p:spPr>
        <p:txBody>
          <a:bodyPr wrap="square" lIns="0" tIns="0" rIns="0" bIns="0" rtlCol="0" anchor="ctr"/>
          <a:lstStyle/>
          <a:p>
            <a:pPr algn="ctr" indent="0" marL="0">
              <a:buNone/>
            </a:pPr>
            <a:r>
              <a:rPr lang="en-US" sz="1150" b="1" dirty="0">
                <a:solidFill>
                  <a:srgbClr val="111111"/>
                </a:solidFill>
                <a:latin typeface="Pretendard" pitchFamily="34" charset="0"/>
                <a:ea typeface="Pretendard" pitchFamily="34" charset="-122"/>
                <a:cs typeface="Pretendard" pitchFamily="34" charset="-120"/>
              </a:rPr>
              <a:t>2</a:t>
            </a:r>
            <a:endParaRPr lang="en-US" sz="1150" dirty="0"/>
          </a:p>
        </p:txBody>
      </p:sp>
      <p:sp>
        <p:nvSpPr>
          <p:cNvPr id="17" name="Text 15"/>
          <p:cNvSpPr/>
          <p:nvPr/>
        </p:nvSpPr>
        <p:spPr>
          <a:xfrm>
            <a:off x="4783226" y="2505456"/>
            <a:ext cx="2625242" cy="457200"/>
          </a:xfrm>
          <a:prstGeom prst="rect">
            <a:avLst/>
          </a:prstGeom>
          <a:noFill/>
          <a:ln/>
        </p:spPr>
        <p:txBody>
          <a:bodyPr wrap="square" lIns="0" tIns="0" rIns="0" bIns="0" rtlCol="0" anchor="t"/>
          <a:lstStyle/>
          <a:p>
            <a:pPr indent="0" marL="0">
              <a:lnSpc>
                <a:spcPct val="114000"/>
              </a:lnSpc>
              <a:buNone/>
            </a:pPr>
            <a:r>
              <a:rPr lang="en-US" sz="1700" dirty="0">
                <a:solidFill>
                  <a:srgbClr val="111111"/>
                </a:solidFill>
                <a:latin typeface="Pretendard Black" pitchFamily="34" charset="0"/>
                <a:ea typeface="Pretendard Black" pitchFamily="34" charset="-122"/>
                <a:cs typeface="Pretendard Black" pitchFamily="34" charset="-120"/>
              </a:rPr>
              <a:t>검증 폭 — 360</a:t>
            </a:r>
            <a:endParaRPr lang="en-US" sz="1700" dirty="0"/>
          </a:p>
        </p:txBody>
      </p:sp>
      <p:sp>
        <p:nvSpPr>
          <p:cNvPr id="18" name="Text 16"/>
          <p:cNvSpPr/>
          <p:nvPr/>
        </p:nvSpPr>
        <p:spPr>
          <a:xfrm>
            <a:off x="4783226" y="2999232"/>
            <a:ext cx="2625242" cy="1645920"/>
          </a:xfrm>
          <a:prstGeom prst="rect">
            <a:avLst/>
          </a:prstGeom>
          <a:noFill/>
          <a:ln/>
        </p:spPr>
        <p:txBody>
          <a:bodyPr wrap="square" lIns="0" tIns="0" rIns="0" bIns="0" rtlCol="0" anchor="t"/>
          <a:lstStyle/>
          <a:p>
            <a:pPr indent="0" marL="0">
              <a:lnSpc>
                <a:spcPct val="130000"/>
              </a:lnSpc>
              <a:buNone/>
            </a:pPr>
            <a:r>
              <a:rPr lang="en-US" sz="1150" dirty="0">
                <a:solidFill>
                  <a:srgbClr val="6E6E6E"/>
                </a:solidFill>
                <a:latin typeface="Pretendard" pitchFamily="34" charset="0"/>
                <a:ea typeface="Pretendard" pitchFamily="34" charset="-122"/>
                <a:cs typeface="Pretendard" pitchFamily="34" charset="-120"/>
              </a:rPr>
              <a:t>안드로이드 다수 기기의 폭입니다. 390에서 만든 뒤 360에 붙여 깨지지 않으면 대부분의 기기를 덮습니다. 오늘 과제에 포함됩니다.</a:t>
            </a:r>
            <a:endParaRPr lang="en-US" sz="1150" dirty="0"/>
          </a:p>
        </p:txBody>
      </p:sp>
      <p:sp>
        <p:nvSpPr>
          <p:cNvPr id="19" name="Shape 17"/>
          <p:cNvSpPr/>
          <p:nvPr/>
        </p:nvSpPr>
        <p:spPr>
          <a:xfrm>
            <a:off x="8158277" y="1737360"/>
            <a:ext cx="3393338" cy="3035808"/>
          </a:xfrm>
          <a:prstGeom prst="rect">
            <a:avLst/>
          </a:prstGeom>
          <a:solidFill>
            <a:srgbClr val="111111"/>
          </a:solidFill>
          <a:ln w="12700">
            <a:solidFill>
              <a:srgbClr val="111111"/>
            </a:solidFill>
            <a:prstDash val="solid"/>
          </a:ln>
        </p:spPr>
      </p:sp>
      <p:sp>
        <p:nvSpPr>
          <p:cNvPr id="20" name="Shape 18"/>
          <p:cNvSpPr/>
          <p:nvPr/>
        </p:nvSpPr>
        <p:spPr>
          <a:xfrm>
            <a:off x="8542325" y="2011680"/>
            <a:ext cx="365760" cy="365760"/>
          </a:xfrm>
          <a:prstGeom prst="ellipse">
            <a:avLst/>
          </a:prstGeom>
          <a:solidFill>
            <a:srgbClr val="111111"/>
          </a:solidFill>
          <a:ln w="12700">
            <a:solidFill>
              <a:srgbClr val="FFFFFF"/>
            </a:solidFill>
            <a:prstDash val="solid"/>
          </a:ln>
        </p:spPr>
      </p:sp>
      <p:sp>
        <p:nvSpPr>
          <p:cNvPr id="21" name="Text 19"/>
          <p:cNvSpPr/>
          <p:nvPr/>
        </p:nvSpPr>
        <p:spPr>
          <a:xfrm>
            <a:off x="8542325" y="2011680"/>
            <a:ext cx="365760" cy="365760"/>
          </a:xfrm>
          <a:prstGeom prst="rect">
            <a:avLst/>
          </a:prstGeom>
          <a:noFill/>
          <a:ln/>
        </p:spPr>
        <p:txBody>
          <a:bodyPr wrap="square" lIns="0" tIns="0" rIns="0" bIns="0" rtlCol="0" anchor="ctr"/>
          <a:lstStyle/>
          <a:p>
            <a:pPr algn="ctr" indent="0" marL="0">
              <a:buNone/>
            </a:pPr>
            <a:r>
              <a:rPr lang="en-US" sz="1150" b="1" dirty="0">
                <a:solidFill>
                  <a:srgbClr val="FFFFFF"/>
                </a:solidFill>
                <a:latin typeface="Pretendard" pitchFamily="34" charset="0"/>
                <a:ea typeface="Pretendard" pitchFamily="34" charset="-122"/>
                <a:cs typeface="Pretendard" pitchFamily="34" charset="-120"/>
              </a:rPr>
              <a:t>3</a:t>
            </a:r>
            <a:endParaRPr lang="en-US" sz="1150" dirty="0"/>
          </a:p>
        </p:txBody>
      </p:sp>
      <p:sp>
        <p:nvSpPr>
          <p:cNvPr id="22" name="Text 20"/>
          <p:cNvSpPr/>
          <p:nvPr/>
        </p:nvSpPr>
        <p:spPr>
          <a:xfrm>
            <a:off x="8542325" y="2505456"/>
            <a:ext cx="2625242" cy="457200"/>
          </a:xfrm>
          <a:prstGeom prst="rect">
            <a:avLst/>
          </a:prstGeom>
          <a:noFill/>
          <a:ln/>
        </p:spPr>
        <p:txBody>
          <a:bodyPr wrap="square" lIns="0" tIns="0" rIns="0" bIns="0" rtlCol="0" anchor="t"/>
          <a:lstStyle/>
          <a:p>
            <a:pPr indent="0" marL="0">
              <a:lnSpc>
                <a:spcPct val="114000"/>
              </a:lnSpc>
              <a:buNone/>
            </a:pPr>
            <a:r>
              <a:rPr lang="en-US" sz="1700" dirty="0">
                <a:solidFill>
                  <a:srgbClr val="FFFFFF"/>
                </a:solidFill>
                <a:latin typeface="Pretendard Black" pitchFamily="34" charset="0"/>
                <a:ea typeface="Pretendard Black" pitchFamily="34" charset="-122"/>
                <a:cs typeface="Pretendard Black" pitchFamily="34" charset="-120"/>
              </a:rPr>
              <a:t>단위는 pt/dp — px가 아닙니다</a:t>
            </a:r>
            <a:endParaRPr lang="en-US" sz="1700" dirty="0"/>
          </a:p>
        </p:txBody>
      </p:sp>
      <p:sp>
        <p:nvSpPr>
          <p:cNvPr id="23" name="Text 21"/>
          <p:cNvSpPr/>
          <p:nvPr/>
        </p:nvSpPr>
        <p:spPr>
          <a:xfrm>
            <a:off x="8542325" y="2999232"/>
            <a:ext cx="2625242" cy="1645920"/>
          </a:xfrm>
          <a:prstGeom prst="rect">
            <a:avLst/>
          </a:prstGeom>
          <a:noFill/>
          <a:ln/>
        </p:spPr>
        <p:txBody>
          <a:bodyPr wrap="square" lIns="0" tIns="0" rIns="0" bIns="0" rtlCol="0" anchor="t"/>
          <a:lstStyle/>
          <a:p>
            <a:pPr indent="0" marL="0">
              <a:lnSpc>
                <a:spcPct val="130000"/>
              </a:lnSpc>
              <a:buNone/>
            </a:pPr>
            <a:r>
              <a:rPr lang="en-US" sz="1150" dirty="0">
                <a:solidFill>
                  <a:srgbClr val="B8B8B8"/>
                </a:solidFill>
                <a:latin typeface="Pretendard" pitchFamily="34" charset="0"/>
                <a:ea typeface="Pretendard" pitchFamily="34" charset="-122"/>
                <a:cs typeface="Pretendard" pitchFamily="34" charset="-120"/>
              </a:rPr>
              <a:t>@2x · @3x는 내보낼 때의 배율입니다. 설계는 논리 단위로 하고, 실측표에 px로 적었다면 배율로 나눠 다시 적으세요.</a:t>
            </a:r>
            <a:endParaRPr lang="en-US" sz="1150" dirty="0"/>
          </a:p>
        </p:txBody>
      </p:sp>
      <p:sp>
        <p:nvSpPr>
          <p:cNvPr id="24" name="Shape 22"/>
          <p:cNvSpPr/>
          <p:nvPr/>
        </p:nvSpPr>
        <p:spPr>
          <a:xfrm>
            <a:off x="640080" y="5084064"/>
            <a:ext cx="10911535" cy="7315"/>
          </a:xfrm>
          <a:prstGeom prst="rect">
            <a:avLst/>
          </a:prstGeom>
          <a:solidFill>
            <a:srgbClr val="111111"/>
          </a:solidFill>
          <a:ln w="12700">
            <a:solidFill>
              <a:srgbClr val="111111"/>
            </a:solidFill>
            <a:prstDash val="solid"/>
          </a:ln>
        </p:spPr>
      </p:sp>
      <p:sp>
        <p:nvSpPr>
          <p:cNvPr id="25" name="Text 23"/>
          <p:cNvSpPr/>
          <p:nvPr/>
        </p:nvSpPr>
        <p:spPr>
          <a:xfrm>
            <a:off x="640080" y="5193792"/>
            <a:ext cx="10911535" cy="438912"/>
          </a:xfrm>
          <a:prstGeom prst="rect">
            <a:avLst/>
          </a:prstGeom>
          <a:noFill/>
          <a:ln/>
        </p:spPr>
        <p:txBody>
          <a:bodyPr wrap="square" lIns="0" tIns="0" rIns="0" bIns="0" rtlCol="0" anchor="t"/>
          <a:lstStyle/>
          <a:p>
            <a:pPr indent="0" marL="0">
              <a:lnSpc>
                <a:spcPct val="120000"/>
              </a:lnSpc>
              <a:buNone/>
            </a:pPr>
            <a:r>
              <a:rPr lang="en-US" sz="1300" b="1" dirty="0">
                <a:solidFill>
                  <a:srgbClr val="111111"/>
                </a:solidFill>
                <a:latin typeface="Pretendard" pitchFamily="34" charset="0"/>
                <a:ea typeface="Pretendard" pitchFamily="34" charset="-122"/>
                <a:cs typeface="Pretendard" pitchFamily="34" charset="-120"/>
              </a:rPr>
              <a:t>→ 실측표에서 학생마다 기준 폭이 375 · 390 · 414로 갈렸을 것입니다. 오늘부터 390으로 통일합니다.</a:t>
            </a:r>
            <a:endParaRPr lang="en-US" sz="1300" dirty="0"/>
          </a:p>
        </p:txBody>
      </p:sp>
      <p:sp>
        <p:nvSpPr>
          <p:cNvPr id="26" name="Shape 24"/>
          <p:cNvSpPr/>
          <p:nvPr/>
        </p:nvSpPr>
        <p:spPr>
          <a:xfrm>
            <a:off x="640080" y="6291072"/>
            <a:ext cx="10911535" cy="7315"/>
          </a:xfrm>
          <a:prstGeom prst="rect">
            <a:avLst/>
          </a:prstGeom>
          <a:solidFill>
            <a:srgbClr val="DCDCDC"/>
          </a:solidFill>
          <a:ln w="12700">
            <a:solidFill>
              <a:srgbClr val="DCDCDC"/>
            </a:solidFill>
            <a:prstDash val="solid"/>
          </a:ln>
        </p:spPr>
      </p:sp>
      <p:sp>
        <p:nvSpPr>
          <p:cNvPr id="27" name="Text 25"/>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서비스디자인 · 2주차 하단 GNB · 수치로 짓는 컴포넌트</a:t>
            </a:r>
            <a:endParaRPr lang="en-US" sz="850" dirty="0"/>
          </a:p>
        </p:txBody>
      </p:sp>
      <p:sp>
        <p:nvSpPr>
          <p:cNvPr id="28" name="Text 26"/>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P.03</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서비스디자인</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1 기준</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02</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STEP 2</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Black" pitchFamily="34" charset="0"/>
                <a:ea typeface="Pretendard Black" pitchFamily="34" charset="-122"/>
                <a:cs typeface="Pretendard Black" pitchFamily="34" charset="-120"/>
              </a:rPr>
              <a:t>높이는 세 단계로 내려옵니다</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손가락 → 콘텐츠 영역 → 전체 높이. 각 단계에 근거가 있습니다.</a:t>
            </a:r>
            <a:endParaRPr lang="en-US" sz="1150" dirty="0"/>
          </a:p>
        </p:txBody>
      </p:sp>
      <p:sp>
        <p:nvSpPr>
          <p:cNvPr id="9" name="Shape 7"/>
          <p:cNvSpPr/>
          <p:nvPr/>
        </p:nvSpPr>
        <p:spPr>
          <a:xfrm>
            <a:off x="640080" y="1700784"/>
            <a:ext cx="3417722" cy="3529584"/>
          </a:xfrm>
          <a:prstGeom prst="rect">
            <a:avLst/>
          </a:prstGeom>
          <a:solidFill>
            <a:srgbClr val="FFFFFF"/>
          </a:solidFill>
          <a:ln w="12700">
            <a:solidFill>
              <a:srgbClr val="DCDCDC"/>
            </a:solidFill>
            <a:prstDash val="solid"/>
          </a:ln>
        </p:spPr>
      </p:sp>
      <p:sp>
        <p:nvSpPr>
          <p:cNvPr id="10" name="Text 8"/>
          <p:cNvSpPr/>
          <p:nvPr/>
        </p:nvSpPr>
        <p:spPr>
          <a:xfrm>
            <a:off x="987552" y="1956816"/>
            <a:ext cx="2722778" cy="420624"/>
          </a:xfrm>
          <a:prstGeom prst="rect">
            <a:avLst/>
          </a:prstGeom>
          <a:noFill/>
          <a:ln/>
        </p:spPr>
        <p:txBody>
          <a:bodyPr wrap="square" lIns="0" tIns="0" rIns="0" bIns="0" rtlCol="0" anchor="ctr"/>
          <a:lstStyle/>
          <a:p>
            <a:pPr indent="0" marL="0">
              <a:buNone/>
            </a:pPr>
            <a:r>
              <a:rPr lang="en-US" sz="1700" dirty="0">
                <a:solidFill>
                  <a:srgbClr val="111111"/>
                </a:solidFill>
                <a:latin typeface="Pretendard Black" pitchFamily="34" charset="0"/>
                <a:ea typeface="Pretendard Black" pitchFamily="34" charset="-122"/>
                <a:cs typeface="Pretendard Black" pitchFamily="34" charset="-120"/>
              </a:rPr>
              <a:t>① 터치 타깃</a:t>
            </a:r>
            <a:endParaRPr lang="en-US" sz="1700" dirty="0"/>
          </a:p>
        </p:txBody>
      </p:sp>
      <p:sp>
        <p:nvSpPr>
          <p:cNvPr id="11" name="Text 9"/>
          <p:cNvSpPr/>
          <p:nvPr/>
        </p:nvSpPr>
        <p:spPr>
          <a:xfrm>
            <a:off x="987552" y="2395728"/>
            <a:ext cx="2722778" cy="310896"/>
          </a:xfrm>
          <a:prstGeom prst="rect">
            <a:avLst/>
          </a:prstGeom>
          <a:noFill/>
          <a:ln/>
        </p:spPr>
        <p:txBody>
          <a:bodyPr wrap="square" lIns="0" tIns="0" rIns="0" bIns="0" rtlCol="0" anchor="t"/>
          <a:lstStyle/>
          <a:p>
            <a:pPr indent="0" marL="0">
              <a:lnSpc>
                <a:spcPct val="115000"/>
              </a:lnSpc>
              <a:buNone/>
            </a:pPr>
            <a:r>
              <a:rPr lang="en-US" sz="1000" b="1" spc="140" kern="0" dirty="0">
                <a:solidFill>
                  <a:srgbClr val="6E6E6E"/>
                </a:solidFill>
                <a:latin typeface="Pretendard" pitchFamily="34" charset="0"/>
                <a:ea typeface="Pretendard" pitchFamily="34" charset="-122"/>
                <a:cs typeface="Pretendard" pitchFamily="34" charset="-120"/>
              </a:rPr>
              <a:t>하드웨어가 정하는 값</a:t>
            </a:r>
            <a:endParaRPr lang="en-US" sz="1000" dirty="0"/>
          </a:p>
        </p:txBody>
      </p:sp>
      <p:sp>
        <p:nvSpPr>
          <p:cNvPr id="12" name="Shape 10"/>
          <p:cNvSpPr/>
          <p:nvPr/>
        </p:nvSpPr>
        <p:spPr>
          <a:xfrm>
            <a:off x="987552" y="2798064"/>
            <a:ext cx="2722778" cy="7315"/>
          </a:xfrm>
          <a:prstGeom prst="rect">
            <a:avLst/>
          </a:prstGeom>
          <a:solidFill>
            <a:srgbClr val="111111"/>
          </a:solidFill>
          <a:ln w="12700">
            <a:solidFill>
              <a:srgbClr val="111111"/>
            </a:solidFill>
            <a:prstDash val="solid"/>
          </a:ln>
        </p:spPr>
      </p:sp>
      <p:sp>
        <p:nvSpPr>
          <p:cNvPr id="13" name="Text 11"/>
          <p:cNvSpPr/>
          <p:nvPr/>
        </p:nvSpPr>
        <p:spPr>
          <a:xfrm>
            <a:off x="987552" y="2944368"/>
            <a:ext cx="2722778" cy="1975104"/>
          </a:xfrm>
          <a:prstGeom prst="rect">
            <a:avLst/>
          </a:prstGeom>
          <a:noFill/>
          <a:ln/>
        </p:spPr>
        <p:txBody>
          <a:bodyPr wrap="square" lIns="0" tIns="0" rIns="0" bIns="0" rtlCol="0" anchor="t"/>
          <a:lstStyle/>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Apple HIG — 최소 44 × 44 pt</a:t>
            </a:r>
            <a:endParaRPr lang="en-US" sz="1150" dirty="0"/>
          </a:p>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Material Design — 최소 48 × 48 dp</a:t>
            </a:r>
            <a:endParaRPr lang="en-US" sz="1150" dirty="0"/>
          </a:p>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둘 중 큰 값 48을 안전선으로 씁니다</a:t>
            </a:r>
            <a:endParaRPr lang="en-US" sz="1150" dirty="0"/>
          </a:p>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여기는 디자이너가 정할 수 없는 값입니다</a:t>
            </a:r>
            <a:endParaRPr lang="en-US" sz="1150" dirty="0"/>
          </a:p>
        </p:txBody>
      </p:sp>
      <p:sp>
        <p:nvSpPr>
          <p:cNvPr id="14" name="Shape 12"/>
          <p:cNvSpPr/>
          <p:nvPr/>
        </p:nvSpPr>
        <p:spPr>
          <a:xfrm>
            <a:off x="4386986" y="1700784"/>
            <a:ext cx="3417722" cy="3529584"/>
          </a:xfrm>
          <a:prstGeom prst="rect">
            <a:avLst/>
          </a:prstGeom>
          <a:solidFill>
            <a:srgbClr val="FFFFFF"/>
          </a:solidFill>
          <a:ln w="12700">
            <a:solidFill>
              <a:srgbClr val="DCDCDC"/>
            </a:solidFill>
            <a:prstDash val="solid"/>
          </a:ln>
        </p:spPr>
      </p:sp>
      <p:sp>
        <p:nvSpPr>
          <p:cNvPr id="15" name="Text 13"/>
          <p:cNvSpPr/>
          <p:nvPr/>
        </p:nvSpPr>
        <p:spPr>
          <a:xfrm>
            <a:off x="4734458" y="1956816"/>
            <a:ext cx="2722778" cy="420624"/>
          </a:xfrm>
          <a:prstGeom prst="rect">
            <a:avLst/>
          </a:prstGeom>
          <a:noFill/>
          <a:ln/>
        </p:spPr>
        <p:txBody>
          <a:bodyPr wrap="square" lIns="0" tIns="0" rIns="0" bIns="0" rtlCol="0" anchor="ctr"/>
          <a:lstStyle/>
          <a:p>
            <a:pPr indent="0" marL="0">
              <a:buNone/>
            </a:pPr>
            <a:r>
              <a:rPr lang="en-US" sz="1700" dirty="0">
                <a:solidFill>
                  <a:srgbClr val="111111"/>
                </a:solidFill>
                <a:latin typeface="Pretendard Black" pitchFamily="34" charset="0"/>
                <a:ea typeface="Pretendard Black" pitchFamily="34" charset="-122"/>
                <a:cs typeface="Pretendard Black" pitchFamily="34" charset="-120"/>
              </a:rPr>
              <a:t>② 콘텐츠 높이 56</a:t>
            </a:r>
            <a:endParaRPr lang="en-US" sz="1700" dirty="0"/>
          </a:p>
        </p:txBody>
      </p:sp>
      <p:sp>
        <p:nvSpPr>
          <p:cNvPr id="16" name="Text 14"/>
          <p:cNvSpPr/>
          <p:nvPr/>
        </p:nvSpPr>
        <p:spPr>
          <a:xfrm>
            <a:off x="4734458" y="2395728"/>
            <a:ext cx="2722778" cy="310896"/>
          </a:xfrm>
          <a:prstGeom prst="rect">
            <a:avLst/>
          </a:prstGeom>
          <a:noFill/>
          <a:ln/>
        </p:spPr>
        <p:txBody>
          <a:bodyPr wrap="square" lIns="0" tIns="0" rIns="0" bIns="0" rtlCol="0" anchor="t"/>
          <a:lstStyle/>
          <a:p>
            <a:pPr indent="0" marL="0">
              <a:lnSpc>
                <a:spcPct val="115000"/>
              </a:lnSpc>
              <a:buNone/>
            </a:pPr>
            <a:r>
              <a:rPr lang="en-US" sz="1000" b="1" spc="140" kern="0" dirty="0">
                <a:solidFill>
                  <a:srgbClr val="6E6E6E"/>
                </a:solidFill>
                <a:latin typeface="Pretendard" pitchFamily="34" charset="0"/>
                <a:ea typeface="Pretendard" pitchFamily="34" charset="-122"/>
                <a:cs typeface="Pretendard" pitchFamily="34" charset="-120"/>
              </a:rPr>
              <a:t>48을 담고 남는 여백</a:t>
            </a:r>
            <a:endParaRPr lang="en-US" sz="1000" dirty="0"/>
          </a:p>
        </p:txBody>
      </p:sp>
      <p:sp>
        <p:nvSpPr>
          <p:cNvPr id="17" name="Shape 15"/>
          <p:cNvSpPr/>
          <p:nvPr/>
        </p:nvSpPr>
        <p:spPr>
          <a:xfrm>
            <a:off x="4734458" y="2798064"/>
            <a:ext cx="2722778" cy="7315"/>
          </a:xfrm>
          <a:prstGeom prst="rect">
            <a:avLst/>
          </a:prstGeom>
          <a:solidFill>
            <a:srgbClr val="111111"/>
          </a:solidFill>
          <a:ln w="12700">
            <a:solidFill>
              <a:srgbClr val="111111"/>
            </a:solidFill>
            <a:prstDash val="solid"/>
          </a:ln>
        </p:spPr>
      </p:sp>
      <p:sp>
        <p:nvSpPr>
          <p:cNvPr id="18" name="Text 16"/>
          <p:cNvSpPr/>
          <p:nvPr/>
        </p:nvSpPr>
        <p:spPr>
          <a:xfrm>
            <a:off x="4734458" y="2944368"/>
            <a:ext cx="2722778" cy="1975104"/>
          </a:xfrm>
          <a:prstGeom prst="rect">
            <a:avLst/>
          </a:prstGeom>
          <a:noFill/>
          <a:ln/>
        </p:spPr>
        <p:txBody>
          <a:bodyPr wrap="square" lIns="0" tIns="0" rIns="0" bIns="0" rtlCol="0" anchor="t"/>
          <a:lstStyle/>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상단 패딩 6</a:t>
            </a:r>
            <a:endParaRPr lang="en-US" sz="1150" dirty="0"/>
          </a:p>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아이콘 24 + 간격 4 + 라벨 라인높이 14</a:t>
            </a:r>
            <a:endParaRPr lang="en-US" sz="1150" dirty="0"/>
          </a:p>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하단 패딩 8</a:t>
            </a:r>
            <a:endParaRPr lang="en-US" sz="1150" dirty="0"/>
          </a:p>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6+24+4+14+8 = 56 ≥ 48 ✓</a:t>
            </a:r>
            <a:endParaRPr lang="en-US" sz="1150" dirty="0"/>
          </a:p>
        </p:txBody>
      </p:sp>
      <p:sp>
        <p:nvSpPr>
          <p:cNvPr id="19" name="Shape 17"/>
          <p:cNvSpPr/>
          <p:nvPr/>
        </p:nvSpPr>
        <p:spPr>
          <a:xfrm>
            <a:off x="8133893" y="1700784"/>
            <a:ext cx="3417722" cy="3529584"/>
          </a:xfrm>
          <a:prstGeom prst="rect">
            <a:avLst/>
          </a:prstGeom>
          <a:solidFill>
            <a:srgbClr val="FFFFFF"/>
          </a:solidFill>
          <a:ln w="12700">
            <a:solidFill>
              <a:srgbClr val="DCDCDC"/>
            </a:solidFill>
            <a:prstDash val="solid"/>
          </a:ln>
        </p:spPr>
      </p:sp>
      <p:sp>
        <p:nvSpPr>
          <p:cNvPr id="20" name="Text 18"/>
          <p:cNvSpPr/>
          <p:nvPr/>
        </p:nvSpPr>
        <p:spPr>
          <a:xfrm>
            <a:off x="8481365" y="1956816"/>
            <a:ext cx="2722778" cy="420624"/>
          </a:xfrm>
          <a:prstGeom prst="rect">
            <a:avLst/>
          </a:prstGeom>
          <a:noFill/>
          <a:ln/>
        </p:spPr>
        <p:txBody>
          <a:bodyPr wrap="square" lIns="0" tIns="0" rIns="0" bIns="0" rtlCol="0" anchor="ctr"/>
          <a:lstStyle/>
          <a:p>
            <a:pPr indent="0" marL="0">
              <a:buNone/>
            </a:pPr>
            <a:r>
              <a:rPr lang="en-US" sz="1700" dirty="0">
                <a:solidFill>
                  <a:srgbClr val="111111"/>
                </a:solidFill>
                <a:latin typeface="Pretendard Black" pitchFamily="34" charset="0"/>
                <a:ea typeface="Pretendard Black" pitchFamily="34" charset="-122"/>
                <a:cs typeface="Pretendard Black" pitchFamily="34" charset="-120"/>
              </a:rPr>
              <a:t>③ 전체 높이 90</a:t>
            </a:r>
            <a:endParaRPr lang="en-US" sz="1700" dirty="0"/>
          </a:p>
        </p:txBody>
      </p:sp>
      <p:sp>
        <p:nvSpPr>
          <p:cNvPr id="21" name="Text 19"/>
          <p:cNvSpPr/>
          <p:nvPr/>
        </p:nvSpPr>
        <p:spPr>
          <a:xfrm>
            <a:off x="8481365" y="2395728"/>
            <a:ext cx="2722778" cy="310896"/>
          </a:xfrm>
          <a:prstGeom prst="rect">
            <a:avLst/>
          </a:prstGeom>
          <a:noFill/>
          <a:ln/>
        </p:spPr>
        <p:txBody>
          <a:bodyPr wrap="square" lIns="0" tIns="0" rIns="0" bIns="0" rtlCol="0" anchor="t"/>
          <a:lstStyle/>
          <a:p>
            <a:pPr indent="0" marL="0">
              <a:lnSpc>
                <a:spcPct val="115000"/>
              </a:lnSpc>
              <a:buNone/>
            </a:pPr>
            <a:r>
              <a:rPr lang="en-US" sz="1000" b="1" spc="140" kern="0" dirty="0">
                <a:solidFill>
                  <a:srgbClr val="6E6E6E"/>
                </a:solidFill>
                <a:latin typeface="Pretendard" pitchFamily="34" charset="0"/>
                <a:ea typeface="Pretendard" pitchFamily="34" charset="-122"/>
                <a:cs typeface="Pretendard" pitchFamily="34" charset="-120"/>
              </a:rPr>
              <a:t>안전 영역을 더한다</a:t>
            </a:r>
            <a:endParaRPr lang="en-US" sz="1000" dirty="0"/>
          </a:p>
        </p:txBody>
      </p:sp>
      <p:sp>
        <p:nvSpPr>
          <p:cNvPr id="22" name="Shape 20"/>
          <p:cNvSpPr/>
          <p:nvPr/>
        </p:nvSpPr>
        <p:spPr>
          <a:xfrm>
            <a:off x="8481365" y="2798064"/>
            <a:ext cx="2722778" cy="7315"/>
          </a:xfrm>
          <a:prstGeom prst="rect">
            <a:avLst/>
          </a:prstGeom>
          <a:solidFill>
            <a:srgbClr val="111111"/>
          </a:solidFill>
          <a:ln w="12700">
            <a:solidFill>
              <a:srgbClr val="111111"/>
            </a:solidFill>
            <a:prstDash val="solid"/>
          </a:ln>
        </p:spPr>
      </p:sp>
      <p:sp>
        <p:nvSpPr>
          <p:cNvPr id="23" name="Text 21"/>
          <p:cNvSpPr/>
          <p:nvPr/>
        </p:nvSpPr>
        <p:spPr>
          <a:xfrm>
            <a:off x="8481365" y="2944368"/>
            <a:ext cx="2722778" cy="1975104"/>
          </a:xfrm>
          <a:prstGeom prst="rect">
            <a:avLst/>
          </a:prstGeom>
          <a:noFill/>
          <a:ln/>
        </p:spPr>
        <p:txBody>
          <a:bodyPr wrap="square" lIns="0" tIns="0" rIns="0" bIns="0" rtlCol="0" anchor="t"/>
          <a:lstStyle/>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콘텐츠 56 + 하단 안전 영역 34 = 90</a:t>
            </a:r>
            <a:endParaRPr lang="en-US" sz="1150" dirty="0"/>
          </a:p>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34는 홈 인디케이터가 차지하는 높이입니다</a:t>
            </a:r>
            <a:endParaRPr lang="en-US" sz="1150" dirty="0"/>
          </a:p>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이 34를 비워 두지 않으면 라벨이 가려집니다</a:t>
            </a:r>
            <a:endParaRPr lang="en-US" sz="1150" dirty="0"/>
          </a:p>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배경은 90 전체, 터치 요소는 위 56 안에</a:t>
            </a:r>
            <a:endParaRPr lang="en-US" sz="1150" dirty="0"/>
          </a:p>
        </p:txBody>
      </p:sp>
      <p:sp>
        <p:nvSpPr>
          <p:cNvPr id="24" name="Shape 22"/>
          <p:cNvSpPr/>
          <p:nvPr/>
        </p:nvSpPr>
        <p:spPr>
          <a:xfrm>
            <a:off x="640080" y="5504688"/>
            <a:ext cx="10911535" cy="7315"/>
          </a:xfrm>
          <a:prstGeom prst="rect">
            <a:avLst/>
          </a:prstGeom>
          <a:solidFill>
            <a:srgbClr val="111111"/>
          </a:solidFill>
          <a:ln w="12700">
            <a:solidFill>
              <a:srgbClr val="111111"/>
            </a:solidFill>
            <a:prstDash val="solid"/>
          </a:ln>
        </p:spPr>
      </p:sp>
      <p:sp>
        <p:nvSpPr>
          <p:cNvPr id="25" name="Text 23"/>
          <p:cNvSpPr/>
          <p:nvPr/>
        </p:nvSpPr>
        <p:spPr>
          <a:xfrm>
            <a:off x="640080" y="5614416"/>
            <a:ext cx="10911535" cy="420624"/>
          </a:xfrm>
          <a:prstGeom prst="rect">
            <a:avLst/>
          </a:prstGeom>
          <a:noFill/>
          <a:ln/>
        </p:spPr>
        <p:txBody>
          <a:bodyPr wrap="square" lIns="0" tIns="0" rIns="0" bIns="0" rtlCol="0" anchor="t"/>
          <a:lstStyle/>
          <a:p>
            <a:pPr indent="0" marL="0">
              <a:lnSpc>
                <a:spcPct val="120000"/>
              </a:lnSpc>
              <a:buNone/>
            </a:pPr>
            <a:r>
              <a:rPr lang="en-US" sz="1250" b="1" dirty="0">
                <a:solidFill>
                  <a:srgbClr val="111111"/>
                </a:solidFill>
                <a:latin typeface="Pretendard" pitchFamily="34" charset="0"/>
                <a:ea typeface="Pretendard" pitchFamily="34" charset="-122"/>
                <a:cs typeface="Pretendard" pitchFamily="34" charset="-120"/>
              </a:rPr>
              <a:t>참고 — 실제 iOS 탭바는 49+34=83, Material은 56+24=80입니다. 어느 쪽이든 좋습니다. 중요한 것은 값이 계산에서 나왔고 학기 내내 같다는 점입니다.</a:t>
            </a:r>
            <a:endParaRPr lang="en-US" sz="1250" dirty="0"/>
          </a:p>
        </p:txBody>
      </p:sp>
      <p:sp>
        <p:nvSpPr>
          <p:cNvPr id="26" name="Shape 24"/>
          <p:cNvSpPr/>
          <p:nvPr/>
        </p:nvSpPr>
        <p:spPr>
          <a:xfrm>
            <a:off x="640080" y="6291072"/>
            <a:ext cx="10911535" cy="7315"/>
          </a:xfrm>
          <a:prstGeom prst="rect">
            <a:avLst/>
          </a:prstGeom>
          <a:solidFill>
            <a:srgbClr val="DCDCDC"/>
          </a:solidFill>
          <a:ln w="12700">
            <a:solidFill>
              <a:srgbClr val="DCDCDC"/>
            </a:solidFill>
            <a:prstDash val="solid"/>
          </a:ln>
        </p:spPr>
      </p:sp>
      <p:sp>
        <p:nvSpPr>
          <p:cNvPr id="27" name="Text 25"/>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서비스디자인 · 2주차 하단 GNB · 수치로 짓는 컴포넌트</a:t>
            </a:r>
            <a:endParaRPr lang="en-US" sz="850" dirty="0"/>
          </a:p>
        </p:txBody>
      </p:sp>
      <p:sp>
        <p:nvSpPr>
          <p:cNvPr id="28" name="Text 26"/>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P.04</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서비스디자인</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1 기준</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02</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SPEC</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Black" pitchFamily="34" charset="0"/>
                <a:ea typeface="Pretendard Black" pitchFamily="34" charset="-122"/>
                <a:cs typeface="Pretendard Black" pitchFamily="34" charset="-120"/>
              </a:rPr>
              <a:t>GNB 규격 명세 — 항목 · 값 · 근거</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실습에서 이 표를 자기 프로젝트 기준으로 다시 채웁니다.</a:t>
            </a:r>
            <a:endParaRPr lang="en-US" sz="1150" dirty="0"/>
          </a:p>
        </p:txBody>
      </p:sp>
      <p:sp>
        <p:nvSpPr>
          <p:cNvPr id="9" name="Shape 7"/>
          <p:cNvSpPr/>
          <p:nvPr/>
        </p:nvSpPr>
        <p:spPr>
          <a:xfrm>
            <a:off x="640080" y="1664208"/>
            <a:ext cx="10911535" cy="7315"/>
          </a:xfrm>
          <a:prstGeom prst="rect">
            <a:avLst/>
          </a:prstGeom>
          <a:solidFill>
            <a:srgbClr val="111111"/>
          </a:solidFill>
          <a:ln w="12700">
            <a:solidFill>
              <a:srgbClr val="111111"/>
            </a:solidFill>
            <a:prstDash val="solid"/>
          </a:ln>
        </p:spPr>
      </p:sp>
      <p:sp>
        <p:nvSpPr>
          <p:cNvPr id="10" name="Shape 8"/>
          <p:cNvSpPr/>
          <p:nvPr/>
        </p:nvSpPr>
        <p:spPr>
          <a:xfrm>
            <a:off x="640080" y="1810512"/>
            <a:ext cx="310896" cy="310896"/>
          </a:xfrm>
          <a:prstGeom prst="ellipse">
            <a:avLst/>
          </a:prstGeom>
          <a:solidFill>
            <a:srgbClr val="FFFFFF"/>
          </a:solidFill>
          <a:ln w="12700">
            <a:solidFill>
              <a:srgbClr val="111111"/>
            </a:solidFill>
            <a:prstDash val="solid"/>
          </a:ln>
        </p:spPr>
      </p:sp>
      <p:sp>
        <p:nvSpPr>
          <p:cNvPr id="11" name="Text 9"/>
          <p:cNvSpPr/>
          <p:nvPr/>
        </p:nvSpPr>
        <p:spPr>
          <a:xfrm>
            <a:off x="640080" y="1810512"/>
            <a:ext cx="310896" cy="310896"/>
          </a:xfrm>
          <a:prstGeom prst="rect">
            <a:avLst/>
          </a:prstGeom>
          <a:noFill/>
          <a:ln/>
        </p:spPr>
        <p:txBody>
          <a:bodyPr wrap="square" lIns="0" tIns="0" rIns="0" bIns="0" rtlCol="0" anchor="ctr"/>
          <a:lstStyle/>
          <a:p>
            <a:pPr algn="ctr" indent="0" marL="0">
              <a:buNone/>
            </a:pPr>
            <a:r>
              <a:rPr lang="en-US" sz="1000" b="1" dirty="0">
                <a:solidFill>
                  <a:srgbClr val="111111"/>
                </a:solidFill>
                <a:latin typeface="Pretendard" pitchFamily="34" charset="0"/>
                <a:ea typeface="Pretendard" pitchFamily="34" charset="-122"/>
                <a:cs typeface="Pretendard" pitchFamily="34" charset="-120"/>
              </a:rPr>
              <a:t>1</a:t>
            </a:r>
            <a:endParaRPr lang="en-US" sz="1000" dirty="0"/>
          </a:p>
        </p:txBody>
      </p:sp>
      <p:sp>
        <p:nvSpPr>
          <p:cNvPr id="12" name="Text 10"/>
          <p:cNvSpPr/>
          <p:nvPr/>
        </p:nvSpPr>
        <p:spPr>
          <a:xfrm>
            <a:off x="1188720" y="1719072"/>
            <a:ext cx="7498080" cy="310896"/>
          </a:xfrm>
          <a:prstGeom prst="rect">
            <a:avLst/>
          </a:prstGeom>
          <a:noFill/>
          <a:ln/>
        </p:spPr>
        <p:txBody>
          <a:bodyPr wrap="square" lIns="0" tIns="0" rIns="0" bIns="0" rtlCol="0" anchor="ctr"/>
          <a:lstStyle/>
          <a:p>
            <a:pPr indent="0" marL="0">
              <a:buNone/>
            </a:pPr>
            <a:r>
              <a:rPr lang="en-US" sz="1450" dirty="0">
                <a:solidFill>
                  <a:srgbClr val="111111"/>
                </a:solidFill>
                <a:latin typeface="Pretendard Black" pitchFamily="34" charset="0"/>
                <a:ea typeface="Pretendard Black" pitchFamily="34" charset="-122"/>
                <a:cs typeface="Pretendard Black" pitchFamily="34" charset="-120"/>
              </a:rPr>
              <a:t>전체 높이 90 / 콘텐츠 56 + 안전 영역 34</a:t>
            </a:r>
            <a:endParaRPr lang="en-US" sz="1450" dirty="0"/>
          </a:p>
        </p:txBody>
      </p:sp>
      <p:sp>
        <p:nvSpPr>
          <p:cNvPr id="13" name="Text 11"/>
          <p:cNvSpPr/>
          <p:nvPr/>
        </p:nvSpPr>
        <p:spPr>
          <a:xfrm>
            <a:off x="1188720" y="2029968"/>
            <a:ext cx="7498080" cy="292608"/>
          </a:xfrm>
          <a:prstGeom prst="rect">
            <a:avLst/>
          </a:prstGeom>
          <a:noFill/>
          <a:ln/>
        </p:spPr>
        <p:txBody>
          <a:bodyPr wrap="square" lIns="0" tIns="0" rIns="0" bIns="0" rtlCol="0" anchor="ctr"/>
          <a:lstStyle/>
          <a:p>
            <a:pPr indent="0" marL="0">
              <a:buNone/>
            </a:pPr>
            <a:r>
              <a:rPr lang="en-US" sz="1100" dirty="0">
                <a:solidFill>
                  <a:srgbClr val="6E6E6E"/>
                </a:solidFill>
                <a:latin typeface="Pretendard" pitchFamily="34" charset="0"/>
                <a:ea typeface="Pretendard" pitchFamily="34" charset="-122"/>
                <a:cs typeface="Pretendard" pitchFamily="34" charset="-120"/>
              </a:rPr>
              <a:t>터치 타깃 48을 보장하는 최소 콘텐츠 높이에 홈 인디케이터 영역을 더한 값</a:t>
            </a:r>
            <a:endParaRPr lang="en-US" sz="1100" dirty="0"/>
          </a:p>
        </p:txBody>
      </p:sp>
      <p:sp>
        <p:nvSpPr>
          <p:cNvPr id="14" name="Text 12"/>
          <p:cNvSpPr/>
          <p:nvPr/>
        </p:nvSpPr>
        <p:spPr>
          <a:xfrm>
            <a:off x="9357055" y="1810512"/>
            <a:ext cx="2194560" cy="310896"/>
          </a:xfrm>
          <a:prstGeom prst="rect">
            <a:avLst/>
          </a:prstGeom>
          <a:noFill/>
          <a:ln/>
        </p:spPr>
        <p:txBody>
          <a:bodyPr wrap="square" lIns="0" tIns="0" rIns="0" bIns="0" rtlCol="0" anchor="ctr"/>
          <a:lstStyle/>
          <a:p>
            <a:pPr algn="r" indent="0" marL="0">
              <a:buNone/>
            </a:pPr>
            <a:r>
              <a:rPr lang="en-US" sz="1050" b="1" spc="120" kern="0" dirty="0">
                <a:solidFill>
                  <a:srgbClr val="111111"/>
                </a:solidFill>
                <a:latin typeface="Pretendard" pitchFamily="34" charset="0"/>
                <a:ea typeface="Pretendard" pitchFamily="34" charset="-122"/>
                <a:cs typeface="Pretendard" pitchFamily="34" charset="-120"/>
              </a:rPr>
              <a:t>계산</a:t>
            </a:r>
            <a:endParaRPr lang="en-US" sz="1050" dirty="0"/>
          </a:p>
        </p:txBody>
      </p:sp>
      <p:sp>
        <p:nvSpPr>
          <p:cNvPr id="15" name="Shape 13"/>
          <p:cNvSpPr/>
          <p:nvPr/>
        </p:nvSpPr>
        <p:spPr>
          <a:xfrm>
            <a:off x="640080" y="2279904"/>
            <a:ext cx="10911535" cy="7315"/>
          </a:xfrm>
          <a:prstGeom prst="rect">
            <a:avLst/>
          </a:prstGeom>
          <a:solidFill>
            <a:srgbClr val="DCDCDC"/>
          </a:solidFill>
          <a:ln w="12700">
            <a:solidFill>
              <a:srgbClr val="DCDCDC"/>
            </a:solidFill>
            <a:prstDash val="solid"/>
          </a:ln>
        </p:spPr>
      </p:sp>
      <p:sp>
        <p:nvSpPr>
          <p:cNvPr id="16" name="Shape 14"/>
          <p:cNvSpPr/>
          <p:nvPr/>
        </p:nvSpPr>
        <p:spPr>
          <a:xfrm>
            <a:off x="640080" y="2444496"/>
            <a:ext cx="310896" cy="310896"/>
          </a:xfrm>
          <a:prstGeom prst="ellipse">
            <a:avLst/>
          </a:prstGeom>
          <a:solidFill>
            <a:srgbClr val="FFFFFF"/>
          </a:solidFill>
          <a:ln w="12700">
            <a:solidFill>
              <a:srgbClr val="111111"/>
            </a:solidFill>
            <a:prstDash val="solid"/>
          </a:ln>
        </p:spPr>
      </p:sp>
      <p:sp>
        <p:nvSpPr>
          <p:cNvPr id="17" name="Text 15"/>
          <p:cNvSpPr/>
          <p:nvPr/>
        </p:nvSpPr>
        <p:spPr>
          <a:xfrm>
            <a:off x="640080" y="2444496"/>
            <a:ext cx="310896" cy="310896"/>
          </a:xfrm>
          <a:prstGeom prst="rect">
            <a:avLst/>
          </a:prstGeom>
          <a:noFill/>
          <a:ln/>
        </p:spPr>
        <p:txBody>
          <a:bodyPr wrap="square" lIns="0" tIns="0" rIns="0" bIns="0" rtlCol="0" anchor="ctr"/>
          <a:lstStyle/>
          <a:p>
            <a:pPr algn="ctr" indent="0" marL="0">
              <a:buNone/>
            </a:pPr>
            <a:r>
              <a:rPr lang="en-US" sz="1000" b="1" dirty="0">
                <a:solidFill>
                  <a:srgbClr val="111111"/>
                </a:solidFill>
                <a:latin typeface="Pretendard" pitchFamily="34" charset="0"/>
                <a:ea typeface="Pretendard" pitchFamily="34" charset="-122"/>
                <a:cs typeface="Pretendard" pitchFamily="34" charset="-120"/>
              </a:rPr>
              <a:t>2</a:t>
            </a:r>
            <a:endParaRPr lang="en-US" sz="1000" dirty="0"/>
          </a:p>
        </p:txBody>
      </p:sp>
      <p:sp>
        <p:nvSpPr>
          <p:cNvPr id="18" name="Text 16"/>
          <p:cNvSpPr/>
          <p:nvPr/>
        </p:nvSpPr>
        <p:spPr>
          <a:xfrm>
            <a:off x="1188720" y="2353056"/>
            <a:ext cx="7498080" cy="310896"/>
          </a:xfrm>
          <a:prstGeom prst="rect">
            <a:avLst/>
          </a:prstGeom>
          <a:noFill/>
          <a:ln/>
        </p:spPr>
        <p:txBody>
          <a:bodyPr wrap="square" lIns="0" tIns="0" rIns="0" bIns="0" rtlCol="0" anchor="ctr"/>
          <a:lstStyle/>
          <a:p>
            <a:pPr indent="0" marL="0">
              <a:buNone/>
            </a:pPr>
            <a:r>
              <a:rPr lang="en-US" sz="1450" dirty="0">
                <a:solidFill>
                  <a:srgbClr val="111111"/>
                </a:solidFill>
                <a:latin typeface="Pretendard Black" pitchFamily="34" charset="0"/>
                <a:ea typeface="Pretendard Black" pitchFamily="34" charset="-122"/>
                <a:cs typeface="Pretendard Black" pitchFamily="34" charset="-120"/>
              </a:rPr>
              <a:t>탭 개수 4 / 탭 폭 390 ÷ 4 = 97.5</a:t>
            </a:r>
            <a:endParaRPr lang="en-US" sz="1450" dirty="0"/>
          </a:p>
        </p:txBody>
      </p:sp>
      <p:sp>
        <p:nvSpPr>
          <p:cNvPr id="19" name="Text 17"/>
          <p:cNvSpPr/>
          <p:nvPr/>
        </p:nvSpPr>
        <p:spPr>
          <a:xfrm>
            <a:off x="1188720" y="2663952"/>
            <a:ext cx="7498080" cy="292608"/>
          </a:xfrm>
          <a:prstGeom prst="rect">
            <a:avLst/>
          </a:prstGeom>
          <a:noFill/>
          <a:ln/>
        </p:spPr>
        <p:txBody>
          <a:bodyPr wrap="square" lIns="0" tIns="0" rIns="0" bIns="0" rtlCol="0" anchor="ctr"/>
          <a:lstStyle/>
          <a:p>
            <a:pPr indent="0" marL="0">
              <a:buNone/>
            </a:pPr>
            <a:r>
              <a:rPr lang="en-US" sz="1100" dirty="0">
                <a:solidFill>
                  <a:srgbClr val="6E6E6E"/>
                </a:solidFill>
                <a:latin typeface="Pretendard" pitchFamily="34" charset="0"/>
                <a:ea typeface="Pretendard" pitchFamily="34" charset="-122"/>
                <a:cs typeface="Pretendard" pitchFamily="34" charset="-120"/>
              </a:rPr>
              <a:t>3~5개 범위. 소수점이 나오므로 고정 폭이 아니라 균등 분배로 처리합니다</a:t>
            </a:r>
            <a:endParaRPr lang="en-US" sz="1100" dirty="0"/>
          </a:p>
        </p:txBody>
      </p:sp>
      <p:sp>
        <p:nvSpPr>
          <p:cNvPr id="20" name="Text 18"/>
          <p:cNvSpPr/>
          <p:nvPr/>
        </p:nvSpPr>
        <p:spPr>
          <a:xfrm>
            <a:off x="9357055" y="2444496"/>
            <a:ext cx="2194560" cy="310896"/>
          </a:xfrm>
          <a:prstGeom prst="rect">
            <a:avLst/>
          </a:prstGeom>
          <a:noFill/>
          <a:ln/>
        </p:spPr>
        <p:txBody>
          <a:bodyPr wrap="square" lIns="0" tIns="0" rIns="0" bIns="0" rtlCol="0" anchor="ctr"/>
          <a:lstStyle/>
          <a:p>
            <a:pPr algn="r" indent="0" marL="0">
              <a:buNone/>
            </a:pPr>
            <a:r>
              <a:rPr lang="en-US" sz="1050" b="1" spc="120" kern="0" dirty="0">
                <a:solidFill>
                  <a:srgbClr val="111111"/>
                </a:solidFill>
                <a:latin typeface="Pretendard" pitchFamily="34" charset="0"/>
                <a:ea typeface="Pretendard" pitchFamily="34" charset="-122"/>
                <a:cs typeface="Pretendard" pitchFamily="34" charset="-120"/>
              </a:rPr>
              <a:t>3~5</a:t>
            </a:r>
            <a:endParaRPr lang="en-US" sz="1050" dirty="0"/>
          </a:p>
        </p:txBody>
      </p:sp>
      <p:sp>
        <p:nvSpPr>
          <p:cNvPr id="21" name="Shape 19"/>
          <p:cNvSpPr/>
          <p:nvPr/>
        </p:nvSpPr>
        <p:spPr>
          <a:xfrm>
            <a:off x="640080" y="2913888"/>
            <a:ext cx="10911535" cy="7315"/>
          </a:xfrm>
          <a:prstGeom prst="rect">
            <a:avLst/>
          </a:prstGeom>
          <a:solidFill>
            <a:srgbClr val="DCDCDC"/>
          </a:solidFill>
          <a:ln w="12700">
            <a:solidFill>
              <a:srgbClr val="DCDCDC"/>
            </a:solidFill>
            <a:prstDash val="solid"/>
          </a:ln>
        </p:spPr>
      </p:sp>
      <p:sp>
        <p:nvSpPr>
          <p:cNvPr id="22" name="Shape 20"/>
          <p:cNvSpPr/>
          <p:nvPr/>
        </p:nvSpPr>
        <p:spPr>
          <a:xfrm>
            <a:off x="640080" y="3078480"/>
            <a:ext cx="310896" cy="310896"/>
          </a:xfrm>
          <a:prstGeom prst="ellipse">
            <a:avLst/>
          </a:prstGeom>
          <a:solidFill>
            <a:srgbClr val="FFFFFF"/>
          </a:solidFill>
          <a:ln w="12700">
            <a:solidFill>
              <a:srgbClr val="111111"/>
            </a:solidFill>
            <a:prstDash val="solid"/>
          </a:ln>
        </p:spPr>
      </p:sp>
      <p:sp>
        <p:nvSpPr>
          <p:cNvPr id="23" name="Text 21"/>
          <p:cNvSpPr/>
          <p:nvPr/>
        </p:nvSpPr>
        <p:spPr>
          <a:xfrm>
            <a:off x="640080" y="3078480"/>
            <a:ext cx="310896" cy="310896"/>
          </a:xfrm>
          <a:prstGeom prst="rect">
            <a:avLst/>
          </a:prstGeom>
          <a:noFill/>
          <a:ln/>
        </p:spPr>
        <p:txBody>
          <a:bodyPr wrap="square" lIns="0" tIns="0" rIns="0" bIns="0" rtlCol="0" anchor="ctr"/>
          <a:lstStyle/>
          <a:p>
            <a:pPr algn="ctr" indent="0" marL="0">
              <a:buNone/>
            </a:pPr>
            <a:r>
              <a:rPr lang="en-US" sz="1000" b="1" dirty="0">
                <a:solidFill>
                  <a:srgbClr val="111111"/>
                </a:solidFill>
                <a:latin typeface="Pretendard" pitchFamily="34" charset="0"/>
                <a:ea typeface="Pretendard" pitchFamily="34" charset="-122"/>
                <a:cs typeface="Pretendard" pitchFamily="34" charset="-120"/>
              </a:rPr>
              <a:t>3</a:t>
            </a:r>
            <a:endParaRPr lang="en-US" sz="1000" dirty="0"/>
          </a:p>
        </p:txBody>
      </p:sp>
      <p:sp>
        <p:nvSpPr>
          <p:cNvPr id="24" name="Text 22"/>
          <p:cNvSpPr/>
          <p:nvPr/>
        </p:nvSpPr>
        <p:spPr>
          <a:xfrm>
            <a:off x="1188720" y="2987040"/>
            <a:ext cx="7498080" cy="310896"/>
          </a:xfrm>
          <a:prstGeom prst="rect">
            <a:avLst/>
          </a:prstGeom>
          <a:noFill/>
          <a:ln/>
        </p:spPr>
        <p:txBody>
          <a:bodyPr wrap="square" lIns="0" tIns="0" rIns="0" bIns="0" rtlCol="0" anchor="ctr"/>
          <a:lstStyle/>
          <a:p>
            <a:pPr indent="0" marL="0">
              <a:buNone/>
            </a:pPr>
            <a:r>
              <a:rPr lang="en-US" sz="1450" dirty="0">
                <a:solidFill>
                  <a:srgbClr val="111111"/>
                </a:solidFill>
                <a:latin typeface="Pretendard Black" pitchFamily="34" charset="0"/>
                <a:ea typeface="Pretendard Black" pitchFamily="34" charset="-122"/>
                <a:cs typeface="Pretendard Black" pitchFamily="34" charset="-120"/>
              </a:rPr>
              <a:t>아이콘 24 × 24 · 실제 그림은 20 안쪽</a:t>
            </a:r>
            <a:endParaRPr lang="en-US" sz="1450" dirty="0"/>
          </a:p>
        </p:txBody>
      </p:sp>
      <p:sp>
        <p:nvSpPr>
          <p:cNvPr id="25" name="Text 23"/>
          <p:cNvSpPr/>
          <p:nvPr/>
        </p:nvSpPr>
        <p:spPr>
          <a:xfrm>
            <a:off x="1188720" y="3297936"/>
            <a:ext cx="7498080" cy="292608"/>
          </a:xfrm>
          <a:prstGeom prst="rect">
            <a:avLst/>
          </a:prstGeom>
          <a:noFill/>
          <a:ln/>
        </p:spPr>
        <p:txBody>
          <a:bodyPr wrap="square" lIns="0" tIns="0" rIns="0" bIns="0" rtlCol="0" anchor="ctr"/>
          <a:lstStyle/>
          <a:p>
            <a:pPr indent="0" marL="0">
              <a:buNone/>
            </a:pPr>
            <a:r>
              <a:rPr lang="en-US" sz="1100" dirty="0">
                <a:solidFill>
                  <a:srgbClr val="6E6E6E"/>
                </a:solidFill>
                <a:latin typeface="Pretendard" pitchFamily="34" charset="0"/>
                <a:ea typeface="Pretendard" pitchFamily="34" charset="-122"/>
                <a:cs typeface="Pretendard" pitchFamily="34" charset="-120"/>
              </a:rPr>
              <a:t>Material 표준 아이콘 박스. 바깥 2씩을 비워 시각적 크기를 맞춥니다</a:t>
            </a:r>
            <a:endParaRPr lang="en-US" sz="1100" dirty="0"/>
          </a:p>
        </p:txBody>
      </p:sp>
      <p:sp>
        <p:nvSpPr>
          <p:cNvPr id="26" name="Text 24"/>
          <p:cNvSpPr/>
          <p:nvPr/>
        </p:nvSpPr>
        <p:spPr>
          <a:xfrm>
            <a:off x="9357055" y="3078480"/>
            <a:ext cx="2194560" cy="310896"/>
          </a:xfrm>
          <a:prstGeom prst="rect">
            <a:avLst/>
          </a:prstGeom>
          <a:noFill/>
          <a:ln/>
        </p:spPr>
        <p:txBody>
          <a:bodyPr wrap="square" lIns="0" tIns="0" rIns="0" bIns="0" rtlCol="0" anchor="ctr"/>
          <a:lstStyle/>
          <a:p>
            <a:pPr algn="r" indent="0" marL="0">
              <a:buNone/>
            </a:pPr>
            <a:r>
              <a:rPr lang="en-US" sz="1050" b="1" spc="120" kern="0" dirty="0">
                <a:solidFill>
                  <a:srgbClr val="111111"/>
                </a:solidFill>
                <a:latin typeface="Pretendard" pitchFamily="34" charset="0"/>
                <a:ea typeface="Pretendard" pitchFamily="34" charset="-122"/>
                <a:cs typeface="Pretendard" pitchFamily="34" charset="-120"/>
              </a:rPr>
              <a:t>24</a:t>
            </a:r>
            <a:endParaRPr lang="en-US" sz="1050" dirty="0"/>
          </a:p>
        </p:txBody>
      </p:sp>
      <p:sp>
        <p:nvSpPr>
          <p:cNvPr id="27" name="Shape 25"/>
          <p:cNvSpPr/>
          <p:nvPr/>
        </p:nvSpPr>
        <p:spPr>
          <a:xfrm>
            <a:off x="640080" y="3547872"/>
            <a:ext cx="10911535" cy="7315"/>
          </a:xfrm>
          <a:prstGeom prst="rect">
            <a:avLst/>
          </a:prstGeom>
          <a:solidFill>
            <a:srgbClr val="DCDCDC"/>
          </a:solidFill>
          <a:ln w="12700">
            <a:solidFill>
              <a:srgbClr val="DCDCDC"/>
            </a:solidFill>
            <a:prstDash val="solid"/>
          </a:ln>
        </p:spPr>
      </p:sp>
      <p:sp>
        <p:nvSpPr>
          <p:cNvPr id="28" name="Shape 26"/>
          <p:cNvSpPr/>
          <p:nvPr/>
        </p:nvSpPr>
        <p:spPr>
          <a:xfrm>
            <a:off x="640080" y="3712464"/>
            <a:ext cx="310896" cy="310896"/>
          </a:xfrm>
          <a:prstGeom prst="ellipse">
            <a:avLst/>
          </a:prstGeom>
          <a:solidFill>
            <a:srgbClr val="FFFFFF"/>
          </a:solidFill>
          <a:ln w="12700">
            <a:solidFill>
              <a:srgbClr val="111111"/>
            </a:solidFill>
            <a:prstDash val="solid"/>
          </a:ln>
        </p:spPr>
      </p:sp>
      <p:sp>
        <p:nvSpPr>
          <p:cNvPr id="29" name="Text 27"/>
          <p:cNvSpPr/>
          <p:nvPr/>
        </p:nvSpPr>
        <p:spPr>
          <a:xfrm>
            <a:off x="640080" y="3712464"/>
            <a:ext cx="310896" cy="310896"/>
          </a:xfrm>
          <a:prstGeom prst="rect">
            <a:avLst/>
          </a:prstGeom>
          <a:noFill/>
          <a:ln/>
        </p:spPr>
        <p:txBody>
          <a:bodyPr wrap="square" lIns="0" tIns="0" rIns="0" bIns="0" rtlCol="0" anchor="ctr"/>
          <a:lstStyle/>
          <a:p>
            <a:pPr algn="ctr" indent="0" marL="0">
              <a:buNone/>
            </a:pPr>
            <a:r>
              <a:rPr lang="en-US" sz="1000" b="1" dirty="0">
                <a:solidFill>
                  <a:srgbClr val="111111"/>
                </a:solidFill>
                <a:latin typeface="Pretendard" pitchFamily="34" charset="0"/>
                <a:ea typeface="Pretendard" pitchFamily="34" charset="-122"/>
                <a:cs typeface="Pretendard" pitchFamily="34" charset="-120"/>
              </a:rPr>
              <a:t>4</a:t>
            </a:r>
            <a:endParaRPr lang="en-US" sz="1000" dirty="0"/>
          </a:p>
        </p:txBody>
      </p:sp>
      <p:sp>
        <p:nvSpPr>
          <p:cNvPr id="30" name="Text 28"/>
          <p:cNvSpPr/>
          <p:nvPr/>
        </p:nvSpPr>
        <p:spPr>
          <a:xfrm>
            <a:off x="1188720" y="3621024"/>
            <a:ext cx="7498080" cy="310896"/>
          </a:xfrm>
          <a:prstGeom prst="rect">
            <a:avLst/>
          </a:prstGeom>
          <a:noFill/>
          <a:ln/>
        </p:spPr>
        <p:txBody>
          <a:bodyPr wrap="square" lIns="0" tIns="0" rIns="0" bIns="0" rtlCol="0" anchor="ctr"/>
          <a:lstStyle/>
          <a:p>
            <a:pPr indent="0" marL="0">
              <a:buNone/>
            </a:pPr>
            <a:r>
              <a:rPr lang="en-US" sz="1450" dirty="0">
                <a:solidFill>
                  <a:srgbClr val="111111"/>
                </a:solidFill>
                <a:latin typeface="Pretendard Black" pitchFamily="34" charset="0"/>
                <a:ea typeface="Pretendard Black" pitchFamily="34" charset="-122"/>
                <a:cs typeface="Pretendard Black" pitchFamily="34" charset="-120"/>
              </a:rPr>
              <a:t>라벨 11pt · 라인높이 14 · 1줄 고정</a:t>
            </a:r>
            <a:endParaRPr lang="en-US" sz="1450" dirty="0"/>
          </a:p>
        </p:txBody>
      </p:sp>
      <p:sp>
        <p:nvSpPr>
          <p:cNvPr id="31" name="Text 29"/>
          <p:cNvSpPr/>
          <p:nvPr/>
        </p:nvSpPr>
        <p:spPr>
          <a:xfrm>
            <a:off x="1188720" y="3931920"/>
            <a:ext cx="7498080" cy="292608"/>
          </a:xfrm>
          <a:prstGeom prst="rect">
            <a:avLst/>
          </a:prstGeom>
          <a:noFill/>
          <a:ln/>
        </p:spPr>
        <p:txBody>
          <a:bodyPr wrap="square" lIns="0" tIns="0" rIns="0" bIns="0" rtlCol="0" anchor="ctr"/>
          <a:lstStyle/>
          <a:p>
            <a:pPr indent="0" marL="0">
              <a:buNone/>
            </a:pPr>
            <a:r>
              <a:rPr lang="en-US" sz="1100" dirty="0">
                <a:solidFill>
                  <a:srgbClr val="6E6E6E"/>
                </a:solidFill>
                <a:latin typeface="Pretendard" pitchFamily="34" charset="0"/>
                <a:ea typeface="Pretendard" pitchFamily="34" charset="-122"/>
                <a:cs typeface="Pretendard" pitchFamily="34" charset="-120"/>
              </a:rPr>
              <a:t>한글 4자 기준 약 44 폭. 탭 폭 78(5탭)에서도 잘리지 않습니다</a:t>
            </a:r>
            <a:endParaRPr lang="en-US" sz="1100" dirty="0"/>
          </a:p>
        </p:txBody>
      </p:sp>
      <p:sp>
        <p:nvSpPr>
          <p:cNvPr id="32" name="Text 30"/>
          <p:cNvSpPr/>
          <p:nvPr/>
        </p:nvSpPr>
        <p:spPr>
          <a:xfrm>
            <a:off x="9357055" y="3712464"/>
            <a:ext cx="2194560" cy="310896"/>
          </a:xfrm>
          <a:prstGeom prst="rect">
            <a:avLst/>
          </a:prstGeom>
          <a:noFill/>
          <a:ln/>
        </p:spPr>
        <p:txBody>
          <a:bodyPr wrap="square" lIns="0" tIns="0" rIns="0" bIns="0" rtlCol="0" anchor="ctr"/>
          <a:lstStyle/>
          <a:p>
            <a:pPr algn="r" indent="0" marL="0">
              <a:buNone/>
            </a:pPr>
            <a:r>
              <a:rPr lang="en-US" sz="1050" b="1" spc="120" kern="0" dirty="0">
                <a:solidFill>
                  <a:srgbClr val="111111"/>
                </a:solidFill>
                <a:latin typeface="Pretendard" pitchFamily="34" charset="0"/>
                <a:ea typeface="Pretendard" pitchFamily="34" charset="-122"/>
                <a:cs typeface="Pretendard" pitchFamily="34" charset="-120"/>
              </a:rPr>
              <a:t>11 / 14</a:t>
            </a:r>
            <a:endParaRPr lang="en-US" sz="1050" dirty="0"/>
          </a:p>
        </p:txBody>
      </p:sp>
      <p:sp>
        <p:nvSpPr>
          <p:cNvPr id="33" name="Shape 31"/>
          <p:cNvSpPr/>
          <p:nvPr/>
        </p:nvSpPr>
        <p:spPr>
          <a:xfrm>
            <a:off x="640080" y="4181856"/>
            <a:ext cx="10911535" cy="7315"/>
          </a:xfrm>
          <a:prstGeom prst="rect">
            <a:avLst/>
          </a:prstGeom>
          <a:solidFill>
            <a:srgbClr val="DCDCDC"/>
          </a:solidFill>
          <a:ln w="12700">
            <a:solidFill>
              <a:srgbClr val="DCDCDC"/>
            </a:solidFill>
            <a:prstDash val="solid"/>
          </a:ln>
        </p:spPr>
      </p:sp>
      <p:sp>
        <p:nvSpPr>
          <p:cNvPr id="34" name="Shape 32"/>
          <p:cNvSpPr/>
          <p:nvPr/>
        </p:nvSpPr>
        <p:spPr>
          <a:xfrm>
            <a:off x="640080" y="4346448"/>
            <a:ext cx="310896" cy="310896"/>
          </a:xfrm>
          <a:prstGeom prst="ellipse">
            <a:avLst/>
          </a:prstGeom>
          <a:solidFill>
            <a:srgbClr val="FFFFFF"/>
          </a:solidFill>
          <a:ln w="12700">
            <a:solidFill>
              <a:srgbClr val="111111"/>
            </a:solidFill>
            <a:prstDash val="solid"/>
          </a:ln>
        </p:spPr>
      </p:sp>
      <p:sp>
        <p:nvSpPr>
          <p:cNvPr id="35" name="Text 33"/>
          <p:cNvSpPr/>
          <p:nvPr/>
        </p:nvSpPr>
        <p:spPr>
          <a:xfrm>
            <a:off x="640080" y="4346448"/>
            <a:ext cx="310896" cy="310896"/>
          </a:xfrm>
          <a:prstGeom prst="rect">
            <a:avLst/>
          </a:prstGeom>
          <a:noFill/>
          <a:ln/>
        </p:spPr>
        <p:txBody>
          <a:bodyPr wrap="square" lIns="0" tIns="0" rIns="0" bIns="0" rtlCol="0" anchor="ctr"/>
          <a:lstStyle/>
          <a:p>
            <a:pPr algn="ctr" indent="0" marL="0">
              <a:buNone/>
            </a:pPr>
            <a:r>
              <a:rPr lang="en-US" sz="1000" b="1" dirty="0">
                <a:solidFill>
                  <a:srgbClr val="111111"/>
                </a:solidFill>
                <a:latin typeface="Pretendard" pitchFamily="34" charset="0"/>
                <a:ea typeface="Pretendard" pitchFamily="34" charset="-122"/>
                <a:cs typeface="Pretendard" pitchFamily="34" charset="-120"/>
              </a:rPr>
              <a:t>5</a:t>
            </a:r>
            <a:endParaRPr lang="en-US" sz="1000" dirty="0"/>
          </a:p>
        </p:txBody>
      </p:sp>
      <p:sp>
        <p:nvSpPr>
          <p:cNvPr id="36" name="Text 34"/>
          <p:cNvSpPr/>
          <p:nvPr/>
        </p:nvSpPr>
        <p:spPr>
          <a:xfrm>
            <a:off x="1188720" y="4255008"/>
            <a:ext cx="7498080" cy="310896"/>
          </a:xfrm>
          <a:prstGeom prst="rect">
            <a:avLst/>
          </a:prstGeom>
          <a:noFill/>
          <a:ln/>
        </p:spPr>
        <p:txBody>
          <a:bodyPr wrap="square" lIns="0" tIns="0" rIns="0" bIns="0" rtlCol="0" anchor="ctr"/>
          <a:lstStyle/>
          <a:p>
            <a:pPr indent="0" marL="0">
              <a:buNone/>
            </a:pPr>
            <a:r>
              <a:rPr lang="en-US" sz="1450" dirty="0">
                <a:solidFill>
                  <a:srgbClr val="111111"/>
                </a:solidFill>
                <a:latin typeface="Pretendard Black" pitchFamily="34" charset="0"/>
                <a:ea typeface="Pretendard Black" pitchFamily="34" charset="-122"/>
                <a:cs typeface="Pretendard Black" pitchFamily="34" charset="-120"/>
              </a:rPr>
              <a:t>아이콘–라벨 간격 4 · 상단 6 · 하단 8</a:t>
            </a:r>
            <a:endParaRPr lang="en-US" sz="1450" dirty="0"/>
          </a:p>
        </p:txBody>
      </p:sp>
      <p:sp>
        <p:nvSpPr>
          <p:cNvPr id="37" name="Text 35"/>
          <p:cNvSpPr/>
          <p:nvPr/>
        </p:nvSpPr>
        <p:spPr>
          <a:xfrm>
            <a:off x="1188720" y="4565904"/>
            <a:ext cx="7498080" cy="292608"/>
          </a:xfrm>
          <a:prstGeom prst="rect">
            <a:avLst/>
          </a:prstGeom>
          <a:noFill/>
          <a:ln/>
        </p:spPr>
        <p:txBody>
          <a:bodyPr wrap="square" lIns="0" tIns="0" rIns="0" bIns="0" rtlCol="0" anchor="ctr"/>
          <a:lstStyle/>
          <a:p>
            <a:pPr indent="0" marL="0">
              <a:buNone/>
            </a:pPr>
            <a:r>
              <a:rPr lang="en-US" sz="1100" dirty="0">
                <a:solidFill>
                  <a:srgbClr val="6E6E6E"/>
                </a:solidFill>
                <a:latin typeface="Pretendard" pitchFamily="34" charset="0"/>
                <a:ea typeface="Pretendard" pitchFamily="34" charset="-122"/>
                <a:cs typeface="Pretendard" pitchFamily="34" charset="-120"/>
              </a:rPr>
              <a:t>4의 배수 체계. 합이 콘텐츠 높이 56을 만듭니다</a:t>
            </a:r>
            <a:endParaRPr lang="en-US" sz="1100" dirty="0"/>
          </a:p>
        </p:txBody>
      </p:sp>
      <p:sp>
        <p:nvSpPr>
          <p:cNvPr id="38" name="Text 36"/>
          <p:cNvSpPr/>
          <p:nvPr/>
        </p:nvSpPr>
        <p:spPr>
          <a:xfrm>
            <a:off x="9357055" y="4346448"/>
            <a:ext cx="2194560" cy="310896"/>
          </a:xfrm>
          <a:prstGeom prst="rect">
            <a:avLst/>
          </a:prstGeom>
          <a:noFill/>
          <a:ln/>
        </p:spPr>
        <p:txBody>
          <a:bodyPr wrap="square" lIns="0" tIns="0" rIns="0" bIns="0" rtlCol="0" anchor="ctr"/>
          <a:lstStyle/>
          <a:p>
            <a:pPr algn="r" indent="0" marL="0">
              <a:buNone/>
            </a:pPr>
            <a:r>
              <a:rPr lang="en-US" sz="1050" b="1" spc="120" kern="0" dirty="0">
                <a:solidFill>
                  <a:srgbClr val="111111"/>
                </a:solidFill>
                <a:latin typeface="Pretendard" pitchFamily="34" charset="0"/>
                <a:ea typeface="Pretendard" pitchFamily="34" charset="-122"/>
                <a:cs typeface="Pretendard" pitchFamily="34" charset="-120"/>
              </a:rPr>
              <a:t>4의 배수</a:t>
            </a:r>
            <a:endParaRPr lang="en-US" sz="1050" dirty="0"/>
          </a:p>
        </p:txBody>
      </p:sp>
      <p:sp>
        <p:nvSpPr>
          <p:cNvPr id="39" name="Shape 37"/>
          <p:cNvSpPr/>
          <p:nvPr/>
        </p:nvSpPr>
        <p:spPr>
          <a:xfrm>
            <a:off x="640080" y="4815840"/>
            <a:ext cx="10911535" cy="7315"/>
          </a:xfrm>
          <a:prstGeom prst="rect">
            <a:avLst/>
          </a:prstGeom>
          <a:solidFill>
            <a:srgbClr val="DCDCDC"/>
          </a:solidFill>
          <a:ln w="12700">
            <a:solidFill>
              <a:srgbClr val="DCDCDC"/>
            </a:solidFill>
            <a:prstDash val="solid"/>
          </a:ln>
        </p:spPr>
      </p:sp>
      <p:sp>
        <p:nvSpPr>
          <p:cNvPr id="40" name="Shape 38"/>
          <p:cNvSpPr/>
          <p:nvPr/>
        </p:nvSpPr>
        <p:spPr>
          <a:xfrm>
            <a:off x="640080" y="4980432"/>
            <a:ext cx="310896" cy="310896"/>
          </a:xfrm>
          <a:prstGeom prst="ellipse">
            <a:avLst/>
          </a:prstGeom>
          <a:solidFill>
            <a:srgbClr val="FFFFFF"/>
          </a:solidFill>
          <a:ln w="12700">
            <a:solidFill>
              <a:srgbClr val="111111"/>
            </a:solidFill>
            <a:prstDash val="solid"/>
          </a:ln>
        </p:spPr>
      </p:sp>
      <p:sp>
        <p:nvSpPr>
          <p:cNvPr id="41" name="Text 39"/>
          <p:cNvSpPr/>
          <p:nvPr/>
        </p:nvSpPr>
        <p:spPr>
          <a:xfrm>
            <a:off x="640080" y="4980432"/>
            <a:ext cx="310896" cy="310896"/>
          </a:xfrm>
          <a:prstGeom prst="rect">
            <a:avLst/>
          </a:prstGeom>
          <a:noFill/>
          <a:ln/>
        </p:spPr>
        <p:txBody>
          <a:bodyPr wrap="square" lIns="0" tIns="0" rIns="0" bIns="0" rtlCol="0" anchor="ctr"/>
          <a:lstStyle/>
          <a:p>
            <a:pPr algn="ctr" indent="0" marL="0">
              <a:buNone/>
            </a:pPr>
            <a:r>
              <a:rPr lang="en-US" sz="1000" b="1" dirty="0">
                <a:solidFill>
                  <a:srgbClr val="111111"/>
                </a:solidFill>
                <a:latin typeface="Pretendard" pitchFamily="34" charset="0"/>
                <a:ea typeface="Pretendard" pitchFamily="34" charset="-122"/>
                <a:cs typeface="Pretendard" pitchFamily="34" charset="-120"/>
              </a:rPr>
              <a:t>6</a:t>
            </a:r>
            <a:endParaRPr lang="en-US" sz="1000" dirty="0"/>
          </a:p>
        </p:txBody>
      </p:sp>
      <p:sp>
        <p:nvSpPr>
          <p:cNvPr id="42" name="Text 40"/>
          <p:cNvSpPr/>
          <p:nvPr/>
        </p:nvSpPr>
        <p:spPr>
          <a:xfrm>
            <a:off x="1188720" y="4888992"/>
            <a:ext cx="7498080" cy="310896"/>
          </a:xfrm>
          <a:prstGeom prst="rect">
            <a:avLst/>
          </a:prstGeom>
          <a:noFill/>
          <a:ln/>
        </p:spPr>
        <p:txBody>
          <a:bodyPr wrap="square" lIns="0" tIns="0" rIns="0" bIns="0" rtlCol="0" anchor="ctr"/>
          <a:lstStyle/>
          <a:p>
            <a:pPr indent="0" marL="0">
              <a:buNone/>
            </a:pPr>
            <a:r>
              <a:rPr lang="en-US" sz="1450" dirty="0">
                <a:solidFill>
                  <a:srgbClr val="111111"/>
                </a:solidFill>
                <a:latin typeface="Pretendard Black" pitchFamily="34" charset="0"/>
                <a:ea typeface="Pretendard Black" pitchFamily="34" charset="-122"/>
                <a:cs typeface="Pretendard Black" pitchFamily="34" charset="-120"/>
              </a:rPr>
              <a:t>상단 구분선 1px hairline</a:t>
            </a:r>
            <a:endParaRPr lang="en-US" sz="1450" dirty="0"/>
          </a:p>
        </p:txBody>
      </p:sp>
      <p:sp>
        <p:nvSpPr>
          <p:cNvPr id="43" name="Text 41"/>
          <p:cNvSpPr/>
          <p:nvPr/>
        </p:nvSpPr>
        <p:spPr>
          <a:xfrm>
            <a:off x="1188720" y="5199888"/>
            <a:ext cx="7498080" cy="292608"/>
          </a:xfrm>
          <a:prstGeom prst="rect">
            <a:avLst/>
          </a:prstGeom>
          <a:noFill/>
          <a:ln/>
        </p:spPr>
        <p:txBody>
          <a:bodyPr wrap="square" lIns="0" tIns="0" rIns="0" bIns="0" rtlCol="0" anchor="ctr"/>
          <a:lstStyle/>
          <a:p>
            <a:pPr indent="0" marL="0">
              <a:buNone/>
            </a:pPr>
            <a:r>
              <a:rPr lang="en-US" sz="1100" dirty="0">
                <a:solidFill>
                  <a:srgbClr val="6E6E6E"/>
                </a:solidFill>
                <a:latin typeface="Pretendard" pitchFamily="34" charset="0"/>
                <a:ea typeface="Pretendard" pitchFamily="34" charset="-122"/>
                <a:cs typeface="Pretendard" pitchFamily="34" charset="-120"/>
              </a:rPr>
              <a:t>그림자 대신 선. 색은 지배색 명도 단계에서 가져옵니다</a:t>
            </a:r>
            <a:endParaRPr lang="en-US" sz="1100" dirty="0"/>
          </a:p>
        </p:txBody>
      </p:sp>
      <p:sp>
        <p:nvSpPr>
          <p:cNvPr id="44" name="Text 42"/>
          <p:cNvSpPr/>
          <p:nvPr/>
        </p:nvSpPr>
        <p:spPr>
          <a:xfrm>
            <a:off x="9357055" y="4980432"/>
            <a:ext cx="2194560" cy="310896"/>
          </a:xfrm>
          <a:prstGeom prst="rect">
            <a:avLst/>
          </a:prstGeom>
          <a:noFill/>
          <a:ln/>
        </p:spPr>
        <p:txBody>
          <a:bodyPr wrap="square" lIns="0" tIns="0" rIns="0" bIns="0" rtlCol="0" anchor="ctr"/>
          <a:lstStyle/>
          <a:p>
            <a:pPr algn="r" indent="0" marL="0">
              <a:buNone/>
            </a:pPr>
            <a:r>
              <a:rPr lang="en-US" sz="1050" b="1" spc="120" kern="0" dirty="0">
                <a:solidFill>
                  <a:srgbClr val="111111"/>
                </a:solidFill>
                <a:latin typeface="Pretendard" pitchFamily="34" charset="0"/>
                <a:ea typeface="Pretendard" pitchFamily="34" charset="-122"/>
                <a:cs typeface="Pretendard" pitchFamily="34" charset="-120"/>
              </a:rPr>
              <a:t>1px</a:t>
            </a:r>
            <a:endParaRPr lang="en-US" sz="1050" dirty="0"/>
          </a:p>
        </p:txBody>
      </p:sp>
      <p:sp>
        <p:nvSpPr>
          <p:cNvPr id="45" name="Shape 43"/>
          <p:cNvSpPr/>
          <p:nvPr/>
        </p:nvSpPr>
        <p:spPr>
          <a:xfrm>
            <a:off x="640080" y="5522976"/>
            <a:ext cx="10911535" cy="7315"/>
          </a:xfrm>
          <a:prstGeom prst="rect">
            <a:avLst/>
          </a:prstGeom>
          <a:solidFill>
            <a:srgbClr val="111111"/>
          </a:solidFill>
          <a:ln w="12700">
            <a:solidFill>
              <a:srgbClr val="111111"/>
            </a:solidFill>
            <a:prstDash val="solid"/>
          </a:ln>
        </p:spPr>
      </p:sp>
      <p:sp>
        <p:nvSpPr>
          <p:cNvPr id="46" name="Text 44"/>
          <p:cNvSpPr/>
          <p:nvPr/>
        </p:nvSpPr>
        <p:spPr>
          <a:xfrm>
            <a:off x="640080" y="5632704"/>
            <a:ext cx="10911535" cy="402336"/>
          </a:xfrm>
          <a:prstGeom prst="rect">
            <a:avLst/>
          </a:prstGeom>
          <a:noFill/>
          <a:ln/>
        </p:spPr>
        <p:txBody>
          <a:bodyPr wrap="square" lIns="0" tIns="0" rIns="0" bIns="0" rtlCol="0" anchor="t"/>
          <a:lstStyle/>
          <a:p>
            <a:pPr indent="0" marL="0">
              <a:lnSpc>
                <a:spcPct val="120000"/>
              </a:lnSpc>
              <a:buNone/>
            </a:pPr>
            <a:r>
              <a:rPr lang="en-US" sz="1250" b="1" dirty="0">
                <a:solidFill>
                  <a:srgbClr val="111111"/>
                </a:solidFill>
                <a:latin typeface="Pretendard" pitchFamily="34" charset="0"/>
                <a:ea typeface="Pretendard" pitchFamily="34" charset="-122"/>
                <a:cs typeface="Pretendard" pitchFamily="34" charset="-120"/>
              </a:rPr>
              <a:t>근거 칸에 '보기 좋아서'가 들어가는 항목이 하나라도 있으면 그 값은 아직 정해지지 않은 것입니다.</a:t>
            </a:r>
            <a:endParaRPr lang="en-US" sz="1250" dirty="0"/>
          </a:p>
        </p:txBody>
      </p:sp>
      <p:sp>
        <p:nvSpPr>
          <p:cNvPr id="47" name="Shape 45"/>
          <p:cNvSpPr/>
          <p:nvPr/>
        </p:nvSpPr>
        <p:spPr>
          <a:xfrm>
            <a:off x="640080" y="6291072"/>
            <a:ext cx="10911535" cy="7315"/>
          </a:xfrm>
          <a:prstGeom prst="rect">
            <a:avLst/>
          </a:prstGeom>
          <a:solidFill>
            <a:srgbClr val="DCDCDC"/>
          </a:solidFill>
          <a:ln w="12700">
            <a:solidFill>
              <a:srgbClr val="DCDCDC"/>
            </a:solidFill>
            <a:prstDash val="solid"/>
          </a:ln>
        </p:spPr>
      </p:sp>
      <p:sp>
        <p:nvSpPr>
          <p:cNvPr id="48" name="Text 46"/>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서비스디자인 · 2주차 하단 GNB · 수치로 짓는 컴포넌트</a:t>
            </a:r>
            <a:endParaRPr lang="en-US" sz="850" dirty="0"/>
          </a:p>
        </p:txBody>
      </p:sp>
      <p:sp>
        <p:nvSpPr>
          <p:cNvPr id="49" name="Text 47"/>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P.05</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서비스디자인</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1 기준</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02</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WHY</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Black" pitchFamily="34" charset="0"/>
                <a:ea typeface="Pretendard Black" pitchFamily="34" charset="-122"/>
                <a:cs typeface="Pretendard Black" pitchFamily="34" charset="-120"/>
              </a:rPr>
              <a:t>탭 폭 97.5 — 소수점이 알려 주는 것</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390을 4로 나누면 딱 떨어지지 않습니다. 이걸 어떻게 처리하느냐가 컴포넌트의 수준을 가릅니다.</a:t>
            </a:r>
            <a:endParaRPr lang="en-US" sz="1150" dirty="0"/>
          </a:p>
        </p:txBody>
      </p:sp>
      <p:sp>
        <p:nvSpPr>
          <p:cNvPr id="9" name="Shape 7"/>
          <p:cNvSpPr/>
          <p:nvPr/>
        </p:nvSpPr>
        <p:spPr>
          <a:xfrm>
            <a:off x="640080" y="1627632"/>
            <a:ext cx="5254600" cy="3419856"/>
          </a:xfrm>
          <a:prstGeom prst="rect">
            <a:avLst/>
          </a:prstGeom>
          <a:solidFill>
            <a:srgbClr val="F2F2F2"/>
          </a:solidFill>
          <a:ln w="12700">
            <a:solidFill>
              <a:srgbClr val="DCDCDC"/>
            </a:solidFill>
            <a:prstDash val="solid"/>
          </a:ln>
        </p:spPr>
      </p:sp>
      <p:sp>
        <p:nvSpPr>
          <p:cNvPr id="10" name="Text 8"/>
          <p:cNvSpPr/>
          <p:nvPr/>
        </p:nvSpPr>
        <p:spPr>
          <a:xfrm>
            <a:off x="1042416" y="1901952"/>
            <a:ext cx="4449928" cy="365760"/>
          </a:xfrm>
          <a:prstGeom prst="rect">
            <a:avLst/>
          </a:prstGeom>
          <a:noFill/>
          <a:ln/>
        </p:spPr>
        <p:txBody>
          <a:bodyPr wrap="square" lIns="0" tIns="0" rIns="0" bIns="0" rtlCol="0" anchor="ctr"/>
          <a:lstStyle/>
          <a:p>
            <a:pPr indent="0" marL="0">
              <a:buNone/>
            </a:pPr>
            <a:r>
              <a:rPr lang="en-US" sz="1700" dirty="0">
                <a:solidFill>
                  <a:srgbClr val="111111"/>
                </a:solidFill>
                <a:latin typeface="Pretendard Black" pitchFamily="34" charset="0"/>
                <a:ea typeface="Pretendard Black" pitchFamily="34" charset="-122"/>
                <a:cs typeface="Pretendard Black" pitchFamily="34" charset="-120"/>
              </a:rPr>
              <a:t>균등 분배로 맡긴다</a:t>
            </a:r>
            <a:endParaRPr lang="en-US" sz="1700" dirty="0"/>
          </a:p>
        </p:txBody>
      </p:sp>
      <p:sp>
        <p:nvSpPr>
          <p:cNvPr id="11" name="Shape 9"/>
          <p:cNvSpPr/>
          <p:nvPr/>
        </p:nvSpPr>
        <p:spPr>
          <a:xfrm>
            <a:off x="6297016" y="1627632"/>
            <a:ext cx="5254600" cy="3419856"/>
          </a:xfrm>
          <a:prstGeom prst="rect">
            <a:avLst/>
          </a:prstGeom>
          <a:solidFill>
            <a:srgbClr val="FFFFFF"/>
          </a:solidFill>
          <a:ln w="12700">
            <a:solidFill>
              <a:srgbClr val="DCDCDC"/>
            </a:solidFill>
            <a:prstDash val="solid"/>
          </a:ln>
        </p:spPr>
      </p:sp>
      <p:sp>
        <p:nvSpPr>
          <p:cNvPr id="12" name="Text 10"/>
          <p:cNvSpPr/>
          <p:nvPr/>
        </p:nvSpPr>
        <p:spPr>
          <a:xfrm>
            <a:off x="6699352" y="1901952"/>
            <a:ext cx="4449928" cy="365760"/>
          </a:xfrm>
          <a:prstGeom prst="rect">
            <a:avLst/>
          </a:prstGeom>
          <a:noFill/>
          <a:ln/>
        </p:spPr>
        <p:txBody>
          <a:bodyPr wrap="square" lIns="0" tIns="0" rIns="0" bIns="0" rtlCol="0" anchor="ctr"/>
          <a:lstStyle/>
          <a:p>
            <a:pPr indent="0" marL="0">
              <a:buNone/>
            </a:pPr>
            <a:r>
              <a:rPr lang="en-US" sz="1700" dirty="0">
                <a:solidFill>
                  <a:srgbClr val="9B9B9B"/>
                </a:solidFill>
                <a:latin typeface="Pretendard Black" pitchFamily="34" charset="0"/>
                <a:ea typeface="Pretendard Black" pitchFamily="34" charset="-122"/>
                <a:cs typeface="Pretendard Black" pitchFamily="34" charset="-120"/>
              </a:rPr>
              <a:t>고정 폭으로 박는다</a:t>
            </a:r>
            <a:endParaRPr lang="en-US" sz="1700" dirty="0"/>
          </a:p>
        </p:txBody>
      </p:sp>
      <p:sp>
        <p:nvSpPr>
          <p:cNvPr id="13" name="Text 11"/>
          <p:cNvSpPr/>
          <p:nvPr/>
        </p:nvSpPr>
        <p:spPr>
          <a:xfrm>
            <a:off x="1042416" y="2450592"/>
            <a:ext cx="2011680" cy="274320"/>
          </a:xfrm>
          <a:prstGeom prst="rect">
            <a:avLst/>
          </a:prstGeom>
          <a:noFill/>
          <a:ln/>
        </p:spPr>
        <p:txBody>
          <a:bodyPr wrap="square" lIns="0" tIns="0" rIns="0" bIns="0" rtlCol="0" anchor="ctr"/>
          <a:lstStyle/>
          <a:p>
            <a:pPr indent="0" marL="0">
              <a:buNone/>
            </a:pPr>
            <a:r>
              <a:rPr lang="en-US" sz="900" b="1" spc="160" kern="0" dirty="0">
                <a:solidFill>
                  <a:srgbClr val="111111"/>
                </a:solidFill>
                <a:latin typeface="Pretendard" pitchFamily="34" charset="0"/>
                <a:ea typeface="Pretendard" pitchFamily="34" charset="-122"/>
                <a:cs typeface="Pretendard" pitchFamily="34" charset="-120"/>
              </a:rPr>
              <a:t>방법</a:t>
            </a:r>
            <a:endParaRPr lang="en-US" sz="900" dirty="0"/>
          </a:p>
        </p:txBody>
      </p:sp>
      <p:sp>
        <p:nvSpPr>
          <p:cNvPr id="14" name="Text 12"/>
          <p:cNvSpPr/>
          <p:nvPr/>
        </p:nvSpPr>
        <p:spPr>
          <a:xfrm>
            <a:off x="1042416" y="2688336"/>
            <a:ext cx="4449928" cy="384048"/>
          </a:xfrm>
          <a:prstGeom prst="rect">
            <a:avLst/>
          </a:prstGeom>
          <a:noFill/>
          <a:ln/>
        </p:spPr>
        <p:txBody>
          <a:bodyPr wrap="square" lIns="0" tIns="0" rIns="0" bIns="0" rtlCol="0" anchor="t"/>
          <a:lstStyle/>
          <a:p>
            <a:pPr indent="0" marL="0">
              <a:lnSpc>
                <a:spcPct val="120000"/>
              </a:lnSpc>
              <a:buNone/>
            </a:pPr>
            <a:r>
              <a:rPr lang="en-US" sz="1150" dirty="0">
                <a:solidFill>
                  <a:srgbClr val="1F1F1F"/>
                </a:solidFill>
                <a:latin typeface="Pretendard" pitchFamily="34" charset="0"/>
                <a:ea typeface="Pretendard" pitchFamily="34" charset="-122"/>
                <a:cs typeface="Pretendard" pitchFamily="34" charset="-120"/>
              </a:rPr>
              <a:t>오토레이아웃 가로 + 각 탭을 Fill container</a:t>
            </a:r>
            <a:endParaRPr lang="en-US" sz="1150" dirty="0"/>
          </a:p>
        </p:txBody>
      </p:sp>
      <p:sp>
        <p:nvSpPr>
          <p:cNvPr id="15" name="Text 13"/>
          <p:cNvSpPr/>
          <p:nvPr/>
        </p:nvSpPr>
        <p:spPr>
          <a:xfrm>
            <a:off x="6699352" y="2450592"/>
            <a:ext cx="2011680" cy="274320"/>
          </a:xfrm>
          <a:prstGeom prst="rect">
            <a:avLst/>
          </a:prstGeom>
          <a:noFill/>
          <a:ln/>
        </p:spPr>
        <p:txBody>
          <a:bodyPr wrap="square" lIns="0" tIns="0" rIns="0" bIns="0" rtlCol="0" anchor="ctr"/>
          <a:lstStyle/>
          <a:p>
            <a:pPr indent="0" marL="0">
              <a:buNone/>
            </a:pPr>
            <a:r>
              <a:rPr lang="en-US" sz="900" b="1" spc="160" kern="0" dirty="0">
                <a:solidFill>
                  <a:srgbClr val="9B9B9B"/>
                </a:solidFill>
                <a:latin typeface="Pretendard" pitchFamily="34" charset="0"/>
                <a:ea typeface="Pretendard" pitchFamily="34" charset="-122"/>
                <a:cs typeface="Pretendard" pitchFamily="34" charset="-120"/>
              </a:rPr>
              <a:t>방법</a:t>
            </a:r>
            <a:endParaRPr lang="en-US" sz="900" dirty="0"/>
          </a:p>
        </p:txBody>
      </p:sp>
      <p:sp>
        <p:nvSpPr>
          <p:cNvPr id="16" name="Text 14"/>
          <p:cNvSpPr/>
          <p:nvPr/>
        </p:nvSpPr>
        <p:spPr>
          <a:xfrm>
            <a:off x="6699352" y="2688336"/>
            <a:ext cx="4449928" cy="384048"/>
          </a:xfrm>
          <a:prstGeom prst="rect">
            <a:avLst/>
          </a:prstGeom>
          <a:noFill/>
          <a:ln/>
        </p:spPr>
        <p:txBody>
          <a:bodyPr wrap="square" lIns="0" tIns="0" rIns="0" bIns="0" rtlCol="0" anchor="t"/>
          <a:lstStyle/>
          <a:p>
            <a:pPr indent="0" marL="0">
              <a:lnSpc>
                <a:spcPct val="120000"/>
              </a:lnSpc>
              <a:buNone/>
            </a:pPr>
            <a:r>
              <a:rPr lang="en-US" sz="1150" dirty="0">
                <a:solidFill>
                  <a:srgbClr val="6E6E6E"/>
                </a:solidFill>
                <a:latin typeface="Pretendard" pitchFamily="34" charset="0"/>
                <a:ea typeface="Pretendard" pitchFamily="34" charset="-122"/>
                <a:cs typeface="Pretendard" pitchFamily="34" charset="-120"/>
              </a:rPr>
              <a:t>각 탭에 97.5 또는 98을 직접 입력</a:t>
            </a:r>
            <a:endParaRPr lang="en-US" sz="1150" dirty="0"/>
          </a:p>
        </p:txBody>
      </p:sp>
      <p:sp>
        <p:nvSpPr>
          <p:cNvPr id="17" name="Shape 15"/>
          <p:cNvSpPr/>
          <p:nvPr/>
        </p:nvSpPr>
        <p:spPr>
          <a:xfrm>
            <a:off x="1042416" y="3054096"/>
            <a:ext cx="4449928" cy="7315"/>
          </a:xfrm>
          <a:prstGeom prst="rect">
            <a:avLst/>
          </a:prstGeom>
          <a:solidFill>
            <a:srgbClr val="D2D2D2"/>
          </a:solidFill>
          <a:ln w="12700">
            <a:solidFill>
              <a:srgbClr val="D2D2D2"/>
            </a:solidFill>
            <a:prstDash val="solid"/>
          </a:ln>
        </p:spPr>
      </p:sp>
      <p:sp>
        <p:nvSpPr>
          <p:cNvPr id="18" name="Shape 16"/>
          <p:cNvSpPr/>
          <p:nvPr/>
        </p:nvSpPr>
        <p:spPr>
          <a:xfrm>
            <a:off x="6699352" y="3054096"/>
            <a:ext cx="4449928" cy="7315"/>
          </a:xfrm>
          <a:prstGeom prst="rect">
            <a:avLst/>
          </a:prstGeom>
          <a:solidFill>
            <a:srgbClr val="DCDCDC"/>
          </a:solidFill>
          <a:ln w="12700">
            <a:solidFill>
              <a:srgbClr val="DCDCDC"/>
            </a:solidFill>
            <a:prstDash val="solid"/>
          </a:ln>
        </p:spPr>
      </p:sp>
      <p:sp>
        <p:nvSpPr>
          <p:cNvPr id="19" name="Text 17"/>
          <p:cNvSpPr/>
          <p:nvPr/>
        </p:nvSpPr>
        <p:spPr>
          <a:xfrm>
            <a:off x="1042416" y="3108960"/>
            <a:ext cx="2011680" cy="274320"/>
          </a:xfrm>
          <a:prstGeom prst="rect">
            <a:avLst/>
          </a:prstGeom>
          <a:noFill/>
          <a:ln/>
        </p:spPr>
        <p:txBody>
          <a:bodyPr wrap="square" lIns="0" tIns="0" rIns="0" bIns="0" rtlCol="0" anchor="ctr"/>
          <a:lstStyle/>
          <a:p>
            <a:pPr indent="0" marL="0">
              <a:buNone/>
            </a:pPr>
            <a:r>
              <a:rPr lang="en-US" sz="900" b="1" spc="160" kern="0" dirty="0">
                <a:solidFill>
                  <a:srgbClr val="111111"/>
                </a:solidFill>
                <a:latin typeface="Pretendard" pitchFamily="34" charset="0"/>
                <a:ea typeface="Pretendard" pitchFamily="34" charset="-122"/>
                <a:cs typeface="Pretendard" pitchFamily="34" charset="-120"/>
              </a:rPr>
              <a:t>390에서</a:t>
            </a:r>
            <a:endParaRPr lang="en-US" sz="900" dirty="0"/>
          </a:p>
        </p:txBody>
      </p:sp>
      <p:sp>
        <p:nvSpPr>
          <p:cNvPr id="20" name="Text 18"/>
          <p:cNvSpPr/>
          <p:nvPr/>
        </p:nvSpPr>
        <p:spPr>
          <a:xfrm>
            <a:off x="1042416" y="3346704"/>
            <a:ext cx="4449928" cy="384048"/>
          </a:xfrm>
          <a:prstGeom prst="rect">
            <a:avLst/>
          </a:prstGeom>
          <a:noFill/>
          <a:ln/>
        </p:spPr>
        <p:txBody>
          <a:bodyPr wrap="square" lIns="0" tIns="0" rIns="0" bIns="0" rtlCol="0" anchor="t"/>
          <a:lstStyle/>
          <a:p>
            <a:pPr indent="0" marL="0">
              <a:lnSpc>
                <a:spcPct val="120000"/>
              </a:lnSpc>
              <a:buNone/>
            </a:pPr>
            <a:r>
              <a:rPr lang="en-US" sz="1150" dirty="0">
                <a:solidFill>
                  <a:srgbClr val="1F1F1F"/>
                </a:solidFill>
                <a:latin typeface="Pretendard" pitchFamily="34" charset="0"/>
                <a:ea typeface="Pretendard" pitchFamily="34" charset="-122"/>
                <a:cs typeface="Pretendard" pitchFamily="34" charset="-120"/>
              </a:rPr>
              <a:t>97.5씩 정확히 나뉩니다</a:t>
            </a:r>
            <a:endParaRPr lang="en-US" sz="1150" dirty="0"/>
          </a:p>
        </p:txBody>
      </p:sp>
      <p:sp>
        <p:nvSpPr>
          <p:cNvPr id="21" name="Text 19"/>
          <p:cNvSpPr/>
          <p:nvPr/>
        </p:nvSpPr>
        <p:spPr>
          <a:xfrm>
            <a:off x="6699352" y="3108960"/>
            <a:ext cx="2011680" cy="274320"/>
          </a:xfrm>
          <a:prstGeom prst="rect">
            <a:avLst/>
          </a:prstGeom>
          <a:noFill/>
          <a:ln/>
        </p:spPr>
        <p:txBody>
          <a:bodyPr wrap="square" lIns="0" tIns="0" rIns="0" bIns="0" rtlCol="0" anchor="ctr"/>
          <a:lstStyle/>
          <a:p>
            <a:pPr indent="0" marL="0">
              <a:buNone/>
            </a:pPr>
            <a:r>
              <a:rPr lang="en-US" sz="900" b="1" spc="160" kern="0" dirty="0">
                <a:solidFill>
                  <a:srgbClr val="9B9B9B"/>
                </a:solidFill>
                <a:latin typeface="Pretendard" pitchFamily="34" charset="0"/>
                <a:ea typeface="Pretendard" pitchFamily="34" charset="-122"/>
                <a:cs typeface="Pretendard" pitchFamily="34" charset="-120"/>
              </a:rPr>
              <a:t>390에서</a:t>
            </a:r>
            <a:endParaRPr lang="en-US" sz="900" dirty="0"/>
          </a:p>
        </p:txBody>
      </p:sp>
      <p:sp>
        <p:nvSpPr>
          <p:cNvPr id="22" name="Text 20"/>
          <p:cNvSpPr/>
          <p:nvPr/>
        </p:nvSpPr>
        <p:spPr>
          <a:xfrm>
            <a:off x="6699352" y="3346704"/>
            <a:ext cx="4449928" cy="384048"/>
          </a:xfrm>
          <a:prstGeom prst="rect">
            <a:avLst/>
          </a:prstGeom>
          <a:noFill/>
          <a:ln/>
        </p:spPr>
        <p:txBody>
          <a:bodyPr wrap="square" lIns="0" tIns="0" rIns="0" bIns="0" rtlCol="0" anchor="t"/>
          <a:lstStyle/>
          <a:p>
            <a:pPr indent="0" marL="0">
              <a:lnSpc>
                <a:spcPct val="120000"/>
              </a:lnSpc>
              <a:buNone/>
            </a:pPr>
            <a:r>
              <a:rPr lang="en-US" sz="1150" dirty="0">
                <a:solidFill>
                  <a:srgbClr val="6E6E6E"/>
                </a:solidFill>
                <a:latin typeface="Pretendard" pitchFamily="34" charset="0"/>
                <a:ea typeface="Pretendard" pitchFamily="34" charset="-122"/>
                <a:cs typeface="Pretendard" pitchFamily="34" charset="-120"/>
              </a:rPr>
              <a:t>98×4=392 — 2가 삐져나오거나 마지막 탭이 좁아집니다</a:t>
            </a:r>
            <a:endParaRPr lang="en-US" sz="1150" dirty="0"/>
          </a:p>
        </p:txBody>
      </p:sp>
      <p:sp>
        <p:nvSpPr>
          <p:cNvPr id="23" name="Shape 21"/>
          <p:cNvSpPr/>
          <p:nvPr/>
        </p:nvSpPr>
        <p:spPr>
          <a:xfrm>
            <a:off x="1042416" y="3712464"/>
            <a:ext cx="4449928" cy="7315"/>
          </a:xfrm>
          <a:prstGeom prst="rect">
            <a:avLst/>
          </a:prstGeom>
          <a:solidFill>
            <a:srgbClr val="D2D2D2"/>
          </a:solidFill>
          <a:ln w="12700">
            <a:solidFill>
              <a:srgbClr val="D2D2D2"/>
            </a:solidFill>
            <a:prstDash val="solid"/>
          </a:ln>
        </p:spPr>
      </p:sp>
      <p:sp>
        <p:nvSpPr>
          <p:cNvPr id="24" name="Shape 22"/>
          <p:cNvSpPr/>
          <p:nvPr/>
        </p:nvSpPr>
        <p:spPr>
          <a:xfrm>
            <a:off x="6699352" y="3712464"/>
            <a:ext cx="4449928" cy="7315"/>
          </a:xfrm>
          <a:prstGeom prst="rect">
            <a:avLst/>
          </a:prstGeom>
          <a:solidFill>
            <a:srgbClr val="DCDCDC"/>
          </a:solidFill>
          <a:ln w="12700">
            <a:solidFill>
              <a:srgbClr val="DCDCDC"/>
            </a:solidFill>
            <a:prstDash val="solid"/>
          </a:ln>
        </p:spPr>
      </p:sp>
      <p:sp>
        <p:nvSpPr>
          <p:cNvPr id="25" name="Text 23"/>
          <p:cNvSpPr/>
          <p:nvPr/>
        </p:nvSpPr>
        <p:spPr>
          <a:xfrm>
            <a:off x="1042416" y="3767328"/>
            <a:ext cx="2011680" cy="274320"/>
          </a:xfrm>
          <a:prstGeom prst="rect">
            <a:avLst/>
          </a:prstGeom>
          <a:noFill/>
          <a:ln/>
        </p:spPr>
        <p:txBody>
          <a:bodyPr wrap="square" lIns="0" tIns="0" rIns="0" bIns="0" rtlCol="0" anchor="ctr"/>
          <a:lstStyle/>
          <a:p>
            <a:pPr indent="0" marL="0">
              <a:buNone/>
            </a:pPr>
            <a:r>
              <a:rPr lang="en-US" sz="900" b="1" spc="160" kern="0" dirty="0">
                <a:solidFill>
                  <a:srgbClr val="111111"/>
                </a:solidFill>
                <a:latin typeface="Pretendard" pitchFamily="34" charset="0"/>
                <a:ea typeface="Pretendard" pitchFamily="34" charset="-122"/>
                <a:cs typeface="Pretendard" pitchFamily="34" charset="-120"/>
              </a:rPr>
              <a:t>360에서</a:t>
            </a:r>
            <a:endParaRPr lang="en-US" sz="900" dirty="0"/>
          </a:p>
        </p:txBody>
      </p:sp>
      <p:sp>
        <p:nvSpPr>
          <p:cNvPr id="26" name="Text 24"/>
          <p:cNvSpPr/>
          <p:nvPr/>
        </p:nvSpPr>
        <p:spPr>
          <a:xfrm>
            <a:off x="1042416" y="4005072"/>
            <a:ext cx="4449928" cy="384048"/>
          </a:xfrm>
          <a:prstGeom prst="rect">
            <a:avLst/>
          </a:prstGeom>
          <a:noFill/>
          <a:ln/>
        </p:spPr>
        <p:txBody>
          <a:bodyPr wrap="square" lIns="0" tIns="0" rIns="0" bIns="0" rtlCol="0" anchor="t"/>
          <a:lstStyle/>
          <a:p>
            <a:pPr indent="0" marL="0">
              <a:lnSpc>
                <a:spcPct val="120000"/>
              </a:lnSpc>
              <a:buNone/>
            </a:pPr>
            <a:r>
              <a:rPr lang="en-US" sz="1150" dirty="0">
                <a:solidFill>
                  <a:srgbClr val="1F1F1F"/>
                </a:solidFill>
                <a:latin typeface="Pretendard" pitchFamily="34" charset="0"/>
                <a:ea typeface="Pretendard" pitchFamily="34" charset="-122"/>
                <a:cs typeface="Pretendard" pitchFamily="34" charset="-120"/>
              </a:rPr>
              <a:t>90씩으로 자동 재분배됩니다</a:t>
            </a:r>
            <a:endParaRPr lang="en-US" sz="1150" dirty="0"/>
          </a:p>
        </p:txBody>
      </p:sp>
      <p:sp>
        <p:nvSpPr>
          <p:cNvPr id="27" name="Text 25"/>
          <p:cNvSpPr/>
          <p:nvPr/>
        </p:nvSpPr>
        <p:spPr>
          <a:xfrm>
            <a:off x="6699352" y="3767328"/>
            <a:ext cx="2011680" cy="274320"/>
          </a:xfrm>
          <a:prstGeom prst="rect">
            <a:avLst/>
          </a:prstGeom>
          <a:noFill/>
          <a:ln/>
        </p:spPr>
        <p:txBody>
          <a:bodyPr wrap="square" lIns="0" tIns="0" rIns="0" bIns="0" rtlCol="0" anchor="ctr"/>
          <a:lstStyle/>
          <a:p>
            <a:pPr indent="0" marL="0">
              <a:buNone/>
            </a:pPr>
            <a:r>
              <a:rPr lang="en-US" sz="900" b="1" spc="160" kern="0" dirty="0">
                <a:solidFill>
                  <a:srgbClr val="9B9B9B"/>
                </a:solidFill>
                <a:latin typeface="Pretendard" pitchFamily="34" charset="0"/>
                <a:ea typeface="Pretendard" pitchFamily="34" charset="-122"/>
                <a:cs typeface="Pretendard" pitchFamily="34" charset="-120"/>
              </a:rPr>
              <a:t>360에서</a:t>
            </a:r>
            <a:endParaRPr lang="en-US" sz="900" dirty="0"/>
          </a:p>
        </p:txBody>
      </p:sp>
      <p:sp>
        <p:nvSpPr>
          <p:cNvPr id="28" name="Text 26"/>
          <p:cNvSpPr/>
          <p:nvPr/>
        </p:nvSpPr>
        <p:spPr>
          <a:xfrm>
            <a:off x="6699352" y="4005072"/>
            <a:ext cx="4449928" cy="384048"/>
          </a:xfrm>
          <a:prstGeom prst="rect">
            <a:avLst/>
          </a:prstGeom>
          <a:noFill/>
          <a:ln/>
        </p:spPr>
        <p:txBody>
          <a:bodyPr wrap="square" lIns="0" tIns="0" rIns="0" bIns="0" rtlCol="0" anchor="t"/>
          <a:lstStyle/>
          <a:p>
            <a:pPr indent="0" marL="0">
              <a:lnSpc>
                <a:spcPct val="120000"/>
              </a:lnSpc>
              <a:buNone/>
            </a:pPr>
            <a:r>
              <a:rPr lang="en-US" sz="1150" dirty="0">
                <a:solidFill>
                  <a:srgbClr val="6E6E6E"/>
                </a:solidFill>
                <a:latin typeface="Pretendard" pitchFamily="34" charset="0"/>
                <a:ea typeface="Pretendard" pitchFamily="34" charset="-122"/>
                <a:cs typeface="Pretendard" pitchFamily="34" charset="-120"/>
              </a:rPr>
              <a:t>직접 다시 계산해 모든 탭을 고쳐야 합니다</a:t>
            </a:r>
            <a:endParaRPr lang="en-US" sz="1150" dirty="0"/>
          </a:p>
        </p:txBody>
      </p:sp>
      <p:sp>
        <p:nvSpPr>
          <p:cNvPr id="29" name="Shape 27"/>
          <p:cNvSpPr/>
          <p:nvPr/>
        </p:nvSpPr>
        <p:spPr>
          <a:xfrm>
            <a:off x="1042416" y="4370832"/>
            <a:ext cx="4449928" cy="7315"/>
          </a:xfrm>
          <a:prstGeom prst="rect">
            <a:avLst/>
          </a:prstGeom>
          <a:solidFill>
            <a:srgbClr val="D2D2D2"/>
          </a:solidFill>
          <a:ln w="12700">
            <a:solidFill>
              <a:srgbClr val="D2D2D2"/>
            </a:solidFill>
            <a:prstDash val="solid"/>
          </a:ln>
        </p:spPr>
      </p:sp>
      <p:sp>
        <p:nvSpPr>
          <p:cNvPr id="30" name="Shape 28"/>
          <p:cNvSpPr/>
          <p:nvPr/>
        </p:nvSpPr>
        <p:spPr>
          <a:xfrm>
            <a:off x="6699352" y="4370832"/>
            <a:ext cx="4449928" cy="7315"/>
          </a:xfrm>
          <a:prstGeom prst="rect">
            <a:avLst/>
          </a:prstGeom>
          <a:solidFill>
            <a:srgbClr val="DCDCDC"/>
          </a:solidFill>
          <a:ln w="12700">
            <a:solidFill>
              <a:srgbClr val="DCDCDC"/>
            </a:solidFill>
            <a:prstDash val="solid"/>
          </a:ln>
        </p:spPr>
      </p:sp>
      <p:sp>
        <p:nvSpPr>
          <p:cNvPr id="31" name="Text 29"/>
          <p:cNvSpPr/>
          <p:nvPr/>
        </p:nvSpPr>
        <p:spPr>
          <a:xfrm>
            <a:off x="1042416" y="4425696"/>
            <a:ext cx="2011680" cy="274320"/>
          </a:xfrm>
          <a:prstGeom prst="rect">
            <a:avLst/>
          </a:prstGeom>
          <a:noFill/>
          <a:ln/>
        </p:spPr>
        <p:txBody>
          <a:bodyPr wrap="square" lIns="0" tIns="0" rIns="0" bIns="0" rtlCol="0" anchor="ctr"/>
          <a:lstStyle/>
          <a:p>
            <a:pPr indent="0" marL="0">
              <a:buNone/>
            </a:pPr>
            <a:r>
              <a:rPr lang="en-US" sz="900" b="1" spc="160" kern="0" dirty="0">
                <a:solidFill>
                  <a:srgbClr val="111111"/>
                </a:solidFill>
                <a:latin typeface="Pretendard" pitchFamily="34" charset="0"/>
                <a:ea typeface="Pretendard" pitchFamily="34" charset="-122"/>
                <a:cs typeface="Pretendard" pitchFamily="34" charset="-120"/>
              </a:rPr>
              <a:t>탭을 하나 늘리면</a:t>
            </a:r>
            <a:endParaRPr lang="en-US" sz="900" dirty="0"/>
          </a:p>
        </p:txBody>
      </p:sp>
      <p:sp>
        <p:nvSpPr>
          <p:cNvPr id="32" name="Text 30"/>
          <p:cNvSpPr/>
          <p:nvPr/>
        </p:nvSpPr>
        <p:spPr>
          <a:xfrm>
            <a:off x="1042416" y="4663440"/>
            <a:ext cx="4449928" cy="384048"/>
          </a:xfrm>
          <a:prstGeom prst="rect">
            <a:avLst/>
          </a:prstGeom>
          <a:noFill/>
          <a:ln/>
        </p:spPr>
        <p:txBody>
          <a:bodyPr wrap="square" lIns="0" tIns="0" rIns="0" bIns="0" rtlCol="0" anchor="t"/>
          <a:lstStyle/>
          <a:p>
            <a:pPr indent="0" marL="0">
              <a:lnSpc>
                <a:spcPct val="120000"/>
              </a:lnSpc>
              <a:buNone/>
            </a:pPr>
            <a:r>
              <a:rPr lang="en-US" sz="1150" dirty="0">
                <a:solidFill>
                  <a:srgbClr val="1F1F1F"/>
                </a:solidFill>
                <a:latin typeface="Pretendard" pitchFamily="34" charset="0"/>
                <a:ea typeface="Pretendard" pitchFamily="34" charset="-122"/>
                <a:cs typeface="Pretendard" pitchFamily="34" charset="-120"/>
              </a:rPr>
              <a:t>자동으로 78씩으로 바뀝니다</a:t>
            </a:r>
            <a:endParaRPr lang="en-US" sz="1150" dirty="0"/>
          </a:p>
        </p:txBody>
      </p:sp>
      <p:sp>
        <p:nvSpPr>
          <p:cNvPr id="33" name="Text 31"/>
          <p:cNvSpPr/>
          <p:nvPr/>
        </p:nvSpPr>
        <p:spPr>
          <a:xfrm>
            <a:off x="6699352" y="4425696"/>
            <a:ext cx="2011680" cy="274320"/>
          </a:xfrm>
          <a:prstGeom prst="rect">
            <a:avLst/>
          </a:prstGeom>
          <a:noFill/>
          <a:ln/>
        </p:spPr>
        <p:txBody>
          <a:bodyPr wrap="square" lIns="0" tIns="0" rIns="0" bIns="0" rtlCol="0" anchor="ctr"/>
          <a:lstStyle/>
          <a:p>
            <a:pPr indent="0" marL="0">
              <a:buNone/>
            </a:pPr>
            <a:r>
              <a:rPr lang="en-US" sz="900" b="1" spc="160" kern="0" dirty="0">
                <a:solidFill>
                  <a:srgbClr val="9B9B9B"/>
                </a:solidFill>
                <a:latin typeface="Pretendard" pitchFamily="34" charset="0"/>
                <a:ea typeface="Pretendard" pitchFamily="34" charset="-122"/>
                <a:cs typeface="Pretendard" pitchFamily="34" charset="-120"/>
              </a:rPr>
              <a:t>탭을 하나 늘리면</a:t>
            </a:r>
            <a:endParaRPr lang="en-US" sz="900" dirty="0"/>
          </a:p>
        </p:txBody>
      </p:sp>
      <p:sp>
        <p:nvSpPr>
          <p:cNvPr id="34" name="Text 32"/>
          <p:cNvSpPr/>
          <p:nvPr/>
        </p:nvSpPr>
        <p:spPr>
          <a:xfrm>
            <a:off x="6699352" y="4663440"/>
            <a:ext cx="4449928" cy="384048"/>
          </a:xfrm>
          <a:prstGeom prst="rect">
            <a:avLst/>
          </a:prstGeom>
          <a:noFill/>
          <a:ln/>
        </p:spPr>
        <p:txBody>
          <a:bodyPr wrap="square" lIns="0" tIns="0" rIns="0" bIns="0" rtlCol="0" anchor="t"/>
          <a:lstStyle/>
          <a:p>
            <a:pPr indent="0" marL="0">
              <a:lnSpc>
                <a:spcPct val="120000"/>
              </a:lnSpc>
              <a:buNone/>
            </a:pPr>
            <a:r>
              <a:rPr lang="en-US" sz="1150" dirty="0">
                <a:solidFill>
                  <a:srgbClr val="6E6E6E"/>
                </a:solidFill>
                <a:latin typeface="Pretendard" pitchFamily="34" charset="0"/>
                <a:ea typeface="Pretendard" pitchFamily="34" charset="-122"/>
                <a:cs typeface="Pretendard" pitchFamily="34" charset="-120"/>
              </a:rPr>
              <a:t>다섯 개를 다 다시 입력합니다</a:t>
            </a:r>
            <a:endParaRPr lang="en-US" sz="1150" dirty="0"/>
          </a:p>
        </p:txBody>
      </p:sp>
      <p:sp>
        <p:nvSpPr>
          <p:cNvPr id="35" name="Shape 33"/>
          <p:cNvSpPr/>
          <p:nvPr/>
        </p:nvSpPr>
        <p:spPr>
          <a:xfrm>
            <a:off x="640080" y="6291072"/>
            <a:ext cx="10911535" cy="7315"/>
          </a:xfrm>
          <a:prstGeom prst="rect">
            <a:avLst/>
          </a:prstGeom>
          <a:solidFill>
            <a:srgbClr val="DCDCDC"/>
          </a:solidFill>
          <a:ln w="12700">
            <a:solidFill>
              <a:srgbClr val="DCDCDC"/>
            </a:solidFill>
            <a:prstDash val="solid"/>
          </a:ln>
        </p:spPr>
      </p:sp>
      <p:sp>
        <p:nvSpPr>
          <p:cNvPr id="36" name="Text 34"/>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서비스디자인 · 2주차 하단 GNB · 수치로 짓는 컴포넌트</a:t>
            </a:r>
            <a:endParaRPr lang="en-US" sz="850" dirty="0"/>
          </a:p>
        </p:txBody>
      </p:sp>
      <p:sp>
        <p:nvSpPr>
          <p:cNvPr id="37" name="Text 35"/>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P.06</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서비스디자인</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1 기준</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02</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WORKSHOP</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Black" pitchFamily="34" charset="0"/>
                <a:ea typeface="Pretendard Black" pitchFamily="34" charset="-122"/>
                <a:cs typeface="Pretendard Black" pitchFamily="34" charset="-120"/>
              </a:rPr>
              <a:t>실습 1 · GNB 규격 명세 작성</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35분 · 개인 — 아직 Figma에서 만들지 않습니다. 표를 먼저 채웁니다.</a:t>
            </a:r>
            <a:endParaRPr lang="en-US" sz="1150" dirty="0"/>
          </a:p>
        </p:txBody>
      </p:sp>
      <p:sp>
        <p:nvSpPr>
          <p:cNvPr id="9" name="Shape 7"/>
          <p:cNvSpPr/>
          <p:nvPr/>
        </p:nvSpPr>
        <p:spPr>
          <a:xfrm>
            <a:off x="640080" y="1719072"/>
            <a:ext cx="10911535" cy="822960"/>
          </a:xfrm>
          <a:prstGeom prst="rect">
            <a:avLst/>
          </a:prstGeom>
          <a:solidFill>
            <a:srgbClr val="FFFFFF"/>
          </a:solidFill>
          <a:ln w="12700">
            <a:solidFill>
              <a:srgbClr val="DCDCDC"/>
            </a:solidFill>
            <a:prstDash val="solid"/>
          </a:ln>
        </p:spPr>
      </p:sp>
      <p:sp>
        <p:nvSpPr>
          <p:cNvPr id="10" name="Text 8"/>
          <p:cNvSpPr/>
          <p:nvPr/>
        </p:nvSpPr>
        <p:spPr>
          <a:xfrm>
            <a:off x="1005840" y="1810512"/>
            <a:ext cx="1188720" cy="640080"/>
          </a:xfrm>
          <a:prstGeom prst="rect">
            <a:avLst/>
          </a:prstGeom>
          <a:noFill/>
          <a:ln/>
        </p:spPr>
        <p:txBody>
          <a:bodyPr wrap="square" lIns="0" tIns="0" rIns="0" bIns="0" rtlCol="0" anchor="ctr"/>
          <a:lstStyle/>
          <a:p>
            <a:pPr indent="0" marL="0">
              <a:buNone/>
            </a:pPr>
            <a:r>
              <a:rPr lang="en-US" sz="2200" dirty="0">
                <a:solidFill>
                  <a:srgbClr val="111111"/>
                </a:solidFill>
                <a:latin typeface="Pretendard Light" pitchFamily="34" charset="0"/>
                <a:ea typeface="Pretendard Light" pitchFamily="34" charset="-122"/>
                <a:cs typeface="Pretendard Light" pitchFamily="34" charset="-120"/>
              </a:rPr>
              <a:t>8분</a:t>
            </a:r>
            <a:endParaRPr lang="en-US" sz="2200" dirty="0"/>
          </a:p>
        </p:txBody>
      </p:sp>
      <p:sp>
        <p:nvSpPr>
          <p:cNvPr id="11" name="Text 9"/>
          <p:cNvSpPr/>
          <p:nvPr/>
        </p:nvSpPr>
        <p:spPr>
          <a:xfrm>
            <a:off x="2286000" y="1810512"/>
            <a:ext cx="3291840" cy="640080"/>
          </a:xfrm>
          <a:prstGeom prst="rect">
            <a:avLst/>
          </a:prstGeom>
          <a:noFill/>
          <a:ln/>
        </p:spPr>
        <p:txBody>
          <a:bodyPr wrap="square" lIns="0" tIns="0" rIns="0" bIns="0" rtlCol="0" anchor="ctr"/>
          <a:lstStyle/>
          <a:p>
            <a:pPr indent="0" marL="0">
              <a:buNone/>
            </a:pPr>
            <a:r>
              <a:rPr lang="en-US" sz="1450" dirty="0">
                <a:solidFill>
                  <a:srgbClr val="111111"/>
                </a:solidFill>
                <a:latin typeface="Pretendard Black" pitchFamily="34" charset="0"/>
                <a:ea typeface="Pretendard Black" pitchFamily="34" charset="-122"/>
                <a:cs typeface="Pretendard Black" pitchFamily="34" charset="-120"/>
              </a:rPr>
              <a:t>기준 고정</a:t>
            </a:r>
            <a:endParaRPr lang="en-US" sz="1450" dirty="0"/>
          </a:p>
        </p:txBody>
      </p:sp>
      <p:sp>
        <p:nvSpPr>
          <p:cNvPr id="12" name="Text 10"/>
          <p:cNvSpPr/>
          <p:nvPr/>
        </p:nvSpPr>
        <p:spPr>
          <a:xfrm>
            <a:off x="5669280" y="1810512"/>
            <a:ext cx="5516575" cy="640080"/>
          </a:xfrm>
          <a:prstGeom prst="rect">
            <a:avLst/>
          </a:prstGeom>
          <a:noFill/>
          <a:ln/>
        </p:spPr>
        <p:txBody>
          <a:bodyPr wrap="square" lIns="0" tIns="0" rIns="0" bIns="0" rtlCol="0" anchor="ctr"/>
          <a:lstStyle/>
          <a:p>
            <a:pPr indent="0" marL="0">
              <a:lnSpc>
                <a:spcPct val="124000"/>
              </a:lnSpc>
              <a:buNone/>
            </a:pPr>
            <a:r>
              <a:rPr lang="en-US" sz="1150" dirty="0">
                <a:solidFill>
                  <a:srgbClr val="6E6E6E"/>
                </a:solidFill>
                <a:latin typeface="Pretendard" pitchFamily="34" charset="0"/>
                <a:ea typeface="Pretendard" pitchFamily="34" charset="-122"/>
                <a:cs typeface="Pretendard" pitchFamily="34" charset="-120"/>
              </a:rPr>
              <a:t>화면 폭 390으로 통일하고, 탭 개수를 3~5 중에서 확정합니다. 지금 탭이 6개 이상이면 오늘 줄입니다.</a:t>
            </a:r>
            <a:endParaRPr lang="en-US" sz="1150" dirty="0"/>
          </a:p>
        </p:txBody>
      </p:sp>
      <p:sp>
        <p:nvSpPr>
          <p:cNvPr id="13" name="Shape 11"/>
          <p:cNvSpPr/>
          <p:nvPr/>
        </p:nvSpPr>
        <p:spPr>
          <a:xfrm>
            <a:off x="640080" y="2688336"/>
            <a:ext cx="10911535" cy="822960"/>
          </a:xfrm>
          <a:prstGeom prst="rect">
            <a:avLst/>
          </a:prstGeom>
          <a:solidFill>
            <a:srgbClr val="FFFFFF"/>
          </a:solidFill>
          <a:ln w="12700">
            <a:solidFill>
              <a:srgbClr val="DCDCDC"/>
            </a:solidFill>
            <a:prstDash val="solid"/>
          </a:ln>
        </p:spPr>
      </p:sp>
      <p:sp>
        <p:nvSpPr>
          <p:cNvPr id="14" name="Text 12"/>
          <p:cNvSpPr/>
          <p:nvPr/>
        </p:nvSpPr>
        <p:spPr>
          <a:xfrm>
            <a:off x="1005840" y="2779776"/>
            <a:ext cx="1188720" cy="640080"/>
          </a:xfrm>
          <a:prstGeom prst="rect">
            <a:avLst/>
          </a:prstGeom>
          <a:noFill/>
          <a:ln/>
        </p:spPr>
        <p:txBody>
          <a:bodyPr wrap="square" lIns="0" tIns="0" rIns="0" bIns="0" rtlCol="0" anchor="ctr"/>
          <a:lstStyle/>
          <a:p>
            <a:pPr indent="0" marL="0">
              <a:buNone/>
            </a:pPr>
            <a:r>
              <a:rPr lang="en-US" sz="2200" dirty="0">
                <a:solidFill>
                  <a:srgbClr val="111111"/>
                </a:solidFill>
                <a:latin typeface="Pretendard Light" pitchFamily="34" charset="0"/>
                <a:ea typeface="Pretendard Light" pitchFamily="34" charset="-122"/>
                <a:cs typeface="Pretendard Light" pitchFamily="34" charset="-120"/>
              </a:rPr>
              <a:t>12분</a:t>
            </a:r>
            <a:endParaRPr lang="en-US" sz="2200" dirty="0"/>
          </a:p>
        </p:txBody>
      </p:sp>
      <p:sp>
        <p:nvSpPr>
          <p:cNvPr id="15" name="Text 13"/>
          <p:cNvSpPr/>
          <p:nvPr/>
        </p:nvSpPr>
        <p:spPr>
          <a:xfrm>
            <a:off x="2286000" y="2779776"/>
            <a:ext cx="3291840" cy="640080"/>
          </a:xfrm>
          <a:prstGeom prst="rect">
            <a:avLst/>
          </a:prstGeom>
          <a:noFill/>
          <a:ln/>
        </p:spPr>
        <p:txBody>
          <a:bodyPr wrap="square" lIns="0" tIns="0" rIns="0" bIns="0" rtlCol="0" anchor="ctr"/>
          <a:lstStyle/>
          <a:p>
            <a:pPr indent="0" marL="0">
              <a:buNone/>
            </a:pPr>
            <a:r>
              <a:rPr lang="en-US" sz="1450" dirty="0">
                <a:solidFill>
                  <a:srgbClr val="111111"/>
                </a:solidFill>
                <a:latin typeface="Pretendard Black" pitchFamily="34" charset="0"/>
                <a:ea typeface="Pretendard Black" pitchFamily="34" charset="-122"/>
                <a:cs typeface="Pretendard Black" pitchFamily="34" charset="-120"/>
              </a:rPr>
              <a:t>여섯 항목 채우기</a:t>
            </a:r>
            <a:endParaRPr lang="en-US" sz="1450" dirty="0"/>
          </a:p>
        </p:txBody>
      </p:sp>
      <p:sp>
        <p:nvSpPr>
          <p:cNvPr id="16" name="Text 14"/>
          <p:cNvSpPr/>
          <p:nvPr/>
        </p:nvSpPr>
        <p:spPr>
          <a:xfrm>
            <a:off x="5669280" y="2779776"/>
            <a:ext cx="5516575" cy="640080"/>
          </a:xfrm>
          <a:prstGeom prst="rect">
            <a:avLst/>
          </a:prstGeom>
          <a:noFill/>
          <a:ln/>
        </p:spPr>
        <p:txBody>
          <a:bodyPr wrap="square" lIns="0" tIns="0" rIns="0" bIns="0" rtlCol="0" anchor="ctr"/>
          <a:lstStyle/>
          <a:p>
            <a:pPr indent="0" marL="0">
              <a:lnSpc>
                <a:spcPct val="124000"/>
              </a:lnSpc>
              <a:buNone/>
            </a:pPr>
            <a:r>
              <a:rPr lang="en-US" sz="1150" dirty="0">
                <a:solidFill>
                  <a:srgbClr val="6E6E6E"/>
                </a:solidFill>
                <a:latin typeface="Pretendard" pitchFamily="34" charset="0"/>
                <a:ea typeface="Pretendard" pitchFamily="34" charset="-122"/>
                <a:cs typeface="Pretendard" pitchFamily="34" charset="-120"/>
              </a:rPr>
              <a:t>높이 · 탭 폭 · 아이콘 · 라벨 · 간격 · 구분선. 값과 근거를 함께 씁니다. 근거를 못 쓰면 그 값을 다시 계산합니다.</a:t>
            </a:r>
            <a:endParaRPr lang="en-US" sz="1150" dirty="0"/>
          </a:p>
        </p:txBody>
      </p:sp>
      <p:sp>
        <p:nvSpPr>
          <p:cNvPr id="17" name="Shape 15"/>
          <p:cNvSpPr/>
          <p:nvPr/>
        </p:nvSpPr>
        <p:spPr>
          <a:xfrm>
            <a:off x="640080" y="3657600"/>
            <a:ext cx="10911535" cy="822960"/>
          </a:xfrm>
          <a:prstGeom prst="rect">
            <a:avLst/>
          </a:prstGeom>
          <a:solidFill>
            <a:srgbClr val="FFFFFF"/>
          </a:solidFill>
          <a:ln w="12700">
            <a:solidFill>
              <a:srgbClr val="DCDCDC"/>
            </a:solidFill>
            <a:prstDash val="solid"/>
          </a:ln>
        </p:spPr>
      </p:sp>
      <p:sp>
        <p:nvSpPr>
          <p:cNvPr id="18" name="Text 16"/>
          <p:cNvSpPr/>
          <p:nvPr/>
        </p:nvSpPr>
        <p:spPr>
          <a:xfrm>
            <a:off x="1005840" y="3749040"/>
            <a:ext cx="1188720" cy="640080"/>
          </a:xfrm>
          <a:prstGeom prst="rect">
            <a:avLst/>
          </a:prstGeom>
          <a:noFill/>
          <a:ln/>
        </p:spPr>
        <p:txBody>
          <a:bodyPr wrap="square" lIns="0" tIns="0" rIns="0" bIns="0" rtlCol="0" anchor="ctr"/>
          <a:lstStyle/>
          <a:p>
            <a:pPr indent="0" marL="0">
              <a:buNone/>
            </a:pPr>
            <a:r>
              <a:rPr lang="en-US" sz="2200" dirty="0">
                <a:solidFill>
                  <a:srgbClr val="111111"/>
                </a:solidFill>
                <a:latin typeface="Pretendard Light" pitchFamily="34" charset="0"/>
                <a:ea typeface="Pretendard Light" pitchFamily="34" charset="-122"/>
                <a:cs typeface="Pretendard Light" pitchFamily="34" charset="-120"/>
              </a:rPr>
              <a:t>8분</a:t>
            </a:r>
            <a:endParaRPr lang="en-US" sz="2200" dirty="0"/>
          </a:p>
        </p:txBody>
      </p:sp>
      <p:sp>
        <p:nvSpPr>
          <p:cNvPr id="19" name="Text 17"/>
          <p:cNvSpPr/>
          <p:nvPr/>
        </p:nvSpPr>
        <p:spPr>
          <a:xfrm>
            <a:off x="2286000" y="3749040"/>
            <a:ext cx="3291840" cy="640080"/>
          </a:xfrm>
          <a:prstGeom prst="rect">
            <a:avLst/>
          </a:prstGeom>
          <a:noFill/>
          <a:ln/>
        </p:spPr>
        <p:txBody>
          <a:bodyPr wrap="square" lIns="0" tIns="0" rIns="0" bIns="0" rtlCol="0" anchor="ctr"/>
          <a:lstStyle/>
          <a:p>
            <a:pPr indent="0" marL="0">
              <a:buNone/>
            </a:pPr>
            <a:r>
              <a:rPr lang="en-US" sz="1450" dirty="0">
                <a:solidFill>
                  <a:srgbClr val="111111"/>
                </a:solidFill>
                <a:latin typeface="Pretendard Black" pitchFamily="34" charset="0"/>
                <a:ea typeface="Pretendard Black" pitchFamily="34" charset="-122"/>
                <a:cs typeface="Pretendard Black" pitchFamily="34" charset="-120"/>
              </a:rPr>
              <a:t>상태 정의</a:t>
            </a:r>
            <a:endParaRPr lang="en-US" sz="1450" dirty="0"/>
          </a:p>
        </p:txBody>
      </p:sp>
      <p:sp>
        <p:nvSpPr>
          <p:cNvPr id="20" name="Text 18"/>
          <p:cNvSpPr/>
          <p:nvPr/>
        </p:nvSpPr>
        <p:spPr>
          <a:xfrm>
            <a:off x="5669280" y="3749040"/>
            <a:ext cx="5516575" cy="640080"/>
          </a:xfrm>
          <a:prstGeom prst="rect">
            <a:avLst/>
          </a:prstGeom>
          <a:noFill/>
          <a:ln/>
        </p:spPr>
        <p:txBody>
          <a:bodyPr wrap="square" lIns="0" tIns="0" rIns="0" bIns="0" rtlCol="0" anchor="ctr"/>
          <a:lstStyle/>
          <a:p>
            <a:pPr indent="0" marL="0">
              <a:lnSpc>
                <a:spcPct val="124000"/>
              </a:lnSpc>
              <a:buNone/>
            </a:pPr>
            <a:r>
              <a:rPr lang="en-US" sz="1150" dirty="0">
                <a:solidFill>
                  <a:srgbClr val="6E6E6E"/>
                </a:solidFill>
                <a:latin typeface="Pretendard" pitchFamily="34" charset="0"/>
                <a:ea typeface="Pretendard" pitchFamily="34" charset="-122"/>
                <a:cs typeface="Pretendard" pitchFamily="34" charset="-120"/>
              </a:rPr>
              <a:t>기본과 활성 두 가지. 색만으로 구분하지 말고 아이콘을 outline / fill로 함께 바꿉니다. 색각 이상 관람자도 구분할 수 있어야 합니다.</a:t>
            </a:r>
            <a:endParaRPr lang="en-US" sz="1150" dirty="0"/>
          </a:p>
        </p:txBody>
      </p:sp>
      <p:sp>
        <p:nvSpPr>
          <p:cNvPr id="21" name="Shape 19"/>
          <p:cNvSpPr/>
          <p:nvPr/>
        </p:nvSpPr>
        <p:spPr>
          <a:xfrm>
            <a:off x="640080" y="4626864"/>
            <a:ext cx="10911535" cy="822960"/>
          </a:xfrm>
          <a:prstGeom prst="rect">
            <a:avLst/>
          </a:prstGeom>
          <a:solidFill>
            <a:srgbClr val="111111"/>
          </a:solidFill>
          <a:ln w="12700">
            <a:solidFill>
              <a:srgbClr val="111111"/>
            </a:solidFill>
            <a:prstDash val="solid"/>
          </a:ln>
        </p:spPr>
      </p:sp>
      <p:sp>
        <p:nvSpPr>
          <p:cNvPr id="22" name="Text 20"/>
          <p:cNvSpPr/>
          <p:nvPr/>
        </p:nvSpPr>
        <p:spPr>
          <a:xfrm>
            <a:off x="1005840" y="4718304"/>
            <a:ext cx="1188720" cy="640080"/>
          </a:xfrm>
          <a:prstGeom prst="rect">
            <a:avLst/>
          </a:prstGeom>
          <a:noFill/>
          <a:ln/>
        </p:spPr>
        <p:txBody>
          <a:bodyPr wrap="square" lIns="0" tIns="0" rIns="0" bIns="0" rtlCol="0" anchor="ctr"/>
          <a:lstStyle/>
          <a:p>
            <a:pPr indent="0" marL="0">
              <a:buNone/>
            </a:pPr>
            <a:r>
              <a:rPr lang="en-US" sz="2200" dirty="0">
                <a:solidFill>
                  <a:srgbClr val="FFFFFF"/>
                </a:solidFill>
                <a:latin typeface="Pretendard Light" pitchFamily="34" charset="0"/>
                <a:ea typeface="Pretendard Light" pitchFamily="34" charset="-122"/>
                <a:cs typeface="Pretendard Light" pitchFamily="34" charset="-120"/>
              </a:rPr>
              <a:t>7분</a:t>
            </a:r>
            <a:endParaRPr lang="en-US" sz="2200" dirty="0"/>
          </a:p>
        </p:txBody>
      </p:sp>
      <p:sp>
        <p:nvSpPr>
          <p:cNvPr id="23" name="Text 21"/>
          <p:cNvSpPr/>
          <p:nvPr/>
        </p:nvSpPr>
        <p:spPr>
          <a:xfrm>
            <a:off x="2286000" y="4718304"/>
            <a:ext cx="3291840" cy="640080"/>
          </a:xfrm>
          <a:prstGeom prst="rect">
            <a:avLst/>
          </a:prstGeom>
          <a:noFill/>
          <a:ln/>
        </p:spPr>
        <p:txBody>
          <a:bodyPr wrap="square" lIns="0" tIns="0" rIns="0" bIns="0" rtlCol="0" anchor="ctr"/>
          <a:lstStyle/>
          <a:p>
            <a:pPr indent="0" marL="0">
              <a:buNone/>
            </a:pPr>
            <a:r>
              <a:rPr lang="en-US" sz="1450" dirty="0">
                <a:solidFill>
                  <a:srgbClr val="FFFFFF"/>
                </a:solidFill>
                <a:latin typeface="Pretendard Black" pitchFamily="34" charset="0"/>
                <a:ea typeface="Pretendard Black" pitchFamily="34" charset="-122"/>
                <a:cs typeface="Pretendard Black" pitchFamily="34" charset="-120"/>
              </a:rPr>
              <a:t>합계 검산</a:t>
            </a:r>
            <a:endParaRPr lang="en-US" sz="1450" dirty="0"/>
          </a:p>
        </p:txBody>
      </p:sp>
      <p:sp>
        <p:nvSpPr>
          <p:cNvPr id="24" name="Text 22"/>
          <p:cNvSpPr/>
          <p:nvPr/>
        </p:nvSpPr>
        <p:spPr>
          <a:xfrm>
            <a:off x="5669280" y="4718304"/>
            <a:ext cx="5516575" cy="640080"/>
          </a:xfrm>
          <a:prstGeom prst="rect">
            <a:avLst/>
          </a:prstGeom>
          <a:noFill/>
          <a:ln/>
        </p:spPr>
        <p:txBody>
          <a:bodyPr wrap="square" lIns="0" tIns="0" rIns="0" bIns="0" rtlCol="0" anchor="ctr"/>
          <a:lstStyle/>
          <a:p>
            <a:pPr indent="0" marL="0">
              <a:lnSpc>
                <a:spcPct val="124000"/>
              </a:lnSpc>
              <a:buNone/>
            </a:pPr>
            <a:r>
              <a:rPr lang="en-US" sz="1150" dirty="0">
                <a:solidFill>
                  <a:srgbClr val="B8B8B8"/>
                </a:solidFill>
                <a:latin typeface="Pretendard" pitchFamily="34" charset="0"/>
                <a:ea typeface="Pretendard" pitchFamily="34" charset="-122"/>
                <a:cs typeface="Pretendard" pitchFamily="34" charset="-120"/>
              </a:rPr>
              <a:t>상단 패딩 + 아이콘 + 간격 + 라벨 + 하단 패딩이 콘텐츠 높이와 일치하는지 더해 봅니다. 안 맞으면 어느 값이 근거 없이 정해진 것입니다.</a:t>
            </a:r>
            <a:endParaRPr lang="en-US" sz="1150" dirty="0"/>
          </a:p>
        </p:txBody>
      </p:sp>
      <p:sp>
        <p:nvSpPr>
          <p:cNvPr id="25" name="Shape 23"/>
          <p:cNvSpPr/>
          <p:nvPr/>
        </p:nvSpPr>
        <p:spPr>
          <a:xfrm>
            <a:off x="640080" y="6291072"/>
            <a:ext cx="10911535" cy="7315"/>
          </a:xfrm>
          <a:prstGeom prst="rect">
            <a:avLst/>
          </a:prstGeom>
          <a:solidFill>
            <a:srgbClr val="DCDCDC"/>
          </a:solidFill>
          <a:ln w="12700">
            <a:solidFill>
              <a:srgbClr val="DCDCDC"/>
            </a:solidFill>
            <a:prstDash val="solid"/>
          </a:ln>
        </p:spPr>
      </p:sp>
      <p:sp>
        <p:nvSpPr>
          <p:cNvPr id="26" name="Text 24"/>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서비스디자인 · 2주차 하단 GNB · 수치로 짓는 컴포넌트</a:t>
            </a:r>
            <a:endParaRPr lang="en-US" sz="850" dirty="0"/>
          </a:p>
        </p:txBody>
      </p:sp>
      <p:sp>
        <p:nvSpPr>
          <p:cNvPr id="27" name="Text 25"/>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P.07</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9A9A9A"/>
                </a:solidFill>
                <a:latin typeface="Pretendard" pitchFamily="34" charset="0"/>
                <a:ea typeface="Pretendard" pitchFamily="34" charset="-122"/>
                <a:cs typeface="Pretendard" pitchFamily="34" charset="-120"/>
              </a:rPr>
              <a:t>서비스디자인</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9A9A9A"/>
                </a:solidFill>
                <a:latin typeface="Pretendard" pitchFamily="34" charset="0"/>
                <a:ea typeface="Pretendard" pitchFamily="34" charset="-122"/>
                <a:cs typeface="Pretendard" pitchFamily="34" charset="-120"/>
              </a:rPr>
              <a:t>PHASE 1 기준</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9A9A9A"/>
                </a:solidFill>
                <a:latin typeface="Pretendard" pitchFamily="34" charset="0"/>
                <a:ea typeface="Pretendard" pitchFamily="34" charset="-122"/>
                <a:cs typeface="Pretendard" pitchFamily="34" charset="-120"/>
              </a:rPr>
              <a:t>WEEK 02</a:t>
            </a:r>
            <a:endParaRPr lang="en-US" sz="900" dirty="0"/>
          </a:p>
        </p:txBody>
      </p:sp>
      <p:sp>
        <p:nvSpPr>
          <p:cNvPr id="5" name="Shape 3"/>
          <p:cNvSpPr/>
          <p:nvPr/>
        </p:nvSpPr>
        <p:spPr>
          <a:xfrm>
            <a:off x="640080" y="548640"/>
            <a:ext cx="10911535" cy="7315"/>
          </a:xfrm>
          <a:prstGeom prst="rect">
            <a:avLst/>
          </a:prstGeom>
          <a:solidFill>
            <a:srgbClr val="333333"/>
          </a:solidFill>
          <a:ln w="12700">
            <a:solidFill>
              <a:srgbClr val="333333"/>
            </a:solidFill>
            <a:prstDash val="solid"/>
          </a:ln>
        </p:spPr>
      </p:sp>
      <p:sp>
        <p:nvSpPr>
          <p:cNvPr id="6" name="Text 4"/>
          <p:cNvSpPr/>
          <p:nvPr/>
        </p:nvSpPr>
        <p:spPr>
          <a:xfrm>
            <a:off x="7345375" y="1737360"/>
            <a:ext cx="4206240" cy="3291840"/>
          </a:xfrm>
          <a:prstGeom prst="rect">
            <a:avLst/>
          </a:prstGeom>
          <a:noFill/>
          <a:ln/>
        </p:spPr>
        <p:txBody>
          <a:bodyPr wrap="square" lIns="0" tIns="0" rIns="0" bIns="0" rtlCol="0" anchor="ctr"/>
          <a:lstStyle/>
          <a:p>
            <a:pPr algn="r" indent="0" marL="0">
              <a:buNone/>
            </a:pPr>
            <a:r>
              <a:rPr lang="en-US" sz="20000" dirty="0">
                <a:solidFill>
                  <a:srgbClr val="1B1B1B"/>
                </a:solidFill>
                <a:latin typeface="Pretendard Black" pitchFamily="34" charset="0"/>
                <a:ea typeface="Pretendard Black" pitchFamily="34" charset="-122"/>
                <a:cs typeface="Pretendard Black" pitchFamily="34" charset="-120"/>
              </a:rPr>
              <a:t>02</a:t>
            </a:r>
            <a:endParaRPr lang="en-US" sz="20000" dirty="0"/>
          </a:p>
        </p:txBody>
      </p:sp>
      <p:sp>
        <p:nvSpPr>
          <p:cNvPr id="7" name="Shape 5"/>
          <p:cNvSpPr/>
          <p:nvPr/>
        </p:nvSpPr>
        <p:spPr>
          <a:xfrm>
            <a:off x="941832" y="1371600"/>
            <a:ext cx="0" cy="603504"/>
          </a:xfrm>
          <a:prstGeom prst="line">
            <a:avLst/>
          </a:prstGeom>
          <a:noFill/>
          <a:ln w="15875">
            <a:solidFill>
              <a:srgbClr val="FFFFFF"/>
            </a:solidFill>
            <a:prstDash val="solid"/>
          </a:ln>
        </p:spPr>
      </p:sp>
      <p:sp>
        <p:nvSpPr>
          <p:cNvPr id="8" name="Shape 6"/>
          <p:cNvSpPr/>
          <p:nvPr/>
        </p:nvSpPr>
        <p:spPr>
          <a:xfrm>
            <a:off x="640080" y="1733702"/>
            <a:ext cx="301752" cy="241402"/>
          </a:xfrm>
          <a:prstGeom prst="line">
            <a:avLst/>
          </a:prstGeom>
          <a:noFill/>
          <a:ln w="15875">
            <a:solidFill>
              <a:srgbClr val="FFFFFF"/>
            </a:solidFill>
            <a:prstDash val="solid"/>
          </a:ln>
        </p:spPr>
      </p:sp>
      <p:sp>
        <p:nvSpPr>
          <p:cNvPr id="9" name="Shape 7"/>
          <p:cNvSpPr/>
          <p:nvPr/>
        </p:nvSpPr>
        <p:spPr>
          <a:xfrm flipV="1">
            <a:off x="941832" y="1733702"/>
            <a:ext cx="301752" cy="241402"/>
          </a:xfrm>
          <a:prstGeom prst="line">
            <a:avLst/>
          </a:prstGeom>
          <a:noFill/>
          <a:ln w="15875">
            <a:solidFill>
              <a:srgbClr val="FFFFFF"/>
            </a:solidFill>
            <a:prstDash val="solid"/>
          </a:ln>
        </p:spPr>
      </p:sp>
      <p:sp>
        <p:nvSpPr>
          <p:cNvPr id="10" name="Text 8"/>
          <p:cNvSpPr/>
          <p:nvPr/>
        </p:nvSpPr>
        <p:spPr>
          <a:xfrm>
            <a:off x="640080" y="2615184"/>
            <a:ext cx="7863840" cy="256032"/>
          </a:xfrm>
          <a:prstGeom prst="rect">
            <a:avLst/>
          </a:prstGeom>
          <a:noFill/>
          <a:ln/>
        </p:spPr>
        <p:txBody>
          <a:bodyPr wrap="square" lIns="0" tIns="0" rIns="0" bIns="0" rtlCol="0" anchor="ctr"/>
          <a:lstStyle/>
          <a:p>
            <a:pPr indent="0" marL="0">
              <a:buNone/>
            </a:pPr>
            <a:r>
              <a:rPr lang="en-US" sz="950" spc="280" kern="0" dirty="0">
                <a:solidFill>
                  <a:srgbClr val="9A9A9A"/>
                </a:solidFill>
                <a:latin typeface="Pretendard" pitchFamily="34" charset="0"/>
                <a:ea typeface="Pretendard" pitchFamily="34" charset="-122"/>
                <a:cs typeface="Pretendard" pitchFamily="34" charset="-120"/>
              </a:rPr>
              <a:t>PART 02</a:t>
            </a:r>
            <a:endParaRPr lang="en-US" sz="950" dirty="0"/>
          </a:p>
        </p:txBody>
      </p:sp>
      <p:sp>
        <p:nvSpPr>
          <p:cNvPr id="11" name="Text 9"/>
          <p:cNvSpPr/>
          <p:nvPr/>
        </p:nvSpPr>
        <p:spPr>
          <a:xfrm>
            <a:off x="640080" y="2889504"/>
            <a:ext cx="7863840" cy="786384"/>
          </a:xfrm>
          <a:prstGeom prst="rect">
            <a:avLst/>
          </a:prstGeom>
          <a:noFill/>
          <a:ln/>
        </p:spPr>
        <p:txBody>
          <a:bodyPr wrap="square" lIns="0" tIns="0" rIns="0" bIns="0" rtlCol="0" anchor="ctr"/>
          <a:lstStyle/>
          <a:p>
            <a:pPr indent="0" marL="0">
              <a:buNone/>
            </a:pPr>
            <a:r>
              <a:rPr lang="en-US" sz="4600" dirty="0">
                <a:solidFill>
                  <a:srgbClr val="FFFFFF"/>
                </a:solidFill>
                <a:latin typeface="Pretendard Black" pitchFamily="34" charset="0"/>
                <a:ea typeface="Pretendard Black" pitchFamily="34" charset="-122"/>
                <a:cs typeface="Pretendard Black" pitchFamily="34" charset="-120"/>
              </a:rPr>
              <a:t>컴포넌트화</a:t>
            </a:r>
            <a:endParaRPr lang="en-US" sz="4600" dirty="0"/>
          </a:p>
        </p:txBody>
      </p:sp>
      <p:sp>
        <p:nvSpPr>
          <p:cNvPr id="12" name="Shape 10"/>
          <p:cNvSpPr/>
          <p:nvPr/>
        </p:nvSpPr>
        <p:spPr>
          <a:xfrm>
            <a:off x="640080" y="3803904"/>
            <a:ext cx="2194560" cy="7315"/>
          </a:xfrm>
          <a:prstGeom prst="rect">
            <a:avLst/>
          </a:prstGeom>
          <a:solidFill>
            <a:srgbClr val="FFFFFF"/>
          </a:solidFill>
          <a:ln w="12700">
            <a:solidFill>
              <a:srgbClr val="FFFFFF"/>
            </a:solidFill>
            <a:prstDash val="solid"/>
          </a:ln>
        </p:spPr>
      </p:sp>
      <p:sp>
        <p:nvSpPr>
          <p:cNvPr id="13" name="Text 11"/>
          <p:cNvSpPr/>
          <p:nvPr/>
        </p:nvSpPr>
        <p:spPr>
          <a:xfrm>
            <a:off x="640080" y="4005072"/>
            <a:ext cx="6949440" cy="731520"/>
          </a:xfrm>
          <a:prstGeom prst="rect">
            <a:avLst/>
          </a:prstGeom>
          <a:noFill/>
          <a:ln/>
        </p:spPr>
        <p:txBody>
          <a:bodyPr wrap="square" lIns="0" tIns="0" rIns="0" bIns="0" rtlCol="0" anchor="t"/>
          <a:lstStyle/>
          <a:p>
            <a:pPr indent="0" marL="0">
              <a:lnSpc>
                <a:spcPct val="134000"/>
              </a:lnSpc>
              <a:buNone/>
            </a:pPr>
            <a:r>
              <a:rPr lang="en-US" sz="1350" dirty="0">
                <a:solidFill>
                  <a:srgbClr val="B8B8B8"/>
                </a:solidFill>
                <a:latin typeface="Pretendard Light" pitchFamily="34" charset="0"/>
                <a:ea typeface="Pretendard Light" pitchFamily="34" charset="-122"/>
                <a:cs typeface="Pretendard Light" pitchFamily="34" charset="-120"/>
              </a:rPr>
              <a:t>정한 수치를 한 곳에 담아 두고, 화면에서는 꺼내 쓰기만 합니다.</a:t>
            </a:r>
            <a:endParaRPr lang="en-US" sz="1350" dirty="0"/>
          </a:p>
        </p:txBody>
      </p:sp>
      <p:sp>
        <p:nvSpPr>
          <p:cNvPr id="14" name="Text 12"/>
          <p:cNvSpPr/>
          <p:nvPr/>
        </p:nvSpPr>
        <p:spPr>
          <a:xfrm rot="16200000">
            <a:off x="10436047" y="3291840"/>
            <a:ext cx="2743200" cy="274320"/>
          </a:xfrm>
          <a:prstGeom prst="rect">
            <a:avLst/>
          </a:prstGeom>
          <a:noFill/>
          <a:ln/>
        </p:spPr>
        <p:txBody>
          <a:bodyPr wrap="square" lIns="0" tIns="0" rIns="0" bIns="0" rtlCol="0" anchor="ctr"/>
          <a:lstStyle/>
          <a:p>
            <a:pPr algn="ctr" indent="0" marL="0">
              <a:buNone/>
            </a:pPr>
            <a:r>
              <a:rPr lang="en-US" sz="850" spc="260" kern="0" dirty="0">
                <a:solidFill>
                  <a:srgbClr val="7A7A7A"/>
                </a:solidFill>
                <a:latin typeface="Pretendard" pitchFamily="34" charset="0"/>
                <a:ea typeface="Pretendard" pitchFamily="34" charset="-122"/>
                <a:cs typeface="Pretendard" pitchFamily="34" charset="-120"/>
              </a:rPr>
              <a:t>SECTION 02</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서비스디자인</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1 기준</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02</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STRUCTURE</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Black" pitchFamily="34" charset="0"/>
                <a:ea typeface="Pretendard Black" pitchFamily="34" charset="-122"/>
                <a:cs typeface="Pretendard Black" pitchFamily="34" charset="-120"/>
              </a:rPr>
              <a:t>세 층으로 쌓습니다</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작은 것부터 만들어 올립니다. GNB를 통째로 그리면 안에 있는 것을 재사용할 수 없습니다.</a:t>
            </a:r>
            <a:endParaRPr lang="en-US" sz="1150" dirty="0"/>
          </a:p>
        </p:txBody>
      </p:sp>
      <p:sp>
        <p:nvSpPr>
          <p:cNvPr id="9" name="Shape 7"/>
          <p:cNvSpPr/>
          <p:nvPr/>
        </p:nvSpPr>
        <p:spPr>
          <a:xfrm>
            <a:off x="640080" y="1737360"/>
            <a:ext cx="3393338" cy="3035808"/>
          </a:xfrm>
          <a:prstGeom prst="rect">
            <a:avLst/>
          </a:prstGeom>
          <a:solidFill>
            <a:srgbClr val="FFFFFF"/>
          </a:solidFill>
          <a:ln w="12700">
            <a:solidFill>
              <a:srgbClr val="DCDCDC"/>
            </a:solidFill>
            <a:prstDash val="solid"/>
          </a:ln>
        </p:spPr>
      </p:sp>
      <p:sp>
        <p:nvSpPr>
          <p:cNvPr id="10" name="Shape 8"/>
          <p:cNvSpPr/>
          <p:nvPr/>
        </p:nvSpPr>
        <p:spPr>
          <a:xfrm>
            <a:off x="1024128" y="2011680"/>
            <a:ext cx="365760" cy="365760"/>
          </a:xfrm>
          <a:prstGeom prst="ellipse">
            <a:avLst/>
          </a:prstGeom>
          <a:solidFill>
            <a:srgbClr val="FFFFFF"/>
          </a:solidFill>
          <a:ln w="12700">
            <a:solidFill>
              <a:srgbClr val="111111"/>
            </a:solidFill>
            <a:prstDash val="solid"/>
          </a:ln>
        </p:spPr>
      </p:sp>
      <p:sp>
        <p:nvSpPr>
          <p:cNvPr id="11" name="Text 9"/>
          <p:cNvSpPr/>
          <p:nvPr/>
        </p:nvSpPr>
        <p:spPr>
          <a:xfrm>
            <a:off x="1024128" y="2011680"/>
            <a:ext cx="365760" cy="365760"/>
          </a:xfrm>
          <a:prstGeom prst="rect">
            <a:avLst/>
          </a:prstGeom>
          <a:noFill/>
          <a:ln/>
        </p:spPr>
        <p:txBody>
          <a:bodyPr wrap="square" lIns="0" tIns="0" rIns="0" bIns="0" rtlCol="0" anchor="ctr"/>
          <a:lstStyle/>
          <a:p>
            <a:pPr algn="ctr" indent="0" marL="0">
              <a:buNone/>
            </a:pPr>
            <a:r>
              <a:rPr lang="en-US" sz="1150" b="1" dirty="0">
                <a:solidFill>
                  <a:srgbClr val="111111"/>
                </a:solidFill>
                <a:latin typeface="Pretendard" pitchFamily="34" charset="0"/>
                <a:ea typeface="Pretendard" pitchFamily="34" charset="-122"/>
                <a:cs typeface="Pretendard" pitchFamily="34" charset="-120"/>
              </a:rPr>
              <a:t>1</a:t>
            </a:r>
            <a:endParaRPr lang="en-US" sz="1150" dirty="0"/>
          </a:p>
        </p:txBody>
      </p:sp>
      <p:sp>
        <p:nvSpPr>
          <p:cNvPr id="12" name="Text 10"/>
          <p:cNvSpPr/>
          <p:nvPr/>
        </p:nvSpPr>
        <p:spPr>
          <a:xfrm>
            <a:off x="1024128" y="2505456"/>
            <a:ext cx="2625242" cy="457200"/>
          </a:xfrm>
          <a:prstGeom prst="rect">
            <a:avLst/>
          </a:prstGeom>
          <a:noFill/>
          <a:ln/>
        </p:spPr>
        <p:txBody>
          <a:bodyPr wrap="square" lIns="0" tIns="0" rIns="0" bIns="0" rtlCol="0" anchor="t"/>
          <a:lstStyle/>
          <a:p>
            <a:pPr indent="0" marL="0">
              <a:lnSpc>
                <a:spcPct val="114000"/>
              </a:lnSpc>
              <a:buNone/>
            </a:pPr>
            <a:r>
              <a:rPr lang="en-US" sz="1700" dirty="0">
                <a:solidFill>
                  <a:srgbClr val="111111"/>
                </a:solidFill>
                <a:latin typeface="Pretendard Black" pitchFamily="34" charset="0"/>
                <a:ea typeface="Pretendard Black" pitchFamily="34" charset="-122"/>
                <a:cs typeface="Pretendard Black" pitchFamily="34" charset="-120"/>
              </a:rPr>
              <a:t>아이콘 · 라벨</a:t>
            </a:r>
            <a:endParaRPr lang="en-US" sz="1700" dirty="0"/>
          </a:p>
        </p:txBody>
      </p:sp>
      <p:sp>
        <p:nvSpPr>
          <p:cNvPr id="13" name="Text 11"/>
          <p:cNvSpPr/>
          <p:nvPr/>
        </p:nvSpPr>
        <p:spPr>
          <a:xfrm>
            <a:off x="1024128" y="2999232"/>
            <a:ext cx="2625242" cy="1645920"/>
          </a:xfrm>
          <a:prstGeom prst="rect">
            <a:avLst/>
          </a:prstGeom>
          <a:noFill/>
          <a:ln/>
        </p:spPr>
        <p:txBody>
          <a:bodyPr wrap="square" lIns="0" tIns="0" rIns="0" bIns="0" rtlCol="0" anchor="t"/>
          <a:lstStyle/>
          <a:p>
            <a:pPr indent="0" marL="0">
              <a:lnSpc>
                <a:spcPct val="130000"/>
              </a:lnSpc>
              <a:buNone/>
            </a:pPr>
            <a:r>
              <a:rPr lang="en-US" sz="1150" dirty="0">
                <a:solidFill>
                  <a:srgbClr val="6E6E6E"/>
                </a:solidFill>
                <a:latin typeface="Pretendard" pitchFamily="34" charset="0"/>
                <a:ea typeface="Pretendard" pitchFamily="34" charset="-122"/>
                <a:cs typeface="Pretendard" pitchFamily="34" charset="-120"/>
              </a:rPr>
              <a:t>가장 작은 단위. 아이콘은 24 프레임 안에 정렬해 컴포넌트로. 라벨은 텍스트 스타일로 등록합니다. 여기까지는 GNB 전용이 아닙니다.</a:t>
            </a:r>
            <a:endParaRPr lang="en-US" sz="1150" dirty="0"/>
          </a:p>
        </p:txBody>
      </p:sp>
      <p:sp>
        <p:nvSpPr>
          <p:cNvPr id="14" name="Shape 12"/>
          <p:cNvSpPr/>
          <p:nvPr/>
        </p:nvSpPr>
        <p:spPr>
          <a:xfrm>
            <a:off x="4399178" y="1737360"/>
            <a:ext cx="3393338" cy="3035808"/>
          </a:xfrm>
          <a:prstGeom prst="rect">
            <a:avLst/>
          </a:prstGeom>
          <a:solidFill>
            <a:srgbClr val="FFFFFF"/>
          </a:solidFill>
          <a:ln w="12700">
            <a:solidFill>
              <a:srgbClr val="DCDCDC"/>
            </a:solidFill>
            <a:prstDash val="solid"/>
          </a:ln>
        </p:spPr>
      </p:sp>
      <p:sp>
        <p:nvSpPr>
          <p:cNvPr id="15" name="Shape 13"/>
          <p:cNvSpPr/>
          <p:nvPr/>
        </p:nvSpPr>
        <p:spPr>
          <a:xfrm>
            <a:off x="4783226" y="2011680"/>
            <a:ext cx="365760" cy="365760"/>
          </a:xfrm>
          <a:prstGeom prst="ellipse">
            <a:avLst/>
          </a:prstGeom>
          <a:solidFill>
            <a:srgbClr val="FFFFFF"/>
          </a:solidFill>
          <a:ln w="12700">
            <a:solidFill>
              <a:srgbClr val="111111"/>
            </a:solidFill>
            <a:prstDash val="solid"/>
          </a:ln>
        </p:spPr>
      </p:sp>
      <p:sp>
        <p:nvSpPr>
          <p:cNvPr id="16" name="Text 14"/>
          <p:cNvSpPr/>
          <p:nvPr/>
        </p:nvSpPr>
        <p:spPr>
          <a:xfrm>
            <a:off x="4783226" y="2011680"/>
            <a:ext cx="365760" cy="365760"/>
          </a:xfrm>
          <a:prstGeom prst="rect">
            <a:avLst/>
          </a:prstGeom>
          <a:noFill/>
          <a:ln/>
        </p:spPr>
        <p:txBody>
          <a:bodyPr wrap="square" lIns="0" tIns="0" rIns="0" bIns="0" rtlCol="0" anchor="ctr"/>
          <a:lstStyle/>
          <a:p>
            <a:pPr algn="ctr" indent="0" marL="0">
              <a:buNone/>
            </a:pPr>
            <a:r>
              <a:rPr lang="en-US" sz="1150" b="1" dirty="0">
                <a:solidFill>
                  <a:srgbClr val="111111"/>
                </a:solidFill>
                <a:latin typeface="Pretendard" pitchFamily="34" charset="0"/>
                <a:ea typeface="Pretendard" pitchFamily="34" charset="-122"/>
                <a:cs typeface="Pretendard" pitchFamily="34" charset="-120"/>
              </a:rPr>
              <a:t>2</a:t>
            </a:r>
            <a:endParaRPr lang="en-US" sz="1150" dirty="0"/>
          </a:p>
        </p:txBody>
      </p:sp>
      <p:sp>
        <p:nvSpPr>
          <p:cNvPr id="17" name="Text 15"/>
          <p:cNvSpPr/>
          <p:nvPr/>
        </p:nvSpPr>
        <p:spPr>
          <a:xfrm>
            <a:off x="4783226" y="2505456"/>
            <a:ext cx="2625242" cy="457200"/>
          </a:xfrm>
          <a:prstGeom prst="rect">
            <a:avLst/>
          </a:prstGeom>
          <a:noFill/>
          <a:ln/>
        </p:spPr>
        <p:txBody>
          <a:bodyPr wrap="square" lIns="0" tIns="0" rIns="0" bIns="0" rtlCol="0" anchor="t"/>
          <a:lstStyle/>
          <a:p>
            <a:pPr indent="0" marL="0">
              <a:lnSpc>
                <a:spcPct val="114000"/>
              </a:lnSpc>
              <a:buNone/>
            </a:pPr>
            <a:r>
              <a:rPr lang="en-US" sz="1700" dirty="0">
                <a:solidFill>
                  <a:srgbClr val="111111"/>
                </a:solidFill>
                <a:latin typeface="Pretendard Black" pitchFamily="34" charset="0"/>
                <a:ea typeface="Pretendard Black" pitchFamily="34" charset="-122"/>
                <a:cs typeface="Pretendard Black" pitchFamily="34" charset="-120"/>
              </a:rPr>
              <a:t>Tab Item</a:t>
            </a:r>
            <a:endParaRPr lang="en-US" sz="1700" dirty="0"/>
          </a:p>
        </p:txBody>
      </p:sp>
      <p:sp>
        <p:nvSpPr>
          <p:cNvPr id="18" name="Text 16"/>
          <p:cNvSpPr/>
          <p:nvPr/>
        </p:nvSpPr>
        <p:spPr>
          <a:xfrm>
            <a:off x="4783226" y="2999232"/>
            <a:ext cx="2625242" cy="1645920"/>
          </a:xfrm>
          <a:prstGeom prst="rect">
            <a:avLst/>
          </a:prstGeom>
          <a:noFill/>
          <a:ln/>
        </p:spPr>
        <p:txBody>
          <a:bodyPr wrap="square" lIns="0" tIns="0" rIns="0" bIns="0" rtlCol="0" anchor="t"/>
          <a:lstStyle/>
          <a:p>
            <a:pPr indent="0" marL="0">
              <a:lnSpc>
                <a:spcPct val="130000"/>
              </a:lnSpc>
              <a:buNone/>
            </a:pPr>
            <a:r>
              <a:rPr lang="en-US" sz="1150" dirty="0">
                <a:solidFill>
                  <a:srgbClr val="6E6E6E"/>
                </a:solidFill>
                <a:latin typeface="Pretendard" pitchFamily="34" charset="0"/>
                <a:ea typeface="Pretendard" pitchFamily="34" charset="-122"/>
                <a:cs typeface="Pretendard" pitchFamily="34" charset="-120"/>
              </a:rPr>
              <a:t>아이콘 + 라벨 + 상태를 묶은 단위. 오늘 만드는 것 중 가장 중요합니다. 세로 오토레이아웃, 간격 4, 패딩 상 6 / 하 8.</a:t>
            </a:r>
            <a:endParaRPr lang="en-US" sz="1150" dirty="0"/>
          </a:p>
        </p:txBody>
      </p:sp>
      <p:sp>
        <p:nvSpPr>
          <p:cNvPr id="19" name="Shape 17"/>
          <p:cNvSpPr/>
          <p:nvPr/>
        </p:nvSpPr>
        <p:spPr>
          <a:xfrm>
            <a:off x="8158277" y="1737360"/>
            <a:ext cx="3393338" cy="3035808"/>
          </a:xfrm>
          <a:prstGeom prst="rect">
            <a:avLst/>
          </a:prstGeom>
          <a:solidFill>
            <a:srgbClr val="111111"/>
          </a:solidFill>
          <a:ln w="12700">
            <a:solidFill>
              <a:srgbClr val="111111"/>
            </a:solidFill>
            <a:prstDash val="solid"/>
          </a:ln>
        </p:spPr>
      </p:sp>
      <p:sp>
        <p:nvSpPr>
          <p:cNvPr id="20" name="Shape 18"/>
          <p:cNvSpPr/>
          <p:nvPr/>
        </p:nvSpPr>
        <p:spPr>
          <a:xfrm>
            <a:off x="8542325" y="2011680"/>
            <a:ext cx="365760" cy="365760"/>
          </a:xfrm>
          <a:prstGeom prst="ellipse">
            <a:avLst/>
          </a:prstGeom>
          <a:solidFill>
            <a:srgbClr val="111111"/>
          </a:solidFill>
          <a:ln w="12700">
            <a:solidFill>
              <a:srgbClr val="FFFFFF"/>
            </a:solidFill>
            <a:prstDash val="solid"/>
          </a:ln>
        </p:spPr>
      </p:sp>
      <p:sp>
        <p:nvSpPr>
          <p:cNvPr id="21" name="Text 19"/>
          <p:cNvSpPr/>
          <p:nvPr/>
        </p:nvSpPr>
        <p:spPr>
          <a:xfrm>
            <a:off x="8542325" y="2011680"/>
            <a:ext cx="365760" cy="365760"/>
          </a:xfrm>
          <a:prstGeom prst="rect">
            <a:avLst/>
          </a:prstGeom>
          <a:noFill/>
          <a:ln/>
        </p:spPr>
        <p:txBody>
          <a:bodyPr wrap="square" lIns="0" tIns="0" rIns="0" bIns="0" rtlCol="0" anchor="ctr"/>
          <a:lstStyle/>
          <a:p>
            <a:pPr algn="ctr" indent="0" marL="0">
              <a:buNone/>
            </a:pPr>
            <a:r>
              <a:rPr lang="en-US" sz="1150" b="1" dirty="0">
                <a:solidFill>
                  <a:srgbClr val="FFFFFF"/>
                </a:solidFill>
                <a:latin typeface="Pretendard" pitchFamily="34" charset="0"/>
                <a:ea typeface="Pretendard" pitchFamily="34" charset="-122"/>
                <a:cs typeface="Pretendard" pitchFamily="34" charset="-120"/>
              </a:rPr>
              <a:t>3</a:t>
            </a:r>
            <a:endParaRPr lang="en-US" sz="1150" dirty="0"/>
          </a:p>
        </p:txBody>
      </p:sp>
      <p:sp>
        <p:nvSpPr>
          <p:cNvPr id="22" name="Text 20"/>
          <p:cNvSpPr/>
          <p:nvPr/>
        </p:nvSpPr>
        <p:spPr>
          <a:xfrm>
            <a:off x="8542325" y="2505456"/>
            <a:ext cx="2625242" cy="457200"/>
          </a:xfrm>
          <a:prstGeom prst="rect">
            <a:avLst/>
          </a:prstGeom>
          <a:noFill/>
          <a:ln/>
        </p:spPr>
        <p:txBody>
          <a:bodyPr wrap="square" lIns="0" tIns="0" rIns="0" bIns="0" rtlCol="0" anchor="t"/>
          <a:lstStyle/>
          <a:p>
            <a:pPr indent="0" marL="0">
              <a:lnSpc>
                <a:spcPct val="114000"/>
              </a:lnSpc>
              <a:buNone/>
            </a:pPr>
            <a:r>
              <a:rPr lang="en-US" sz="1700" dirty="0">
                <a:solidFill>
                  <a:srgbClr val="FFFFFF"/>
                </a:solidFill>
                <a:latin typeface="Pretendard Black" pitchFamily="34" charset="0"/>
                <a:ea typeface="Pretendard Black" pitchFamily="34" charset="-122"/>
                <a:cs typeface="Pretendard Black" pitchFamily="34" charset="-120"/>
              </a:rPr>
              <a:t>GNB</a:t>
            </a:r>
            <a:endParaRPr lang="en-US" sz="1700" dirty="0"/>
          </a:p>
        </p:txBody>
      </p:sp>
      <p:sp>
        <p:nvSpPr>
          <p:cNvPr id="23" name="Text 21"/>
          <p:cNvSpPr/>
          <p:nvPr/>
        </p:nvSpPr>
        <p:spPr>
          <a:xfrm>
            <a:off x="8542325" y="2999232"/>
            <a:ext cx="2625242" cy="1645920"/>
          </a:xfrm>
          <a:prstGeom prst="rect">
            <a:avLst/>
          </a:prstGeom>
          <a:noFill/>
          <a:ln/>
        </p:spPr>
        <p:txBody>
          <a:bodyPr wrap="square" lIns="0" tIns="0" rIns="0" bIns="0" rtlCol="0" anchor="t"/>
          <a:lstStyle/>
          <a:p>
            <a:pPr indent="0" marL="0">
              <a:lnSpc>
                <a:spcPct val="130000"/>
              </a:lnSpc>
              <a:buNone/>
            </a:pPr>
            <a:r>
              <a:rPr lang="en-US" sz="1150" dirty="0">
                <a:solidFill>
                  <a:srgbClr val="B8B8B8"/>
                </a:solidFill>
                <a:latin typeface="Pretendard" pitchFamily="34" charset="0"/>
                <a:ea typeface="Pretendard" pitchFamily="34" charset="-122"/>
                <a:cs typeface="Pretendard" pitchFamily="34" charset="-120"/>
              </a:rPr>
              <a:t>Tab Item 인스턴스 3~5개 + 배경 + 상단 구분선 + 안전 영역 스페이서. 가로 오토레이아웃이고 각 아이템은 Fill container.</a:t>
            </a:r>
            <a:endParaRPr lang="en-US" sz="1150" dirty="0"/>
          </a:p>
        </p:txBody>
      </p:sp>
      <p:sp>
        <p:nvSpPr>
          <p:cNvPr id="24" name="Shape 22"/>
          <p:cNvSpPr/>
          <p:nvPr/>
        </p:nvSpPr>
        <p:spPr>
          <a:xfrm>
            <a:off x="640080" y="5084064"/>
            <a:ext cx="10911535" cy="7315"/>
          </a:xfrm>
          <a:prstGeom prst="rect">
            <a:avLst/>
          </a:prstGeom>
          <a:solidFill>
            <a:srgbClr val="111111"/>
          </a:solidFill>
          <a:ln w="12700">
            <a:solidFill>
              <a:srgbClr val="111111"/>
            </a:solidFill>
            <a:prstDash val="solid"/>
          </a:ln>
        </p:spPr>
      </p:sp>
      <p:sp>
        <p:nvSpPr>
          <p:cNvPr id="25" name="Text 23"/>
          <p:cNvSpPr/>
          <p:nvPr/>
        </p:nvSpPr>
        <p:spPr>
          <a:xfrm>
            <a:off x="640080" y="5193792"/>
            <a:ext cx="10911535" cy="438912"/>
          </a:xfrm>
          <a:prstGeom prst="rect">
            <a:avLst/>
          </a:prstGeom>
          <a:noFill/>
          <a:ln/>
        </p:spPr>
        <p:txBody>
          <a:bodyPr wrap="square" lIns="0" tIns="0" rIns="0" bIns="0" rtlCol="0" anchor="t"/>
          <a:lstStyle/>
          <a:p>
            <a:pPr indent="0" marL="0">
              <a:lnSpc>
                <a:spcPct val="120000"/>
              </a:lnSpc>
              <a:buNone/>
            </a:pPr>
            <a:r>
              <a:rPr lang="en-US" sz="1300" b="1" dirty="0">
                <a:solidFill>
                  <a:srgbClr val="111111"/>
                </a:solidFill>
                <a:latin typeface="Pretendard" pitchFamily="34" charset="0"/>
                <a:ea typeface="Pretendard" pitchFamily="34" charset="-122"/>
                <a:cs typeface="Pretendard" pitchFamily="34" charset="-120"/>
              </a:rPr>
              <a:t>→ 화면에 붙이는 것은 3번뿐입니다. 2번을 화면에 직접 놓으면 GNB가 화면마다 조금씩 달라집니다.</a:t>
            </a:r>
            <a:endParaRPr lang="en-US" sz="1300" dirty="0"/>
          </a:p>
        </p:txBody>
      </p:sp>
      <p:sp>
        <p:nvSpPr>
          <p:cNvPr id="26" name="Shape 24"/>
          <p:cNvSpPr/>
          <p:nvPr/>
        </p:nvSpPr>
        <p:spPr>
          <a:xfrm>
            <a:off x="640080" y="6291072"/>
            <a:ext cx="10911535" cy="7315"/>
          </a:xfrm>
          <a:prstGeom prst="rect">
            <a:avLst/>
          </a:prstGeom>
          <a:solidFill>
            <a:srgbClr val="DCDCDC"/>
          </a:solidFill>
          <a:ln w="12700">
            <a:solidFill>
              <a:srgbClr val="DCDCDC"/>
            </a:solidFill>
            <a:prstDash val="solid"/>
          </a:ln>
        </p:spPr>
      </p:sp>
      <p:sp>
        <p:nvSpPr>
          <p:cNvPr id="27" name="Text 25"/>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서비스디자인 · 2주차 하단 GNB · 수치로 짓는 컴포넌트</a:t>
            </a:r>
            <a:endParaRPr lang="en-US" sz="850" dirty="0"/>
          </a:p>
        </p:txBody>
      </p:sp>
      <p:sp>
        <p:nvSpPr>
          <p:cNvPr id="28" name="Text 26"/>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P.08</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서비스디자인</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1 기준</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02</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FIGMA</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Black" pitchFamily="34" charset="0"/>
                <a:ea typeface="Pretendard Black" pitchFamily="34" charset="-122"/>
                <a:cs typeface="Pretendard Black" pitchFamily="34" charset="-120"/>
              </a:rPr>
              <a:t>세 가지 장치</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이 셋을 쓰면 값을 다시 입력할 일이 없어집니다.</a:t>
            </a:r>
            <a:endParaRPr lang="en-US" sz="1150" dirty="0"/>
          </a:p>
        </p:txBody>
      </p:sp>
      <p:sp>
        <p:nvSpPr>
          <p:cNvPr id="9" name="Shape 7"/>
          <p:cNvSpPr/>
          <p:nvPr/>
        </p:nvSpPr>
        <p:spPr>
          <a:xfrm>
            <a:off x="640080" y="1700784"/>
            <a:ext cx="3417722" cy="3529584"/>
          </a:xfrm>
          <a:prstGeom prst="rect">
            <a:avLst/>
          </a:prstGeom>
          <a:solidFill>
            <a:srgbClr val="FFFFFF"/>
          </a:solidFill>
          <a:ln w="12700">
            <a:solidFill>
              <a:srgbClr val="DCDCDC"/>
            </a:solidFill>
            <a:prstDash val="solid"/>
          </a:ln>
        </p:spPr>
      </p:sp>
      <p:sp>
        <p:nvSpPr>
          <p:cNvPr id="10" name="Text 8"/>
          <p:cNvSpPr/>
          <p:nvPr/>
        </p:nvSpPr>
        <p:spPr>
          <a:xfrm>
            <a:off x="987552" y="1956816"/>
            <a:ext cx="2722778" cy="420624"/>
          </a:xfrm>
          <a:prstGeom prst="rect">
            <a:avLst/>
          </a:prstGeom>
          <a:noFill/>
          <a:ln/>
        </p:spPr>
        <p:txBody>
          <a:bodyPr wrap="square" lIns="0" tIns="0" rIns="0" bIns="0" rtlCol="0" anchor="ctr"/>
          <a:lstStyle/>
          <a:p>
            <a:pPr indent="0" marL="0">
              <a:buNone/>
            </a:pPr>
            <a:r>
              <a:rPr lang="en-US" sz="1700" dirty="0">
                <a:solidFill>
                  <a:srgbClr val="111111"/>
                </a:solidFill>
                <a:latin typeface="Pretendard Black" pitchFamily="34" charset="0"/>
                <a:ea typeface="Pretendard Black" pitchFamily="34" charset="-122"/>
                <a:cs typeface="Pretendard Black" pitchFamily="34" charset="-120"/>
              </a:rPr>
              <a:t>오토레이아웃</a:t>
            </a:r>
            <a:endParaRPr lang="en-US" sz="1700" dirty="0"/>
          </a:p>
        </p:txBody>
      </p:sp>
      <p:sp>
        <p:nvSpPr>
          <p:cNvPr id="11" name="Text 9"/>
          <p:cNvSpPr/>
          <p:nvPr/>
        </p:nvSpPr>
        <p:spPr>
          <a:xfrm>
            <a:off x="987552" y="2395728"/>
            <a:ext cx="2722778" cy="310896"/>
          </a:xfrm>
          <a:prstGeom prst="rect">
            <a:avLst/>
          </a:prstGeom>
          <a:noFill/>
          <a:ln/>
        </p:spPr>
        <p:txBody>
          <a:bodyPr wrap="square" lIns="0" tIns="0" rIns="0" bIns="0" rtlCol="0" anchor="t"/>
          <a:lstStyle/>
          <a:p>
            <a:pPr indent="0" marL="0">
              <a:lnSpc>
                <a:spcPct val="115000"/>
              </a:lnSpc>
              <a:buNone/>
            </a:pPr>
            <a:r>
              <a:rPr lang="en-US" sz="1000" b="1" spc="140" kern="0" dirty="0">
                <a:solidFill>
                  <a:srgbClr val="6E6E6E"/>
                </a:solidFill>
                <a:latin typeface="Pretendard" pitchFamily="34" charset="0"/>
                <a:ea typeface="Pretendard" pitchFamily="34" charset="-122"/>
                <a:cs typeface="Pretendard" pitchFamily="34" charset="-120"/>
              </a:rPr>
              <a:t>간격을 규칙으로</a:t>
            </a:r>
            <a:endParaRPr lang="en-US" sz="1000" dirty="0"/>
          </a:p>
        </p:txBody>
      </p:sp>
      <p:sp>
        <p:nvSpPr>
          <p:cNvPr id="12" name="Shape 10"/>
          <p:cNvSpPr/>
          <p:nvPr/>
        </p:nvSpPr>
        <p:spPr>
          <a:xfrm>
            <a:off x="987552" y="2798064"/>
            <a:ext cx="2722778" cy="7315"/>
          </a:xfrm>
          <a:prstGeom prst="rect">
            <a:avLst/>
          </a:prstGeom>
          <a:solidFill>
            <a:srgbClr val="111111"/>
          </a:solidFill>
          <a:ln w="12700">
            <a:solidFill>
              <a:srgbClr val="111111"/>
            </a:solidFill>
            <a:prstDash val="solid"/>
          </a:ln>
        </p:spPr>
      </p:sp>
      <p:sp>
        <p:nvSpPr>
          <p:cNvPr id="13" name="Text 11"/>
          <p:cNvSpPr/>
          <p:nvPr/>
        </p:nvSpPr>
        <p:spPr>
          <a:xfrm>
            <a:off x="987552" y="2944368"/>
            <a:ext cx="2722778" cy="1975104"/>
          </a:xfrm>
          <a:prstGeom prst="rect">
            <a:avLst/>
          </a:prstGeom>
          <a:noFill/>
          <a:ln/>
        </p:spPr>
        <p:txBody>
          <a:bodyPr wrap="square" lIns="0" tIns="0" rIns="0" bIns="0" rtlCol="0" anchor="t"/>
          <a:lstStyle/>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Tab Item — 세로, 간격 4, 패딩 6/8</a:t>
            </a:r>
            <a:endParaRPr lang="en-US" sz="1150" dirty="0"/>
          </a:p>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GNB — 가로, 각 아이템 Fill container</a:t>
            </a:r>
            <a:endParaRPr lang="en-US" sz="1150" dirty="0"/>
          </a:p>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탭을 늘리거나 화면 폭이 바뀌어도 자동 재분배</a:t>
            </a:r>
            <a:endParaRPr lang="en-US" sz="1150" dirty="0"/>
          </a:p>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97.5 같은 소수점을 손으로 계산하지 않습니다</a:t>
            </a:r>
            <a:endParaRPr lang="en-US" sz="1150" dirty="0"/>
          </a:p>
        </p:txBody>
      </p:sp>
      <p:sp>
        <p:nvSpPr>
          <p:cNvPr id="14" name="Shape 12"/>
          <p:cNvSpPr/>
          <p:nvPr/>
        </p:nvSpPr>
        <p:spPr>
          <a:xfrm>
            <a:off x="4386986" y="1700784"/>
            <a:ext cx="3417722" cy="3529584"/>
          </a:xfrm>
          <a:prstGeom prst="rect">
            <a:avLst/>
          </a:prstGeom>
          <a:solidFill>
            <a:srgbClr val="FFFFFF"/>
          </a:solidFill>
          <a:ln w="12700">
            <a:solidFill>
              <a:srgbClr val="DCDCDC"/>
            </a:solidFill>
            <a:prstDash val="solid"/>
          </a:ln>
        </p:spPr>
      </p:sp>
      <p:sp>
        <p:nvSpPr>
          <p:cNvPr id="15" name="Text 13"/>
          <p:cNvSpPr/>
          <p:nvPr/>
        </p:nvSpPr>
        <p:spPr>
          <a:xfrm>
            <a:off x="4734458" y="1956816"/>
            <a:ext cx="2722778" cy="420624"/>
          </a:xfrm>
          <a:prstGeom prst="rect">
            <a:avLst/>
          </a:prstGeom>
          <a:noFill/>
          <a:ln/>
        </p:spPr>
        <p:txBody>
          <a:bodyPr wrap="square" lIns="0" tIns="0" rIns="0" bIns="0" rtlCol="0" anchor="ctr"/>
          <a:lstStyle/>
          <a:p>
            <a:pPr indent="0" marL="0">
              <a:buNone/>
            </a:pPr>
            <a:r>
              <a:rPr lang="en-US" sz="1700" dirty="0">
                <a:solidFill>
                  <a:srgbClr val="111111"/>
                </a:solidFill>
                <a:latin typeface="Pretendard Black" pitchFamily="34" charset="0"/>
                <a:ea typeface="Pretendard Black" pitchFamily="34" charset="-122"/>
                <a:cs typeface="Pretendard Black" pitchFamily="34" charset="-120"/>
              </a:rPr>
              <a:t>배리언트</a:t>
            </a:r>
            <a:endParaRPr lang="en-US" sz="1700" dirty="0"/>
          </a:p>
        </p:txBody>
      </p:sp>
      <p:sp>
        <p:nvSpPr>
          <p:cNvPr id="16" name="Text 14"/>
          <p:cNvSpPr/>
          <p:nvPr/>
        </p:nvSpPr>
        <p:spPr>
          <a:xfrm>
            <a:off x="4734458" y="2395728"/>
            <a:ext cx="2722778" cy="310896"/>
          </a:xfrm>
          <a:prstGeom prst="rect">
            <a:avLst/>
          </a:prstGeom>
          <a:noFill/>
          <a:ln/>
        </p:spPr>
        <p:txBody>
          <a:bodyPr wrap="square" lIns="0" tIns="0" rIns="0" bIns="0" rtlCol="0" anchor="t"/>
          <a:lstStyle/>
          <a:p>
            <a:pPr indent="0" marL="0">
              <a:lnSpc>
                <a:spcPct val="115000"/>
              </a:lnSpc>
              <a:buNone/>
            </a:pPr>
            <a:r>
              <a:rPr lang="en-US" sz="1000" b="1" spc="140" kern="0" dirty="0">
                <a:solidFill>
                  <a:srgbClr val="6E6E6E"/>
                </a:solidFill>
                <a:latin typeface="Pretendard" pitchFamily="34" charset="0"/>
                <a:ea typeface="Pretendard" pitchFamily="34" charset="-122"/>
                <a:cs typeface="Pretendard" pitchFamily="34" charset="-120"/>
              </a:rPr>
              <a:t>상태를 하나로 묶어</a:t>
            </a:r>
            <a:endParaRPr lang="en-US" sz="1000" dirty="0"/>
          </a:p>
        </p:txBody>
      </p:sp>
      <p:sp>
        <p:nvSpPr>
          <p:cNvPr id="17" name="Shape 15"/>
          <p:cNvSpPr/>
          <p:nvPr/>
        </p:nvSpPr>
        <p:spPr>
          <a:xfrm>
            <a:off x="4734458" y="2798064"/>
            <a:ext cx="2722778" cy="7315"/>
          </a:xfrm>
          <a:prstGeom prst="rect">
            <a:avLst/>
          </a:prstGeom>
          <a:solidFill>
            <a:srgbClr val="111111"/>
          </a:solidFill>
          <a:ln w="12700">
            <a:solidFill>
              <a:srgbClr val="111111"/>
            </a:solidFill>
            <a:prstDash val="solid"/>
          </a:ln>
        </p:spPr>
      </p:sp>
      <p:sp>
        <p:nvSpPr>
          <p:cNvPr id="18" name="Text 16"/>
          <p:cNvSpPr/>
          <p:nvPr/>
        </p:nvSpPr>
        <p:spPr>
          <a:xfrm>
            <a:off x="4734458" y="2944368"/>
            <a:ext cx="2722778" cy="1975104"/>
          </a:xfrm>
          <a:prstGeom prst="rect">
            <a:avLst/>
          </a:prstGeom>
          <a:noFill/>
          <a:ln/>
        </p:spPr>
        <p:txBody>
          <a:bodyPr wrap="square" lIns="0" tIns="0" rIns="0" bIns="0" rtlCol="0" anchor="t"/>
          <a:lstStyle/>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Tab Item에 State = Default / Active 두 배리언트</a:t>
            </a:r>
            <a:endParaRPr lang="en-US" sz="1150" dirty="0"/>
          </a:p>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인스턴스에서 드롭다운으로 전환</a:t>
            </a:r>
            <a:endParaRPr lang="en-US" sz="1150" dirty="0"/>
          </a:p>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화면마다 어느 탭이 활성인지만 바꾸면 됩니다</a:t>
            </a:r>
            <a:endParaRPr lang="en-US" sz="1150" dirty="0"/>
          </a:p>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배지가 필요하면 Badge = None / Dot / Number 추가</a:t>
            </a:r>
            <a:endParaRPr lang="en-US" sz="1150" dirty="0"/>
          </a:p>
        </p:txBody>
      </p:sp>
      <p:sp>
        <p:nvSpPr>
          <p:cNvPr id="19" name="Shape 17"/>
          <p:cNvSpPr/>
          <p:nvPr/>
        </p:nvSpPr>
        <p:spPr>
          <a:xfrm>
            <a:off x="8133893" y="1700784"/>
            <a:ext cx="3417722" cy="3529584"/>
          </a:xfrm>
          <a:prstGeom prst="rect">
            <a:avLst/>
          </a:prstGeom>
          <a:solidFill>
            <a:srgbClr val="FFFFFF"/>
          </a:solidFill>
          <a:ln w="12700">
            <a:solidFill>
              <a:srgbClr val="DCDCDC"/>
            </a:solidFill>
            <a:prstDash val="solid"/>
          </a:ln>
        </p:spPr>
      </p:sp>
      <p:sp>
        <p:nvSpPr>
          <p:cNvPr id="20" name="Text 18"/>
          <p:cNvSpPr/>
          <p:nvPr/>
        </p:nvSpPr>
        <p:spPr>
          <a:xfrm>
            <a:off x="8481365" y="1956816"/>
            <a:ext cx="2722778" cy="420624"/>
          </a:xfrm>
          <a:prstGeom prst="rect">
            <a:avLst/>
          </a:prstGeom>
          <a:noFill/>
          <a:ln/>
        </p:spPr>
        <p:txBody>
          <a:bodyPr wrap="square" lIns="0" tIns="0" rIns="0" bIns="0" rtlCol="0" anchor="ctr"/>
          <a:lstStyle/>
          <a:p>
            <a:pPr indent="0" marL="0">
              <a:buNone/>
            </a:pPr>
            <a:r>
              <a:rPr lang="en-US" sz="1700" dirty="0">
                <a:solidFill>
                  <a:srgbClr val="111111"/>
                </a:solidFill>
                <a:latin typeface="Pretendard Black" pitchFamily="34" charset="0"/>
                <a:ea typeface="Pretendard Black" pitchFamily="34" charset="-122"/>
                <a:cs typeface="Pretendard Black" pitchFamily="34" charset="-120"/>
              </a:rPr>
              <a:t>컴포넌트 프로퍼티</a:t>
            </a:r>
            <a:endParaRPr lang="en-US" sz="1700" dirty="0"/>
          </a:p>
        </p:txBody>
      </p:sp>
      <p:sp>
        <p:nvSpPr>
          <p:cNvPr id="21" name="Text 19"/>
          <p:cNvSpPr/>
          <p:nvPr/>
        </p:nvSpPr>
        <p:spPr>
          <a:xfrm>
            <a:off x="8481365" y="2395728"/>
            <a:ext cx="2722778" cy="310896"/>
          </a:xfrm>
          <a:prstGeom prst="rect">
            <a:avLst/>
          </a:prstGeom>
          <a:noFill/>
          <a:ln/>
        </p:spPr>
        <p:txBody>
          <a:bodyPr wrap="square" lIns="0" tIns="0" rIns="0" bIns="0" rtlCol="0" anchor="t"/>
          <a:lstStyle/>
          <a:p>
            <a:pPr indent="0" marL="0">
              <a:lnSpc>
                <a:spcPct val="115000"/>
              </a:lnSpc>
              <a:buNone/>
            </a:pPr>
            <a:r>
              <a:rPr lang="en-US" sz="1000" b="1" spc="140" kern="0" dirty="0">
                <a:solidFill>
                  <a:srgbClr val="6E6E6E"/>
                </a:solidFill>
                <a:latin typeface="Pretendard" pitchFamily="34" charset="0"/>
                <a:ea typeface="Pretendard" pitchFamily="34" charset="-122"/>
                <a:cs typeface="Pretendard" pitchFamily="34" charset="-120"/>
              </a:rPr>
              <a:t>내용을 바깥에서</a:t>
            </a:r>
            <a:endParaRPr lang="en-US" sz="1000" dirty="0"/>
          </a:p>
        </p:txBody>
      </p:sp>
      <p:sp>
        <p:nvSpPr>
          <p:cNvPr id="22" name="Shape 20"/>
          <p:cNvSpPr/>
          <p:nvPr/>
        </p:nvSpPr>
        <p:spPr>
          <a:xfrm>
            <a:off x="8481365" y="2798064"/>
            <a:ext cx="2722778" cy="7315"/>
          </a:xfrm>
          <a:prstGeom prst="rect">
            <a:avLst/>
          </a:prstGeom>
          <a:solidFill>
            <a:srgbClr val="111111"/>
          </a:solidFill>
          <a:ln w="12700">
            <a:solidFill>
              <a:srgbClr val="111111"/>
            </a:solidFill>
            <a:prstDash val="solid"/>
          </a:ln>
        </p:spPr>
      </p:sp>
      <p:sp>
        <p:nvSpPr>
          <p:cNvPr id="23" name="Text 21"/>
          <p:cNvSpPr/>
          <p:nvPr/>
        </p:nvSpPr>
        <p:spPr>
          <a:xfrm>
            <a:off x="8481365" y="2944368"/>
            <a:ext cx="2722778" cy="1975104"/>
          </a:xfrm>
          <a:prstGeom prst="rect">
            <a:avLst/>
          </a:prstGeom>
          <a:noFill/>
          <a:ln/>
        </p:spPr>
        <p:txBody>
          <a:bodyPr wrap="square" lIns="0" tIns="0" rIns="0" bIns="0" rtlCol="0" anchor="t"/>
          <a:lstStyle/>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라벨 — Text property</a:t>
            </a:r>
            <a:endParaRPr lang="en-US" sz="1150" dirty="0"/>
          </a:p>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아이콘 — Instance swap property</a:t>
            </a:r>
            <a:endParaRPr lang="en-US" sz="1150" dirty="0"/>
          </a:p>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배지 표시 — Boolean property</a:t>
            </a:r>
            <a:endParaRPr lang="en-US" sz="1150" dirty="0"/>
          </a:p>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Tab Item 컴포넌트 하나로 모든 탭을 만듭니다</a:t>
            </a:r>
            <a:endParaRPr lang="en-US" sz="1150" dirty="0"/>
          </a:p>
        </p:txBody>
      </p:sp>
      <p:sp>
        <p:nvSpPr>
          <p:cNvPr id="24" name="Shape 22"/>
          <p:cNvSpPr/>
          <p:nvPr/>
        </p:nvSpPr>
        <p:spPr>
          <a:xfrm>
            <a:off x="640080" y="5504688"/>
            <a:ext cx="10911535" cy="7315"/>
          </a:xfrm>
          <a:prstGeom prst="rect">
            <a:avLst/>
          </a:prstGeom>
          <a:solidFill>
            <a:srgbClr val="111111"/>
          </a:solidFill>
          <a:ln w="12700">
            <a:solidFill>
              <a:srgbClr val="111111"/>
            </a:solidFill>
            <a:prstDash val="solid"/>
          </a:ln>
        </p:spPr>
      </p:sp>
      <p:sp>
        <p:nvSpPr>
          <p:cNvPr id="25" name="Text 23"/>
          <p:cNvSpPr/>
          <p:nvPr/>
        </p:nvSpPr>
        <p:spPr>
          <a:xfrm>
            <a:off x="640080" y="5614416"/>
            <a:ext cx="10911535" cy="420624"/>
          </a:xfrm>
          <a:prstGeom prst="rect">
            <a:avLst/>
          </a:prstGeom>
          <a:noFill/>
          <a:ln/>
        </p:spPr>
        <p:txBody>
          <a:bodyPr wrap="square" lIns="0" tIns="0" rIns="0" bIns="0" rtlCol="0" anchor="t"/>
          <a:lstStyle/>
          <a:p>
            <a:pPr indent="0" marL="0">
              <a:lnSpc>
                <a:spcPct val="120000"/>
              </a:lnSpc>
              <a:buNone/>
            </a:pPr>
            <a:r>
              <a:rPr lang="en-US" sz="1250" b="1" dirty="0">
                <a:solidFill>
                  <a:srgbClr val="111111"/>
                </a:solidFill>
                <a:latin typeface="Pretendard" pitchFamily="34" charset="0"/>
                <a:ea typeface="Pretendard" pitchFamily="34" charset="-122"/>
                <a:cs typeface="Pretendard" pitchFamily="34" charset="-120"/>
              </a:rPr>
              <a:t>세 장치를 다 쓰면 마스터 컴포넌트는 단 하나입니다. 탭이 네 개여도 컴포넌트는 하나, 인스턴스가 네 개입니다.</a:t>
            </a:r>
            <a:endParaRPr lang="en-US" sz="1250" dirty="0"/>
          </a:p>
        </p:txBody>
      </p:sp>
      <p:sp>
        <p:nvSpPr>
          <p:cNvPr id="26" name="Shape 24"/>
          <p:cNvSpPr/>
          <p:nvPr/>
        </p:nvSpPr>
        <p:spPr>
          <a:xfrm>
            <a:off x="640080" y="6291072"/>
            <a:ext cx="10911535" cy="7315"/>
          </a:xfrm>
          <a:prstGeom prst="rect">
            <a:avLst/>
          </a:prstGeom>
          <a:solidFill>
            <a:srgbClr val="DCDCDC"/>
          </a:solidFill>
          <a:ln w="12700">
            <a:solidFill>
              <a:srgbClr val="DCDCDC"/>
            </a:solidFill>
            <a:prstDash val="solid"/>
          </a:ln>
        </p:spPr>
      </p:sp>
      <p:sp>
        <p:nvSpPr>
          <p:cNvPr id="27" name="Text 25"/>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서비스디자인 · 2주차 하단 GNB · 수치로 짓는 컴포넌트</a:t>
            </a:r>
            <a:endParaRPr lang="en-US" sz="850" dirty="0"/>
          </a:p>
        </p:txBody>
      </p:sp>
      <p:sp>
        <p:nvSpPr>
          <p:cNvPr id="28" name="Text 26"/>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P.09</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서비스디자인</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1 기준</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02</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WORKSHOP</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Black" pitchFamily="34" charset="0"/>
                <a:ea typeface="Pretendard Black" pitchFamily="34" charset="-122"/>
                <a:cs typeface="Pretendard Black" pitchFamily="34" charset="-120"/>
              </a:rPr>
              <a:t>실습 2 · 컴포넌트 제작과 적용</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40분 · 개인 — 만드는 것보다 화면에 적용하는 것이 오늘의 목표입니다.</a:t>
            </a:r>
            <a:endParaRPr lang="en-US" sz="1150" dirty="0"/>
          </a:p>
        </p:txBody>
      </p:sp>
      <p:sp>
        <p:nvSpPr>
          <p:cNvPr id="9" name="Shape 7"/>
          <p:cNvSpPr/>
          <p:nvPr/>
        </p:nvSpPr>
        <p:spPr>
          <a:xfrm>
            <a:off x="640080" y="1719072"/>
            <a:ext cx="10911535" cy="822960"/>
          </a:xfrm>
          <a:prstGeom prst="rect">
            <a:avLst/>
          </a:prstGeom>
          <a:solidFill>
            <a:srgbClr val="FFFFFF"/>
          </a:solidFill>
          <a:ln w="12700">
            <a:solidFill>
              <a:srgbClr val="DCDCDC"/>
            </a:solidFill>
            <a:prstDash val="solid"/>
          </a:ln>
        </p:spPr>
      </p:sp>
      <p:sp>
        <p:nvSpPr>
          <p:cNvPr id="10" name="Text 8"/>
          <p:cNvSpPr/>
          <p:nvPr/>
        </p:nvSpPr>
        <p:spPr>
          <a:xfrm>
            <a:off x="1005840" y="1810512"/>
            <a:ext cx="1188720" cy="640080"/>
          </a:xfrm>
          <a:prstGeom prst="rect">
            <a:avLst/>
          </a:prstGeom>
          <a:noFill/>
          <a:ln/>
        </p:spPr>
        <p:txBody>
          <a:bodyPr wrap="square" lIns="0" tIns="0" rIns="0" bIns="0" rtlCol="0" anchor="ctr"/>
          <a:lstStyle/>
          <a:p>
            <a:pPr indent="0" marL="0">
              <a:buNone/>
            </a:pPr>
            <a:r>
              <a:rPr lang="en-US" sz="2200" dirty="0">
                <a:solidFill>
                  <a:srgbClr val="111111"/>
                </a:solidFill>
                <a:latin typeface="Pretendard Light" pitchFamily="34" charset="0"/>
                <a:ea typeface="Pretendard Light" pitchFamily="34" charset="-122"/>
                <a:cs typeface="Pretendard Light" pitchFamily="34" charset="-120"/>
              </a:rPr>
              <a:t>10분</a:t>
            </a:r>
            <a:endParaRPr lang="en-US" sz="2200" dirty="0"/>
          </a:p>
        </p:txBody>
      </p:sp>
      <p:sp>
        <p:nvSpPr>
          <p:cNvPr id="11" name="Text 9"/>
          <p:cNvSpPr/>
          <p:nvPr/>
        </p:nvSpPr>
        <p:spPr>
          <a:xfrm>
            <a:off x="2286000" y="1810512"/>
            <a:ext cx="3291840" cy="640080"/>
          </a:xfrm>
          <a:prstGeom prst="rect">
            <a:avLst/>
          </a:prstGeom>
          <a:noFill/>
          <a:ln/>
        </p:spPr>
        <p:txBody>
          <a:bodyPr wrap="square" lIns="0" tIns="0" rIns="0" bIns="0" rtlCol="0" anchor="ctr"/>
          <a:lstStyle/>
          <a:p>
            <a:pPr indent="0" marL="0">
              <a:buNone/>
            </a:pPr>
            <a:r>
              <a:rPr lang="en-US" sz="1450" dirty="0">
                <a:solidFill>
                  <a:srgbClr val="111111"/>
                </a:solidFill>
                <a:latin typeface="Pretendard Black" pitchFamily="34" charset="0"/>
                <a:ea typeface="Pretendard Black" pitchFamily="34" charset="-122"/>
                <a:cs typeface="Pretendard Black" pitchFamily="34" charset="-120"/>
              </a:rPr>
              <a:t>Tab Item 만들기</a:t>
            </a:r>
            <a:endParaRPr lang="en-US" sz="1450" dirty="0"/>
          </a:p>
        </p:txBody>
      </p:sp>
      <p:sp>
        <p:nvSpPr>
          <p:cNvPr id="12" name="Text 10"/>
          <p:cNvSpPr/>
          <p:nvPr/>
        </p:nvSpPr>
        <p:spPr>
          <a:xfrm>
            <a:off x="5669280" y="1810512"/>
            <a:ext cx="5516575" cy="640080"/>
          </a:xfrm>
          <a:prstGeom prst="rect">
            <a:avLst/>
          </a:prstGeom>
          <a:noFill/>
          <a:ln/>
        </p:spPr>
        <p:txBody>
          <a:bodyPr wrap="square" lIns="0" tIns="0" rIns="0" bIns="0" rtlCol="0" anchor="ctr"/>
          <a:lstStyle/>
          <a:p>
            <a:pPr indent="0" marL="0">
              <a:lnSpc>
                <a:spcPct val="124000"/>
              </a:lnSpc>
              <a:buNone/>
            </a:pPr>
            <a:r>
              <a:rPr lang="en-US" sz="1150" dirty="0">
                <a:solidFill>
                  <a:srgbClr val="6E6E6E"/>
                </a:solidFill>
                <a:latin typeface="Pretendard" pitchFamily="34" charset="0"/>
                <a:ea typeface="Pretendard" pitchFamily="34" charset="-122"/>
                <a:cs typeface="Pretendard" pitchFamily="34" charset="-120"/>
              </a:rPr>
              <a:t>아이콘 24 + 간격 4 + 라벨 11pt를 세로 오토레이아웃으로. 패딩 상 6 / 하 8. 컴포넌트로 만듭니다.</a:t>
            </a:r>
            <a:endParaRPr lang="en-US" sz="1150" dirty="0"/>
          </a:p>
        </p:txBody>
      </p:sp>
      <p:sp>
        <p:nvSpPr>
          <p:cNvPr id="13" name="Shape 11"/>
          <p:cNvSpPr/>
          <p:nvPr/>
        </p:nvSpPr>
        <p:spPr>
          <a:xfrm>
            <a:off x="640080" y="2688336"/>
            <a:ext cx="10911535" cy="822960"/>
          </a:xfrm>
          <a:prstGeom prst="rect">
            <a:avLst/>
          </a:prstGeom>
          <a:solidFill>
            <a:srgbClr val="FFFFFF"/>
          </a:solidFill>
          <a:ln w="12700">
            <a:solidFill>
              <a:srgbClr val="DCDCDC"/>
            </a:solidFill>
            <a:prstDash val="solid"/>
          </a:ln>
        </p:spPr>
      </p:sp>
      <p:sp>
        <p:nvSpPr>
          <p:cNvPr id="14" name="Text 12"/>
          <p:cNvSpPr/>
          <p:nvPr/>
        </p:nvSpPr>
        <p:spPr>
          <a:xfrm>
            <a:off x="1005840" y="2779776"/>
            <a:ext cx="1188720" cy="640080"/>
          </a:xfrm>
          <a:prstGeom prst="rect">
            <a:avLst/>
          </a:prstGeom>
          <a:noFill/>
          <a:ln/>
        </p:spPr>
        <p:txBody>
          <a:bodyPr wrap="square" lIns="0" tIns="0" rIns="0" bIns="0" rtlCol="0" anchor="ctr"/>
          <a:lstStyle/>
          <a:p>
            <a:pPr indent="0" marL="0">
              <a:buNone/>
            </a:pPr>
            <a:r>
              <a:rPr lang="en-US" sz="2200" dirty="0">
                <a:solidFill>
                  <a:srgbClr val="111111"/>
                </a:solidFill>
                <a:latin typeface="Pretendard Light" pitchFamily="34" charset="0"/>
                <a:ea typeface="Pretendard Light" pitchFamily="34" charset="-122"/>
                <a:cs typeface="Pretendard Light" pitchFamily="34" charset="-120"/>
              </a:rPr>
              <a:t>8분</a:t>
            </a:r>
            <a:endParaRPr lang="en-US" sz="2200" dirty="0"/>
          </a:p>
        </p:txBody>
      </p:sp>
      <p:sp>
        <p:nvSpPr>
          <p:cNvPr id="15" name="Text 13"/>
          <p:cNvSpPr/>
          <p:nvPr/>
        </p:nvSpPr>
        <p:spPr>
          <a:xfrm>
            <a:off x="2286000" y="2779776"/>
            <a:ext cx="3291840" cy="640080"/>
          </a:xfrm>
          <a:prstGeom prst="rect">
            <a:avLst/>
          </a:prstGeom>
          <a:noFill/>
          <a:ln/>
        </p:spPr>
        <p:txBody>
          <a:bodyPr wrap="square" lIns="0" tIns="0" rIns="0" bIns="0" rtlCol="0" anchor="ctr"/>
          <a:lstStyle/>
          <a:p>
            <a:pPr indent="0" marL="0">
              <a:buNone/>
            </a:pPr>
            <a:r>
              <a:rPr lang="en-US" sz="1450" dirty="0">
                <a:solidFill>
                  <a:srgbClr val="111111"/>
                </a:solidFill>
                <a:latin typeface="Pretendard Black" pitchFamily="34" charset="0"/>
                <a:ea typeface="Pretendard Black" pitchFamily="34" charset="-122"/>
                <a:cs typeface="Pretendard Black" pitchFamily="34" charset="-120"/>
              </a:rPr>
              <a:t>배리언트와 프로퍼티</a:t>
            </a:r>
            <a:endParaRPr lang="en-US" sz="1450" dirty="0"/>
          </a:p>
        </p:txBody>
      </p:sp>
      <p:sp>
        <p:nvSpPr>
          <p:cNvPr id="16" name="Text 14"/>
          <p:cNvSpPr/>
          <p:nvPr/>
        </p:nvSpPr>
        <p:spPr>
          <a:xfrm>
            <a:off x="5669280" y="2779776"/>
            <a:ext cx="5516575" cy="640080"/>
          </a:xfrm>
          <a:prstGeom prst="rect">
            <a:avLst/>
          </a:prstGeom>
          <a:noFill/>
          <a:ln/>
        </p:spPr>
        <p:txBody>
          <a:bodyPr wrap="square" lIns="0" tIns="0" rIns="0" bIns="0" rtlCol="0" anchor="ctr"/>
          <a:lstStyle/>
          <a:p>
            <a:pPr indent="0" marL="0">
              <a:lnSpc>
                <a:spcPct val="124000"/>
              </a:lnSpc>
              <a:buNone/>
            </a:pPr>
            <a:r>
              <a:rPr lang="en-US" sz="1150" dirty="0">
                <a:solidFill>
                  <a:srgbClr val="6E6E6E"/>
                </a:solidFill>
                <a:latin typeface="Pretendard" pitchFamily="34" charset="0"/>
                <a:ea typeface="Pretendard" pitchFamily="34" charset="-122"/>
                <a:cs typeface="Pretendard" pitchFamily="34" charset="-120"/>
              </a:rPr>
              <a:t>State = Default / Active 두 배리언트. 라벨을 Text property로 노출합니다.</a:t>
            </a:r>
            <a:endParaRPr lang="en-US" sz="1150" dirty="0"/>
          </a:p>
        </p:txBody>
      </p:sp>
      <p:sp>
        <p:nvSpPr>
          <p:cNvPr id="17" name="Shape 15"/>
          <p:cNvSpPr/>
          <p:nvPr/>
        </p:nvSpPr>
        <p:spPr>
          <a:xfrm>
            <a:off x="640080" y="3657600"/>
            <a:ext cx="10911535" cy="822960"/>
          </a:xfrm>
          <a:prstGeom prst="rect">
            <a:avLst/>
          </a:prstGeom>
          <a:solidFill>
            <a:srgbClr val="FFFFFF"/>
          </a:solidFill>
          <a:ln w="12700">
            <a:solidFill>
              <a:srgbClr val="DCDCDC"/>
            </a:solidFill>
            <a:prstDash val="solid"/>
          </a:ln>
        </p:spPr>
      </p:sp>
      <p:sp>
        <p:nvSpPr>
          <p:cNvPr id="18" name="Text 16"/>
          <p:cNvSpPr/>
          <p:nvPr/>
        </p:nvSpPr>
        <p:spPr>
          <a:xfrm>
            <a:off x="1005840" y="3749040"/>
            <a:ext cx="1188720" cy="640080"/>
          </a:xfrm>
          <a:prstGeom prst="rect">
            <a:avLst/>
          </a:prstGeom>
          <a:noFill/>
          <a:ln/>
        </p:spPr>
        <p:txBody>
          <a:bodyPr wrap="square" lIns="0" tIns="0" rIns="0" bIns="0" rtlCol="0" anchor="ctr"/>
          <a:lstStyle/>
          <a:p>
            <a:pPr indent="0" marL="0">
              <a:buNone/>
            </a:pPr>
            <a:r>
              <a:rPr lang="en-US" sz="2200" dirty="0">
                <a:solidFill>
                  <a:srgbClr val="111111"/>
                </a:solidFill>
                <a:latin typeface="Pretendard Light" pitchFamily="34" charset="0"/>
                <a:ea typeface="Pretendard Light" pitchFamily="34" charset="-122"/>
                <a:cs typeface="Pretendard Light" pitchFamily="34" charset="-120"/>
              </a:rPr>
              <a:t>10분</a:t>
            </a:r>
            <a:endParaRPr lang="en-US" sz="2200" dirty="0"/>
          </a:p>
        </p:txBody>
      </p:sp>
      <p:sp>
        <p:nvSpPr>
          <p:cNvPr id="19" name="Text 17"/>
          <p:cNvSpPr/>
          <p:nvPr/>
        </p:nvSpPr>
        <p:spPr>
          <a:xfrm>
            <a:off x="2286000" y="3749040"/>
            <a:ext cx="3291840" cy="640080"/>
          </a:xfrm>
          <a:prstGeom prst="rect">
            <a:avLst/>
          </a:prstGeom>
          <a:noFill/>
          <a:ln/>
        </p:spPr>
        <p:txBody>
          <a:bodyPr wrap="square" lIns="0" tIns="0" rIns="0" bIns="0" rtlCol="0" anchor="ctr"/>
          <a:lstStyle/>
          <a:p>
            <a:pPr indent="0" marL="0">
              <a:buNone/>
            </a:pPr>
            <a:r>
              <a:rPr lang="en-US" sz="1450" dirty="0">
                <a:solidFill>
                  <a:srgbClr val="111111"/>
                </a:solidFill>
                <a:latin typeface="Pretendard Black" pitchFamily="34" charset="0"/>
                <a:ea typeface="Pretendard Black" pitchFamily="34" charset="-122"/>
                <a:cs typeface="Pretendard Black" pitchFamily="34" charset="-120"/>
              </a:rPr>
              <a:t>GNB 조립</a:t>
            </a:r>
            <a:endParaRPr lang="en-US" sz="1450" dirty="0"/>
          </a:p>
        </p:txBody>
      </p:sp>
      <p:sp>
        <p:nvSpPr>
          <p:cNvPr id="20" name="Text 18"/>
          <p:cNvSpPr/>
          <p:nvPr/>
        </p:nvSpPr>
        <p:spPr>
          <a:xfrm>
            <a:off x="5669280" y="3749040"/>
            <a:ext cx="5516575" cy="640080"/>
          </a:xfrm>
          <a:prstGeom prst="rect">
            <a:avLst/>
          </a:prstGeom>
          <a:noFill/>
          <a:ln/>
        </p:spPr>
        <p:txBody>
          <a:bodyPr wrap="square" lIns="0" tIns="0" rIns="0" bIns="0" rtlCol="0" anchor="ctr"/>
          <a:lstStyle/>
          <a:p>
            <a:pPr indent="0" marL="0">
              <a:lnSpc>
                <a:spcPct val="124000"/>
              </a:lnSpc>
              <a:buNone/>
            </a:pPr>
            <a:r>
              <a:rPr lang="en-US" sz="1150" dirty="0">
                <a:solidFill>
                  <a:srgbClr val="6E6E6E"/>
                </a:solidFill>
                <a:latin typeface="Pretendard" pitchFamily="34" charset="0"/>
                <a:ea typeface="Pretendard" pitchFamily="34" charset="-122"/>
                <a:cs typeface="Pretendard" pitchFamily="34" charset="-120"/>
              </a:rPr>
              <a:t>Tab Item 인스턴스 4개를 가로 오토레이아웃에 넣고 각각 Fill container. 배경 90 높이, 상단 구분선, 하단 34 스페이서.</a:t>
            </a:r>
            <a:endParaRPr lang="en-US" sz="1150" dirty="0"/>
          </a:p>
        </p:txBody>
      </p:sp>
      <p:sp>
        <p:nvSpPr>
          <p:cNvPr id="21" name="Shape 19"/>
          <p:cNvSpPr/>
          <p:nvPr/>
        </p:nvSpPr>
        <p:spPr>
          <a:xfrm>
            <a:off x="640080" y="4626864"/>
            <a:ext cx="10911535" cy="822960"/>
          </a:xfrm>
          <a:prstGeom prst="rect">
            <a:avLst/>
          </a:prstGeom>
          <a:solidFill>
            <a:srgbClr val="111111"/>
          </a:solidFill>
          <a:ln w="12700">
            <a:solidFill>
              <a:srgbClr val="111111"/>
            </a:solidFill>
            <a:prstDash val="solid"/>
          </a:ln>
        </p:spPr>
      </p:sp>
      <p:sp>
        <p:nvSpPr>
          <p:cNvPr id="22" name="Text 20"/>
          <p:cNvSpPr/>
          <p:nvPr/>
        </p:nvSpPr>
        <p:spPr>
          <a:xfrm>
            <a:off x="1005840" y="4718304"/>
            <a:ext cx="1188720" cy="640080"/>
          </a:xfrm>
          <a:prstGeom prst="rect">
            <a:avLst/>
          </a:prstGeom>
          <a:noFill/>
          <a:ln/>
        </p:spPr>
        <p:txBody>
          <a:bodyPr wrap="square" lIns="0" tIns="0" rIns="0" bIns="0" rtlCol="0" anchor="ctr"/>
          <a:lstStyle/>
          <a:p>
            <a:pPr indent="0" marL="0">
              <a:buNone/>
            </a:pPr>
            <a:r>
              <a:rPr lang="en-US" sz="2200" dirty="0">
                <a:solidFill>
                  <a:srgbClr val="FFFFFF"/>
                </a:solidFill>
                <a:latin typeface="Pretendard Light" pitchFamily="34" charset="0"/>
                <a:ea typeface="Pretendard Light" pitchFamily="34" charset="-122"/>
                <a:cs typeface="Pretendard Light" pitchFamily="34" charset="-120"/>
              </a:rPr>
              <a:t>12분</a:t>
            </a:r>
            <a:endParaRPr lang="en-US" sz="2200" dirty="0"/>
          </a:p>
        </p:txBody>
      </p:sp>
      <p:sp>
        <p:nvSpPr>
          <p:cNvPr id="23" name="Text 21"/>
          <p:cNvSpPr/>
          <p:nvPr/>
        </p:nvSpPr>
        <p:spPr>
          <a:xfrm>
            <a:off x="2286000" y="4718304"/>
            <a:ext cx="3291840" cy="640080"/>
          </a:xfrm>
          <a:prstGeom prst="rect">
            <a:avLst/>
          </a:prstGeom>
          <a:noFill/>
          <a:ln/>
        </p:spPr>
        <p:txBody>
          <a:bodyPr wrap="square" lIns="0" tIns="0" rIns="0" bIns="0" rtlCol="0" anchor="ctr"/>
          <a:lstStyle/>
          <a:p>
            <a:pPr indent="0" marL="0">
              <a:buNone/>
            </a:pPr>
            <a:r>
              <a:rPr lang="en-US" sz="1450" dirty="0">
                <a:solidFill>
                  <a:srgbClr val="FFFFFF"/>
                </a:solidFill>
                <a:latin typeface="Pretendard Black" pitchFamily="34" charset="0"/>
                <a:ea typeface="Pretendard Black" pitchFamily="34" charset="-122"/>
                <a:cs typeface="Pretendard Black" pitchFamily="34" charset="-120"/>
              </a:rPr>
              <a:t>전 화면 적용</a:t>
            </a:r>
            <a:endParaRPr lang="en-US" sz="1450" dirty="0"/>
          </a:p>
        </p:txBody>
      </p:sp>
      <p:sp>
        <p:nvSpPr>
          <p:cNvPr id="24" name="Text 22"/>
          <p:cNvSpPr/>
          <p:nvPr/>
        </p:nvSpPr>
        <p:spPr>
          <a:xfrm>
            <a:off x="5669280" y="4718304"/>
            <a:ext cx="5516575" cy="640080"/>
          </a:xfrm>
          <a:prstGeom prst="rect">
            <a:avLst/>
          </a:prstGeom>
          <a:noFill/>
          <a:ln/>
        </p:spPr>
        <p:txBody>
          <a:bodyPr wrap="square" lIns="0" tIns="0" rIns="0" bIns="0" rtlCol="0" anchor="ctr"/>
          <a:lstStyle/>
          <a:p>
            <a:pPr indent="0" marL="0">
              <a:lnSpc>
                <a:spcPct val="124000"/>
              </a:lnSpc>
              <a:buNone/>
            </a:pPr>
            <a:r>
              <a:rPr lang="en-US" sz="1150" dirty="0">
                <a:solidFill>
                  <a:srgbClr val="B8B8B8"/>
                </a:solidFill>
                <a:latin typeface="Pretendard" pitchFamily="34" charset="0"/>
                <a:ea typeface="Pretendard" pitchFamily="34" charset="-122"/>
                <a:cs typeface="Pretendard" pitchFamily="34" charset="-120"/>
              </a:rPr>
              <a:t>1학기 화면의 하단 바를 전부 지우고 GNB 인스턴스로 교체합니다. 직접 그린 하단 바가 한 개도 남지 않게 합니다.</a:t>
            </a:r>
            <a:endParaRPr lang="en-US" sz="1150" dirty="0"/>
          </a:p>
        </p:txBody>
      </p:sp>
      <p:sp>
        <p:nvSpPr>
          <p:cNvPr id="25" name="Shape 23"/>
          <p:cNvSpPr/>
          <p:nvPr/>
        </p:nvSpPr>
        <p:spPr>
          <a:xfrm>
            <a:off x="640080" y="6291072"/>
            <a:ext cx="10911535" cy="7315"/>
          </a:xfrm>
          <a:prstGeom prst="rect">
            <a:avLst/>
          </a:prstGeom>
          <a:solidFill>
            <a:srgbClr val="DCDCDC"/>
          </a:solidFill>
          <a:ln w="12700">
            <a:solidFill>
              <a:srgbClr val="DCDCDC"/>
            </a:solidFill>
            <a:prstDash val="solid"/>
          </a:ln>
        </p:spPr>
      </p:sp>
      <p:sp>
        <p:nvSpPr>
          <p:cNvPr id="26" name="Text 24"/>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서비스디자인 · 2주차 하단 GNB · 수치로 짓는 컴포넌트</a:t>
            </a:r>
            <a:endParaRPr lang="en-US" sz="850" dirty="0"/>
          </a:p>
        </p:txBody>
      </p:sp>
      <p:sp>
        <p:nvSpPr>
          <p:cNvPr id="27" name="Text 25"/>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P.10</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서비스디자인</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1 기준</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02</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VERIFY</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Black" pitchFamily="34" charset="0"/>
                <a:ea typeface="Pretendard Black" pitchFamily="34" charset="-122"/>
                <a:cs typeface="Pretendard Black" pitchFamily="34" charset="-120"/>
              </a:rPr>
              <a:t>검증 — 하나 바꿔 전부 바뀌는가</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마지막 15분. 2인 1조로 서로의 파일에서 확인합니다.</a:t>
            </a:r>
            <a:endParaRPr lang="en-US" sz="1150" dirty="0"/>
          </a:p>
        </p:txBody>
      </p:sp>
      <p:sp>
        <p:nvSpPr>
          <p:cNvPr id="9" name="Shape 7"/>
          <p:cNvSpPr/>
          <p:nvPr/>
        </p:nvSpPr>
        <p:spPr>
          <a:xfrm>
            <a:off x="640080" y="1664208"/>
            <a:ext cx="5254600" cy="3749040"/>
          </a:xfrm>
          <a:prstGeom prst="rect">
            <a:avLst/>
          </a:prstGeom>
          <a:solidFill>
            <a:srgbClr val="FFFFFF"/>
          </a:solidFill>
          <a:ln w="12700">
            <a:solidFill>
              <a:srgbClr val="DCDCDC"/>
            </a:solidFill>
            <a:prstDash val="solid"/>
          </a:ln>
        </p:spPr>
      </p:sp>
      <p:sp>
        <p:nvSpPr>
          <p:cNvPr id="10" name="Text 8"/>
          <p:cNvSpPr/>
          <p:nvPr/>
        </p:nvSpPr>
        <p:spPr>
          <a:xfrm>
            <a:off x="1060704" y="1993392"/>
            <a:ext cx="4413352" cy="365760"/>
          </a:xfrm>
          <a:prstGeom prst="rect">
            <a:avLst/>
          </a:prstGeom>
          <a:noFill/>
          <a:ln/>
        </p:spPr>
        <p:txBody>
          <a:bodyPr wrap="square" lIns="0" tIns="0" rIns="0" bIns="0" rtlCol="0" anchor="ctr"/>
          <a:lstStyle/>
          <a:p>
            <a:pPr indent="0" marL="0">
              <a:buNone/>
            </a:pPr>
            <a:r>
              <a:rPr lang="en-US" sz="1700" dirty="0">
                <a:solidFill>
                  <a:srgbClr val="111111"/>
                </a:solidFill>
                <a:latin typeface="Pretendard Black" pitchFamily="34" charset="0"/>
                <a:ea typeface="Pretendard Black" pitchFamily="34" charset="-122"/>
                <a:cs typeface="Pretendard Black" pitchFamily="34" charset="-120"/>
              </a:rPr>
              <a:t>이렇게 확인합니다</a:t>
            </a:r>
            <a:endParaRPr lang="en-US" sz="1700" dirty="0"/>
          </a:p>
        </p:txBody>
      </p:sp>
      <p:sp>
        <p:nvSpPr>
          <p:cNvPr id="11" name="Shape 9"/>
          <p:cNvSpPr/>
          <p:nvPr/>
        </p:nvSpPr>
        <p:spPr>
          <a:xfrm>
            <a:off x="1060704" y="2414016"/>
            <a:ext cx="4413352" cy="7315"/>
          </a:xfrm>
          <a:prstGeom prst="rect">
            <a:avLst/>
          </a:prstGeom>
          <a:solidFill>
            <a:srgbClr val="111111"/>
          </a:solidFill>
          <a:ln w="12700">
            <a:solidFill>
              <a:srgbClr val="111111"/>
            </a:solidFill>
            <a:prstDash val="solid"/>
          </a:ln>
        </p:spPr>
      </p:sp>
      <p:sp>
        <p:nvSpPr>
          <p:cNvPr id="12" name="Text 10"/>
          <p:cNvSpPr/>
          <p:nvPr/>
        </p:nvSpPr>
        <p:spPr>
          <a:xfrm>
            <a:off x="1060704" y="2523744"/>
            <a:ext cx="4413352" cy="2706624"/>
          </a:xfrm>
          <a:prstGeom prst="rect">
            <a:avLst/>
          </a:prstGeom>
          <a:noFill/>
          <a:ln/>
        </p:spPr>
        <p:txBody>
          <a:bodyPr wrap="square" lIns="0" tIns="0" rIns="0" bIns="0" rtlCol="0" anchor="t"/>
          <a:lstStyle/>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마스터 Tab Item에서 라벨 색을 한 단계 진하게 바꿉니다</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적용한 화면들을 넘겨 보며 전부 바뀌었는지 봅니다</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안 바뀐 화면이 있으면 그 화면은 인스턴스가 아닙니다</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GNB 폭을 360으로 줄여 탭이 균등하게 재분배되는지 봅니다</a:t>
            </a:r>
            <a:endParaRPr lang="en-US" sz="1200" dirty="0"/>
          </a:p>
        </p:txBody>
      </p:sp>
      <p:sp>
        <p:nvSpPr>
          <p:cNvPr id="13" name="Shape 11"/>
          <p:cNvSpPr/>
          <p:nvPr/>
        </p:nvSpPr>
        <p:spPr>
          <a:xfrm>
            <a:off x="6297016" y="1664208"/>
            <a:ext cx="5254600" cy="3749040"/>
          </a:xfrm>
          <a:prstGeom prst="rect">
            <a:avLst/>
          </a:prstGeom>
          <a:solidFill>
            <a:srgbClr val="F2F2F2"/>
          </a:solidFill>
          <a:ln w="12700">
            <a:solidFill>
              <a:srgbClr val="DCDCDC"/>
            </a:solidFill>
            <a:prstDash val="solid"/>
          </a:ln>
        </p:spPr>
      </p:sp>
      <p:sp>
        <p:nvSpPr>
          <p:cNvPr id="14" name="Text 12"/>
          <p:cNvSpPr/>
          <p:nvPr/>
        </p:nvSpPr>
        <p:spPr>
          <a:xfrm>
            <a:off x="6717640" y="1993392"/>
            <a:ext cx="4413352" cy="365760"/>
          </a:xfrm>
          <a:prstGeom prst="rect">
            <a:avLst/>
          </a:prstGeom>
          <a:noFill/>
          <a:ln/>
        </p:spPr>
        <p:txBody>
          <a:bodyPr wrap="square" lIns="0" tIns="0" rIns="0" bIns="0" rtlCol="0" anchor="ctr"/>
          <a:lstStyle/>
          <a:p>
            <a:pPr indent="0" marL="0">
              <a:buNone/>
            </a:pPr>
            <a:r>
              <a:rPr lang="en-US" sz="1700" dirty="0">
                <a:solidFill>
                  <a:srgbClr val="111111"/>
                </a:solidFill>
                <a:latin typeface="Pretendard Black" pitchFamily="34" charset="0"/>
                <a:ea typeface="Pretendard Black" pitchFamily="34" charset="-122"/>
                <a:cs typeface="Pretendard Black" pitchFamily="34" charset="-120"/>
              </a:rPr>
              <a:t>자주 나오는 문제</a:t>
            </a:r>
            <a:endParaRPr lang="en-US" sz="1700" dirty="0"/>
          </a:p>
        </p:txBody>
      </p:sp>
      <p:sp>
        <p:nvSpPr>
          <p:cNvPr id="15" name="Shape 13"/>
          <p:cNvSpPr/>
          <p:nvPr/>
        </p:nvSpPr>
        <p:spPr>
          <a:xfrm>
            <a:off x="6717640" y="2414016"/>
            <a:ext cx="4413352" cy="7315"/>
          </a:xfrm>
          <a:prstGeom prst="rect">
            <a:avLst/>
          </a:prstGeom>
          <a:solidFill>
            <a:srgbClr val="111111"/>
          </a:solidFill>
          <a:ln w="12700">
            <a:solidFill>
              <a:srgbClr val="111111"/>
            </a:solidFill>
            <a:prstDash val="solid"/>
          </a:ln>
        </p:spPr>
      </p:sp>
      <p:sp>
        <p:nvSpPr>
          <p:cNvPr id="16" name="Text 14"/>
          <p:cNvSpPr/>
          <p:nvPr/>
        </p:nvSpPr>
        <p:spPr>
          <a:xfrm>
            <a:off x="6717640" y="2523744"/>
            <a:ext cx="4413352" cy="2706624"/>
          </a:xfrm>
          <a:prstGeom prst="rect">
            <a:avLst/>
          </a:prstGeom>
          <a:noFill/>
          <a:ln/>
        </p:spPr>
        <p:txBody>
          <a:bodyPr wrap="square" lIns="0" tIns="0" rIns="0" bIns="0" rtlCol="0" anchor="t"/>
          <a:lstStyle/>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복사한 인스턴스를 Detach 해서 연결이 끊긴 경우</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Tab Item을 화면에 직접 놓아 GNB를 안 거친 경우</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탭 폭을 Fill이 아니라 고정으로 둬 360에서 넘치는 경우</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안전 영역 34를 안 넣어 라벨이 화면 밖으로 나간 경우</a:t>
            </a:r>
            <a:endParaRPr lang="en-US" sz="1200" dirty="0"/>
          </a:p>
        </p:txBody>
      </p:sp>
      <p:sp>
        <p:nvSpPr>
          <p:cNvPr id="17" name="Text 15"/>
          <p:cNvSpPr/>
          <p:nvPr/>
        </p:nvSpPr>
        <p:spPr>
          <a:xfrm>
            <a:off x="640080" y="5541264"/>
            <a:ext cx="10911535" cy="402336"/>
          </a:xfrm>
          <a:prstGeom prst="rect">
            <a:avLst/>
          </a:prstGeom>
          <a:noFill/>
          <a:ln/>
        </p:spPr>
        <p:txBody>
          <a:bodyPr wrap="square" lIns="0" tIns="0" rIns="0" bIns="0" rtlCol="0" anchor="ctr"/>
          <a:lstStyle/>
          <a:p>
            <a:pPr indent="0" marL="0">
              <a:buNone/>
            </a:pPr>
            <a:r>
              <a:rPr lang="en-US" sz="1200" dirty="0">
                <a:solidFill>
                  <a:srgbClr val="6E6E6E"/>
                </a:solidFill>
                <a:latin typeface="Pretendard" pitchFamily="34" charset="0"/>
                <a:ea typeface="Pretendard" pitchFamily="34" charset="-122"/>
                <a:cs typeface="Pretendard" pitchFamily="34" charset="-120"/>
              </a:rPr>
              <a:t>바꾼 색은 확인 후 원래대로 되돌리세요. 되돌릴 때도 마스터 하나만 고치면 됩니다 — 그게 오늘의 결론입니다.</a:t>
            </a:r>
            <a:endParaRPr lang="en-US" sz="1200" dirty="0"/>
          </a:p>
        </p:txBody>
      </p:sp>
      <p:sp>
        <p:nvSpPr>
          <p:cNvPr id="18" name="Shape 16"/>
          <p:cNvSpPr/>
          <p:nvPr/>
        </p:nvSpPr>
        <p:spPr>
          <a:xfrm>
            <a:off x="640080" y="6291072"/>
            <a:ext cx="10911535" cy="7315"/>
          </a:xfrm>
          <a:prstGeom prst="rect">
            <a:avLst/>
          </a:prstGeom>
          <a:solidFill>
            <a:srgbClr val="DCDCDC"/>
          </a:solidFill>
          <a:ln w="12700">
            <a:solidFill>
              <a:srgbClr val="DCDCDC"/>
            </a:solidFill>
            <a:prstDash val="solid"/>
          </a:ln>
        </p:spPr>
      </p:sp>
      <p:sp>
        <p:nvSpPr>
          <p:cNvPr id="19" name="Text 17"/>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서비스디자인 · 2주차 하단 GNB · 수치로 짓는 컴포넌트</a:t>
            </a:r>
            <a:endParaRPr lang="en-US" sz="850" dirty="0"/>
          </a:p>
        </p:txBody>
      </p:sp>
      <p:sp>
        <p:nvSpPr>
          <p:cNvPr id="20" name="Text 18"/>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P.11</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서비스디자인</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1 기준</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02</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SUBMIT</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Black" pitchFamily="34" charset="0"/>
                <a:ea typeface="Pretendard Black" pitchFamily="34" charset="-122"/>
                <a:cs typeface="Pretendard Black" pitchFamily="34" charset="-120"/>
              </a:rPr>
              <a:t>제출물 체크리스트</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3주차부터 나머지 공통 요소를 같은 방식으로 확장합니다.</a:t>
            </a:r>
            <a:endParaRPr lang="en-US" sz="1150" dirty="0"/>
          </a:p>
        </p:txBody>
      </p:sp>
      <p:sp>
        <p:nvSpPr>
          <p:cNvPr id="9" name="Shape 7"/>
          <p:cNvSpPr/>
          <p:nvPr/>
        </p:nvSpPr>
        <p:spPr>
          <a:xfrm>
            <a:off x="640080" y="1755648"/>
            <a:ext cx="5254600" cy="478536"/>
          </a:xfrm>
          <a:prstGeom prst="rect">
            <a:avLst/>
          </a:prstGeom>
          <a:solidFill>
            <a:srgbClr val="F2F2F2"/>
          </a:solidFill>
          <a:ln w="12700">
            <a:solidFill>
              <a:srgbClr val="F2F2F2"/>
            </a:solidFill>
            <a:prstDash val="solid"/>
          </a:ln>
        </p:spPr>
      </p:sp>
      <p:sp>
        <p:nvSpPr>
          <p:cNvPr id="10" name="Shape 8"/>
          <p:cNvSpPr/>
          <p:nvPr/>
        </p:nvSpPr>
        <p:spPr>
          <a:xfrm>
            <a:off x="914400" y="1839468"/>
            <a:ext cx="310896" cy="310896"/>
          </a:xfrm>
          <a:prstGeom prst="ellipse">
            <a:avLst/>
          </a:prstGeom>
          <a:solidFill>
            <a:srgbClr val="F2F2F2"/>
          </a:solidFill>
          <a:ln w="12700">
            <a:solidFill>
              <a:srgbClr val="111111"/>
            </a:solidFill>
            <a:prstDash val="solid"/>
          </a:ln>
        </p:spPr>
      </p:sp>
      <p:sp>
        <p:nvSpPr>
          <p:cNvPr id="11" name="Text 9"/>
          <p:cNvSpPr/>
          <p:nvPr/>
        </p:nvSpPr>
        <p:spPr>
          <a:xfrm>
            <a:off x="914400" y="1839468"/>
            <a:ext cx="310896" cy="310896"/>
          </a:xfrm>
          <a:prstGeom prst="rect">
            <a:avLst/>
          </a:prstGeom>
          <a:noFill/>
          <a:ln/>
        </p:spPr>
        <p:txBody>
          <a:bodyPr wrap="square" lIns="0" tIns="0" rIns="0" bIns="0" rtlCol="0" anchor="ctr"/>
          <a:lstStyle/>
          <a:p>
            <a:pPr algn="ctr" indent="0" marL="0">
              <a:buNone/>
            </a:pPr>
            <a:r>
              <a:rPr lang="en-US" sz="900" b="1" dirty="0">
                <a:solidFill>
                  <a:srgbClr val="111111"/>
                </a:solidFill>
                <a:latin typeface="Pretendard" pitchFamily="34" charset="0"/>
                <a:ea typeface="Pretendard" pitchFamily="34" charset="-122"/>
                <a:cs typeface="Pretendard" pitchFamily="34" charset="-120"/>
              </a:rPr>
              <a:t>01</a:t>
            </a:r>
            <a:endParaRPr lang="en-US" sz="900" dirty="0"/>
          </a:p>
        </p:txBody>
      </p:sp>
      <p:sp>
        <p:nvSpPr>
          <p:cNvPr id="12" name="Text 10"/>
          <p:cNvSpPr/>
          <p:nvPr/>
        </p:nvSpPr>
        <p:spPr>
          <a:xfrm>
            <a:off x="1353312" y="1755648"/>
            <a:ext cx="4267048" cy="478536"/>
          </a:xfrm>
          <a:prstGeom prst="rect">
            <a:avLst/>
          </a:prstGeom>
          <a:noFill/>
          <a:ln/>
        </p:spPr>
        <p:txBody>
          <a:bodyPr wrap="square" lIns="0" tIns="0" rIns="0" bIns="0" rtlCol="0" anchor="ctr"/>
          <a:lstStyle/>
          <a:p>
            <a:pPr indent="0" marL="0">
              <a:buNone/>
            </a:pPr>
            <a:r>
              <a:rPr lang="en-US" sz="1200" dirty="0">
                <a:solidFill>
                  <a:srgbClr val="111111"/>
                </a:solidFill>
                <a:latin typeface="Pretendard" pitchFamily="34" charset="0"/>
                <a:ea typeface="Pretendard" pitchFamily="34" charset="-122"/>
                <a:cs typeface="Pretendard" pitchFamily="34" charset="-120"/>
              </a:rPr>
              <a:t>화면 기준 폭이 390으로 통일되었다</a:t>
            </a:r>
            <a:endParaRPr lang="en-US" sz="1200" dirty="0"/>
          </a:p>
        </p:txBody>
      </p:sp>
      <p:sp>
        <p:nvSpPr>
          <p:cNvPr id="13" name="Shape 11"/>
          <p:cNvSpPr/>
          <p:nvPr/>
        </p:nvSpPr>
        <p:spPr>
          <a:xfrm>
            <a:off x="640080" y="2380488"/>
            <a:ext cx="5254600" cy="478536"/>
          </a:xfrm>
          <a:prstGeom prst="rect">
            <a:avLst/>
          </a:prstGeom>
          <a:solidFill>
            <a:srgbClr val="F2F2F2"/>
          </a:solidFill>
          <a:ln w="12700">
            <a:solidFill>
              <a:srgbClr val="F2F2F2"/>
            </a:solidFill>
            <a:prstDash val="solid"/>
          </a:ln>
        </p:spPr>
      </p:sp>
      <p:sp>
        <p:nvSpPr>
          <p:cNvPr id="14" name="Shape 12"/>
          <p:cNvSpPr/>
          <p:nvPr/>
        </p:nvSpPr>
        <p:spPr>
          <a:xfrm>
            <a:off x="914400" y="2464308"/>
            <a:ext cx="310896" cy="310896"/>
          </a:xfrm>
          <a:prstGeom prst="ellipse">
            <a:avLst/>
          </a:prstGeom>
          <a:solidFill>
            <a:srgbClr val="F2F2F2"/>
          </a:solidFill>
          <a:ln w="12700">
            <a:solidFill>
              <a:srgbClr val="111111"/>
            </a:solidFill>
            <a:prstDash val="solid"/>
          </a:ln>
        </p:spPr>
      </p:sp>
      <p:sp>
        <p:nvSpPr>
          <p:cNvPr id="15" name="Text 13"/>
          <p:cNvSpPr/>
          <p:nvPr/>
        </p:nvSpPr>
        <p:spPr>
          <a:xfrm>
            <a:off x="914400" y="2464308"/>
            <a:ext cx="310896" cy="310896"/>
          </a:xfrm>
          <a:prstGeom prst="rect">
            <a:avLst/>
          </a:prstGeom>
          <a:noFill/>
          <a:ln/>
        </p:spPr>
        <p:txBody>
          <a:bodyPr wrap="square" lIns="0" tIns="0" rIns="0" bIns="0" rtlCol="0" anchor="ctr"/>
          <a:lstStyle/>
          <a:p>
            <a:pPr algn="ctr" indent="0" marL="0">
              <a:buNone/>
            </a:pPr>
            <a:r>
              <a:rPr lang="en-US" sz="900" b="1" dirty="0">
                <a:solidFill>
                  <a:srgbClr val="111111"/>
                </a:solidFill>
                <a:latin typeface="Pretendard" pitchFamily="34" charset="0"/>
                <a:ea typeface="Pretendard" pitchFamily="34" charset="-122"/>
                <a:cs typeface="Pretendard" pitchFamily="34" charset="-120"/>
              </a:rPr>
              <a:t>02</a:t>
            </a:r>
            <a:endParaRPr lang="en-US" sz="900" dirty="0"/>
          </a:p>
        </p:txBody>
      </p:sp>
      <p:sp>
        <p:nvSpPr>
          <p:cNvPr id="16" name="Text 14"/>
          <p:cNvSpPr/>
          <p:nvPr/>
        </p:nvSpPr>
        <p:spPr>
          <a:xfrm>
            <a:off x="1353312" y="2380488"/>
            <a:ext cx="4267048" cy="478536"/>
          </a:xfrm>
          <a:prstGeom prst="rect">
            <a:avLst/>
          </a:prstGeom>
          <a:noFill/>
          <a:ln/>
        </p:spPr>
        <p:txBody>
          <a:bodyPr wrap="square" lIns="0" tIns="0" rIns="0" bIns="0" rtlCol="0" anchor="ctr"/>
          <a:lstStyle/>
          <a:p>
            <a:pPr indent="0" marL="0">
              <a:buNone/>
            </a:pPr>
            <a:r>
              <a:rPr lang="en-US" sz="1200" dirty="0">
                <a:solidFill>
                  <a:srgbClr val="111111"/>
                </a:solidFill>
                <a:latin typeface="Pretendard" pitchFamily="34" charset="0"/>
                <a:ea typeface="Pretendard" pitchFamily="34" charset="-122"/>
                <a:cs typeface="Pretendard" pitchFamily="34" charset="-120"/>
              </a:rPr>
              <a:t>GNB 규격 명세서에 항목 · 값 · 근거 세 칸이 다 있다</a:t>
            </a:r>
            <a:endParaRPr lang="en-US" sz="1200" dirty="0"/>
          </a:p>
        </p:txBody>
      </p:sp>
      <p:sp>
        <p:nvSpPr>
          <p:cNvPr id="17" name="Shape 15"/>
          <p:cNvSpPr/>
          <p:nvPr/>
        </p:nvSpPr>
        <p:spPr>
          <a:xfrm>
            <a:off x="640080" y="3005328"/>
            <a:ext cx="5254600" cy="478536"/>
          </a:xfrm>
          <a:prstGeom prst="rect">
            <a:avLst/>
          </a:prstGeom>
          <a:solidFill>
            <a:srgbClr val="F2F2F2"/>
          </a:solidFill>
          <a:ln w="12700">
            <a:solidFill>
              <a:srgbClr val="F2F2F2"/>
            </a:solidFill>
            <a:prstDash val="solid"/>
          </a:ln>
        </p:spPr>
      </p:sp>
      <p:sp>
        <p:nvSpPr>
          <p:cNvPr id="18" name="Shape 16"/>
          <p:cNvSpPr/>
          <p:nvPr/>
        </p:nvSpPr>
        <p:spPr>
          <a:xfrm>
            <a:off x="914400" y="3089148"/>
            <a:ext cx="310896" cy="310896"/>
          </a:xfrm>
          <a:prstGeom prst="ellipse">
            <a:avLst/>
          </a:prstGeom>
          <a:solidFill>
            <a:srgbClr val="F2F2F2"/>
          </a:solidFill>
          <a:ln w="12700">
            <a:solidFill>
              <a:srgbClr val="111111"/>
            </a:solidFill>
            <a:prstDash val="solid"/>
          </a:ln>
        </p:spPr>
      </p:sp>
      <p:sp>
        <p:nvSpPr>
          <p:cNvPr id="19" name="Text 17"/>
          <p:cNvSpPr/>
          <p:nvPr/>
        </p:nvSpPr>
        <p:spPr>
          <a:xfrm>
            <a:off x="914400" y="3089148"/>
            <a:ext cx="310896" cy="310896"/>
          </a:xfrm>
          <a:prstGeom prst="rect">
            <a:avLst/>
          </a:prstGeom>
          <a:noFill/>
          <a:ln/>
        </p:spPr>
        <p:txBody>
          <a:bodyPr wrap="square" lIns="0" tIns="0" rIns="0" bIns="0" rtlCol="0" anchor="ctr"/>
          <a:lstStyle/>
          <a:p>
            <a:pPr algn="ctr" indent="0" marL="0">
              <a:buNone/>
            </a:pPr>
            <a:r>
              <a:rPr lang="en-US" sz="900" b="1" dirty="0">
                <a:solidFill>
                  <a:srgbClr val="111111"/>
                </a:solidFill>
                <a:latin typeface="Pretendard" pitchFamily="34" charset="0"/>
                <a:ea typeface="Pretendard" pitchFamily="34" charset="-122"/>
                <a:cs typeface="Pretendard" pitchFamily="34" charset="-120"/>
              </a:rPr>
              <a:t>03</a:t>
            </a:r>
            <a:endParaRPr lang="en-US" sz="900" dirty="0"/>
          </a:p>
        </p:txBody>
      </p:sp>
      <p:sp>
        <p:nvSpPr>
          <p:cNvPr id="20" name="Text 18"/>
          <p:cNvSpPr/>
          <p:nvPr/>
        </p:nvSpPr>
        <p:spPr>
          <a:xfrm>
            <a:off x="1353312" y="3005328"/>
            <a:ext cx="4267048" cy="478536"/>
          </a:xfrm>
          <a:prstGeom prst="rect">
            <a:avLst/>
          </a:prstGeom>
          <a:noFill/>
          <a:ln/>
        </p:spPr>
        <p:txBody>
          <a:bodyPr wrap="square" lIns="0" tIns="0" rIns="0" bIns="0" rtlCol="0" anchor="ctr"/>
          <a:lstStyle/>
          <a:p>
            <a:pPr indent="0" marL="0">
              <a:buNone/>
            </a:pPr>
            <a:r>
              <a:rPr lang="en-US" sz="1200" dirty="0">
                <a:solidFill>
                  <a:srgbClr val="111111"/>
                </a:solidFill>
                <a:latin typeface="Pretendard" pitchFamily="34" charset="0"/>
                <a:ea typeface="Pretendard" pitchFamily="34" charset="-122"/>
                <a:cs typeface="Pretendard" pitchFamily="34" charset="-120"/>
              </a:rPr>
              <a:t>근거 칸에 '보기 좋아서'가 하나도 없다</a:t>
            </a:r>
            <a:endParaRPr lang="en-US" sz="1200" dirty="0"/>
          </a:p>
        </p:txBody>
      </p:sp>
      <p:sp>
        <p:nvSpPr>
          <p:cNvPr id="21" name="Shape 19"/>
          <p:cNvSpPr/>
          <p:nvPr/>
        </p:nvSpPr>
        <p:spPr>
          <a:xfrm>
            <a:off x="640080" y="3630168"/>
            <a:ext cx="5254600" cy="478536"/>
          </a:xfrm>
          <a:prstGeom prst="rect">
            <a:avLst/>
          </a:prstGeom>
          <a:solidFill>
            <a:srgbClr val="F2F2F2"/>
          </a:solidFill>
          <a:ln w="12700">
            <a:solidFill>
              <a:srgbClr val="F2F2F2"/>
            </a:solidFill>
            <a:prstDash val="solid"/>
          </a:ln>
        </p:spPr>
      </p:sp>
      <p:sp>
        <p:nvSpPr>
          <p:cNvPr id="22" name="Shape 20"/>
          <p:cNvSpPr/>
          <p:nvPr/>
        </p:nvSpPr>
        <p:spPr>
          <a:xfrm>
            <a:off x="914400" y="3713988"/>
            <a:ext cx="310896" cy="310896"/>
          </a:xfrm>
          <a:prstGeom prst="ellipse">
            <a:avLst/>
          </a:prstGeom>
          <a:solidFill>
            <a:srgbClr val="F2F2F2"/>
          </a:solidFill>
          <a:ln w="12700">
            <a:solidFill>
              <a:srgbClr val="111111"/>
            </a:solidFill>
            <a:prstDash val="solid"/>
          </a:ln>
        </p:spPr>
      </p:sp>
      <p:sp>
        <p:nvSpPr>
          <p:cNvPr id="23" name="Text 21"/>
          <p:cNvSpPr/>
          <p:nvPr/>
        </p:nvSpPr>
        <p:spPr>
          <a:xfrm>
            <a:off x="914400" y="3713988"/>
            <a:ext cx="310896" cy="310896"/>
          </a:xfrm>
          <a:prstGeom prst="rect">
            <a:avLst/>
          </a:prstGeom>
          <a:noFill/>
          <a:ln/>
        </p:spPr>
        <p:txBody>
          <a:bodyPr wrap="square" lIns="0" tIns="0" rIns="0" bIns="0" rtlCol="0" anchor="ctr"/>
          <a:lstStyle/>
          <a:p>
            <a:pPr algn="ctr" indent="0" marL="0">
              <a:buNone/>
            </a:pPr>
            <a:r>
              <a:rPr lang="en-US" sz="900" b="1" dirty="0">
                <a:solidFill>
                  <a:srgbClr val="111111"/>
                </a:solidFill>
                <a:latin typeface="Pretendard" pitchFamily="34" charset="0"/>
                <a:ea typeface="Pretendard" pitchFamily="34" charset="-122"/>
                <a:cs typeface="Pretendard" pitchFamily="34" charset="-120"/>
              </a:rPr>
              <a:t>04</a:t>
            </a:r>
            <a:endParaRPr lang="en-US" sz="900" dirty="0"/>
          </a:p>
        </p:txBody>
      </p:sp>
      <p:sp>
        <p:nvSpPr>
          <p:cNvPr id="24" name="Text 22"/>
          <p:cNvSpPr/>
          <p:nvPr/>
        </p:nvSpPr>
        <p:spPr>
          <a:xfrm>
            <a:off x="1353312" y="3630168"/>
            <a:ext cx="4267048" cy="478536"/>
          </a:xfrm>
          <a:prstGeom prst="rect">
            <a:avLst/>
          </a:prstGeom>
          <a:noFill/>
          <a:ln/>
        </p:spPr>
        <p:txBody>
          <a:bodyPr wrap="square" lIns="0" tIns="0" rIns="0" bIns="0" rtlCol="0" anchor="ctr"/>
          <a:lstStyle/>
          <a:p>
            <a:pPr indent="0" marL="0">
              <a:buNone/>
            </a:pPr>
            <a:r>
              <a:rPr lang="en-US" sz="1200" dirty="0">
                <a:solidFill>
                  <a:srgbClr val="111111"/>
                </a:solidFill>
                <a:latin typeface="Pretendard" pitchFamily="34" charset="0"/>
                <a:ea typeface="Pretendard" pitchFamily="34" charset="-122"/>
                <a:cs typeface="Pretendard" pitchFamily="34" charset="-120"/>
              </a:rPr>
              <a:t>패딩 + 아이콘 + 간격 + 라벨의 합이 콘텐츠 높이와 일치한다</a:t>
            </a:r>
            <a:endParaRPr lang="en-US" sz="1200" dirty="0"/>
          </a:p>
        </p:txBody>
      </p:sp>
      <p:sp>
        <p:nvSpPr>
          <p:cNvPr id="25" name="Shape 23"/>
          <p:cNvSpPr/>
          <p:nvPr/>
        </p:nvSpPr>
        <p:spPr>
          <a:xfrm>
            <a:off x="640080" y="4255008"/>
            <a:ext cx="5254600" cy="478536"/>
          </a:xfrm>
          <a:prstGeom prst="rect">
            <a:avLst/>
          </a:prstGeom>
          <a:solidFill>
            <a:srgbClr val="F2F2F2"/>
          </a:solidFill>
          <a:ln w="12700">
            <a:solidFill>
              <a:srgbClr val="F2F2F2"/>
            </a:solidFill>
            <a:prstDash val="solid"/>
          </a:ln>
        </p:spPr>
      </p:sp>
      <p:sp>
        <p:nvSpPr>
          <p:cNvPr id="26" name="Shape 24"/>
          <p:cNvSpPr/>
          <p:nvPr/>
        </p:nvSpPr>
        <p:spPr>
          <a:xfrm>
            <a:off x="914400" y="4338828"/>
            <a:ext cx="310896" cy="310896"/>
          </a:xfrm>
          <a:prstGeom prst="ellipse">
            <a:avLst/>
          </a:prstGeom>
          <a:solidFill>
            <a:srgbClr val="F2F2F2"/>
          </a:solidFill>
          <a:ln w="12700">
            <a:solidFill>
              <a:srgbClr val="111111"/>
            </a:solidFill>
            <a:prstDash val="solid"/>
          </a:ln>
        </p:spPr>
      </p:sp>
      <p:sp>
        <p:nvSpPr>
          <p:cNvPr id="27" name="Text 25"/>
          <p:cNvSpPr/>
          <p:nvPr/>
        </p:nvSpPr>
        <p:spPr>
          <a:xfrm>
            <a:off x="914400" y="4338828"/>
            <a:ext cx="310896" cy="310896"/>
          </a:xfrm>
          <a:prstGeom prst="rect">
            <a:avLst/>
          </a:prstGeom>
          <a:noFill/>
          <a:ln/>
        </p:spPr>
        <p:txBody>
          <a:bodyPr wrap="square" lIns="0" tIns="0" rIns="0" bIns="0" rtlCol="0" anchor="ctr"/>
          <a:lstStyle/>
          <a:p>
            <a:pPr algn="ctr" indent="0" marL="0">
              <a:buNone/>
            </a:pPr>
            <a:r>
              <a:rPr lang="en-US" sz="900" b="1" dirty="0">
                <a:solidFill>
                  <a:srgbClr val="111111"/>
                </a:solidFill>
                <a:latin typeface="Pretendard" pitchFamily="34" charset="0"/>
                <a:ea typeface="Pretendard" pitchFamily="34" charset="-122"/>
                <a:cs typeface="Pretendard" pitchFamily="34" charset="-120"/>
              </a:rPr>
              <a:t>05</a:t>
            </a:r>
            <a:endParaRPr lang="en-US" sz="900" dirty="0"/>
          </a:p>
        </p:txBody>
      </p:sp>
      <p:sp>
        <p:nvSpPr>
          <p:cNvPr id="28" name="Text 26"/>
          <p:cNvSpPr/>
          <p:nvPr/>
        </p:nvSpPr>
        <p:spPr>
          <a:xfrm>
            <a:off x="1353312" y="4255008"/>
            <a:ext cx="4267048" cy="478536"/>
          </a:xfrm>
          <a:prstGeom prst="rect">
            <a:avLst/>
          </a:prstGeom>
          <a:noFill/>
          <a:ln/>
        </p:spPr>
        <p:txBody>
          <a:bodyPr wrap="square" lIns="0" tIns="0" rIns="0" bIns="0" rtlCol="0" anchor="ctr"/>
          <a:lstStyle/>
          <a:p>
            <a:pPr indent="0" marL="0">
              <a:buNone/>
            </a:pPr>
            <a:r>
              <a:rPr lang="en-US" sz="1200" dirty="0">
                <a:solidFill>
                  <a:srgbClr val="111111"/>
                </a:solidFill>
                <a:latin typeface="Pretendard" pitchFamily="34" charset="0"/>
                <a:ea typeface="Pretendard" pitchFamily="34" charset="-122"/>
                <a:cs typeface="Pretendard" pitchFamily="34" charset="-120"/>
              </a:rPr>
              <a:t>하단 안전 영역 34가 들어가 있다</a:t>
            </a:r>
            <a:endParaRPr lang="en-US" sz="1200" dirty="0"/>
          </a:p>
        </p:txBody>
      </p:sp>
      <p:sp>
        <p:nvSpPr>
          <p:cNvPr id="29" name="Shape 27"/>
          <p:cNvSpPr/>
          <p:nvPr/>
        </p:nvSpPr>
        <p:spPr>
          <a:xfrm>
            <a:off x="640080" y="4879848"/>
            <a:ext cx="5254600" cy="478536"/>
          </a:xfrm>
          <a:prstGeom prst="rect">
            <a:avLst/>
          </a:prstGeom>
          <a:solidFill>
            <a:srgbClr val="F2F2F2"/>
          </a:solidFill>
          <a:ln w="12700">
            <a:solidFill>
              <a:srgbClr val="F2F2F2"/>
            </a:solidFill>
            <a:prstDash val="solid"/>
          </a:ln>
        </p:spPr>
      </p:sp>
      <p:sp>
        <p:nvSpPr>
          <p:cNvPr id="30" name="Shape 28"/>
          <p:cNvSpPr/>
          <p:nvPr/>
        </p:nvSpPr>
        <p:spPr>
          <a:xfrm>
            <a:off x="914400" y="4963668"/>
            <a:ext cx="310896" cy="310896"/>
          </a:xfrm>
          <a:prstGeom prst="ellipse">
            <a:avLst/>
          </a:prstGeom>
          <a:solidFill>
            <a:srgbClr val="F2F2F2"/>
          </a:solidFill>
          <a:ln w="12700">
            <a:solidFill>
              <a:srgbClr val="111111"/>
            </a:solidFill>
            <a:prstDash val="solid"/>
          </a:ln>
        </p:spPr>
      </p:sp>
      <p:sp>
        <p:nvSpPr>
          <p:cNvPr id="31" name="Text 29"/>
          <p:cNvSpPr/>
          <p:nvPr/>
        </p:nvSpPr>
        <p:spPr>
          <a:xfrm>
            <a:off x="914400" y="4963668"/>
            <a:ext cx="310896" cy="310896"/>
          </a:xfrm>
          <a:prstGeom prst="rect">
            <a:avLst/>
          </a:prstGeom>
          <a:noFill/>
          <a:ln/>
        </p:spPr>
        <p:txBody>
          <a:bodyPr wrap="square" lIns="0" tIns="0" rIns="0" bIns="0" rtlCol="0" anchor="ctr"/>
          <a:lstStyle/>
          <a:p>
            <a:pPr algn="ctr" indent="0" marL="0">
              <a:buNone/>
            </a:pPr>
            <a:r>
              <a:rPr lang="en-US" sz="900" b="1" dirty="0">
                <a:solidFill>
                  <a:srgbClr val="111111"/>
                </a:solidFill>
                <a:latin typeface="Pretendard" pitchFamily="34" charset="0"/>
                <a:ea typeface="Pretendard" pitchFamily="34" charset="-122"/>
                <a:cs typeface="Pretendard" pitchFamily="34" charset="-120"/>
              </a:rPr>
              <a:t>06</a:t>
            </a:r>
            <a:endParaRPr lang="en-US" sz="900" dirty="0"/>
          </a:p>
        </p:txBody>
      </p:sp>
      <p:sp>
        <p:nvSpPr>
          <p:cNvPr id="32" name="Text 30"/>
          <p:cNvSpPr/>
          <p:nvPr/>
        </p:nvSpPr>
        <p:spPr>
          <a:xfrm>
            <a:off x="1353312" y="4879848"/>
            <a:ext cx="4267048" cy="478536"/>
          </a:xfrm>
          <a:prstGeom prst="rect">
            <a:avLst/>
          </a:prstGeom>
          <a:noFill/>
          <a:ln/>
        </p:spPr>
        <p:txBody>
          <a:bodyPr wrap="square" lIns="0" tIns="0" rIns="0" bIns="0" rtlCol="0" anchor="ctr"/>
          <a:lstStyle/>
          <a:p>
            <a:pPr indent="0" marL="0">
              <a:buNone/>
            </a:pPr>
            <a:r>
              <a:rPr lang="en-US" sz="1200" dirty="0">
                <a:solidFill>
                  <a:srgbClr val="111111"/>
                </a:solidFill>
                <a:latin typeface="Pretendard" pitchFamily="34" charset="0"/>
                <a:ea typeface="Pretendard" pitchFamily="34" charset="-122"/>
                <a:cs typeface="Pretendard" pitchFamily="34" charset="-120"/>
              </a:rPr>
              <a:t>Tab Item이 컴포넌트이고 State 배리언트가 있다</a:t>
            </a:r>
            <a:endParaRPr lang="en-US" sz="1200" dirty="0"/>
          </a:p>
        </p:txBody>
      </p:sp>
      <p:sp>
        <p:nvSpPr>
          <p:cNvPr id="33" name="Shape 31"/>
          <p:cNvSpPr/>
          <p:nvPr/>
        </p:nvSpPr>
        <p:spPr>
          <a:xfrm>
            <a:off x="6297016" y="1755648"/>
            <a:ext cx="5254600" cy="478536"/>
          </a:xfrm>
          <a:prstGeom prst="rect">
            <a:avLst/>
          </a:prstGeom>
          <a:solidFill>
            <a:srgbClr val="F2F2F2"/>
          </a:solidFill>
          <a:ln w="12700">
            <a:solidFill>
              <a:srgbClr val="F2F2F2"/>
            </a:solidFill>
            <a:prstDash val="solid"/>
          </a:ln>
        </p:spPr>
      </p:sp>
      <p:sp>
        <p:nvSpPr>
          <p:cNvPr id="34" name="Shape 32"/>
          <p:cNvSpPr/>
          <p:nvPr/>
        </p:nvSpPr>
        <p:spPr>
          <a:xfrm>
            <a:off x="6571336" y="1839468"/>
            <a:ext cx="310896" cy="310896"/>
          </a:xfrm>
          <a:prstGeom prst="ellipse">
            <a:avLst/>
          </a:prstGeom>
          <a:solidFill>
            <a:srgbClr val="F2F2F2"/>
          </a:solidFill>
          <a:ln w="12700">
            <a:solidFill>
              <a:srgbClr val="111111"/>
            </a:solidFill>
            <a:prstDash val="solid"/>
          </a:ln>
        </p:spPr>
      </p:sp>
      <p:sp>
        <p:nvSpPr>
          <p:cNvPr id="35" name="Text 33"/>
          <p:cNvSpPr/>
          <p:nvPr/>
        </p:nvSpPr>
        <p:spPr>
          <a:xfrm>
            <a:off x="6571336" y="1839468"/>
            <a:ext cx="310896" cy="310896"/>
          </a:xfrm>
          <a:prstGeom prst="rect">
            <a:avLst/>
          </a:prstGeom>
          <a:noFill/>
          <a:ln/>
        </p:spPr>
        <p:txBody>
          <a:bodyPr wrap="square" lIns="0" tIns="0" rIns="0" bIns="0" rtlCol="0" anchor="ctr"/>
          <a:lstStyle/>
          <a:p>
            <a:pPr algn="ctr" indent="0" marL="0">
              <a:buNone/>
            </a:pPr>
            <a:r>
              <a:rPr lang="en-US" sz="900" b="1" dirty="0">
                <a:solidFill>
                  <a:srgbClr val="111111"/>
                </a:solidFill>
                <a:latin typeface="Pretendard" pitchFamily="34" charset="0"/>
                <a:ea typeface="Pretendard" pitchFamily="34" charset="-122"/>
                <a:cs typeface="Pretendard" pitchFamily="34" charset="-120"/>
              </a:rPr>
              <a:t>07</a:t>
            </a:r>
            <a:endParaRPr lang="en-US" sz="900" dirty="0"/>
          </a:p>
        </p:txBody>
      </p:sp>
      <p:sp>
        <p:nvSpPr>
          <p:cNvPr id="36" name="Text 34"/>
          <p:cNvSpPr/>
          <p:nvPr/>
        </p:nvSpPr>
        <p:spPr>
          <a:xfrm>
            <a:off x="7010248" y="1755648"/>
            <a:ext cx="4267048" cy="478536"/>
          </a:xfrm>
          <a:prstGeom prst="rect">
            <a:avLst/>
          </a:prstGeom>
          <a:noFill/>
          <a:ln/>
        </p:spPr>
        <p:txBody>
          <a:bodyPr wrap="square" lIns="0" tIns="0" rIns="0" bIns="0" rtlCol="0" anchor="ctr"/>
          <a:lstStyle/>
          <a:p>
            <a:pPr indent="0" marL="0">
              <a:buNone/>
            </a:pPr>
            <a:r>
              <a:rPr lang="en-US" sz="1200" dirty="0">
                <a:solidFill>
                  <a:srgbClr val="111111"/>
                </a:solidFill>
                <a:latin typeface="Pretendard" pitchFamily="34" charset="0"/>
                <a:ea typeface="Pretendard" pitchFamily="34" charset="-122"/>
                <a:cs typeface="Pretendard" pitchFamily="34" charset="-120"/>
              </a:rPr>
              <a:t>활성 상태가 색만이 아니라 아이콘 형태로도 구분된다</a:t>
            </a:r>
            <a:endParaRPr lang="en-US" sz="1200" dirty="0"/>
          </a:p>
        </p:txBody>
      </p:sp>
      <p:sp>
        <p:nvSpPr>
          <p:cNvPr id="37" name="Shape 35"/>
          <p:cNvSpPr/>
          <p:nvPr/>
        </p:nvSpPr>
        <p:spPr>
          <a:xfrm>
            <a:off x="6297016" y="2380488"/>
            <a:ext cx="5254600" cy="478536"/>
          </a:xfrm>
          <a:prstGeom prst="rect">
            <a:avLst/>
          </a:prstGeom>
          <a:solidFill>
            <a:srgbClr val="F2F2F2"/>
          </a:solidFill>
          <a:ln w="12700">
            <a:solidFill>
              <a:srgbClr val="F2F2F2"/>
            </a:solidFill>
            <a:prstDash val="solid"/>
          </a:ln>
        </p:spPr>
      </p:sp>
      <p:sp>
        <p:nvSpPr>
          <p:cNvPr id="38" name="Shape 36"/>
          <p:cNvSpPr/>
          <p:nvPr/>
        </p:nvSpPr>
        <p:spPr>
          <a:xfrm>
            <a:off x="6571336" y="2464308"/>
            <a:ext cx="310896" cy="310896"/>
          </a:xfrm>
          <a:prstGeom prst="ellipse">
            <a:avLst/>
          </a:prstGeom>
          <a:solidFill>
            <a:srgbClr val="F2F2F2"/>
          </a:solidFill>
          <a:ln w="12700">
            <a:solidFill>
              <a:srgbClr val="111111"/>
            </a:solidFill>
            <a:prstDash val="solid"/>
          </a:ln>
        </p:spPr>
      </p:sp>
      <p:sp>
        <p:nvSpPr>
          <p:cNvPr id="39" name="Text 37"/>
          <p:cNvSpPr/>
          <p:nvPr/>
        </p:nvSpPr>
        <p:spPr>
          <a:xfrm>
            <a:off x="6571336" y="2464308"/>
            <a:ext cx="310896" cy="310896"/>
          </a:xfrm>
          <a:prstGeom prst="rect">
            <a:avLst/>
          </a:prstGeom>
          <a:noFill/>
          <a:ln/>
        </p:spPr>
        <p:txBody>
          <a:bodyPr wrap="square" lIns="0" tIns="0" rIns="0" bIns="0" rtlCol="0" anchor="ctr"/>
          <a:lstStyle/>
          <a:p>
            <a:pPr algn="ctr" indent="0" marL="0">
              <a:buNone/>
            </a:pPr>
            <a:r>
              <a:rPr lang="en-US" sz="900" b="1" dirty="0">
                <a:solidFill>
                  <a:srgbClr val="111111"/>
                </a:solidFill>
                <a:latin typeface="Pretendard" pitchFamily="34" charset="0"/>
                <a:ea typeface="Pretendard" pitchFamily="34" charset="-122"/>
                <a:cs typeface="Pretendard" pitchFamily="34" charset="-120"/>
              </a:rPr>
              <a:t>08</a:t>
            </a:r>
            <a:endParaRPr lang="en-US" sz="900" dirty="0"/>
          </a:p>
        </p:txBody>
      </p:sp>
      <p:sp>
        <p:nvSpPr>
          <p:cNvPr id="40" name="Text 38"/>
          <p:cNvSpPr/>
          <p:nvPr/>
        </p:nvSpPr>
        <p:spPr>
          <a:xfrm>
            <a:off x="7010248" y="2380488"/>
            <a:ext cx="4267048" cy="478536"/>
          </a:xfrm>
          <a:prstGeom prst="rect">
            <a:avLst/>
          </a:prstGeom>
          <a:noFill/>
          <a:ln/>
        </p:spPr>
        <p:txBody>
          <a:bodyPr wrap="square" lIns="0" tIns="0" rIns="0" bIns="0" rtlCol="0" anchor="ctr"/>
          <a:lstStyle/>
          <a:p>
            <a:pPr indent="0" marL="0">
              <a:buNone/>
            </a:pPr>
            <a:r>
              <a:rPr lang="en-US" sz="1200" dirty="0">
                <a:solidFill>
                  <a:srgbClr val="111111"/>
                </a:solidFill>
                <a:latin typeface="Pretendard" pitchFamily="34" charset="0"/>
                <a:ea typeface="Pretendard" pitchFamily="34" charset="-122"/>
                <a:cs typeface="Pretendard" pitchFamily="34" charset="-120"/>
              </a:rPr>
              <a:t>GNB가 가로 오토레이아웃이고 각 탭이 Fill container다</a:t>
            </a:r>
            <a:endParaRPr lang="en-US" sz="1200" dirty="0"/>
          </a:p>
        </p:txBody>
      </p:sp>
      <p:sp>
        <p:nvSpPr>
          <p:cNvPr id="41" name="Shape 39"/>
          <p:cNvSpPr/>
          <p:nvPr/>
        </p:nvSpPr>
        <p:spPr>
          <a:xfrm>
            <a:off x="6297016" y="3005328"/>
            <a:ext cx="5254600" cy="478536"/>
          </a:xfrm>
          <a:prstGeom prst="rect">
            <a:avLst/>
          </a:prstGeom>
          <a:solidFill>
            <a:srgbClr val="F2F2F2"/>
          </a:solidFill>
          <a:ln w="12700">
            <a:solidFill>
              <a:srgbClr val="F2F2F2"/>
            </a:solidFill>
            <a:prstDash val="solid"/>
          </a:ln>
        </p:spPr>
      </p:sp>
      <p:sp>
        <p:nvSpPr>
          <p:cNvPr id="42" name="Shape 40"/>
          <p:cNvSpPr/>
          <p:nvPr/>
        </p:nvSpPr>
        <p:spPr>
          <a:xfrm>
            <a:off x="6571336" y="3089148"/>
            <a:ext cx="310896" cy="310896"/>
          </a:xfrm>
          <a:prstGeom prst="ellipse">
            <a:avLst/>
          </a:prstGeom>
          <a:solidFill>
            <a:srgbClr val="F2F2F2"/>
          </a:solidFill>
          <a:ln w="12700">
            <a:solidFill>
              <a:srgbClr val="111111"/>
            </a:solidFill>
            <a:prstDash val="solid"/>
          </a:ln>
        </p:spPr>
      </p:sp>
      <p:sp>
        <p:nvSpPr>
          <p:cNvPr id="43" name="Text 41"/>
          <p:cNvSpPr/>
          <p:nvPr/>
        </p:nvSpPr>
        <p:spPr>
          <a:xfrm>
            <a:off x="6571336" y="3089148"/>
            <a:ext cx="310896" cy="310896"/>
          </a:xfrm>
          <a:prstGeom prst="rect">
            <a:avLst/>
          </a:prstGeom>
          <a:noFill/>
          <a:ln/>
        </p:spPr>
        <p:txBody>
          <a:bodyPr wrap="square" lIns="0" tIns="0" rIns="0" bIns="0" rtlCol="0" anchor="ctr"/>
          <a:lstStyle/>
          <a:p>
            <a:pPr algn="ctr" indent="0" marL="0">
              <a:buNone/>
            </a:pPr>
            <a:r>
              <a:rPr lang="en-US" sz="900" b="1" dirty="0">
                <a:solidFill>
                  <a:srgbClr val="111111"/>
                </a:solidFill>
                <a:latin typeface="Pretendard" pitchFamily="34" charset="0"/>
                <a:ea typeface="Pretendard" pitchFamily="34" charset="-122"/>
                <a:cs typeface="Pretendard" pitchFamily="34" charset="-120"/>
              </a:rPr>
              <a:t>09</a:t>
            </a:r>
            <a:endParaRPr lang="en-US" sz="900" dirty="0"/>
          </a:p>
        </p:txBody>
      </p:sp>
      <p:sp>
        <p:nvSpPr>
          <p:cNvPr id="44" name="Text 42"/>
          <p:cNvSpPr/>
          <p:nvPr/>
        </p:nvSpPr>
        <p:spPr>
          <a:xfrm>
            <a:off x="7010248" y="3005328"/>
            <a:ext cx="4267048" cy="478536"/>
          </a:xfrm>
          <a:prstGeom prst="rect">
            <a:avLst/>
          </a:prstGeom>
          <a:noFill/>
          <a:ln/>
        </p:spPr>
        <p:txBody>
          <a:bodyPr wrap="square" lIns="0" tIns="0" rIns="0" bIns="0" rtlCol="0" anchor="ctr"/>
          <a:lstStyle/>
          <a:p>
            <a:pPr indent="0" marL="0">
              <a:buNone/>
            </a:pPr>
            <a:r>
              <a:rPr lang="en-US" sz="1200" dirty="0">
                <a:solidFill>
                  <a:srgbClr val="111111"/>
                </a:solidFill>
                <a:latin typeface="Pretendard" pitchFamily="34" charset="0"/>
                <a:ea typeface="Pretendard" pitchFamily="34" charset="-122"/>
                <a:cs typeface="Pretendard" pitchFamily="34" charset="-120"/>
              </a:rPr>
              <a:t>모든 화면의 하단 바가 GNB 인스턴스로 교체되었다</a:t>
            </a:r>
            <a:endParaRPr lang="en-US" sz="1200" dirty="0"/>
          </a:p>
        </p:txBody>
      </p:sp>
      <p:sp>
        <p:nvSpPr>
          <p:cNvPr id="45" name="Shape 43"/>
          <p:cNvSpPr/>
          <p:nvPr/>
        </p:nvSpPr>
        <p:spPr>
          <a:xfrm>
            <a:off x="6297016" y="3630168"/>
            <a:ext cx="5254600" cy="478536"/>
          </a:xfrm>
          <a:prstGeom prst="rect">
            <a:avLst/>
          </a:prstGeom>
          <a:solidFill>
            <a:srgbClr val="F2F2F2"/>
          </a:solidFill>
          <a:ln w="12700">
            <a:solidFill>
              <a:srgbClr val="F2F2F2"/>
            </a:solidFill>
            <a:prstDash val="solid"/>
          </a:ln>
        </p:spPr>
      </p:sp>
      <p:sp>
        <p:nvSpPr>
          <p:cNvPr id="46" name="Shape 44"/>
          <p:cNvSpPr/>
          <p:nvPr/>
        </p:nvSpPr>
        <p:spPr>
          <a:xfrm>
            <a:off x="6571336" y="3713988"/>
            <a:ext cx="310896" cy="310896"/>
          </a:xfrm>
          <a:prstGeom prst="ellipse">
            <a:avLst/>
          </a:prstGeom>
          <a:solidFill>
            <a:srgbClr val="F2F2F2"/>
          </a:solidFill>
          <a:ln w="12700">
            <a:solidFill>
              <a:srgbClr val="111111"/>
            </a:solidFill>
            <a:prstDash val="solid"/>
          </a:ln>
        </p:spPr>
      </p:sp>
      <p:sp>
        <p:nvSpPr>
          <p:cNvPr id="47" name="Text 45"/>
          <p:cNvSpPr/>
          <p:nvPr/>
        </p:nvSpPr>
        <p:spPr>
          <a:xfrm>
            <a:off x="6571336" y="3713988"/>
            <a:ext cx="310896" cy="310896"/>
          </a:xfrm>
          <a:prstGeom prst="rect">
            <a:avLst/>
          </a:prstGeom>
          <a:noFill/>
          <a:ln/>
        </p:spPr>
        <p:txBody>
          <a:bodyPr wrap="square" lIns="0" tIns="0" rIns="0" bIns="0" rtlCol="0" anchor="ctr"/>
          <a:lstStyle/>
          <a:p>
            <a:pPr algn="ctr" indent="0" marL="0">
              <a:buNone/>
            </a:pPr>
            <a:r>
              <a:rPr lang="en-US" sz="900" b="1" dirty="0">
                <a:solidFill>
                  <a:srgbClr val="111111"/>
                </a:solidFill>
                <a:latin typeface="Pretendard" pitchFamily="34" charset="0"/>
                <a:ea typeface="Pretendard" pitchFamily="34" charset="-122"/>
                <a:cs typeface="Pretendard" pitchFamily="34" charset="-120"/>
              </a:rPr>
              <a:t>10</a:t>
            </a:r>
            <a:endParaRPr lang="en-US" sz="900" dirty="0"/>
          </a:p>
        </p:txBody>
      </p:sp>
      <p:sp>
        <p:nvSpPr>
          <p:cNvPr id="48" name="Text 46"/>
          <p:cNvSpPr/>
          <p:nvPr/>
        </p:nvSpPr>
        <p:spPr>
          <a:xfrm>
            <a:off x="7010248" y="3630168"/>
            <a:ext cx="4267048" cy="478536"/>
          </a:xfrm>
          <a:prstGeom prst="rect">
            <a:avLst/>
          </a:prstGeom>
          <a:noFill/>
          <a:ln/>
        </p:spPr>
        <p:txBody>
          <a:bodyPr wrap="square" lIns="0" tIns="0" rIns="0" bIns="0" rtlCol="0" anchor="ctr"/>
          <a:lstStyle/>
          <a:p>
            <a:pPr indent="0" marL="0">
              <a:buNone/>
            </a:pPr>
            <a:r>
              <a:rPr lang="en-US" sz="1200" dirty="0">
                <a:solidFill>
                  <a:srgbClr val="111111"/>
                </a:solidFill>
                <a:latin typeface="Pretendard" pitchFamily="34" charset="0"/>
                <a:ea typeface="Pretendard" pitchFamily="34" charset="-122"/>
                <a:cs typeface="Pretendard" pitchFamily="34" charset="-120"/>
              </a:rPr>
              <a:t>직접 그린 하단 바가 한 개도 남아 있지 않다</a:t>
            </a:r>
            <a:endParaRPr lang="en-US" sz="1200" dirty="0"/>
          </a:p>
        </p:txBody>
      </p:sp>
      <p:sp>
        <p:nvSpPr>
          <p:cNvPr id="49" name="Shape 47"/>
          <p:cNvSpPr/>
          <p:nvPr/>
        </p:nvSpPr>
        <p:spPr>
          <a:xfrm>
            <a:off x="6297016" y="4255008"/>
            <a:ext cx="5254600" cy="478536"/>
          </a:xfrm>
          <a:prstGeom prst="rect">
            <a:avLst/>
          </a:prstGeom>
          <a:solidFill>
            <a:srgbClr val="F2F2F2"/>
          </a:solidFill>
          <a:ln w="12700">
            <a:solidFill>
              <a:srgbClr val="F2F2F2"/>
            </a:solidFill>
            <a:prstDash val="solid"/>
          </a:ln>
        </p:spPr>
      </p:sp>
      <p:sp>
        <p:nvSpPr>
          <p:cNvPr id="50" name="Shape 48"/>
          <p:cNvSpPr/>
          <p:nvPr/>
        </p:nvSpPr>
        <p:spPr>
          <a:xfrm>
            <a:off x="6571336" y="4338828"/>
            <a:ext cx="310896" cy="310896"/>
          </a:xfrm>
          <a:prstGeom prst="ellipse">
            <a:avLst/>
          </a:prstGeom>
          <a:solidFill>
            <a:srgbClr val="F2F2F2"/>
          </a:solidFill>
          <a:ln w="12700">
            <a:solidFill>
              <a:srgbClr val="111111"/>
            </a:solidFill>
            <a:prstDash val="solid"/>
          </a:ln>
        </p:spPr>
      </p:sp>
      <p:sp>
        <p:nvSpPr>
          <p:cNvPr id="51" name="Text 49"/>
          <p:cNvSpPr/>
          <p:nvPr/>
        </p:nvSpPr>
        <p:spPr>
          <a:xfrm>
            <a:off x="6571336" y="4338828"/>
            <a:ext cx="310896" cy="310896"/>
          </a:xfrm>
          <a:prstGeom prst="rect">
            <a:avLst/>
          </a:prstGeom>
          <a:noFill/>
          <a:ln/>
        </p:spPr>
        <p:txBody>
          <a:bodyPr wrap="square" lIns="0" tIns="0" rIns="0" bIns="0" rtlCol="0" anchor="ctr"/>
          <a:lstStyle/>
          <a:p>
            <a:pPr algn="ctr" indent="0" marL="0">
              <a:buNone/>
            </a:pPr>
            <a:r>
              <a:rPr lang="en-US" sz="900" b="1" dirty="0">
                <a:solidFill>
                  <a:srgbClr val="111111"/>
                </a:solidFill>
                <a:latin typeface="Pretendard" pitchFamily="34" charset="0"/>
                <a:ea typeface="Pretendard" pitchFamily="34" charset="-122"/>
                <a:cs typeface="Pretendard" pitchFamily="34" charset="-120"/>
              </a:rPr>
              <a:t>11</a:t>
            </a:r>
            <a:endParaRPr lang="en-US" sz="900" dirty="0"/>
          </a:p>
        </p:txBody>
      </p:sp>
      <p:sp>
        <p:nvSpPr>
          <p:cNvPr id="52" name="Text 50"/>
          <p:cNvSpPr/>
          <p:nvPr/>
        </p:nvSpPr>
        <p:spPr>
          <a:xfrm>
            <a:off x="7010248" y="4255008"/>
            <a:ext cx="4267048" cy="478536"/>
          </a:xfrm>
          <a:prstGeom prst="rect">
            <a:avLst/>
          </a:prstGeom>
          <a:noFill/>
          <a:ln/>
        </p:spPr>
        <p:txBody>
          <a:bodyPr wrap="square" lIns="0" tIns="0" rIns="0" bIns="0" rtlCol="0" anchor="ctr"/>
          <a:lstStyle/>
          <a:p>
            <a:pPr indent="0" marL="0">
              <a:buNone/>
            </a:pPr>
            <a:r>
              <a:rPr lang="en-US" sz="1200" dirty="0">
                <a:solidFill>
                  <a:srgbClr val="111111"/>
                </a:solidFill>
                <a:latin typeface="Pretendard" pitchFamily="34" charset="0"/>
                <a:ea typeface="Pretendard" pitchFamily="34" charset="-122"/>
                <a:cs typeface="Pretendard" pitchFamily="34" charset="-120"/>
              </a:rPr>
              <a:t>마스터를 바꿔 전 화면이 동시에 바뀌는 것을 확인했다</a:t>
            </a:r>
            <a:endParaRPr lang="en-US" sz="1200" dirty="0"/>
          </a:p>
        </p:txBody>
      </p:sp>
      <p:sp>
        <p:nvSpPr>
          <p:cNvPr id="53" name="Shape 51"/>
          <p:cNvSpPr/>
          <p:nvPr/>
        </p:nvSpPr>
        <p:spPr>
          <a:xfrm>
            <a:off x="6297016" y="4879848"/>
            <a:ext cx="5254600" cy="478536"/>
          </a:xfrm>
          <a:prstGeom prst="rect">
            <a:avLst/>
          </a:prstGeom>
          <a:solidFill>
            <a:srgbClr val="F2F2F2"/>
          </a:solidFill>
          <a:ln w="12700">
            <a:solidFill>
              <a:srgbClr val="F2F2F2"/>
            </a:solidFill>
            <a:prstDash val="solid"/>
          </a:ln>
        </p:spPr>
      </p:sp>
      <p:sp>
        <p:nvSpPr>
          <p:cNvPr id="54" name="Shape 52"/>
          <p:cNvSpPr/>
          <p:nvPr/>
        </p:nvSpPr>
        <p:spPr>
          <a:xfrm>
            <a:off x="6571336" y="4963668"/>
            <a:ext cx="310896" cy="310896"/>
          </a:xfrm>
          <a:prstGeom prst="ellipse">
            <a:avLst/>
          </a:prstGeom>
          <a:solidFill>
            <a:srgbClr val="F2F2F2"/>
          </a:solidFill>
          <a:ln w="12700">
            <a:solidFill>
              <a:srgbClr val="111111"/>
            </a:solidFill>
            <a:prstDash val="solid"/>
          </a:ln>
        </p:spPr>
      </p:sp>
      <p:sp>
        <p:nvSpPr>
          <p:cNvPr id="55" name="Text 53"/>
          <p:cNvSpPr/>
          <p:nvPr/>
        </p:nvSpPr>
        <p:spPr>
          <a:xfrm>
            <a:off x="6571336" y="4963668"/>
            <a:ext cx="310896" cy="310896"/>
          </a:xfrm>
          <a:prstGeom prst="rect">
            <a:avLst/>
          </a:prstGeom>
          <a:noFill/>
          <a:ln/>
        </p:spPr>
        <p:txBody>
          <a:bodyPr wrap="square" lIns="0" tIns="0" rIns="0" bIns="0" rtlCol="0" anchor="ctr"/>
          <a:lstStyle/>
          <a:p>
            <a:pPr algn="ctr" indent="0" marL="0">
              <a:buNone/>
            </a:pPr>
            <a:r>
              <a:rPr lang="en-US" sz="900" b="1" dirty="0">
                <a:solidFill>
                  <a:srgbClr val="111111"/>
                </a:solidFill>
                <a:latin typeface="Pretendard" pitchFamily="34" charset="0"/>
                <a:ea typeface="Pretendard" pitchFamily="34" charset="-122"/>
                <a:cs typeface="Pretendard" pitchFamily="34" charset="-120"/>
              </a:rPr>
              <a:t>12</a:t>
            </a:r>
            <a:endParaRPr lang="en-US" sz="900" dirty="0"/>
          </a:p>
        </p:txBody>
      </p:sp>
      <p:sp>
        <p:nvSpPr>
          <p:cNvPr id="56" name="Text 54"/>
          <p:cNvSpPr/>
          <p:nvPr/>
        </p:nvSpPr>
        <p:spPr>
          <a:xfrm>
            <a:off x="7010248" y="4879848"/>
            <a:ext cx="4267048" cy="478536"/>
          </a:xfrm>
          <a:prstGeom prst="rect">
            <a:avLst/>
          </a:prstGeom>
          <a:noFill/>
          <a:ln/>
        </p:spPr>
        <p:txBody>
          <a:bodyPr wrap="square" lIns="0" tIns="0" rIns="0" bIns="0" rtlCol="0" anchor="ctr"/>
          <a:lstStyle/>
          <a:p>
            <a:pPr indent="0" marL="0">
              <a:buNone/>
            </a:pPr>
            <a:r>
              <a:rPr lang="en-US" sz="1200" dirty="0">
                <a:solidFill>
                  <a:srgbClr val="111111"/>
                </a:solidFill>
                <a:latin typeface="Pretendard" pitchFamily="34" charset="0"/>
                <a:ea typeface="Pretendard" pitchFamily="34" charset="-122"/>
                <a:cs typeface="Pretendard" pitchFamily="34" charset="-120"/>
              </a:rPr>
              <a:t>360폭 프레임에서 깨지지 않는 것을 확인했다</a:t>
            </a:r>
            <a:endParaRPr lang="en-US" sz="1200" dirty="0"/>
          </a:p>
        </p:txBody>
      </p:sp>
      <p:sp>
        <p:nvSpPr>
          <p:cNvPr id="57" name="Shape 55"/>
          <p:cNvSpPr/>
          <p:nvPr/>
        </p:nvSpPr>
        <p:spPr>
          <a:xfrm>
            <a:off x="640080" y="5559552"/>
            <a:ext cx="10911535" cy="7315"/>
          </a:xfrm>
          <a:prstGeom prst="rect">
            <a:avLst/>
          </a:prstGeom>
          <a:solidFill>
            <a:srgbClr val="111111"/>
          </a:solidFill>
          <a:ln w="12700">
            <a:solidFill>
              <a:srgbClr val="111111"/>
            </a:solidFill>
            <a:prstDash val="solid"/>
          </a:ln>
        </p:spPr>
      </p:sp>
      <p:sp>
        <p:nvSpPr>
          <p:cNvPr id="58" name="Text 56"/>
          <p:cNvSpPr/>
          <p:nvPr/>
        </p:nvSpPr>
        <p:spPr>
          <a:xfrm>
            <a:off x="640080" y="5669280"/>
            <a:ext cx="10911535" cy="402336"/>
          </a:xfrm>
          <a:prstGeom prst="rect">
            <a:avLst/>
          </a:prstGeom>
          <a:noFill/>
          <a:ln/>
        </p:spPr>
        <p:txBody>
          <a:bodyPr wrap="square" lIns="0" tIns="0" rIns="0" bIns="0" rtlCol="0" anchor="ctr"/>
          <a:lstStyle/>
          <a:p>
            <a:pPr indent="0" marL="0">
              <a:buNone/>
            </a:pPr>
            <a:r>
              <a:rPr lang="en-US" sz="1250" b="1" dirty="0">
                <a:solidFill>
                  <a:srgbClr val="111111"/>
                </a:solidFill>
                <a:latin typeface="Pretendard" pitchFamily="34" charset="0"/>
                <a:ea typeface="Pretendard" pitchFamily="34" charset="-122"/>
                <a:cs typeface="Pretendard" pitchFamily="34" charset="-120"/>
              </a:rPr>
              <a:t>9~10번이 오늘의 실질입니다. 컴포넌트만 만들고 적용하지 않으면 다음 주에도 낱개 화면을 고치고 있게 됩니다.</a:t>
            </a:r>
            <a:endParaRPr lang="en-US" sz="1250" dirty="0"/>
          </a:p>
        </p:txBody>
      </p:sp>
      <p:sp>
        <p:nvSpPr>
          <p:cNvPr id="59" name="Shape 57"/>
          <p:cNvSpPr/>
          <p:nvPr/>
        </p:nvSpPr>
        <p:spPr>
          <a:xfrm>
            <a:off x="640080" y="6291072"/>
            <a:ext cx="10911535" cy="7315"/>
          </a:xfrm>
          <a:prstGeom prst="rect">
            <a:avLst/>
          </a:prstGeom>
          <a:solidFill>
            <a:srgbClr val="DCDCDC"/>
          </a:solidFill>
          <a:ln w="12700">
            <a:solidFill>
              <a:srgbClr val="DCDCDC"/>
            </a:solidFill>
            <a:prstDash val="solid"/>
          </a:ln>
        </p:spPr>
      </p:sp>
      <p:sp>
        <p:nvSpPr>
          <p:cNvPr id="60" name="Text 58"/>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서비스디자인 · 2주차 하단 GNB · 수치로 짓는 컴포넌트</a:t>
            </a:r>
            <a:endParaRPr lang="en-US" sz="850" dirty="0"/>
          </a:p>
        </p:txBody>
      </p:sp>
      <p:sp>
        <p:nvSpPr>
          <p:cNvPr id="61" name="Text 59"/>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P.12</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서비스디자인</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1 기준</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02</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HOMEWORK</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Black" pitchFamily="34" charset="0"/>
                <a:ea typeface="Pretendard Black" pitchFamily="34" charset="-122"/>
                <a:cs typeface="Pretendard Black" pitchFamily="34" charset="-120"/>
              </a:rPr>
              <a:t>과제와 다음 주</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3주차부터 나머지 공통 요소로 같은 작업을 확장합니다.</a:t>
            </a:r>
            <a:endParaRPr lang="en-US" sz="1150" dirty="0"/>
          </a:p>
        </p:txBody>
      </p:sp>
      <p:sp>
        <p:nvSpPr>
          <p:cNvPr id="9" name="Shape 7"/>
          <p:cNvSpPr/>
          <p:nvPr/>
        </p:nvSpPr>
        <p:spPr>
          <a:xfrm>
            <a:off x="640080" y="1719072"/>
            <a:ext cx="6309360" cy="896112"/>
          </a:xfrm>
          <a:prstGeom prst="rect">
            <a:avLst/>
          </a:prstGeom>
          <a:solidFill>
            <a:srgbClr val="FFFFFF"/>
          </a:solidFill>
          <a:ln w="12700">
            <a:solidFill>
              <a:srgbClr val="DCDCDC"/>
            </a:solidFill>
            <a:prstDash val="solid"/>
          </a:ln>
        </p:spPr>
      </p:sp>
      <p:sp>
        <p:nvSpPr>
          <p:cNvPr id="10" name="Shape 8"/>
          <p:cNvSpPr/>
          <p:nvPr/>
        </p:nvSpPr>
        <p:spPr>
          <a:xfrm>
            <a:off x="969264" y="1993392"/>
            <a:ext cx="329184" cy="329184"/>
          </a:xfrm>
          <a:prstGeom prst="ellipse">
            <a:avLst/>
          </a:prstGeom>
          <a:solidFill>
            <a:srgbClr val="111111"/>
          </a:solidFill>
          <a:ln w="12700">
            <a:solidFill>
              <a:srgbClr val="111111"/>
            </a:solidFill>
            <a:prstDash val="solid"/>
          </a:ln>
        </p:spPr>
      </p:sp>
      <p:sp>
        <p:nvSpPr>
          <p:cNvPr id="11" name="Text 9"/>
          <p:cNvSpPr/>
          <p:nvPr/>
        </p:nvSpPr>
        <p:spPr>
          <a:xfrm>
            <a:off x="969264" y="1993392"/>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Pretendard" pitchFamily="34" charset="0"/>
                <a:ea typeface="Pretendard" pitchFamily="34" charset="-122"/>
                <a:cs typeface="Pretendard" pitchFamily="34" charset="-120"/>
              </a:rPr>
              <a:t>1</a:t>
            </a:r>
            <a:endParaRPr lang="en-US" sz="1100" dirty="0"/>
          </a:p>
        </p:txBody>
      </p:sp>
      <p:sp>
        <p:nvSpPr>
          <p:cNvPr id="12" name="Text 10"/>
          <p:cNvSpPr/>
          <p:nvPr/>
        </p:nvSpPr>
        <p:spPr>
          <a:xfrm>
            <a:off x="1426464" y="1810512"/>
            <a:ext cx="5175504" cy="329184"/>
          </a:xfrm>
          <a:prstGeom prst="rect">
            <a:avLst/>
          </a:prstGeom>
          <a:noFill/>
          <a:ln/>
        </p:spPr>
        <p:txBody>
          <a:bodyPr wrap="square" lIns="0" tIns="0" rIns="0" bIns="0" rtlCol="0" anchor="ctr"/>
          <a:lstStyle/>
          <a:p>
            <a:pPr indent="0" marL="0">
              <a:buNone/>
            </a:pPr>
            <a:r>
              <a:rPr lang="en-US" sz="1400" dirty="0">
                <a:solidFill>
                  <a:srgbClr val="111111"/>
                </a:solidFill>
                <a:latin typeface="Pretendard Black" pitchFamily="34" charset="0"/>
                <a:ea typeface="Pretendard Black" pitchFamily="34" charset="-122"/>
                <a:cs typeface="Pretendard Black" pitchFamily="34" charset="-120"/>
              </a:rPr>
              <a:t>GNB 규격 명세서 확정</a:t>
            </a:r>
            <a:endParaRPr lang="en-US" sz="1400" dirty="0"/>
          </a:p>
        </p:txBody>
      </p:sp>
      <p:sp>
        <p:nvSpPr>
          <p:cNvPr id="13" name="Text 11"/>
          <p:cNvSpPr/>
          <p:nvPr/>
        </p:nvSpPr>
        <p:spPr>
          <a:xfrm>
            <a:off x="1426464" y="2121408"/>
            <a:ext cx="5175504" cy="420624"/>
          </a:xfrm>
          <a:prstGeom prst="rect">
            <a:avLst/>
          </a:prstGeom>
          <a:noFill/>
          <a:ln/>
        </p:spPr>
        <p:txBody>
          <a:bodyPr wrap="square" lIns="0" tIns="0" rIns="0" bIns="0" rtlCol="0" anchor="t"/>
          <a:lstStyle/>
          <a:p>
            <a:pPr indent="0" marL="0">
              <a:lnSpc>
                <a:spcPct val="122000"/>
              </a:lnSpc>
              <a:buNone/>
            </a:pPr>
            <a:r>
              <a:rPr lang="en-US" sz="1100" dirty="0">
                <a:solidFill>
                  <a:srgbClr val="6E6E6E"/>
                </a:solidFill>
                <a:latin typeface="Pretendard" pitchFamily="34" charset="0"/>
                <a:ea typeface="Pretendard" pitchFamily="34" charset="-122"/>
                <a:cs typeface="Pretendard" pitchFamily="34" charset="-120"/>
              </a:rPr>
              <a:t>항목 · 값 · 근거 세 칸을 모두 채웁니다. 근거 칸이 '보기 좋아서'인 항목이 하나라도 있으면 다시 생각하세요.</a:t>
            </a:r>
            <a:endParaRPr lang="en-US" sz="1100" dirty="0"/>
          </a:p>
        </p:txBody>
      </p:sp>
      <p:sp>
        <p:nvSpPr>
          <p:cNvPr id="14" name="Shape 12"/>
          <p:cNvSpPr/>
          <p:nvPr/>
        </p:nvSpPr>
        <p:spPr>
          <a:xfrm>
            <a:off x="640080" y="2743200"/>
            <a:ext cx="6309360" cy="896112"/>
          </a:xfrm>
          <a:prstGeom prst="rect">
            <a:avLst/>
          </a:prstGeom>
          <a:solidFill>
            <a:srgbClr val="FFFFFF"/>
          </a:solidFill>
          <a:ln w="12700">
            <a:solidFill>
              <a:srgbClr val="DCDCDC"/>
            </a:solidFill>
            <a:prstDash val="solid"/>
          </a:ln>
        </p:spPr>
      </p:sp>
      <p:sp>
        <p:nvSpPr>
          <p:cNvPr id="15" name="Shape 13"/>
          <p:cNvSpPr/>
          <p:nvPr/>
        </p:nvSpPr>
        <p:spPr>
          <a:xfrm>
            <a:off x="969264" y="3017520"/>
            <a:ext cx="329184" cy="329184"/>
          </a:xfrm>
          <a:prstGeom prst="ellipse">
            <a:avLst/>
          </a:prstGeom>
          <a:solidFill>
            <a:srgbClr val="111111"/>
          </a:solidFill>
          <a:ln w="12700">
            <a:solidFill>
              <a:srgbClr val="111111"/>
            </a:solidFill>
            <a:prstDash val="solid"/>
          </a:ln>
        </p:spPr>
      </p:sp>
      <p:sp>
        <p:nvSpPr>
          <p:cNvPr id="16" name="Text 14"/>
          <p:cNvSpPr/>
          <p:nvPr/>
        </p:nvSpPr>
        <p:spPr>
          <a:xfrm>
            <a:off x="969264" y="3017520"/>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Pretendard" pitchFamily="34" charset="0"/>
                <a:ea typeface="Pretendard" pitchFamily="34" charset="-122"/>
                <a:cs typeface="Pretendard" pitchFamily="34" charset="-120"/>
              </a:rPr>
              <a:t>2</a:t>
            </a:r>
            <a:endParaRPr lang="en-US" sz="1100" dirty="0"/>
          </a:p>
        </p:txBody>
      </p:sp>
      <p:sp>
        <p:nvSpPr>
          <p:cNvPr id="17" name="Text 15"/>
          <p:cNvSpPr/>
          <p:nvPr/>
        </p:nvSpPr>
        <p:spPr>
          <a:xfrm>
            <a:off x="1426464" y="2834640"/>
            <a:ext cx="5175504" cy="329184"/>
          </a:xfrm>
          <a:prstGeom prst="rect">
            <a:avLst/>
          </a:prstGeom>
          <a:noFill/>
          <a:ln/>
        </p:spPr>
        <p:txBody>
          <a:bodyPr wrap="square" lIns="0" tIns="0" rIns="0" bIns="0" rtlCol="0" anchor="ctr"/>
          <a:lstStyle/>
          <a:p>
            <a:pPr indent="0" marL="0">
              <a:buNone/>
            </a:pPr>
            <a:r>
              <a:rPr lang="en-US" sz="1400" dirty="0">
                <a:solidFill>
                  <a:srgbClr val="111111"/>
                </a:solidFill>
                <a:latin typeface="Pretendard Black" pitchFamily="34" charset="0"/>
                <a:ea typeface="Pretendard Black" pitchFamily="34" charset="-122"/>
                <a:cs typeface="Pretendard Black" pitchFamily="34" charset="-120"/>
              </a:rPr>
              <a:t>전 화면 인스턴스 적용</a:t>
            </a:r>
            <a:endParaRPr lang="en-US" sz="1400" dirty="0"/>
          </a:p>
        </p:txBody>
      </p:sp>
      <p:sp>
        <p:nvSpPr>
          <p:cNvPr id="18" name="Text 16"/>
          <p:cNvSpPr/>
          <p:nvPr/>
        </p:nvSpPr>
        <p:spPr>
          <a:xfrm>
            <a:off x="1426464" y="3145536"/>
            <a:ext cx="5175504" cy="420624"/>
          </a:xfrm>
          <a:prstGeom prst="rect">
            <a:avLst/>
          </a:prstGeom>
          <a:noFill/>
          <a:ln/>
        </p:spPr>
        <p:txBody>
          <a:bodyPr wrap="square" lIns="0" tIns="0" rIns="0" bIns="0" rtlCol="0" anchor="t"/>
          <a:lstStyle/>
          <a:p>
            <a:pPr indent="0" marL="0">
              <a:lnSpc>
                <a:spcPct val="122000"/>
              </a:lnSpc>
              <a:buNone/>
            </a:pPr>
            <a:r>
              <a:rPr lang="en-US" sz="1100" dirty="0">
                <a:solidFill>
                  <a:srgbClr val="6E6E6E"/>
                </a:solidFill>
                <a:latin typeface="Pretendard" pitchFamily="34" charset="0"/>
                <a:ea typeface="Pretendard" pitchFamily="34" charset="-122"/>
                <a:cs typeface="Pretendard" pitchFamily="34" charset="-120"/>
              </a:rPr>
              <a:t>1학기에 만든 모든 화면의 하단 바를 오늘 만든 컴포넌트 인스턴스로 교체합니다. 직접 그린 하단 바가 한 개도 남지 않아야 합니다.</a:t>
            </a:r>
            <a:endParaRPr lang="en-US" sz="1100" dirty="0"/>
          </a:p>
        </p:txBody>
      </p:sp>
      <p:sp>
        <p:nvSpPr>
          <p:cNvPr id="19" name="Shape 17"/>
          <p:cNvSpPr/>
          <p:nvPr/>
        </p:nvSpPr>
        <p:spPr>
          <a:xfrm>
            <a:off x="640080" y="3767328"/>
            <a:ext cx="6309360" cy="896112"/>
          </a:xfrm>
          <a:prstGeom prst="rect">
            <a:avLst/>
          </a:prstGeom>
          <a:solidFill>
            <a:srgbClr val="FFFFFF"/>
          </a:solidFill>
          <a:ln w="12700">
            <a:solidFill>
              <a:srgbClr val="DCDCDC"/>
            </a:solidFill>
            <a:prstDash val="solid"/>
          </a:ln>
        </p:spPr>
      </p:sp>
      <p:sp>
        <p:nvSpPr>
          <p:cNvPr id="20" name="Shape 18"/>
          <p:cNvSpPr/>
          <p:nvPr/>
        </p:nvSpPr>
        <p:spPr>
          <a:xfrm>
            <a:off x="969264" y="4041648"/>
            <a:ext cx="329184" cy="329184"/>
          </a:xfrm>
          <a:prstGeom prst="ellipse">
            <a:avLst/>
          </a:prstGeom>
          <a:solidFill>
            <a:srgbClr val="111111"/>
          </a:solidFill>
          <a:ln w="12700">
            <a:solidFill>
              <a:srgbClr val="111111"/>
            </a:solidFill>
            <a:prstDash val="solid"/>
          </a:ln>
        </p:spPr>
      </p:sp>
      <p:sp>
        <p:nvSpPr>
          <p:cNvPr id="21" name="Text 19"/>
          <p:cNvSpPr/>
          <p:nvPr/>
        </p:nvSpPr>
        <p:spPr>
          <a:xfrm>
            <a:off x="969264" y="404164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Pretendard" pitchFamily="34" charset="0"/>
                <a:ea typeface="Pretendard" pitchFamily="34" charset="-122"/>
                <a:cs typeface="Pretendard" pitchFamily="34" charset="-120"/>
              </a:rPr>
              <a:t>3</a:t>
            </a:r>
            <a:endParaRPr lang="en-US" sz="1100" dirty="0"/>
          </a:p>
        </p:txBody>
      </p:sp>
      <p:sp>
        <p:nvSpPr>
          <p:cNvPr id="22" name="Text 20"/>
          <p:cNvSpPr/>
          <p:nvPr/>
        </p:nvSpPr>
        <p:spPr>
          <a:xfrm>
            <a:off x="1426464" y="3858768"/>
            <a:ext cx="5175504" cy="329184"/>
          </a:xfrm>
          <a:prstGeom prst="rect">
            <a:avLst/>
          </a:prstGeom>
          <a:noFill/>
          <a:ln/>
        </p:spPr>
        <p:txBody>
          <a:bodyPr wrap="square" lIns="0" tIns="0" rIns="0" bIns="0" rtlCol="0" anchor="ctr"/>
          <a:lstStyle/>
          <a:p>
            <a:pPr indent="0" marL="0">
              <a:buNone/>
            </a:pPr>
            <a:r>
              <a:rPr lang="en-US" sz="1400" dirty="0">
                <a:solidFill>
                  <a:srgbClr val="111111"/>
                </a:solidFill>
                <a:latin typeface="Pretendard Black" pitchFamily="34" charset="0"/>
                <a:ea typeface="Pretendard Black" pitchFamily="34" charset="-122"/>
                <a:cs typeface="Pretendard Black" pitchFamily="34" charset="-120"/>
              </a:rPr>
              <a:t>360폭 검증</a:t>
            </a:r>
            <a:endParaRPr lang="en-US" sz="1400" dirty="0"/>
          </a:p>
        </p:txBody>
      </p:sp>
      <p:sp>
        <p:nvSpPr>
          <p:cNvPr id="23" name="Text 21"/>
          <p:cNvSpPr/>
          <p:nvPr/>
        </p:nvSpPr>
        <p:spPr>
          <a:xfrm>
            <a:off x="1426464" y="4169664"/>
            <a:ext cx="5175504" cy="420624"/>
          </a:xfrm>
          <a:prstGeom prst="rect">
            <a:avLst/>
          </a:prstGeom>
          <a:noFill/>
          <a:ln/>
        </p:spPr>
        <p:txBody>
          <a:bodyPr wrap="square" lIns="0" tIns="0" rIns="0" bIns="0" rtlCol="0" anchor="t"/>
          <a:lstStyle/>
          <a:p>
            <a:pPr indent="0" marL="0">
              <a:lnSpc>
                <a:spcPct val="122000"/>
              </a:lnSpc>
              <a:buNone/>
            </a:pPr>
            <a:r>
              <a:rPr lang="en-US" sz="1100" dirty="0">
                <a:solidFill>
                  <a:srgbClr val="6E6E6E"/>
                </a:solidFill>
                <a:latin typeface="Pretendard" pitchFamily="34" charset="0"/>
                <a:ea typeface="Pretendard" pitchFamily="34" charset="-122"/>
                <a:cs typeface="Pretendard" pitchFamily="34" charset="-120"/>
              </a:rPr>
              <a:t>화면 폭 360 프레임을 하나 만들어 GNB를 붙여 봅니다. 깨지는 곳을 찾아 오토레이아웃 설정을 고치세요.</a:t>
            </a:r>
            <a:endParaRPr lang="en-US" sz="1100" dirty="0"/>
          </a:p>
        </p:txBody>
      </p:sp>
      <p:sp>
        <p:nvSpPr>
          <p:cNvPr id="24" name="Shape 22"/>
          <p:cNvSpPr/>
          <p:nvPr/>
        </p:nvSpPr>
        <p:spPr>
          <a:xfrm>
            <a:off x="640080" y="4809744"/>
            <a:ext cx="6309360" cy="7315"/>
          </a:xfrm>
          <a:prstGeom prst="rect">
            <a:avLst/>
          </a:prstGeom>
          <a:solidFill>
            <a:srgbClr val="111111"/>
          </a:solidFill>
          <a:ln w="12700">
            <a:solidFill>
              <a:srgbClr val="111111"/>
            </a:solidFill>
            <a:prstDash val="solid"/>
          </a:ln>
        </p:spPr>
      </p:sp>
      <p:sp>
        <p:nvSpPr>
          <p:cNvPr id="25" name="Text 23"/>
          <p:cNvSpPr/>
          <p:nvPr/>
        </p:nvSpPr>
        <p:spPr>
          <a:xfrm>
            <a:off x="640080" y="4901184"/>
            <a:ext cx="6309360" cy="329184"/>
          </a:xfrm>
          <a:prstGeom prst="rect">
            <a:avLst/>
          </a:prstGeom>
          <a:noFill/>
          <a:ln/>
        </p:spPr>
        <p:txBody>
          <a:bodyPr wrap="square" lIns="0" tIns="0" rIns="0" bIns="0" rtlCol="0" anchor="ctr"/>
          <a:lstStyle/>
          <a:p>
            <a:pPr indent="0" marL="0">
              <a:buNone/>
            </a:pPr>
            <a:r>
              <a:rPr lang="en-US" sz="1200" b="1" dirty="0">
                <a:solidFill>
                  <a:srgbClr val="111111"/>
                </a:solidFill>
                <a:latin typeface="Pretendard" pitchFamily="34" charset="0"/>
                <a:ea typeface="Pretendard" pitchFamily="34" charset="-122"/>
                <a:cs typeface="Pretendard" pitchFamily="34" charset="-120"/>
              </a:rPr>
              <a:t>제출 — 3주차 수업 시작 전까지 · Figma 링크 제출</a:t>
            </a:r>
            <a:endParaRPr lang="en-US" sz="1200" dirty="0"/>
          </a:p>
        </p:txBody>
      </p:sp>
      <p:sp>
        <p:nvSpPr>
          <p:cNvPr id="26" name="Shape 24"/>
          <p:cNvSpPr/>
          <p:nvPr/>
        </p:nvSpPr>
        <p:spPr>
          <a:xfrm>
            <a:off x="7351776" y="1719072"/>
            <a:ext cx="4199839" cy="3803904"/>
          </a:xfrm>
          <a:prstGeom prst="rect">
            <a:avLst/>
          </a:prstGeom>
          <a:solidFill>
            <a:srgbClr val="111111"/>
          </a:solidFill>
          <a:ln w="12700">
            <a:solidFill>
              <a:srgbClr val="111111"/>
            </a:solidFill>
            <a:prstDash val="solid"/>
          </a:ln>
        </p:spPr>
      </p:sp>
      <p:sp>
        <p:nvSpPr>
          <p:cNvPr id="27" name="Text 25"/>
          <p:cNvSpPr/>
          <p:nvPr/>
        </p:nvSpPr>
        <p:spPr>
          <a:xfrm>
            <a:off x="7735824" y="1993392"/>
            <a:ext cx="3431743" cy="256032"/>
          </a:xfrm>
          <a:prstGeom prst="rect">
            <a:avLst/>
          </a:prstGeom>
          <a:noFill/>
          <a:ln/>
        </p:spPr>
        <p:txBody>
          <a:bodyPr wrap="square" lIns="0" tIns="0" rIns="0" bIns="0" rtlCol="0" anchor="ctr"/>
          <a:lstStyle/>
          <a:p>
            <a:pPr indent="0" marL="0">
              <a:buNone/>
            </a:pPr>
            <a:r>
              <a:rPr lang="en-US" sz="950" spc="260" kern="0" dirty="0">
                <a:solidFill>
                  <a:srgbClr val="9A9A9A"/>
                </a:solidFill>
                <a:latin typeface="Pretendard" pitchFamily="34" charset="0"/>
                <a:ea typeface="Pretendard" pitchFamily="34" charset="-122"/>
                <a:cs typeface="Pretendard" pitchFamily="34" charset="-120"/>
              </a:rPr>
              <a:t>NEXT WEEK</a:t>
            </a:r>
            <a:endParaRPr lang="en-US" sz="950" dirty="0"/>
          </a:p>
        </p:txBody>
      </p:sp>
      <p:sp>
        <p:nvSpPr>
          <p:cNvPr id="28" name="Text 26"/>
          <p:cNvSpPr/>
          <p:nvPr/>
        </p:nvSpPr>
        <p:spPr>
          <a:xfrm>
            <a:off x="7735824" y="2286000"/>
            <a:ext cx="3431743" cy="402336"/>
          </a:xfrm>
          <a:prstGeom prst="rect">
            <a:avLst/>
          </a:prstGeom>
          <a:noFill/>
          <a:ln/>
        </p:spPr>
        <p:txBody>
          <a:bodyPr wrap="square" lIns="0" tIns="0" rIns="0" bIns="0" rtlCol="0" anchor="ctr"/>
          <a:lstStyle/>
          <a:p>
            <a:pPr indent="0" marL="0">
              <a:buNone/>
            </a:pPr>
            <a:r>
              <a:rPr lang="en-US" sz="2600" dirty="0">
                <a:solidFill>
                  <a:srgbClr val="FFFFFF"/>
                </a:solidFill>
                <a:latin typeface="Pretendard Light" pitchFamily="34" charset="0"/>
                <a:ea typeface="Pretendard Light" pitchFamily="34" charset="-122"/>
                <a:cs typeface="Pretendard Light" pitchFamily="34" charset="-120"/>
              </a:rPr>
              <a:t>03주차</a:t>
            </a:r>
            <a:endParaRPr lang="en-US" sz="2600" dirty="0"/>
          </a:p>
        </p:txBody>
      </p:sp>
      <p:sp>
        <p:nvSpPr>
          <p:cNvPr id="29" name="Text 27"/>
          <p:cNvSpPr/>
          <p:nvPr/>
        </p:nvSpPr>
        <p:spPr>
          <a:xfrm>
            <a:off x="7735824" y="2743200"/>
            <a:ext cx="3431743" cy="512064"/>
          </a:xfrm>
          <a:prstGeom prst="rect">
            <a:avLst/>
          </a:prstGeom>
          <a:noFill/>
          <a:ln/>
        </p:spPr>
        <p:txBody>
          <a:bodyPr wrap="square" lIns="0" tIns="0" rIns="0" bIns="0" rtlCol="0" anchor="t"/>
          <a:lstStyle/>
          <a:p>
            <a:pPr indent="0" marL="0">
              <a:lnSpc>
                <a:spcPct val="116000"/>
              </a:lnSpc>
              <a:buNone/>
            </a:pPr>
            <a:r>
              <a:rPr lang="en-US" sz="1700" dirty="0">
                <a:solidFill>
                  <a:srgbClr val="FFFFFF"/>
                </a:solidFill>
                <a:latin typeface="Pretendard Black" pitchFamily="34" charset="0"/>
                <a:ea typeface="Pretendard Black" pitchFamily="34" charset="-122"/>
                <a:cs typeface="Pretendard Black" pitchFamily="34" charset="-120"/>
              </a:rPr>
              <a:t>공통 요소 확장</a:t>
            </a:r>
            <a:endParaRPr lang="en-US" sz="1700" dirty="0"/>
          </a:p>
        </p:txBody>
      </p:sp>
      <p:sp>
        <p:nvSpPr>
          <p:cNvPr id="30" name="Shape 28"/>
          <p:cNvSpPr/>
          <p:nvPr/>
        </p:nvSpPr>
        <p:spPr>
          <a:xfrm>
            <a:off x="7735824" y="3346704"/>
            <a:ext cx="3431743" cy="7315"/>
          </a:xfrm>
          <a:prstGeom prst="rect">
            <a:avLst/>
          </a:prstGeom>
          <a:solidFill>
            <a:srgbClr val="333333"/>
          </a:solidFill>
          <a:ln w="12700">
            <a:solidFill>
              <a:srgbClr val="333333"/>
            </a:solidFill>
            <a:prstDash val="solid"/>
          </a:ln>
        </p:spPr>
      </p:sp>
      <p:sp>
        <p:nvSpPr>
          <p:cNvPr id="31" name="Text 29"/>
          <p:cNvSpPr/>
          <p:nvPr/>
        </p:nvSpPr>
        <p:spPr>
          <a:xfrm>
            <a:off x="7735824" y="3493008"/>
            <a:ext cx="3431743" cy="1170432"/>
          </a:xfrm>
          <a:prstGeom prst="rect">
            <a:avLst/>
          </a:prstGeom>
          <a:noFill/>
          <a:ln/>
        </p:spPr>
        <p:txBody>
          <a:bodyPr wrap="square" lIns="0" tIns="0" rIns="0" bIns="0" rtlCol="0" anchor="t"/>
          <a:lstStyle/>
          <a:p>
            <a:pPr marL="177800" indent="-177800">
              <a:lnSpc>
                <a:spcPct val="120000"/>
              </a:lnSpc>
              <a:spcAft>
                <a:spcPts val="600"/>
              </a:spcAft>
              <a:buSzPct val="100000"/>
              <a:buChar char="•"/>
            </a:pPr>
            <a:r>
              <a:rPr lang="en-US" sz="1150" dirty="0">
                <a:solidFill>
                  <a:srgbClr val="DDDDDD"/>
                </a:solidFill>
                <a:latin typeface="Pretendard" pitchFamily="34" charset="0"/>
                <a:ea typeface="Pretendard" pitchFamily="34" charset="-122"/>
                <a:cs typeface="Pretendard" pitchFamily="34" charset="-120"/>
              </a:rPr>
              <a:t>상단 헤더와 안전 영역</a:t>
            </a:r>
            <a:endParaRPr lang="en-US" sz="1150" dirty="0"/>
          </a:p>
          <a:p>
            <a:pPr marL="177800" indent="-177800">
              <a:lnSpc>
                <a:spcPct val="120000"/>
              </a:lnSpc>
              <a:spcAft>
                <a:spcPts val="600"/>
              </a:spcAft>
              <a:buSzPct val="100000"/>
              <a:buChar char="•"/>
            </a:pPr>
            <a:r>
              <a:rPr lang="en-US" sz="1150" dirty="0">
                <a:solidFill>
                  <a:srgbClr val="DDDDDD"/>
                </a:solidFill>
                <a:latin typeface="Pretendard" pitchFamily="34" charset="0"/>
                <a:ea typeface="Pretendard" pitchFamily="34" charset="-122"/>
                <a:cs typeface="Pretendard" pitchFamily="34" charset="-120"/>
              </a:rPr>
              <a:t>리스트 · 카드 규격</a:t>
            </a:r>
            <a:endParaRPr lang="en-US" sz="1150" dirty="0"/>
          </a:p>
          <a:p>
            <a:pPr marL="177800" indent="-177800">
              <a:lnSpc>
                <a:spcPct val="120000"/>
              </a:lnSpc>
              <a:spcAft>
                <a:spcPts val="600"/>
              </a:spcAft>
              <a:buSzPct val="100000"/>
              <a:buChar char="•"/>
            </a:pPr>
            <a:r>
              <a:rPr lang="en-US" sz="1150" dirty="0">
                <a:solidFill>
                  <a:srgbClr val="DDDDDD"/>
                </a:solidFill>
                <a:latin typeface="Pretendard" pitchFamily="34" charset="0"/>
                <a:ea typeface="Pretendard" pitchFamily="34" charset="-122"/>
                <a:cs typeface="Pretendard" pitchFamily="34" charset="-120"/>
              </a:rPr>
              <a:t>간격 스케일 통일</a:t>
            </a:r>
            <a:endParaRPr lang="en-US" sz="1150" dirty="0"/>
          </a:p>
          <a:p>
            <a:pPr marL="177800" indent="-177800">
              <a:lnSpc>
                <a:spcPct val="120000"/>
              </a:lnSpc>
              <a:spcAft>
                <a:spcPts val="600"/>
              </a:spcAft>
              <a:buSzPct val="100000"/>
              <a:buChar char="•"/>
            </a:pPr>
            <a:r>
              <a:rPr lang="en-US" sz="1150" dirty="0">
                <a:solidFill>
                  <a:srgbClr val="DDDDDD"/>
                </a:solidFill>
                <a:latin typeface="Pretendard" pitchFamily="34" charset="0"/>
                <a:ea typeface="Pretendard" pitchFamily="34" charset="-122"/>
                <a:cs typeface="Pretendard" pitchFamily="34" charset="-120"/>
              </a:rPr>
              <a:t>컴포넌트 이름 규칙</a:t>
            </a:r>
            <a:endParaRPr lang="en-US" sz="1150" dirty="0"/>
          </a:p>
        </p:txBody>
      </p:sp>
      <p:sp>
        <p:nvSpPr>
          <p:cNvPr id="32" name="Shape 30"/>
          <p:cNvSpPr/>
          <p:nvPr/>
        </p:nvSpPr>
        <p:spPr>
          <a:xfrm>
            <a:off x="7735824" y="4700016"/>
            <a:ext cx="3431743" cy="7315"/>
          </a:xfrm>
          <a:prstGeom prst="rect">
            <a:avLst/>
          </a:prstGeom>
          <a:solidFill>
            <a:srgbClr val="333333"/>
          </a:solidFill>
          <a:ln w="12700">
            <a:solidFill>
              <a:srgbClr val="333333"/>
            </a:solidFill>
            <a:prstDash val="solid"/>
          </a:ln>
        </p:spPr>
      </p:sp>
      <p:sp>
        <p:nvSpPr>
          <p:cNvPr id="33" name="Text 31"/>
          <p:cNvSpPr/>
          <p:nvPr/>
        </p:nvSpPr>
        <p:spPr>
          <a:xfrm>
            <a:off x="7735824" y="4809744"/>
            <a:ext cx="3431743" cy="237744"/>
          </a:xfrm>
          <a:prstGeom prst="rect">
            <a:avLst/>
          </a:prstGeom>
          <a:noFill/>
          <a:ln/>
        </p:spPr>
        <p:txBody>
          <a:bodyPr wrap="square" lIns="0" tIns="0" rIns="0" bIns="0" rtlCol="0" anchor="ctr"/>
          <a:lstStyle/>
          <a:p>
            <a:pPr indent="0" marL="0">
              <a:buNone/>
            </a:pPr>
            <a:r>
              <a:rPr lang="en-US" sz="900" spc="160" kern="0" dirty="0">
                <a:solidFill>
                  <a:srgbClr val="9B9B9B"/>
                </a:solidFill>
                <a:latin typeface="Pretendard" pitchFamily="34" charset="0"/>
                <a:ea typeface="Pretendard" pitchFamily="34" charset="-122"/>
                <a:cs typeface="Pretendard" pitchFamily="34" charset="-120"/>
              </a:rPr>
              <a:t>미리 준비할 것</a:t>
            </a:r>
            <a:endParaRPr lang="en-US" sz="900" dirty="0"/>
          </a:p>
        </p:txBody>
      </p:sp>
      <p:sp>
        <p:nvSpPr>
          <p:cNvPr id="34" name="Text 32"/>
          <p:cNvSpPr/>
          <p:nvPr/>
        </p:nvSpPr>
        <p:spPr>
          <a:xfrm>
            <a:off x="7735824" y="5065776"/>
            <a:ext cx="3431743" cy="457200"/>
          </a:xfrm>
          <a:prstGeom prst="rect">
            <a:avLst/>
          </a:prstGeom>
          <a:noFill/>
          <a:ln/>
        </p:spPr>
        <p:txBody>
          <a:bodyPr wrap="square" lIns="0" tIns="0" rIns="0" bIns="0" rtlCol="0" anchor="t"/>
          <a:lstStyle/>
          <a:p>
            <a:pPr indent="0" marL="0">
              <a:lnSpc>
                <a:spcPct val="120000"/>
              </a:lnSpc>
              <a:buNone/>
            </a:pPr>
            <a:r>
              <a:rPr lang="en-US" sz="1100" b="1" dirty="0">
                <a:solidFill>
                  <a:srgbClr val="FFFFFF"/>
                </a:solidFill>
                <a:latin typeface="Pretendard" pitchFamily="34" charset="0"/>
                <a:ea typeface="Pretendard" pitchFamily="34" charset="-122"/>
                <a:cs typeface="Pretendard" pitchFamily="34" charset="-120"/>
              </a:rPr>
              <a:t>GNB 규격 명세서 · 인스턴스 적용을 마친 Figma 파일</a:t>
            </a:r>
            <a:endParaRPr lang="en-US" sz="1100" dirty="0"/>
          </a:p>
        </p:txBody>
      </p:sp>
      <p:sp>
        <p:nvSpPr>
          <p:cNvPr id="35" name="Shape 33"/>
          <p:cNvSpPr/>
          <p:nvPr/>
        </p:nvSpPr>
        <p:spPr>
          <a:xfrm>
            <a:off x="640080" y="6291072"/>
            <a:ext cx="10911535" cy="7315"/>
          </a:xfrm>
          <a:prstGeom prst="rect">
            <a:avLst/>
          </a:prstGeom>
          <a:solidFill>
            <a:srgbClr val="DCDCDC"/>
          </a:solidFill>
          <a:ln w="12700">
            <a:solidFill>
              <a:srgbClr val="DCDCDC"/>
            </a:solidFill>
            <a:prstDash val="solid"/>
          </a:ln>
        </p:spPr>
      </p:sp>
      <p:sp>
        <p:nvSpPr>
          <p:cNvPr id="36" name="Text 34"/>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서비스디자인 · 2주차 하단 GNB · 수치로 짓는 컴포넌트</a:t>
            </a:r>
            <a:endParaRPr lang="en-US" sz="850" dirty="0"/>
          </a:p>
        </p:txBody>
      </p:sp>
      <p:sp>
        <p:nvSpPr>
          <p:cNvPr id="37" name="Text 35"/>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P.13</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MIN.D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서비스디자인 · 2주차 하단 GNB · 수치로 짓는 컴포넌트</dc:title>
  <dc:subject>원광대학교 2026-2 · 학부 3학년 · 주 3시간 × 15주 · 1학기 기획을 졸업 전시 패널 데이터로</dc:subject>
  <dc:creator>MIN.D</dc:creator>
  <cp:lastModifiedBy>MIN.D</cp:lastModifiedBy>
  <cp:revision>1</cp:revision>
  <dcterms:created xsi:type="dcterms:W3CDTF">2026-09-06T01:53:22Z</dcterms:created>
  <dcterms:modified xsi:type="dcterms:W3CDTF">2026-09-06T01:53:22Z</dcterms:modified>
</cp:coreProperties>
</file>