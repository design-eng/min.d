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서비스디자인 일곱 번째 시간입니다.
지난주에 흐름 하나를 만들었습니다. 오늘은 둘을 더합니다.
그런데 둘을 더하면 바로 문제가 하나 생깁니다. 같은 화면이 여러 흐름에 나와요.
장소 상세를 예로 들면, 목록에서도 들어가고 보관함에서도 들어가고 검색 결과에서도 들어갑니다. 세 흐름에 같은 화면이 들어가는 거죠.
여기서 많이들 세 번 그립니다. 그러면 하나를 고칠 때 셋을 찾아 고치게 됩니다.
오늘 그걸 정리하고, 전체 화면 목록을 확정합니다.
그리고 하나 더 안내드릴 것이 있습니다. 다음 주가 중간평가입니다. 중간 보고서를 내셔야 해요. 오늘 끝나기 전에 무엇을 담는지 자세히 말씀드리겠습니다.
미리 말씀드리면, 오늘까지 한 것을 모으면 보고서의 대부분이 됩니다. 새로 만드실 것은 많지 않습니다.
[운영 메모]
중간 보고서 부담을 먼저 덜어 줄 것. '오늘까지 한 것을 모으면 된다'를 표지에서 말해 두면 수업 집중도가 유지된다. 실제로 새로 만들 것은 표지 한 장과 남은 일정 한 장뿐이다.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먼저 흐름을 늘리는 이야기입니다.
지난주에 하나를 만드셨지요. 오늘 둘을 더합니다.
그런데 아무거나 둘이 아닙니다. 고르는 기준이 있어요.
[운영 메모]
25분 구간. 흐름을 많이 만들려는 학생을 막는 것이 이 파트의 숨은 목적이다. 셋이면 충분하다.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흐름을 고르는 기준 세 가지입니다.
첫째, 핵심 흐름과 이어지는 것. 지난주에 만든 흐름이 끝나는 자리에서 다음 흐름이 시작되는 게 좋습니다. 저장을 했으면 그다음은 보관함에서 꺼내 쓰는 흐름이겠지요.
둘째, 패널에 실릴 것. 졸업 전시 패널에 올릴 장면이 나오는 흐름을 먼저 만드세요. 설정 화면 같은 건 나중입니다. 패널에 설정 화면 올리실 건 아니잖아요.
셋째, 상태가 바뀌는 것. 사용자가 무언가를 만들거나 바꾸거나 지우는 흐름이요. 보기만 하는 흐름은 쉽고, 상태가 바뀌는 흐름이 어렵습니다. 어려운 걸 먼저 하셔야 나중에 시간이 모자라지 않습니다.
그리고 아래 문장을 보세요. 셋이면 충분합니다.
흐름을 다섯 개, 여섯 개 만들려는 분이 매년 계십니다. 그러면 전부 얕아져요. 셋을 끝까지 만든 사람이 다섯을 반쯤 만든 사람보다 패널에서 훨씬 낫습니다.
[운영 메모]
흐름 수를 늘리려는 학생을 여기서 막을 것. 2번 기준은 12주차 패널 구간과 직접 이어진다.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흐름에는 성격이 세 가지 있습니다. 자기 흐름 셋이 어느 쪽인지 보세요.
첫째, 찾는 흐름. 목록을 보고 고르고 들어가는 겁니다. 대부분의 서비스에 있고 제일 먼저 만드는 흐름이에요. 어렵지 않습니다.
둘째, 만드는 흐름. 사용자가 무언가를 입력하거나 고르거나 조합해서 결과를 남기는 겁니다. 코스를 만들거나 글을 쓰거나 주문을 하거나.
이게 제일 어렵습니다. 입력이 들어가고, 중간에 저장이 있고, 잘못 넣었을 때가 있고, 다 못 하고 나갔을 때가 있어요. 화면이 제일 많이 나오는 흐름입니다.
셋째, 돌보는 흐름. 만들어 둔 것을 다시 보고 고치고 지우는 겁니다. 보관함이나 내 기록 같은 데서 일어나죠.
여기서 많이 빠뜨리는 게 지우기입니다. 만드는 건 그려 놓고 지우는 건 안 그려요. 그런데 지우기는 되돌릴 수 없어서 확인을 받아야 하고, 지우고 나면 목록이 비는 경우도 생깁니다. 지난주에 만든 빈 화면이 여기서 쓰입니다.
셋 중에 하나는 반드시 만드는 흐름이어야 합니다. 찾는 흐름만 셋 만들면 서비스가 아니라 목록 앱이 됩니다.
[운영 메모]
'찾는 흐름'만 세 개 만들어 오는 학생이 매년 있다. 실습 순회에서 이 점을 먼저 확인할 것. 지우기 흐름은 5주차 빈 화면과 이어 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두 번째입니다. 오늘의 중심이에요.
흐름을 둘 더하면 바로 생기는 문제입니다. 같은 화면이 여러 흐름에 나와요.
이걸 어떻게 다루느냐가 다음 다섯 주의 작업량을 가릅니다.
[운영 메모]
30분 구간. 도판 한 장에 15분을 쓸 것. 여기를 정리하지 않으면 9~11주차 화면 작업이 세 배가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도판을 보시겠습니다.
왼쪽에 들어오는 길이 셋입니다. 흐름 A 는 주변 장소 목록에서, 흐름 B 는 보관함에서, 흐름 C 는 검색 결과에서.
가운데가 장소 상세입니다. 세 흐름이 함께 쓰는 한 장이에요.
오른쪽을 보세요. 위가 똑같이 쓰는 것, 아래가 흐름마다 달라지는 것입니다.
똑같은 건 구조와 규격과 정보입니다. 사진이 위에 있고 이름이 오고 분류와 거리가 오고 설명이 오고 버튼이 온다. 이 순서는 어디서 들어오든 같아요. 사진 높이도 여백도 글자 단계도 같고요.
그래서 한 벌만 만듭니다.
아래가 중요합니다. 네 가지가 달라져요.
첫째, 꺾쇠의 목적지. A 로 들어왔으면 목록으로, B 로 들어왔으면 보관함으로, C 로 들어왔으면 검색 결과로 돌아갑니다. 지난주에 말씀드린 들어온 길로 돌아간다는 원칙이요.
둘째, 헤더 제목. 셋 다 장소 이름입니다. 들어온 곳 이름을 쓰지 마세요. '보관함 상세' 같은 제목을 다는 분이 있는데, 그러면 같은 화면이 아니게 됩니다.
셋째, 버튼 상태. B 로 들어오면 이미 저장한 장소니까 '저장됨'으로 보여야죠. 같은 화면인데 상태가 다른 겁니다. 지난주 도판의 03번과 같은 이야기예요.
넷째, 검색어. C 에서 돌아갔을 때 검색어와 결과가 남아 있어야 합니다. 이건 화면에 안 보이는 거라 글로 적으셔야 해요.
정리하면, 겹치는 화면은 세 번 그리는 게 아니라 한 번 그리고 세 가지를 적어 두는 겁니다.
피그마에서는 그 화면 옆에 텍스트로 적으시면 됩니다. 들어오는 길 세 개와 각각 달라지는 것. 개발자가 보는 건 결국 그 메모예요.
[운영 메모]
'한 번 그리고 적어 둔다'가 결론. 학생들이 흐름마다 화면을 복제해 두는 것을 실습 순회에서 반드시 잡을 것. 복제본이 있으면 9주차 이후 수정이 지옥이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겹치는 화면을 만나면 네 가지를 정하시면 됩니다.
첫째, 돌아가는 곳. 들어온 곳으로 돌아갑니다. 이게 기본이에요. 다만 예외가 하나 있는데, 흐름이 끝나고 나서는 들어온 곳이 아니라 결과가 있는 곳으로 보내는 게 맞을 때가 있습니다. 코스를 만들고 나면 만들기 화면으로 돌아가는 게 아니라 만든 코스를 보여 줘야죠.
둘째, 처음 보이는 상태. 보관함에서 들어오면 저장됨, 목록에서 들어오면 저장 안 됨. 어디서 들어왔느냐에 따라 처음 모습이 다릅니다.
셋째, 보여 줄 것과 숨길 것. 가끔 흐름에 따라 일부만 보여야 할 때가 있어요. 검색에서 들어왔으면 '비슷한 장소' 같은 추천을 더 보여 준다거나요. 이런 게 있으면 적어 두세요. 없으면 없다고 적으시고요.
넷째, 돌아갔을 때 남아야 할 것. 스크롤 위치, 검색어, 선택한 필터. 지난주 이야기와 같습니다.
이 네 가지를 화면 옆에 적으면 됩니다. 길게 쓰실 필요 없어요. 네 줄이면 충분합니다.
[운영 메모]
1번 예외(완료 후 결과 화면으로)는 '만드는 흐름'에서 반드시 나온다. 코스 만들기 같은 사례로 설명할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가끔 헷갈리는 경우가 있습니다. 비슷한데 같은 화면으로 묶어야 할지 나눠야 할지.
왼쪽이 묶는 경우, 오른쪽이 나누는 경우입니다.
정보가 같으면 묶습니다. 항목이 다르면 나눠요.
배치가 같으면 묶고, 구조가 다르면 나눕니다.
하는 일이 같으면 묶습니다. 보는 거랑 고치는 건 다른 일이에요. 그래서 상세 보기와 수정하기는 나누는 게 맞습니다.
나가는 길이 하나면 묶고, 여러 갈래로 갈라지면 나눕니다.
그리고 마지막 줄. 고칠 때 같이 고쳐야 하면 묶으세요. 따로 고칠 일이 생기면 나누시고요. 이게 제일 실용적인 기준입니다.
헷갈릴 때는 묶는 쪽을 먼저 해 보세요. 묶었다가 나누는 건 쉬운데, 나눠 놓고 묶는 건 어렵습니다.
[운영 메모]
'묶었다가 나누기가 쉽다'를 기억하게 할 것. 학생들은 조금만 달라도 새 화면을 만드는 쪽으로 기운다.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세 번째입니다. 표 하나를 만듭니다.
지금까지 만든 화면을 전부 한 표에 적는 겁니다. 간단해 보이는데 해 보시면 압니다. 자기가 몇 장을 만들었는지 모르시는 분이 대부분이에요.
이 표가 다음 주 보고서의 중심이고, 남은 여덟 주 동안 작업 지시서가 됩니다.
[운영 메모]
25분 구간. 표 양식을 화면에 띄워 놓고 교수가 직접 한 줄을 채워 보이면 바로 따라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표가 여섯 칸입니다. 왼쪽을 보세요.
첫째, 번호. 흐름별로 매기세요. A-01, A-02 이런 식으로요. 전체 일련번호로 하면 중간에 하나 끼울 때 전부 밀립니다.
둘째, 화면 이름. 짧게. '장소 상세', '코스 만들기 1단계'. 파일 안의 프레임 이름과 똑같이 쓰세요. 안 그러면 나중에 못 찾습니다.
셋째, 속한 흐름. 여럿이면 여럿 다 적습니다. A, B, C 이렇게요. 여기가 두 개 이상인 화면이 아까 말씀드린 겹치는 화면입니다.
넷째, 상태. 완료인지 작업 중인지 아직 없는지. 아직 없는 화면도 반드시 적으세요. 이 표는 만든 것의 목록이 아니라 필요한 것의 목록입니다.
다섯째, 패널 게재. 졸업 전시 패널에 올릴 화면에 표시하세요. 지금은 후보로 적으시면 됩니다. 12주차에 확정합니다.
여섯째, 메모. 겹치는 화면의 네 가지나, 돌아올 때 유지할 것을 적는 자리입니다.
오른쪽이 표를 다 채우고 나서 보실 것들입니다.
전체 몇 장인지. 열다섯에서 스물다섯 장 사이면 적당합니다. 열 장 아래면 흐름이 얕은 거고, 서른 장 넘으면 남은 기간에 못 끝냅니다.
그리고 상태가 '없음'인 화면이 몇 장인지. 그게 남은 작업량입니다. 주당 몇 장을 만들어야 하는지 바로 나오죠.
마지막, 패널 후보가 다섯에서 여덟 장 있는지. 이게 모자라면 지금 흐름을 다시 고르셔야 합니다.
[운영 메모]
'없음'을 적게 하는 것이 이 표의 핵심이다. 학생들은 만든 것만 적으려 한다. 순회하며 '빠진 화면이 정말 없습니까'를 물을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35분 실습입니다.
먼저 8분. 흐름 둘을 고르고 각각 네 지점을 적으세요. 아직 그리지 마시고 화면 이름만요. 아까 기준 세 가지 보시고 고르시면 됩니다.
다음 10분. 겹치는 화면을 찾습니다. 지난주 흐름까지 셋을 놓고 보면서 같은 화면이 두 번 이상 나오는 걸 표시하세요.
여기서 복제본이 있으면 지우셔야 합니다. 하나만 남기고요.
그다음 10분. 겹치는 화면마다 네 가지를 옆에 적습니다. 돌아가는 곳, 처음 상태, 보여 줄 것, 남아야 할 것.
마지막 7분. 화면 목록표를 만듭니다. 여섯 칸짜리요. 오늘 다 못 채우셔도 됩니다. 틀을 만들고 번호와 이름까지만 넣으시면 과제로 이어 가실 수 있습니다.
순회하면서 보겠습니다. 복제본 있으신 분은 손 드세요. 같이 정리하겠습니다.
[운영 메모]
2단계에서 복제본 정리가 핵심이다. 순회하며 직접 확인할 것. 여기서 잡지 않으면 9주차 이후 수정 비용이 몇 배가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마지막 20분은 다음 주 안내입니다.
다음 주가 중간평가예요. 중간 보고서를 내셔야 합니다.
먼저 안심하실 이야기부터. 새로 만드실 게 많지 않습니다. 2주차부터 지금까지 만든 걸 모아서 순서대로 놓는 일이에요.
새로 쓰실 건 두 장입니다.
[운영 메모]
20분 구간. 보고서 부담이 커 보이면 학생들이 이번 주 작업을 놓는다. '모으는 일'이라는 점을 반복할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보고서는 여덟 장입니다. 순서대로 말씀드리겠습니다.
첫 장, 표지. 서비스 이름, 한 문장 정의, 학번과 이름. 한 문장 정의는 2주차 발표 때 쓰셨던 겁니다. 그동안 바뀌었으면 바뀐 걸로 쓰세요. 이게 새로 쓰시는 한 장입니다.
둘째 장, 작업 범위. 2주차에 낸 확정서를 지금 기준으로 고치시면 됩니다. 만들 화면, 패널에 실을 화면, 비어 있는 것.
셋째 장, 규격 표. 3주차부터 쌓아 오신 겁니다. 기준 폭, GNB, 헤더, 리스트, 카드, 아이콘, 입력, 버튼, 세그먼트 탭. 한 장에 들어갑니다.
넷째 장, 토큰 표. 색과 글자와 간격. 4주차 것이요.
다섯째 장, 컴포넌트 목록. 만든 컴포넌트와 배리언트, 그리고 화면에 몇 번 쓰였는지. 피그마에서 인스턴스 수가 나옵니다.
여섯째 장, 흐름 지도와 흐름 셋. 오늘 하신 겁니다.
일곱째 장, 화면 목록표. 역시 오늘 겁니다. 이게 보고서에서 제일 중요한 장이에요.
여덟째 장, 남은 일정. 9주차부터 15주차까지 무엇을 언제 할지. 화면 목록표의 '없음' 개수를 주차로 나누시면 됩니다. 이게 새로 쓰시는 또 한 장입니다.
보셨죠. 새로 쓰는 건 첫 장과 마지막 장뿐입니다. 나머지 여섯 장은 이미 가지고 계신 걸 모으는 겁니다.
분량을 늘리려고 설명을 길게 쓰지 마세요. 표와 그림 위주로, 글은 짧게.
[운영 메모]
여덟 장 구성을 인쇄해 나눠 줄 것. 분량을 늘리려 설명을 길게 쓰는 학생이 나오는데, 표와 그림 위주로 쓰게 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평가에서 무엇을 보는지 말씀드리겠습니다. 왼쪽입니다.
첫째, 시스템으로 조립되었는가. 직접 그린 요소가 남아 있는지 봅니다. 이게 2학기 전체의 기준이에요.
둘째, 흐름이 이어지는가. 화면 수가 아니라 따라갈 수 있는지를 봅니다. 열다섯 장이 이어지면 좋고, 스물다섯 장이 흩어져 있으면 좋지 않습니다.
셋째, 규격이 지켜지는가. 같은 요소가 화면마다 같은 크기와 같은 자리에 있는지.
넷째, 상태와 예외가 있는가. 빈 화면, 로딩, 오류. 정상 화면만 있으면 절반만 한 겁니다.
다섯째, 남은 작업이 현실적인가. 이게 마지막 장이에요. 남은 일곱 주에 못 할 계획을 적어 내시면 그 자체가 문제입니다.
오른쪽이 내는 방법입니다.
PDF 와 Figma 링크 둘 다 내세요. PDF 만 내시면 안 됩니다. 컴포넌트와 인스턴스는 파일을 열어 봐야 알 수 있거든요.
파일 이름은 학번_이름_중간보고서.
다음 주 수업 시작 전까지입니다. 수업 중에 올리시면 늦은 걸로 처리됩니다.
그리고 다음 주 수업 방식. 발표가 아닙니다. 한 사람씩 10분 정도 보고서를 띄워 놓고 묻는 자리예요. 발표 준비는 따로 안 하셔도 됩니다.
대신 보고서를 본인이 설명할 수 있어야 합니다. 화면 목록표에서 아무 줄이나 짚어서 물어볼 거예요.
[운영 메모]
평가 항목 다섯 가지는 2학기 전체 기준과 같다. 1번과 4번이 변별력이 크다. 제출 형식(둘 다, 파일 이름, 시각)을 반드시 말로 반복할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마지막 10분입니다. 2인 1조로 서로의 파일을 봅니다.
왼쪽 네 가지를 확인하세요.
첫째, 흐름이 셋이고 그중 하나가 만드는 흐름인가.
둘째, 겹치는 화면이 한 벌인가. 복제본이 있는지 찾아보세요. 같은 이름의 프레임이 두 개 있으면 복제본입니다.
셋째, 겹치는 화면 옆에 네 가지가 적혀 있는가.
넷째, 화면 목록표에 '없음'인 줄이 있는가. 이게 없으면 정직하게 안 쓰신 겁니다. 빠진 화면이 하나도 없을 수는 없어요.
오른쪽은 오늘 자주 나오는 문제입니다.
세 번째를 보세요. 흐름마다 화면을 복사해 둔 경우. 제일 많이 나오는 문제고 제일 비싼 문제입니다.
[운영 메모]
복제본 확인은 서로 찾게 하는 편이 빠르다. 본인은 자기 복제본을 못 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제출 점검표입니다. 이번 주는 두 가지가 섞여 있습니다. 흐름 작업과 중간 보고서요.
앞 열 개가 흐름입니다. 뒤 여덟 개가 보고서고요.
네 번째를 보세요. 겹치는 화면이 한 벌인가. 이번 주의 실질입니다.
여덟 번째, 화면 목록표에 '없음'인 줄이 있는가. 정직하게 쓰셨는지 보는 항목이에요.
뒤로 가서 열다섯 번째. PDF 와 Figma 링크를 둘 다 냈는가. 한쪽만 내시면 미제출입니다.
열일곱 번째, 남은 일정이 주차별로 적혀 있는가. '열심히 하겠습니다'가 아니라 '9주차에 세 장, 10주차에 네 장' 이렇게요.
열여덟 번째는 매번 같습니다. 직접 그린 요소가 없는가.
[운영 메모]
과제 확인 때 4 · 8 · 15 · 17 번을 먼저 볼 것. 15번(둘 다 제출)은 매년 빠지는 학생이 나오므로 전날 공지를 한 번 더 보낼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정리하겠습니다.
과제 세 가지인데, 사실 셋이 하나로 이어집니다.
첫째, 흐름 셋. 화면 열다섯 장 안팎이 됩니다.
둘째, 화면 목록표. 지금까지 만든 걸 전부 한 표에 적는 겁니다.
셋째, 중간 보고서 PDF. 오늘 안내한 여덟 장이요.
다시 말씀드리지만 새로 만드실 게 많지 않습니다. 규격 표도 토큰 표도 이미 있고, 화면도 이미 있어요. 모아서 순서대로 놓으시면 됩니다.
새로 쓰실 것은 두 장입니다. 표지 한 장, 그리고 남은 일정 한 장.
제출은 다음 주 수업 시작 전까지. PDF 와 Figma 링크 둘 다입니다. PDF 만 내시면 안 되고 링크만 내셔도 안 됩니다.
파일 이름은 학번_이름_중간보고서 로 해 주세요.
다음 주에는 보고서를 보면서 한 사람씩 짧게 이야기하겠습니다. 발표 준비는 따로 안 하셔도 됩니다. 보고서를 띄워 놓고 묻는 자리예요.
질문 있으신 분?
[운영 메모]
제출 형식(PDF + 링크, 파일 이름)을 반드시 말로 한 번 더 못 박을 것. 매년 한쪽만 내는 학생이 나온다. 중간평가는 발표가 아니라 보고서를 띄워 놓고 묻는 방식임을 미리 알려 부담을 줄인다.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08</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7894015" y="713232"/>
            <a:ext cx="3657600" cy="1517904"/>
          </a:xfrm>
          <a:prstGeom prst="rect">
            <a:avLst/>
          </a:prstGeom>
          <a:noFill/>
          <a:ln/>
        </p:spPr>
        <p:txBody>
          <a:bodyPr wrap="square" lIns="0" tIns="0" rIns="0" bIns="0" rtlCol="0" anchor="ctr"/>
          <a:lstStyle/>
          <a:p>
            <a:pPr algn="r" indent="0" marL="0">
              <a:buNone/>
            </a:pPr>
            <a:r>
              <a:rPr lang="en-US" sz="13200" dirty="0">
                <a:solidFill>
                  <a:srgbClr val="111111"/>
                </a:solidFill>
                <a:latin typeface="Pretendard SemiBold" pitchFamily="34" charset="0"/>
                <a:ea typeface="Pretendard SemiBold" pitchFamily="34" charset="-122"/>
                <a:cs typeface="Pretendard SemiBold" pitchFamily="34" charset="-120"/>
              </a:rPr>
              <a:t>08</a:t>
            </a:r>
            <a:endParaRPr lang="en-US" sz="13200" dirty="0"/>
          </a:p>
        </p:txBody>
      </p:sp>
      <p:sp>
        <p:nvSpPr>
          <p:cNvPr id="7" name="Shape 5"/>
          <p:cNvSpPr/>
          <p:nvPr/>
        </p:nvSpPr>
        <p:spPr>
          <a:xfrm>
            <a:off x="941832" y="877824"/>
            <a:ext cx="0" cy="603504"/>
          </a:xfrm>
          <a:prstGeom prst="line">
            <a:avLst/>
          </a:prstGeom>
          <a:noFill/>
          <a:ln w="15875">
            <a:solidFill>
              <a:srgbClr val="111111"/>
            </a:solidFill>
            <a:prstDash val="solid"/>
          </a:ln>
        </p:spPr>
      </p:sp>
      <p:sp>
        <p:nvSpPr>
          <p:cNvPr id="8" name="Shape 6"/>
          <p:cNvSpPr/>
          <p:nvPr/>
        </p:nvSpPr>
        <p:spPr>
          <a:xfrm>
            <a:off x="640080" y="1239926"/>
            <a:ext cx="301752" cy="241402"/>
          </a:xfrm>
          <a:prstGeom prst="line">
            <a:avLst/>
          </a:prstGeom>
          <a:noFill/>
          <a:ln w="15875">
            <a:solidFill>
              <a:srgbClr val="111111"/>
            </a:solidFill>
            <a:prstDash val="solid"/>
          </a:ln>
        </p:spPr>
      </p:sp>
      <p:sp>
        <p:nvSpPr>
          <p:cNvPr id="9" name="Shape 7"/>
          <p:cNvSpPr/>
          <p:nvPr/>
        </p:nvSpPr>
        <p:spPr>
          <a:xfrm flipV="1">
            <a:off x="941832" y="1239926"/>
            <a:ext cx="301752" cy="241402"/>
          </a:xfrm>
          <a:prstGeom prst="line">
            <a:avLst/>
          </a:prstGeom>
          <a:noFill/>
          <a:ln w="15875">
            <a:solidFill>
              <a:srgbClr val="111111"/>
            </a:solidFill>
            <a:prstDash val="solid"/>
          </a:ln>
        </p:spPr>
      </p:sp>
      <p:sp>
        <p:nvSpPr>
          <p:cNvPr id="10" name="Text 8"/>
          <p:cNvSpPr/>
          <p:nvPr/>
        </p:nvSpPr>
        <p:spPr>
          <a:xfrm>
            <a:off x="640080" y="1901952"/>
            <a:ext cx="7498080" cy="237744"/>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WEEK 08  ·  PHASE 2 화면</a:t>
            </a:r>
            <a:endParaRPr lang="en-US" sz="950" dirty="0"/>
          </a:p>
        </p:txBody>
      </p:sp>
      <p:sp>
        <p:nvSpPr>
          <p:cNvPr id="11" name="Text 9"/>
          <p:cNvSpPr/>
          <p:nvPr/>
        </p:nvSpPr>
        <p:spPr>
          <a:xfrm>
            <a:off x="640080" y="2194560"/>
            <a:ext cx="8595360" cy="1225296"/>
          </a:xfrm>
          <a:prstGeom prst="rect">
            <a:avLst/>
          </a:prstGeom>
          <a:noFill/>
          <a:ln/>
        </p:spPr>
        <p:txBody>
          <a:bodyPr wrap="square" lIns="0" tIns="0" rIns="0" bIns="0" rtlCol="0" anchor="t"/>
          <a:lstStyle/>
          <a:p>
            <a:pPr indent="0" marL="0">
              <a:lnSpc>
                <a:spcPct val="112000"/>
              </a:lnSpc>
              <a:buNone/>
            </a:pPr>
            <a:r>
              <a:rPr lang="en-US" sz="4000" dirty="0">
                <a:solidFill>
                  <a:srgbClr val="111111"/>
                </a:solidFill>
                <a:latin typeface="Pretendard SemiBold" pitchFamily="34" charset="0"/>
                <a:ea typeface="Pretendard SemiBold" pitchFamily="34" charset="-122"/>
                <a:cs typeface="Pretendard SemiBold" pitchFamily="34" charset="-120"/>
              </a:rPr>
              <a:t>흐름 늘리기 — 겹치는 화면 정리</a:t>
            </a:r>
            <a:endParaRPr lang="en-US" sz="4000" dirty="0"/>
          </a:p>
        </p:txBody>
      </p:sp>
      <p:sp>
        <p:nvSpPr>
          <p:cNvPr id="12" name="Text 10"/>
          <p:cNvSpPr/>
          <p:nvPr/>
        </p:nvSpPr>
        <p:spPr>
          <a:xfrm>
            <a:off x="640080" y="3547872"/>
            <a:ext cx="7863840" cy="694944"/>
          </a:xfrm>
          <a:prstGeom prst="rect">
            <a:avLst/>
          </a:prstGeom>
          <a:noFill/>
          <a:ln/>
        </p:spPr>
        <p:txBody>
          <a:bodyPr wrap="square" lIns="0" tIns="0" rIns="0" bIns="0" rtlCol="0" anchor="t"/>
          <a:lstStyle/>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흐름을 셋으로 늘리고 겹치는 화면을 한 벌로 정리해,</a:t>
            </a:r>
            <a:endParaRPr lang="en-US" sz="1600" dirty="0"/>
          </a:p>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중간 보고서에 낼 화면 목록을 확정합니다.</a:t>
            </a:r>
            <a:endParaRPr lang="en-US" sz="1600" dirty="0"/>
          </a:p>
        </p:txBody>
      </p:sp>
      <p:sp>
        <p:nvSpPr>
          <p:cNvPr id="13" name="Shape 11"/>
          <p:cNvSpPr/>
          <p:nvPr/>
        </p:nvSpPr>
        <p:spPr>
          <a:xfrm>
            <a:off x="640080" y="4443984"/>
            <a:ext cx="2743200" cy="7315"/>
          </a:xfrm>
          <a:prstGeom prst="rect">
            <a:avLst/>
          </a:prstGeom>
          <a:solidFill>
            <a:srgbClr val="111111"/>
          </a:solidFill>
          <a:ln w="12700">
            <a:solidFill>
              <a:srgbClr val="111111"/>
            </a:solidFill>
            <a:prstDash val="solid"/>
          </a:ln>
        </p:spPr>
      </p:sp>
      <p:sp>
        <p:nvSpPr>
          <p:cNvPr id="14" name="Text 12"/>
          <p:cNvSpPr/>
          <p:nvPr/>
        </p:nvSpPr>
        <p:spPr>
          <a:xfrm>
            <a:off x="640080" y="4645152"/>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과목</a:t>
            </a:r>
            <a:endParaRPr lang="en-US" sz="950" dirty="0"/>
          </a:p>
        </p:txBody>
      </p:sp>
      <p:sp>
        <p:nvSpPr>
          <p:cNvPr id="15" name="Text 13"/>
          <p:cNvSpPr/>
          <p:nvPr/>
        </p:nvSpPr>
        <p:spPr>
          <a:xfrm>
            <a:off x="1645920" y="4645152"/>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서비스디자인 · 학부 3학년</a:t>
            </a:r>
            <a:endParaRPr lang="en-US" sz="1200" dirty="0"/>
          </a:p>
        </p:txBody>
      </p:sp>
      <p:sp>
        <p:nvSpPr>
          <p:cNvPr id="16" name="Text 14"/>
          <p:cNvSpPr/>
          <p:nvPr/>
        </p:nvSpPr>
        <p:spPr>
          <a:xfrm>
            <a:off x="640080" y="5029200"/>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제출물</a:t>
            </a:r>
            <a:endParaRPr lang="en-US" sz="950" dirty="0"/>
          </a:p>
        </p:txBody>
      </p:sp>
      <p:sp>
        <p:nvSpPr>
          <p:cNvPr id="17" name="Text 15"/>
          <p:cNvSpPr/>
          <p:nvPr/>
        </p:nvSpPr>
        <p:spPr>
          <a:xfrm>
            <a:off x="1645920" y="5029200"/>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흐름 3개(화면 15장 안팎) · 화면 목록표 · 중간 보고서</a:t>
            </a:r>
            <a:endParaRPr lang="en-US" sz="1200" dirty="0"/>
          </a:p>
        </p:txBody>
      </p:sp>
      <p:sp>
        <p:nvSpPr>
          <p:cNvPr id="18" name="Text 16"/>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9B9B9B"/>
                </a:solidFill>
                <a:latin typeface="Pretendard" pitchFamily="34" charset="0"/>
                <a:ea typeface="Pretendard" pitchFamily="34" charset="-122"/>
                <a:cs typeface="Pretendard" pitchFamily="34" charset="-120"/>
              </a:rPr>
              <a:t>WONKWANG UNIV · 2026-2</a:t>
            </a:r>
            <a:endParaRPr lang="en-US" sz="850" dirty="0"/>
          </a:p>
        </p:txBody>
      </p:sp>
      <p:sp>
        <p:nvSpPr>
          <p:cNvPr id="19" name="Shape 17"/>
          <p:cNvSpPr/>
          <p:nvPr/>
        </p:nvSpPr>
        <p:spPr>
          <a:xfrm>
            <a:off x="640080" y="6291072"/>
            <a:ext cx="10911535" cy="7315"/>
          </a:xfrm>
          <a:prstGeom prst="rect">
            <a:avLst/>
          </a:prstGeom>
          <a:solidFill>
            <a:srgbClr val="DCDCDC"/>
          </a:solidFill>
          <a:ln w="12700">
            <a:solidFill>
              <a:srgbClr val="DCDCD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08</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01</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01</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흐름을 셋으로</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많이 만드는 것이 목적이 아니라, 서비스가 보이는 최소한을 채우는 것입니다.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08</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PICK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다음 흐름을 고르는 세 기준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아무 흐름이나 둘이 아닙니다.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2" name="Text 10"/>
          <p:cNvSpPr/>
          <p:nvPr/>
        </p:nvSpPr>
        <p:spPr>
          <a:xfrm>
            <a:off x="1188720" y="171907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핵심 흐름과 이어지는 것</a:t>
            </a:r>
            <a:endParaRPr lang="en-US" sz="1450" dirty="0"/>
          </a:p>
        </p:txBody>
      </p:sp>
      <p:sp>
        <p:nvSpPr>
          <p:cNvPr id="13" name="Text 11"/>
          <p:cNvSpPr/>
          <p:nvPr/>
        </p:nvSpPr>
        <p:spPr>
          <a:xfrm>
            <a:off x="1188720" y="202996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지난주 흐름이 끝나는 자리에서 시작하는 흐름. 저장했으면 다음은 꺼내 쓰는 일입니다</a:t>
            </a:r>
            <a:endParaRPr lang="en-US" sz="1100" dirty="0"/>
          </a:p>
        </p:txBody>
      </p:sp>
      <p:sp>
        <p:nvSpPr>
          <p:cNvPr id="14" name="Text 12"/>
          <p:cNvSpPr/>
          <p:nvPr/>
        </p:nvSpPr>
        <p:spPr>
          <a:xfrm>
            <a:off x="9357055" y="181051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연결</a:t>
            </a:r>
            <a:endParaRPr lang="en-US" sz="1050" dirty="0"/>
          </a:p>
        </p:txBody>
      </p:sp>
      <p:sp>
        <p:nvSpPr>
          <p:cNvPr id="15" name="Shape 13"/>
          <p:cNvSpPr/>
          <p:nvPr/>
        </p:nvSpPr>
        <p:spPr>
          <a:xfrm>
            <a:off x="640080" y="2670048"/>
            <a:ext cx="10911535" cy="7315"/>
          </a:xfrm>
          <a:prstGeom prst="rect">
            <a:avLst/>
          </a:prstGeom>
          <a:solidFill>
            <a:srgbClr val="DCDCDC"/>
          </a:solidFill>
          <a:ln w="12700">
            <a:solidFill>
              <a:srgbClr val="DCDCDC"/>
            </a:solidFill>
            <a:prstDash val="solid"/>
          </a:ln>
        </p:spPr>
      </p:sp>
      <p:sp>
        <p:nvSpPr>
          <p:cNvPr id="16" name="Shape 14"/>
          <p:cNvSpPr/>
          <p:nvPr/>
        </p:nvSpPr>
        <p:spPr>
          <a:xfrm>
            <a:off x="640080" y="2834640"/>
            <a:ext cx="310896" cy="310896"/>
          </a:xfrm>
          <a:prstGeom prst="ellipse">
            <a:avLst/>
          </a:prstGeom>
          <a:solidFill>
            <a:srgbClr val="FFFFFF"/>
          </a:solidFill>
          <a:ln w="12700">
            <a:solidFill>
              <a:srgbClr val="111111"/>
            </a:solidFill>
            <a:prstDash val="solid"/>
          </a:ln>
        </p:spPr>
      </p:sp>
      <p:sp>
        <p:nvSpPr>
          <p:cNvPr id="17" name="Text 15"/>
          <p:cNvSpPr/>
          <p:nvPr/>
        </p:nvSpPr>
        <p:spPr>
          <a:xfrm>
            <a:off x="640080" y="2834640"/>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8" name="Text 16"/>
          <p:cNvSpPr/>
          <p:nvPr/>
        </p:nvSpPr>
        <p:spPr>
          <a:xfrm>
            <a:off x="1188720" y="2743200"/>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패널에 실릴 것</a:t>
            </a:r>
            <a:endParaRPr lang="en-US" sz="1450" dirty="0"/>
          </a:p>
        </p:txBody>
      </p:sp>
      <p:sp>
        <p:nvSpPr>
          <p:cNvPr id="19" name="Text 17"/>
          <p:cNvSpPr/>
          <p:nvPr/>
        </p:nvSpPr>
        <p:spPr>
          <a:xfrm>
            <a:off x="1188720" y="3054096"/>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졸업 전시 패널에 올릴 장면이 나오는 흐름을 먼저. 설정 화면은 나중입니다</a:t>
            </a:r>
            <a:endParaRPr lang="en-US" sz="1100" dirty="0"/>
          </a:p>
        </p:txBody>
      </p:sp>
      <p:sp>
        <p:nvSpPr>
          <p:cNvPr id="20" name="Text 18"/>
          <p:cNvSpPr/>
          <p:nvPr/>
        </p:nvSpPr>
        <p:spPr>
          <a:xfrm>
            <a:off x="9357055" y="2834640"/>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게재</a:t>
            </a:r>
            <a:endParaRPr lang="en-US" sz="1050" dirty="0"/>
          </a:p>
        </p:txBody>
      </p:sp>
      <p:sp>
        <p:nvSpPr>
          <p:cNvPr id="21" name="Shape 19"/>
          <p:cNvSpPr/>
          <p:nvPr/>
        </p:nvSpPr>
        <p:spPr>
          <a:xfrm>
            <a:off x="640080" y="3694176"/>
            <a:ext cx="10911535" cy="7315"/>
          </a:xfrm>
          <a:prstGeom prst="rect">
            <a:avLst/>
          </a:prstGeom>
          <a:solidFill>
            <a:srgbClr val="DCDCDC"/>
          </a:solidFill>
          <a:ln w="12700">
            <a:solidFill>
              <a:srgbClr val="DCDCDC"/>
            </a:solidFill>
            <a:prstDash val="solid"/>
          </a:ln>
        </p:spPr>
      </p:sp>
      <p:sp>
        <p:nvSpPr>
          <p:cNvPr id="22" name="Shape 20"/>
          <p:cNvSpPr/>
          <p:nvPr/>
        </p:nvSpPr>
        <p:spPr>
          <a:xfrm>
            <a:off x="640080" y="3858768"/>
            <a:ext cx="310896" cy="310896"/>
          </a:xfrm>
          <a:prstGeom prst="ellipse">
            <a:avLst/>
          </a:prstGeom>
          <a:solidFill>
            <a:srgbClr val="FFFFFF"/>
          </a:solidFill>
          <a:ln w="12700">
            <a:solidFill>
              <a:srgbClr val="111111"/>
            </a:solidFill>
            <a:prstDash val="solid"/>
          </a:ln>
        </p:spPr>
      </p:sp>
      <p:sp>
        <p:nvSpPr>
          <p:cNvPr id="23" name="Text 21"/>
          <p:cNvSpPr/>
          <p:nvPr/>
        </p:nvSpPr>
        <p:spPr>
          <a:xfrm>
            <a:off x="640080" y="3858768"/>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4" name="Text 22"/>
          <p:cNvSpPr/>
          <p:nvPr/>
        </p:nvSpPr>
        <p:spPr>
          <a:xfrm>
            <a:off x="1188720" y="3767328"/>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상태가 바뀌는 것</a:t>
            </a:r>
            <a:endParaRPr lang="en-US" sz="1450" dirty="0"/>
          </a:p>
        </p:txBody>
      </p:sp>
      <p:sp>
        <p:nvSpPr>
          <p:cNvPr id="25" name="Text 23"/>
          <p:cNvSpPr/>
          <p:nvPr/>
        </p:nvSpPr>
        <p:spPr>
          <a:xfrm>
            <a:off x="1188720" y="4078224"/>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만들거나 바꾸거나 지우는 흐름. 보기만 하는 흐름보다 어려우니 먼저 합니다</a:t>
            </a:r>
            <a:endParaRPr lang="en-US" sz="1100" dirty="0"/>
          </a:p>
        </p:txBody>
      </p:sp>
      <p:sp>
        <p:nvSpPr>
          <p:cNvPr id="26" name="Text 24"/>
          <p:cNvSpPr/>
          <p:nvPr/>
        </p:nvSpPr>
        <p:spPr>
          <a:xfrm>
            <a:off x="9357055" y="3858768"/>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난이도</a:t>
            </a:r>
            <a:endParaRPr lang="en-US" sz="1050" dirty="0"/>
          </a:p>
        </p:txBody>
      </p:sp>
      <p:sp>
        <p:nvSpPr>
          <p:cNvPr id="27" name="Shape 25"/>
          <p:cNvSpPr/>
          <p:nvPr/>
        </p:nvSpPr>
        <p:spPr>
          <a:xfrm>
            <a:off x="640080" y="4791456"/>
            <a:ext cx="10911535" cy="7315"/>
          </a:xfrm>
          <a:prstGeom prst="rect">
            <a:avLst/>
          </a:prstGeom>
          <a:solidFill>
            <a:srgbClr val="111111"/>
          </a:solidFill>
          <a:ln w="12700">
            <a:solidFill>
              <a:srgbClr val="111111"/>
            </a:solidFill>
            <a:prstDash val="solid"/>
          </a:ln>
        </p:spPr>
      </p:sp>
      <p:sp>
        <p:nvSpPr>
          <p:cNvPr id="28" name="Text 26"/>
          <p:cNvSpPr/>
          <p:nvPr/>
        </p:nvSpPr>
        <p:spPr>
          <a:xfrm>
            <a:off x="640080" y="490118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셋이면 충분합니다. 셋을 끝까지 만든 쪽이 다섯을 반쯤 만든 쪽보다 패널에서 낫습니다.</a:t>
            </a:r>
            <a:endParaRPr lang="en-US" sz="1250" dirty="0"/>
          </a:p>
        </p:txBody>
      </p:sp>
      <p:sp>
        <p:nvSpPr>
          <p:cNvPr id="29" name="Shape 27"/>
          <p:cNvSpPr/>
          <p:nvPr/>
        </p:nvSpPr>
        <p:spPr>
          <a:xfrm>
            <a:off x="640080" y="6291072"/>
            <a:ext cx="10911535" cy="7315"/>
          </a:xfrm>
          <a:prstGeom prst="rect">
            <a:avLst/>
          </a:prstGeom>
          <a:solidFill>
            <a:srgbClr val="DCDCDC"/>
          </a:solidFill>
          <a:ln w="12700">
            <a:solidFill>
              <a:srgbClr val="DCDCDC"/>
            </a:solidFill>
            <a:prstDash val="solid"/>
          </a:ln>
        </p:spPr>
      </p:sp>
      <p:sp>
        <p:nvSpPr>
          <p:cNvPr id="30" name="Text 28"/>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8주차 흐름 늘리기 — 겹치는 화면 정리</a:t>
            </a:r>
            <a:endParaRPr lang="en-US" sz="850" dirty="0"/>
          </a:p>
        </p:txBody>
      </p:sp>
      <p:sp>
        <p:nvSpPr>
          <p:cNvPr id="31" name="Text 29"/>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P.01</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08</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TYPE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흐름의 세 가지 성격</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자기 흐름 셋이 어느 쪽인지 보세요.</a:t>
            </a:r>
            <a:endParaRPr lang="en-US" sz="1150" dirty="0"/>
          </a:p>
        </p:txBody>
      </p:sp>
      <p:sp>
        <p:nvSpPr>
          <p:cNvPr id="9" name="Shape 7"/>
          <p:cNvSpPr/>
          <p:nvPr/>
        </p:nvSpPr>
        <p:spPr>
          <a:xfrm>
            <a:off x="640080" y="1737360"/>
            <a:ext cx="3393338" cy="3035808"/>
          </a:xfrm>
          <a:prstGeom prst="rect">
            <a:avLst/>
          </a:prstGeom>
          <a:solidFill>
            <a:srgbClr val="FFFFFF"/>
          </a:solidFill>
          <a:ln w="12700">
            <a:solidFill>
              <a:srgbClr val="DCDCDC"/>
            </a:solidFill>
            <a:prstDash val="solid"/>
          </a:ln>
        </p:spPr>
      </p:sp>
      <p:sp>
        <p:nvSpPr>
          <p:cNvPr id="10" name="Shape 8"/>
          <p:cNvSpPr/>
          <p:nvPr/>
        </p:nvSpPr>
        <p:spPr>
          <a:xfrm>
            <a:off x="1024128" y="2011680"/>
            <a:ext cx="365760" cy="365760"/>
          </a:xfrm>
          <a:prstGeom prst="ellipse">
            <a:avLst/>
          </a:prstGeom>
          <a:solidFill>
            <a:srgbClr val="FFFFFF"/>
          </a:solidFill>
          <a:ln w="12700">
            <a:solidFill>
              <a:srgbClr val="111111"/>
            </a:solidFill>
            <a:prstDash val="solid"/>
          </a:ln>
        </p:spPr>
      </p:sp>
      <p:sp>
        <p:nvSpPr>
          <p:cNvPr id="11" name="Text 9"/>
          <p:cNvSpPr/>
          <p:nvPr/>
        </p:nvSpPr>
        <p:spPr>
          <a:xfrm>
            <a:off x="1024128"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01</a:t>
            </a:r>
            <a:endParaRPr lang="en-US" sz="1150" dirty="0"/>
          </a:p>
        </p:txBody>
      </p:sp>
      <p:sp>
        <p:nvSpPr>
          <p:cNvPr id="12" name="Text 10"/>
          <p:cNvSpPr/>
          <p:nvPr/>
        </p:nvSpPr>
        <p:spPr>
          <a:xfrm>
            <a:off x="1024128"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찾는 흐름</a:t>
            </a:r>
            <a:endParaRPr lang="en-US" sz="1700" dirty="0"/>
          </a:p>
        </p:txBody>
      </p:sp>
      <p:sp>
        <p:nvSpPr>
          <p:cNvPr id="13" name="Text 11"/>
          <p:cNvSpPr/>
          <p:nvPr/>
        </p:nvSpPr>
        <p:spPr>
          <a:xfrm>
            <a:off x="1024128"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목록을 보고 고르고 들어갑니다.</a:t>
            </a:r>
            <a:endParaRPr lang="en-US" sz="1150" dirty="0"/>
          </a:p>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대부분의 서비스에 있고 가장 먼저 만듭니다. 화면 4~6장.</a:t>
            </a:r>
            <a:endParaRPr lang="en-US" sz="1150" dirty="0"/>
          </a:p>
        </p:txBody>
      </p:sp>
      <p:sp>
        <p:nvSpPr>
          <p:cNvPr id="14" name="Shape 12"/>
          <p:cNvSpPr/>
          <p:nvPr/>
        </p:nvSpPr>
        <p:spPr>
          <a:xfrm>
            <a:off x="4399178" y="1737360"/>
            <a:ext cx="3393338" cy="3035808"/>
          </a:xfrm>
          <a:prstGeom prst="rect">
            <a:avLst/>
          </a:prstGeom>
          <a:solidFill>
            <a:srgbClr val="111111"/>
          </a:solidFill>
          <a:ln w="12700">
            <a:solidFill>
              <a:srgbClr val="111111"/>
            </a:solidFill>
            <a:prstDash val="solid"/>
          </a:ln>
        </p:spPr>
      </p:sp>
      <p:sp>
        <p:nvSpPr>
          <p:cNvPr id="15" name="Shape 13"/>
          <p:cNvSpPr/>
          <p:nvPr/>
        </p:nvSpPr>
        <p:spPr>
          <a:xfrm>
            <a:off x="4783226" y="2011680"/>
            <a:ext cx="365760" cy="365760"/>
          </a:xfrm>
          <a:prstGeom prst="ellipse">
            <a:avLst/>
          </a:prstGeom>
          <a:solidFill>
            <a:srgbClr val="111111"/>
          </a:solidFill>
          <a:ln w="12700">
            <a:solidFill>
              <a:srgbClr val="FFFFFF"/>
            </a:solidFill>
            <a:prstDash val="solid"/>
          </a:ln>
        </p:spPr>
      </p:sp>
      <p:sp>
        <p:nvSpPr>
          <p:cNvPr id="16" name="Text 14"/>
          <p:cNvSpPr/>
          <p:nvPr/>
        </p:nvSpPr>
        <p:spPr>
          <a:xfrm>
            <a:off x="4783226" y="20116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Pretendard" pitchFamily="34" charset="0"/>
                <a:ea typeface="Pretendard" pitchFamily="34" charset="-122"/>
                <a:cs typeface="Pretendard" pitchFamily="34" charset="-120"/>
              </a:rPr>
              <a:t>02</a:t>
            </a:r>
            <a:endParaRPr lang="en-US" sz="1150" dirty="0"/>
          </a:p>
        </p:txBody>
      </p:sp>
      <p:sp>
        <p:nvSpPr>
          <p:cNvPr id="17" name="Text 15"/>
          <p:cNvSpPr/>
          <p:nvPr/>
        </p:nvSpPr>
        <p:spPr>
          <a:xfrm>
            <a:off x="4783226"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FFFFFF"/>
                </a:solidFill>
                <a:latin typeface="Pretendard SemiBold" pitchFamily="34" charset="0"/>
                <a:ea typeface="Pretendard SemiBold" pitchFamily="34" charset="-122"/>
                <a:cs typeface="Pretendard SemiBold" pitchFamily="34" charset="-120"/>
              </a:rPr>
              <a:t>만드는 흐름</a:t>
            </a:r>
            <a:endParaRPr lang="en-US" sz="1700" dirty="0"/>
          </a:p>
        </p:txBody>
      </p:sp>
      <p:sp>
        <p:nvSpPr>
          <p:cNvPr id="18" name="Text 16"/>
          <p:cNvSpPr/>
          <p:nvPr/>
        </p:nvSpPr>
        <p:spPr>
          <a:xfrm>
            <a:off x="4783226"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입력하고 고르고 조합해서 결과를 남깁니다.</a:t>
            </a:r>
            <a:endParaRPr lang="en-US" sz="1150" dirty="0"/>
          </a:p>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입력 · 중간 저장 · 오류 · 중단이 다 들어가 가장 어렵습니다. 화면 6~9장.</a:t>
            </a:r>
            <a:endParaRPr lang="en-US" sz="1150" dirty="0"/>
          </a:p>
        </p:txBody>
      </p:sp>
      <p:sp>
        <p:nvSpPr>
          <p:cNvPr id="19" name="Shape 17"/>
          <p:cNvSpPr/>
          <p:nvPr/>
        </p:nvSpPr>
        <p:spPr>
          <a:xfrm>
            <a:off x="8158277" y="1737360"/>
            <a:ext cx="3393338" cy="3035808"/>
          </a:xfrm>
          <a:prstGeom prst="rect">
            <a:avLst/>
          </a:prstGeom>
          <a:solidFill>
            <a:srgbClr val="FFFFFF"/>
          </a:solidFill>
          <a:ln w="12700">
            <a:solidFill>
              <a:srgbClr val="DCDCDC"/>
            </a:solidFill>
            <a:prstDash val="solid"/>
          </a:ln>
        </p:spPr>
      </p:sp>
      <p:sp>
        <p:nvSpPr>
          <p:cNvPr id="20" name="Shape 18"/>
          <p:cNvSpPr/>
          <p:nvPr/>
        </p:nvSpPr>
        <p:spPr>
          <a:xfrm>
            <a:off x="8542325" y="2011680"/>
            <a:ext cx="365760" cy="365760"/>
          </a:xfrm>
          <a:prstGeom prst="ellipse">
            <a:avLst/>
          </a:prstGeom>
          <a:solidFill>
            <a:srgbClr val="FFFFFF"/>
          </a:solidFill>
          <a:ln w="12700">
            <a:solidFill>
              <a:srgbClr val="111111"/>
            </a:solidFill>
            <a:prstDash val="solid"/>
          </a:ln>
        </p:spPr>
      </p:sp>
      <p:sp>
        <p:nvSpPr>
          <p:cNvPr id="21" name="Text 19"/>
          <p:cNvSpPr/>
          <p:nvPr/>
        </p:nvSpPr>
        <p:spPr>
          <a:xfrm>
            <a:off x="8542325"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03</a:t>
            </a:r>
            <a:endParaRPr lang="en-US" sz="1150" dirty="0"/>
          </a:p>
        </p:txBody>
      </p:sp>
      <p:sp>
        <p:nvSpPr>
          <p:cNvPr id="22" name="Text 20"/>
          <p:cNvSpPr/>
          <p:nvPr/>
        </p:nvSpPr>
        <p:spPr>
          <a:xfrm>
            <a:off x="8542325"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돌보는 흐름</a:t>
            </a:r>
            <a:endParaRPr lang="en-US" sz="1700" dirty="0"/>
          </a:p>
        </p:txBody>
      </p:sp>
      <p:sp>
        <p:nvSpPr>
          <p:cNvPr id="23" name="Text 21"/>
          <p:cNvSpPr/>
          <p:nvPr/>
        </p:nvSpPr>
        <p:spPr>
          <a:xfrm>
            <a:off x="8542325"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만들어 둔 것을 다시 보고 고치고 지웁니다.</a:t>
            </a:r>
            <a:endParaRPr lang="en-US" sz="1150" dirty="0"/>
          </a:p>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지우기를 빠뜨리는 경우가 많습니다 — 확인과 빈 화면이 함께 필요합니다.</a:t>
            </a:r>
            <a:endParaRPr lang="en-US" sz="1150" dirty="0"/>
          </a:p>
        </p:txBody>
      </p:sp>
      <p:sp>
        <p:nvSpPr>
          <p:cNvPr id="24" name="Shape 22"/>
          <p:cNvSpPr/>
          <p:nvPr/>
        </p:nvSpPr>
        <p:spPr>
          <a:xfrm>
            <a:off x="640080" y="5084064"/>
            <a:ext cx="10911535" cy="7315"/>
          </a:xfrm>
          <a:prstGeom prst="rect">
            <a:avLst/>
          </a:prstGeom>
          <a:solidFill>
            <a:srgbClr val="111111"/>
          </a:solidFill>
          <a:ln w="12700">
            <a:solidFill>
              <a:srgbClr val="111111"/>
            </a:solidFill>
            <a:prstDash val="solid"/>
          </a:ln>
        </p:spPr>
      </p:sp>
      <p:sp>
        <p:nvSpPr>
          <p:cNvPr id="25" name="Text 23"/>
          <p:cNvSpPr/>
          <p:nvPr/>
        </p:nvSpPr>
        <p:spPr>
          <a:xfrm>
            <a:off x="640080" y="5193792"/>
            <a:ext cx="10911535" cy="438912"/>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셋 중 하나는 반드시 만드는 흐름이어야 합니다. 찾는 흐름만 셋이면 서비스가 아니라 목록 앱입니다.</a:t>
            </a:r>
            <a:endParaRPr lang="en-US" sz="130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8주차 흐름 늘리기 — 겹치는 화면 정리</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08</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02</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02</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겹치는 화면</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같은 화면을 흐름마다 복사하면 하나를 고칠 때 셋을 찾아 고치게 됩니다.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08</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CASE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한 화면이 세 흐름에 쓰일 때</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같은 상세 화면으로 목록 · 보관함 · 검색 결과 세 군데서 들어옵니다.</a:t>
            </a:r>
            <a:endParaRPr lang="en-US" sz="1150" dirty="0"/>
          </a:p>
        </p:txBody>
      </p:sp>
      <p:pic>
        <p:nvPicPr>
          <p:cNvPr id="9" name="Image 0" descr="/home/user/MIN.D/assets/flow/shared-screen.png">    </p:cNvPr>
          <p:cNvPicPr>
            <a:picLocks noChangeAspect="1"/>
          </p:cNvPicPr>
          <p:nvPr/>
        </p:nvPicPr>
        <p:blipFill>
          <a:blip r:embed="rId1"/>
          <a:stretch>
            <a:fillRect/>
          </a:stretch>
        </p:blipFill>
        <p:spPr>
          <a:xfrm>
            <a:off x="640080" y="2422676"/>
            <a:ext cx="10911535" cy="2433272"/>
          </a:xfrm>
          <a:prstGeom prst="rect">
            <a:avLst/>
          </a:prstGeom>
        </p:spPr>
      </p:pic>
      <p:sp>
        <p:nvSpPr>
          <p:cNvPr id="10" name="Shape 7"/>
          <p:cNvSpPr/>
          <p:nvPr/>
        </p:nvSpPr>
        <p:spPr>
          <a:xfrm>
            <a:off x="640080" y="5687568"/>
            <a:ext cx="10911535" cy="7315"/>
          </a:xfrm>
          <a:prstGeom prst="rect">
            <a:avLst/>
          </a:prstGeom>
          <a:solidFill>
            <a:srgbClr val="DCDCDC"/>
          </a:solidFill>
          <a:ln w="12700">
            <a:solidFill>
              <a:srgbClr val="DCDCDC"/>
            </a:solidFill>
            <a:prstDash val="solid"/>
          </a:ln>
        </p:spPr>
      </p:sp>
      <p:sp>
        <p:nvSpPr>
          <p:cNvPr id="11" name="Text 8"/>
          <p:cNvSpPr/>
          <p:nvPr/>
        </p:nvSpPr>
        <p:spPr>
          <a:xfrm>
            <a:off x="640080" y="5760720"/>
            <a:ext cx="10911535" cy="274320"/>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한 번 그리고 흐름마다 달라지는 것을 옆에 적습니다. 세 번 그리면 하나를 고칠 때 셋을 찾아 고치게 됩니다.</a:t>
            </a:r>
            <a:endParaRPr lang="en-US" sz="1150" dirty="0"/>
          </a:p>
        </p:txBody>
      </p:sp>
      <p:sp>
        <p:nvSpPr>
          <p:cNvPr id="12" name="Shape 9"/>
          <p:cNvSpPr/>
          <p:nvPr/>
        </p:nvSpPr>
        <p:spPr>
          <a:xfrm>
            <a:off x="640080" y="6291072"/>
            <a:ext cx="10911535" cy="7315"/>
          </a:xfrm>
          <a:prstGeom prst="rect">
            <a:avLst/>
          </a:prstGeom>
          <a:solidFill>
            <a:srgbClr val="DCDCDC"/>
          </a:solidFill>
          <a:ln w="12700">
            <a:solidFill>
              <a:srgbClr val="DCDCDC"/>
            </a:solidFill>
            <a:prstDash val="solid"/>
          </a:ln>
        </p:spPr>
      </p:sp>
      <p:sp>
        <p:nvSpPr>
          <p:cNvPr id="13" name="Text 1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8주차 흐름 늘리기 — 겹치는 화면 정리</a:t>
            </a:r>
            <a:endParaRPr lang="en-US" sz="850" dirty="0"/>
          </a:p>
        </p:txBody>
      </p:sp>
      <p:sp>
        <p:nvSpPr>
          <p:cNvPr id="14" name="Text 1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08</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ENTRY</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들어오는 길이 여럿일 때 정할 네 가지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길게 쓸 필요 없습니다. 화면 옆에 네 줄이면 됩니다.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2" name="Text 10"/>
          <p:cNvSpPr/>
          <p:nvPr/>
        </p:nvSpPr>
        <p:spPr>
          <a:xfrm>
            <a:off x="1188720" y="171907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돌아가는 곳</a:t>
            </a:r>
            <a:endParaRPr lang="en-US" sz="1450" dirty="0"/>
          </a:p>
        </p:txBody>
      </p:sp>
      <p:sp>
        <p:nvSpPr>
          <p:cNvPr id="13" name="Text 11"/>
          <p:cNvSpPr/>
          <p:nvPr/>
        </p:nvSpPr>
        <p:spPr>
          <a:xfrm>
            <a:off x="1188720" y="202996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들어온 곳으로. 다만 흐름이 끝난 뒤에는 결과가 있는 곳으로 보냅니다</a:t>
            </a:r>
            <a:endParaRPr lang="en-US" sz="1100" dirty="0"/>
          </a:p>
        </p:txBody>
      </p:sp>
      <p:sp>
        <p:nvSpPr>
          <p:cNvPr id="14" name="Text 12"/>
          <p:cNvSpPr/>
          <p:nvPr/>
        </p:nvSpPr>
        <p:spPr>
          <a:xfrm>
            <a:off x="9357055" y="181051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출구</a:t>
            </a:r>
            <a:endParaRPr lang="en-US" sz="1050" dirty="0"/>
          </a:p>
        </p:txBody>
      </p:sp>
      <p:sp>
        <p:nvSpPr>
          <p:cNvPr id="15" name="Shape 13"/>
          <p:cNvSpPr/>
          <p:nvPr/>
        </p:nvSpPr>
        <p:spPr>
          <a:xfrm>
            <a:off x="640080" y="2596896"/>
            <a:ext cx="10911535" cy="7315"/>
          </a:xfrm>
          <a:prstGeom prst="rect">
            <a:avLst/>
          </a:prstGeom>
          <a:solidFill>
            <a:srgbClr val="DCDCDC"/>
          </a:solidFill>
          <a:ln w="12700">
            <a:solidFill>
              <a:srgbClr val="DCDCDC"/>
            </a:solidFill>
            <a:prstDash val="solid"/>
          </a:ln>
        </p:spPr>
      </p:sp>
      <p:sp>
        <p:nvSpPr>
          <p:cNvPr id="16" name="Shape 14"/>
          <p:cNvSpPr/>
          <p:nvPr/>
        </p:nvSpPr>
        <p:spPr>
          <a:xfrm>
            <a:off x="640080" y="2761488"/>
            <a:ext cx="310896" cy="310896"/>
          </a:xfrm>
          <a:prstGeom prst="ellipse">
            <a:avLst/>
          </a:prstGeom>
          <a:solidFill>
            <a:srgbClr val="FFFFFF"/>
          </a:solidFill>
          <a:ln w="12700">
            <a:solidFill>
              <a:srgbClr val="111111"/>
            </a:solidFill>
            <a:prstDash val="solid"/>
          </a:ln>
        </p:spPr>
      </p:sp>
      <p:sp>
        <p:nvSpPr>
          <p:cNvPr id="17" name="Text 15"/>
          <p:cNvSpPr/>
          <p:nvPr/>
        </p:nvSpPr>
        <p:spPr>
          <a:xfrm>
            <a:off x="640080" y="2761488"/>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8" name="Text 16"/>
          <p:cNvSpPr/>
          <p:nvPr/>
        </p:nvSpPr>
        <p:spPr>
          <a:xfrm>
            <a:off x="1188720" y="2670048"/>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처음 보이는 상태</a:t>
            </a:r>
            <a:endParaRPr lang="en-US" sz="1450" dirty="0"/>
          </a:p>
        </p:txBody>
      </p:sp>
      <p:sp>
        <p:nvSpPr>
          <p:cNvPr id="19" name="Text 17"/>
          <p:cNvSpPr/>
          <p:nvPr/>
        </p:nvSpPr>
        <p:spPr>
          <a:xfrm>
            <a:off x="1188720" y="2980944"/>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보관함에서 들어오면 저장됨, 목록에서 들어오면 저장 안 됨</a:t>
            </a:r>
            <a:endParaRPr lang="en-US" sz="1100" dirty="0"/>
          </a:p>
        </p:txBody>
      </p:sp>
      <p:sp>
        <p:nvSpPr>
          <p:cNvPr id="20" name="Text 18"/>
          <p:cNvSpPr/>
          <p:nvPr/>
        </p:nvSpPr>
        <p:spPr>
          <a:xfrm>
            <a:off x="9357055" y="2761488"/>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상태</a:t>
            </a:r>
            <a:endParaRPr lang="en-US" sz="1050" dirty="0"/>
          </a:p>
        </p:txBody>
      </p:sp>
      <p:sp>
        <p:nvSpPr>
          <p:cNvPr id="21" name="Shape 19"/>
          <p:cNvSpPr/>
          <p:nvPr/>
        </p:nvSpPr>
        <p:spPr>
          <a:xfrm>
            <a:off x="640080" y="3547872"/>
            <a:ext cx="10911535" cy="7315"/>
          </a:xfrm>
          <a:prstGeom prst="rect">
            <a:avLst/>
          </a:prstGeom>
          <a:solidFill>
            <a:srgbClr val="DCDCDC"/>
          </a:solidFill>
          <a:ln w="12700">
            <a:solidFill>
              <a:srgbClr val="DCDCDC"/>
            </a:solidFill>
            <a:prstDash val="solid"/>
          </a:ln>
        </p:spPr>
      </p:sp>
      <p:sp>
        <p:nvSpPr>
          <p:cNvPr id="22" name="Shape 20"/>
          <p:cNvSpPr/>
          <p:nvPr/>
        </p:nvSpPr>
        <p:spPr>
          <a:xfrm>
            <a:off x="640080" y="3712464"/>
            <a:ext cx="310896" cy="310896"/>
          </a:xfrm>
          <a:prstGeom prst="ellipse">
            <a:avLst/>
          </a:prstGeom>
          <a:solidFill>
            <a:srgbClr val="FFFFFF"/>
          </a:solidFill>
          <a:ln w="12700">
            <a:solidFill>
              <a:srgbClr val="111111"/>
            </a:solidFill>
            <a:prstDash val="solid"/>
          </a:ln>
        </p:spPr>
      </p:sp>
      <p:sp>
        <p:nvSpPr>
          <p:cNvPr id="23" name="Text 21"/>
          <p:cNvSpPr/>
          <p:nvPr/>
        </p:nvSpPr>
        <p:spPr>
          <a:xfrm>
            <a:off x="640080" y="371246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4" name="Text 22"/>
          <p:cNvSpPr/>
          <p:nvPr/>
        </p:nvSpPr>
        <p:spPr>
          <a:xfrm>
            <a:off x="1188720" y="362102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보여 줄 것과 숨길 것</a:t>
            </a:r>
            <a:endParaRPr lang="en-US" sz="1450" dirty="0"/>
          </a:p>
        </p:txBody>
      </p:sp>
      <p:sp>
        <p:nvSpPr>
          <p:cNvPr id="25" name="Text 23"/>
          <p:cNvSpPr/>
          <p:nvPr/>
        </p:nvSpPr>
        <p:spPr>
          <a:xfrm>
            <a:off x="1188720" y="393192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흐름에 따라 일부만 보일 때가 있습니다. 없으면 없다고 적습니다</a:t>
            </a:r>
            <a:endParaRPr lang="en-US" sz="1100" dirty="0"/>
          </a:p>
        </p:txBody>
      </p:sp>
      <p:sp>
        <p:nvSpPr>
          <p:cNvPr id="26" name="Text 24"/>
          <p:cNvSpPr/>
          <p:nvPr/>
        </p:nvSpPr>
        <p:spPr>
          <a:xfrm>
            <a:off x="9357055" y="371246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노출</a:t>
            </a:r>
            <a:endParaRPr lang="en-US" sz="1050" dirty="0"/>
          </a:p>
        </p:txBody>
      </p:sp>
      <p:sp>
        <p:nvSpPr>
          <p:cNvPr id="27" name="Shape 25"/>
          <p:cNvSpPr/>
          <p:nvPr/>
        </p:nvSpPr>
        <p:spPr>
          <a:xfrm>
            <a:off x="640080" y="4498848"/>
            <a:ext cx="10911535" cy="7315"/>
          </a:xfrm>
          <a:prstGeom prst="rect">
            <a:avLst/>
          </a:prstGeom>
          <a:solidFill>
            <a:srgbClr val="DCDCDC"/>
          </a:solidFill>
          <a:ln w="12700">
            <a:solidFill>
              <a:srgbClr val="DCDCDC"/>
            </a:solidFill>
            <a:prstDash val="solid"/>
          </a:ln>
        </p:spPr>
      </p:sp>
      <p:sp>
        <p:nvSpPr>
          <p:cNvPr id="28" name="Shape 26"/>
          <p:cNvSpPr/>
          <p:nvPr/>
        </p:nvSpPr>
        <p:spPr>
          <a:xfrm>
            <a:off x="640080" y="4663440"/>
            <a:ext cx="310896" cy="310896"/>
          </a:xfrm>
          <a:prstGeom prst="ellipse">
            <a:avLst/>
          </a:prstGeom>
          <a:solidFill>
            <a:srgbClr val="FFFFFF"/>
          </a:solidFill>
          <a:ln w="12700">
            <a:solidFill>
              <a:srgbClr val="111111"/>
            </a:solidFill>
            <a:prstDash val="solid"/>
          </a:ln>
        </p:spPr>
      </p:sp>
      <p:sp>
        <p:nvSpPr>
          <p:cNvPr id="29" name="Text 27"/>
          <p:cNvSpPr/>
          <p:nvPr/>
        </p:nvSpPr>
        <p:spPr>
          <a:xfrm>
            <a:off x="640080" y="4663440"/>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4</a:t>
            </a:r>
            <a:endParaRPr lang="en-US" sz="1000" dirty="0"/>
          </a:p>
        </p:txBody>
      </p:sp>
      <p:sp>
        <p:nvSpPr>
          <p:cNvPr id="30" name="Text 28"/>
          <p:cNvSpPr/>
          <p:nvPr/>
        </p:nvSpPr>
        <p:spPr>
          <a:xfrm>
            <a:off x="1188720" y="4572000"/>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돌아갔을 때 남아야 할 것</a:t>
            </a:r>
            <a:endParaRPr lang="en-US" sz="1450" dirty="0"/>
          </a:p>
        </p:txBody>
      </p:sp>
      <p:sp>
        <p:nvSpPr>
          <p:cNvPr id="31" name="Text 29"/>
          <p:cNvSpPr/>
          <p:nvPr/>
        </p:nvSpPr>
        <p:spPr>
          <a:xfrm>
            <a:off x="1188720" y="4882896"/>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스크롤 위치 · 검색어 · 선택한 필터</a:t>
            </a:r>
            <a:endParaRPr lang="en-US" sz="1100" dirty="0"/>
          </a:p>
        </p:txBody>
      </p:sp>
      <p:sp>
        <p:nvSpPr>
          <p:cNvPr id="32" name="Text 30"/>
          <p:cNvSpPr/>
          <p:nvPr/>
        </p:nvSpPr>
        <p:spPr>
          <a:xfrm>
            <a:off x="9357055" y="4663440"/>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유지</a:t>
            </a:r>
            <a:endParaRPr lang="en-US" sz="1050" dirty="0"/>
          </a:p>
        </p:txBody>
      </p:sp>
      <p:sp>
        <p:nvSpPr>
          <p:cNvPr id="33" name="Shape 31"/>
          <p:cNvSpPr/>
          <p:nvPr/>
        </p:nvSpPr>
        <p:spPr>
          <a:xfrm>
            <a:off x="640080" y="5522976"/>
            <a:ext cx="10911535" cy="7315"/>
          </a:xfrm>
          <a:prstGeom prst="rect">
            <a:avLst/>
          </a:prstGeom>
          <a:solidFill>
            <a:srgbClr val="111111"/>
          </a:solidFill>
          <a:ln w="12700">
            <a:solidFill>
              <a:srgbClr val="111111"/>
            </a:solidFill>
            <a:prstDash val="solid"/>
          </a:ln>
        </p:spPr>
      </p:sp>
      <p:sp>
        <p:nvSpPr>
          <p:cNvPr id="34" name="Text 32"/>
          <p:cNvSpPr/>
          <p:nvPr/>
        </p:nvSpPr>
        <p:spPr>
          <a:xfrm>
            <a:off x="640080" y="563270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1번의 예외를 기억하세요. 흐름이 끝난 뒤에는 들어온 곳이 아니라 결과가 있는 곳으로 보냅니다.</a:t>
            </a:r>
            <a:endParaRPr lang="en-US" sz="125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8주차 흐름 늘리기 — 겹치는 화면 정리</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08</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DECIDE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한 화면으로 묶을 것인가, 나눌 것인가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헷갈리면 묶는 쪽을 먼저 해 보세요. 묶었다가 나누기가 반대보다 쉽습니다.</a:t>
            </a:r>
            <a:endParaRPr lang="en-US" sz="1150" dirty="0"/>
          </a:p>
        </p:txBody>
      </p:sp>
      <p:sp>
        <p:nvSpPr>
          <p:cNvPr id="9" name="Shape 7"/>
          <p:cNvSpPr/>
          <p:nvPr/>
        </p:nvSpPr>
        <p:spPr>
          <a:xfrm>
            <a:off x="640080" y="1627632"/>
            <a:ext cx="5254600" cy="4078224"/>
          </a:xfrm>
          <a:prstGeom prst="rect">
            <a:avLst/>
          </a:prstGeom>
          <a:solidFill>
            <a:srgbClr val="F2F2F2"/>
          </a:solidFill>
          <a:ln w="12700">
            <a:solidFill>
              <a:srgbClr val="DCDCDC"/>
            </a:solidFill>
            <a:prstDash val="solid"/>
          </a:ln>
        </p:spPr>
      </p:sp>
      <p:sp>
        <p:nvSpPr>
          <p:cNvPr id="10" name="Text 8"/>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한 화면으로 묶는다</a:t>
            </a:r>
            <a:endParaRPr lang="en-US" sz="1700" dirty="0"/>
          </a:p>
        </p:txBody>
      </p:sp>
      <p:sp>
        <p:nvSpPr>
          <p:cNvPr id="11" name="Shape 9"/>
          <p:cNvSpPr/>
          <p:nvPr/>
        </p:nvSpPr>
        <p:spPr>
          <a:xfrm>
            <a:off x="6297016" y="1627632"/>
            <a:ext cx="5254600" cy="4078224"/>
          </a:xfrm>
          <a:prstGeom prst="rect">
            <a:avLst/>
          </a:prstGeom>
          <a:solidFill>
            <a:srgbClr val="FFFFFF"/>
          </a:solidFill>
          <a:ln w="12700">
            <a:solidFill>
              <a:srgbClr val="DCDCDC"/>
            </a:solidFill>
            <a:prstDash val="solid"/>
          </a:ln>
        </p:spPr>
      </p:sp>
      <p:sp>
        <p:nvSpPr>
          <p:cNvPr id="12" name="Text 10"/>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다른 화면으로 나눈다</a:t>
            </a:r>
            <a:endParaRPr lang="en-US" sz="1700" dirty="0"/>
          </a:p>
        </p:txBody>
      </p:sp>
      <p:sp>
        <p:nvSpPr>
          <p:cNvPr id="13" name="Text 11"/>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정보</a:t>
            </a:r>
            <a:endParaRPr lang="en-US" sz="900" dirty="0"/>
          </a:p>
        </p:txBody>
      </p:sp>
      <p:sp>
        <p:nvSpPr>
          <p:cNvPr id="14" name="Text 12"/>
          <p:cNvSpPr/>
          <p:nvPr/>
        </p:nvSpPr>
        <p:spPr>
          <a:xfrm>
            <a:off x="1042416" y="2688336"/>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같은 항목이 나온다</a:t>
            </a:r>
            <a:endParaRPr lang="en-US" sz="1150" dirty="0"/>
          </a:p>
        </p:txBody>
      </p:sp>
      <p:sp>
        <p:nvSpPr>
          <p:cNvPr id="15" name="Text 13"/>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정보</a:t>
            </a:r>
            <a:endParaRPr lang="en-US" sz="900" dirty="0"/>
          </a:p>
        </p:txBody>
      </p:sp>
      <p:sp>
        <p:nvSpPr>
          <p:cNvPr id="16" name="Text 14"/>
          <p:cNvSpPr/>
          <p:nvPr/>
        </p:nvSpPr>
        <p:spPr>
          <a:xfrm>
            <a:off x="6699352" y="2688336"/>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항목 자체가 다르다</a:t>
            </a:r>
            <a:endParaRPr lang="en-US" sz="1150" dirty="0"/>
          </a:p>
        </p:txBody>
      </p:sp>
      <p:sp>
        <p:nvSpPr>
          <p:cNvPr id="17" name="Shape 15"/>
          <p:cNvSpPr/>
          <p:nvPr/>
        </p:nvSpPr>
        <p:spPr>
          <a:xfrm>
            <a:off x="1042416" y="3054096"/>
            <a:ext cx="4449928" cy="7315"/>
          </a:xfrm>
          <a:prstGeom prst="rect">
            <a:avLst/>
          </a:prstGeom>
          <a:solidFill>
            <a:srgbClr val="D2D2D2"/>
          </a:solidFill>
          <a:ln w="12700">
            <a:solidFill>
              <a:srgbClr val="D2D2D2"/>
            </a:solidFill>
            <a:prstDash val="solid"/>
          </a:ln>
        </p:spPr>
      </p:sp>
      <p:sp>
        <p:nvSpPr>
          <p:cNvPr id="18" name="Shape 16"/>
          <p:cNvSpPr/>
          <p:nvPr/>
        </p:nvSpPr>
        <p:spPr>
          <a:xfrm>
            <a:off x="6699352" y="3054096"/>
            <a:ext cx="4449928" cy="7315"/>
          </a:xfrm>
          <a:prstGeom prst="rect">
            <a:avLst/>
          </a:prstGeom>
          <a:solidFill>
            <a:srgbClr val="DCDCDC"/>
          </a:solidFill>
          <a:ln w="12700">
            <a:solidFill>
              <a:srgbClr val="DCDCDC"/>
            </a:solidFill>
            <a:prstDash val="solid"/>
          </a:ln>
        </p:spPr>
      </p:sp>
      <p:sp>
        <p:nvSpPr>
          <p:cNvPr id="19" name="Text 17"/>
          <p:cNvSpPr/>
          <p:nvPr/>
        </p:nvSpPr>
        <p:spPr>
          <a:xfrm>
            <a:off x="1042416" y="310896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배치</a:t>
            </a:r>
            <a:endParaRPr lang="en-US" sz="900" dirty="0"/>
          </a:p>
        </p:txBody>
      </p:sp>
      <p:sp>
        <p:nvSpPr>
          <p:cNvPr id="20" name="Text 18"/>
          <p:cNvSpPr/>
          <p:nvPr/>
        </p:nvSpPr>
        <p:spPr>
          <a:xfrm>
            <a:off x="1042416" y="3346704"/>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자리와 순서가 같다</a:t>
            </a:r>
            <a:endParaRPr lang="en-US" sz="1150" dirty="0"/>
          </a:p>
        </p:txBody>
      </p:sp>
      <p:sp>
        <p:nvSpPr>
          <p:cNvPr id="21" name="Text 19"/>
          <p:cNvSpPr/>
          <p:nvPr/>
        </p:nvSpPr>
        <p:spPr>
          <a:xfrm>
            <a:off x="6699352" y="310896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배치</a:t>
            </a:r>
            <a:endParaRPr lang="en-US" sz="900" dirty="0"/>
          </a:p>
        </p:txBody>
      </p:sp>
      <p:sp>
        <p:nvSpPr>
          <p:cNvPr id="22" name="Text 20"/>
          <p:cNvSpPr/>
          <p:nvPr/>
        </p:nvSpPr>
        <p:spPr>
          <a:xfrm>
            <a:off x="6699352" y="3346704"/>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구조가 다르다</a:t>
            </a:r>
            <a:endParaRPr lang="en-US" sz="1150" dirty="0"/>
          </a:p>
        </p:txBody>
      </p:sp>
      <p:sp>
        <p:nvSpPr>
          <p:cNvPr id="23" name="Shape 21"/>
          <p:cNvSpPr/>
          <p:nvPr/>
        </p:nvSpPr>
        <p:spPr>
          <a:xfrm>
            <a:off x="1042416" y="3712464"/>
            <a:ext cx="4449928" cy="7315"/>
          </a:xfrm>
          <a:prstGeom prst="rect">
            <a:avLst/>
          </a:prstGeom>
          <a:solidFill>
            <a:srgbClr val="D2D2D2"/>
          </a:solidFill>
          <a:ln w="12700">
            <a:solidFill>
              <a:srgbClr val="D2D2D2"/>
            </a:solidFill>
            <a:prstDash val="solid"/>
          </a:ln>
        </p:spPr>
      </p:sp>
      <p:sp>
        <p:nvSpPr>
          <p:cNvPr id="24" name="Shape 22"/>
          <p:cNvSpPr/>
          <p:nvPr/>
        </p:nvSpPr>
        <p:spPr>
          <a:xfrm>
            <a:off x="6699352" y="3712464"/>
            <a:ext cx="4449928" cy="7315"/>
          </a:xfrm>
          <a:prstGeom prst="rect">
            <a:avLst/>
          </a:prstGeom>
          <a:solidFill>
            <a:srgbClr val="DCDCDC"/>
          </a:solidFill>
          <a:ln w="12700">
            <a:solidFill>
              <a:srgbClr val="DCDCDC"/>
            </a:solidFill>
            <a:prstDash val="solid"/>
          </a:ln>
        </p:spPr>
      </p:sp>
      <p:sp>
        <p:nvSpPr>
          <p:cNvPr id="25" name="Text 23"/>
          <p:cNvSpPr/>
          <p:nvPr/>
        </p:nvSpPr>
        <p:spPr>
          <a:xfrm>
            <a:off x="1042416" y="376732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하는 일</a:t>
            </a:r>
            <a:endParaRPr lang="en-US" sz="900" dirty="0"/>
          </a:p>
        </p:txBody>
      </p:sp>
      <p:sp>
        <p:nvSpPr>
          <p:cNvPr id="26" name="Text 24"/>
          <p:cNvSpPr/>
          <p:nvPr/>
        </p:nvSpPr>
        <p:spPr>
          <a:xfrm>
            <a:off x="1042416" y="4005072"/>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같은 일을 한다</a:t>
            </a:r>
            <a:endParaRPr lang="en-US" sz="1150" dirty="0"/>
          </a:p>
        </p:txBody>
      </p:sp>
      <p:sp>
        <p:nvSpPr>
          <p:cNvPr id="27" name="Text 25"/>
          <p:cNvSpPr/>
          <p:nvPr/>
        </p:nvSpPr>
        <p:spPr>
          <a:xfrm>
            <a:off x="6699352" y="376732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하는 일</a:t>
            </a:r>
            <a:endParaRPr lang="en-US" sz="900" dirty="0"/>
          </a:p>
        </p:txBody>
      </p:sp>
      <p:sp>
        <p:nvSpPr>
          <p:cNvPr id="28" name="Text 26"/>
          <p:cNvSpPr/>
          <p:nvPr/>
        </p:nvSpPr>
        <p:spPr>
          <a:xfrm>
            <a:off x="6699352" y="4005072"/>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보기와 고치기처럼 다른 일이다</a:t>
            </a:r>
            <a:endParaRPr lang="en-US" sz="1150" dirty="0"/>
          </a:p>
        </p:txBody>
      </p:sp>
      <p:sp>
        <p:nvSpPr>
          <p:cNvPr id="29" name="Shape 27"/>
          <p:cNvSpPr/>
          <p:nvPr/>
        </p:nvSpPr>
        <p:spPr>
          <a:xfrm>
            <a:off x="1042416" y="4370832"/>
            <a:ext cx="4449928" cy="7315"/>
          </a:xfrm>
          <a:prstGeom prst="rect">
            <a:avLst/>
          </a:prstGeom>
          <a:solidFill>
            <a:srgbClr val="D2D2D2"/>
          </a:solidFill>
          <a:ln w="12700">
            <a:solidFill>
              <a:srgbClr val="D2D2D2"/>
            </a:solidFill>
            <a:prstDash val="solid"/>
          </a:ln>
        </p:spPr>
      </p:sp>
      <p:sp>
        <p:nvSpPr>
          <p:cNvPr id="30" name="Shape 28"/>
          <p:cNvSpPr/>
          <p:nvPr/>
        </p:nvSpPr>
        <p:spPr>
          <a:xfrm>
            <a:off x="6699352" y="4370832"/>
            <a:ext cx="4449928" cy="7315"/>
          </a:xfrm>
          <a:prstGeom prst="rect">
            <a:avLst/>
          </a:prstGeom>
          <a:solidFill>
            <a:srgbClr val="DCDCDC"/>
          </a:solidFill>
          <a:ln w="12700">
            <a:solidFill>
              <a:srgbClr val="DCDCDC"/>
            </a:solidFill>
            <a:prstDash val="solid"/>
          </a:ln>
        </p:spPr>
      </p:sp>
      <p:sp>
        <p:nvSpPr>
          <p:cNvPr id="31" name="Text 29"/>
          <p:cNvSpPr/>
          <p:nvPr/>
        </p:nvSpPr>
        <p:spPr>
          <a:xfrm>
            <a:off x="1042416" y="4425696"/>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나가는 길</a:t>
            </a:r>
            <a:endParaRPr lang="en-US" sz="900" dirty="0"/>
          </a:p>
        </p:txBody>
      </p:sp>
      <p:sp>
        <p:nvSpPr>
          <p:cNvPr id="32" name="Text 30"/>
          <p:cNvSpPr/>
          <p:nvPr/>
        </p:nvSpPr>
        <p:spPr>
          <a:xfrm>
            <a:off x="1042416" y="4663440"/>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하나다</a:t>
            </a:r>
            <a:endParaRPr lang="en-US" sz="1150" dirty="0"/>
          </a:p>
        </p:txBody>
      </p:sp>
      <p:sp>
        <p:nvSpPr>
          <p:cNvPr id="33" name="Text 31"/>
          <p:cNvSpPr/>
          <p:nvPr/>
        </p:nvSpPr>
        <p:spPr>
          <a:xfrm>
            <a:off x="6699352" y="4425696"/>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나가는 길</a:t>
            </a:r>
            <a:endParaRPr lang="en-US" sz="900" dirty="0"/>
          </a:p>
        </p:txBody>
      </p:sp>
      <p:sp>
        <p:nvSpPr>
          <p:cNvPr id="34" name="Text 32"/>
          <p:cNvSpPr/>
          <p:nvPr/>
        </p:nvSpPr>
        <p:spPr>
          <a:xfrm>
            <a:off x="6699352" y="4663440"/>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여러 갈래로 갈라진다</a:t>
            </a:r>
            <a:endParaRPr lang="en-US" sz="1150" dirty="0"/>
          </a:p>
        </p:txBody>
      </p:sp>
      <p:sp>
        <p:nvSpPr>
          <p:cNvPr id="35" name="Shape 33"/>
          <p:cNvSpPr/>
          <p:nvPr/>
        </p:nvSpPr>
        <p:spPr>
          <a:xfrm>
            <a:off x="1042416" y="5029200"/>
            <a:ext cx="4449928" cy="7315"/>
          </a:xfrm>
          <a:prstGeom prst="rect">
            <a:avLst/>
          </a:prstGeom>
          <a:solidFill>
            <a:srgbClr val="D2D2D2"/>
          </a:solidFill>
          <a:ln w="12700">
            <a:solidFill>
              <a:srgbClr val="D2D2D2"/>
            </a:solidFill>
            <a:prstDash val="solid"/>
          </a:ln>
        </p:spPr>
      </p:sp>
      <p:sp>
        <p:nvSpPr>
          <p:cNvPr id="36" name="Shape 34"/>
          <p:cNvSpPr/>
          <p:nvPr/>
        </p:nvSpPr>
        <p:spPr>
          <a:xfrm>
            <a:off x="6699352" y="5029200"/>
            <a:ext cx="4449928" cy="7315"/>
          </a:xfrm>
          <a:prstGeom prst="rect">
            <a:avLst/>
          </a:prstGeom>
          <a:solidFill>
            <a:srgbClr val="DCDCDC"/>
          </a:solidFill>
          <a:ln w="12700">
            <a:solidFill>
              <a:srgbClr val="DCDCDC"/>
            </a:solidFill>
            <a:prstDash val="solid"/>
          </a:ln>
        </p:spPr>
      </p:sp>
      <p:sp>
        <p:nvSpPr>
          <p:cNvPr id="37" name="Text 35"/>
          <p:cNvSpPr/>
          <p:nvPr/>
        </p:nvSpPr>
        <p:spPr>
          <a:xfrm>
            <a:off x="1042416" y="5084064"/>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고칠 때</a:t>
            </a:r>
            <a:endParaRPr lang="en-US" sz="900" dirty="0"/>
          </a:p>
        </p:txBody>
      </p:sp>
      <p:sp>
        <p:nvSpPr>
          <p:cNvPr id="38" name="Text 36"/>
          <p:cNvSpPr/>
          <p:nvPr/>
        </p:nvSpPr>
        <p:spPr>
          <a:xfrm>
            <a:off x="1042416" y="5321808"/>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같이 고쳐야 한다</a:t>
            </a:r>
            <a:endParaRPr lang="en-US" sz="1150" dirty="0"/>
          </a:p>
        </p:txBody>
      </p:sp>
      <p:sp>
        <p:nvSpPr>
          <p:cNvPr id="39" name="Text 37"/>
          <p:cNvSpPr/>
          <p:nvPr/>
        </p:nvSpPr>
        <p:spPr>
          <a:xfrm>
            <a:off x="6699352" y="5084064"/>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고칠 때</a:t>
            </a:r>
            <a:endParaRPr lang="en-US" sz="900" dirty="0"/>
          </a:p>
        </p:txBody>
      </p:sp>
      <p:sp>
        <p:nvSpPr>
          <p:cNvPr id="40" name="Text 38"/>
          <p:cNvSpPr/>
          <p:nvPr/>
        </p:nvSpPr>
        <p:spPr>
          <a:xfrm>
            <a:off x="6699352" y="5321808"/>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따로 고칠 일이 생긴다</a:t>
            </a:r>
            <a:endParaRPr lang="en-US" sz="1150" dirty="0"/>
          </a:p>
        </p:txBody>
      </p:sp>
      <p:sp>
        <p:nvSpPr>
          <p:cNvPr id="41" name="Shape 39"/>
          <p:cNvSpPr/>
          <p:nvPr/>
        </p:nvSpPr>
        <p:spPr>
          <a:xfrm>
            <a:off x="640080" y="6291072"/>
            <a:ext cx="10911535" cy="7315"/>
          </a:xfrm>
          <a:prstGeom prst="rect">
            <a:avLst/>
          </a:prstGeom>
          <a:solidFill>
            <a:srgbClr val="DCDCDC"/>
          </a:solidFill>
          <a:ln w="12700">
            <a:solidFill>
              <a:srgbClr val="DCDCDC"/>
            </a:solidFill>
            <a:prstDash val="solid"/>
          </a:ln>
        </p:spPr>
      </p:sp>
      <p:sp>
        <p:nvSpPr>
          <p:cNvPr id="42" name="Text 4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8주차 흐름 늘리기 — 겹치는 화면 정리</a:t>
            </a:r>
            <a:endParaRPr lang="en-US" sz="850" dirty="0"/>
          </a:p>
        </p:txBody>
      </p:sp>
      <p:sp>
        <p:nvSpPr>
          <p:cNvPr id="43" name="Text 4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08</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03</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03</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화면 목록 확정</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다음 주 중간 보고서의 중심 문서이자, 남은 여덟 주의 작업 지시서입니다.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08</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LIST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화면 목록표 — 여섯 칸</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만든 것의 목록이 아니라 필요한 것의 목록입니다.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표의 여섯 칸</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번호 — 흐름별로. A-01, A-02. 전체 일련번호로 하지 않습니다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화면 이름 — 파일 안의 프레임 이름과 똑같이</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속한 흐름 — 여럿이면 여럿 다. 두 개 이상이면 겹치는 화면입니다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상태 — 완료 / 작업 중 / 없음. 아직 없는 화면도 적습니다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패널 게재 — 지금은 후보로. 13주차에 확정합니다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메모 — 겹치는 화면의 네 가지, 돌아올 때 유지할 것</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표를 채우고 나서 볼 것</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전체 15~25장인가 — 10장 아래면 얕고, 30장 위면 못 끝냅니다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'없음'이 몇 장인가 — 그것이 남은 작업량입니다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주당 몇 장을 만들어야 하는가 — 남은 기간으로 나눕니다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패널 후보가 5~8장 있는가 — 모자라면 흐름을 다시 고릅니다</a:t>
            </a:r>
            <a:endParaRPr lang="en-US" sz="1200" dirty="0"/>
          </a:p>
        </p:txBody>
      </p:sp>
      <p:sp>
        <p:nvSpPr>
          <p:cNvPr id="17" name="Text 15"/>
          <p:cNvSpPr/>
          <p:nvPr/>
        </p:nvSpPr>
        <p:spPr>
          <a:xfrm>
            <a:off x="640080" y="5541264"/>
            <a:ext cx="10911535" cy="402336"/>
          </a:xfrm>
          <a:prstGeom prst="rect">
            <a:avLst/>
          </a:prstGeom>
          <a:noFill/>
          <a:ln/>
        </p:spPr>
        <p:txBody>
          <a:bodyPr wrap="square" lIns="0" tIns="0" rIns="0" bIns="0" rtlCol="0" anchor="ctr"/>
          <a:lstStyle/>
          <a:p>
            <a:pPr indent="0" marL="0">
              <a:buNone/>
            </a:pPr>
            <a:r>
              <a:rPr lang="en-US" sz="1200" dirty="0">
                <a:solidFill>
                  <a:srgbClr val="6E6E6E"/>
                </a:solidFill>
                <a:latin typeface="Pretendard" pitchFamily="34" charset="0"/>
                <a:ea typeface="Pretendard" pitchFamily="34" charset="-122"/>
                <a:cs typeface="Pretendard" pitchFamily="34" charset="-120"/>
              </a:rPr>
              <a:t>네 번째 칸을 정직하게 쓰세요. '없음'을 안 적으면 작업량이 보이지 않고, 막판에 한꺼번에 몰립니다.</a:t>
            </a:r>
            <a:endParaRPr lang="en-US" sz="1200" dirty="0"/>
          </a:p>
        </p:txBody>
      </p:sp>
      <p:sp>
        <p:nvSpPr>
          <p:cNvPr id="18" name="Shape 16"/>
          <p:cNvSpPr/>
          <p:nvPr/>
        </p:nvSpPr>
        <p:spPr>
          <a:xfrm>
            <a:off x="640080" y="6291072"/>
            <a:ext cx="10911535" cy="7315"/>
          </a:xfrm>
          <a:prstGeom prst="rect">
            <a:avLst/>
          </a:prstGeom>
          <a:solidFill>
            <a:srgbClr val="DCDCDC"/>
          </a:solidFill>
          <a:ln w="12700">
            <a:solidFill>
              <a:srgbClr val="DCDCDC"/>
            </a:solidFill>
            <a:prstDash val="solid"/>
          </a:ln>
        </p:spPr>
      </p:sp>
      <p:sp>
        <p:nvSpPr>
          <p:cNvPr id="19" name="Text 1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8주차 흐름 늘리기 — 겹치는 화면 정리</a:t>
            </a:r>
            <a:endParaRPr lang="en-US" sz="850" dirty="0"/>
          </a:p>
        </p:txBody>
      </p:sp>
      <p:sp>
        <p:nvSpPr>
          <p:cNvPr id="20" name="Text 1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08</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WORKSHOP</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실습 · 흐름 둘 더하고 목록 만들기</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새로 그리는 시간이 아니라 정리하는 시간입니다.</a:t>
            </a:r>
            <a:endParaRPr lang="en-US" sz="1150" dirty="0"/>
          </a:p>
        </p:txBody>
      </p:sp>
      <p:sp>
        <p:nvSpPr>
          <p:cNvPr id="9" name="Shape 7"/>
          <p:cNvSpPr/>
          <p:nvPr/>
        </p:nvSpPr>
        <p:spPr>
          <a:xfrm>
            <a:off x="640080" y="1719072"/>
            <a:ext cx="10911535" cy="822960"/>
          </a:xfrm>
          <a:prstGeom prst="rect">
            <a:avLst/>
          </a:prstGeom>
          <a:solidFill>
            <a:srgbClr val="FFFFFF"/>
          </a:solidFill>
          <a:ln w="12700">
            <a:solidFill>
              <a:srgbClr val="DCDCDC"/>
            </a:solidFill>
            <a:prstDash val="solid"/>
          </a:ln>
        </p:spPr>
      </p:sp>
      <p:sp>
        <p:nvSpPr>
          <p:cNvPr id="10" name="Text 8"/>
          <p:cNvSpPr/>
          <p:nvPr/>
        </p:nvSpPr>
        <p:spPr>
          <a:xfrm>
            <a:off x="1097280" y="1810512"/>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흐름 둘 고르고 네 지점 적기</a:t>
            </a:r>
            <a:endParaRPr lang="en-US" sz="1450" dirty="0"/>
          </a:p>
        </p:txBody>
      </p:sp>
      <p:sp>
        <p:nvSpPr>
          <p:cNvPr id="11" name="Text 9"/>
          <p:cNvSpPr/>
          <p:nvPr/>
        </p:nvSpPr>
        <p:spPr>
          <a:xfrm>
            <a:off x="4480560" y="1810512"/>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기준 세 가지로 고릅니다. 화면 이름만 적고 아직 그리지 않습니다. 셋 중 하나는 만드는 흐름이어야 합니다.</a:t>
            </a:r>
            <a:endParaRPr lang="en-US" sz="1150" dirty="0"/>
          </a:p>
        </p:txBody>
      </p:sp>
      <p:sp>
        <p:nvSpPr>
          <p:cNvPr id="12" name="Shape 10"/>
          <p:cNvSpPr/>
          <p:nvPr/>
        </p:nvSpPr>
        <p:spPr>
          <a:xfrm>
            <a:off x="640080" y="2688336"/>
            <a:ext cx="10911535" cy="822960"/>
          </a:xfrm>
          <a:prstGeom prst="rect">
            <a:avLst/>
          </a:prstGeom>
          <a:solidFill>
            <a:srgbClr val="FFFFFF"/>
          </a:solidFill>
          <a:ln w="12700">
            <a:solidFill>
              <a:srgbClr val="DCDCDC"/>
            </a:solidFill>
            <a:prstDash val="solid"/>
          </a:ln>
        </p:spPr>
      </p:sp>
      <p:sp>
        <p:nvSpPr>
          <p:cNvPr id="13" name="Text 11"/>
          <p:cNvSpPr/>
          <p:nvPr/>
        </p:nvSpPr>
        <p:spPr>
          <a:xfrm>
            <a:off x="1097280" y="2779776"/>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겹치는 화면 찾기</a:t>
            </a:r>
            <a:endParaRPr lang="en-US" sz="1450" dirty="0"/>
          </a:p>
        </p:txBody>
      </p:sp>
      <p:sp>
        <p:nvSpPr>
          <p:cNvPr id="14" name="Text 12"/>
          <p:cNvSpPr/>
          <p:nvPr/>
        </p:nvSpPr>
        <p:spPr>
          <a:xfrm>
            <a:off x="4480560" y="2779776"/>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흐름 셋을 놓고 같은 화면이 두 번 이상 나오는 것을 표시합니다. 복제본이 있으면 하나만 남기고 지웁니다.</a:t>
            </a:r>
            <a:endParaRPr lang="en-US" sz="1150" dirty="0"/>
          </a:p>
        </p:txBody>
      </p:sp>
      <p:sp>
        <p:nvSpPr>
          <p:cNvPr id="15" name="Shape 13"/>
          <p:cNvSpPr/>
          <p:nvPr/>
        </p:nvSpPr>
        <p:spPr>
          <a:xfrm>
            <a:off x="640080" y="3657600"/>
            <a:ext cx="10911535" cy="822960"/>
          </a:xfrm>
          <a:prstGeom prst="rect">
            <a:avLst/>
          </a:prstGeom>
          <a:solidFill>
            <a:srgbClr val="FFFFFF"/>
          </a:solidFill>
          <a:ln w="12700">
            <a:solidFill>
              <a:srgbClr val="DCDCDC"/>
            </a:solidFill>
            <a:prstDash val="solid"/>
          </a:ln>
        </p:spPr>
      </p:sp>
      <p:sp>
        <p:nvSpPr>
          <p:cNvPr id="16" name="Text 14"/>
          <p:cNvSpPr/>
          <p:nvPr/>
        </p:nvSpPr>
        <p:spPr>
          <a:xfrm>
            <a:off x="1097280" y="3749040"/>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겹치는 화면에 네 가지 적기</a:t>
            </a:r>
            <a:endParaRPr lang="en-US" sz="1450" dirty="0"/>
          </a:p>
        </p:txBody>
      </p:sp>
      <p:sp>
        <p:nvSpPr>
          <p:cNvPr id="17" name="Text 15"/>
          <p:cNvSpPr/>
          <p:nvPr/>
        </p:nvSpPr>
        <p:spPr>
          <a:xfrm>
            <a:off x="4480560" y="3749040"/>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돌아가는 곳 · 처음 보이는 상태 · 보여 줄 것과 숨길 것 · 돌아갔을 때 남아야 할 것.</a:t>
            </a:r>
            <a:endParaRPr lang="en-US" sz="1150" dirty="0"/>
          </a:p>
        </p:txBody>
      </p:sp>
      <p:sp>
        <p:nvSpPr>
          <p:cNvPr id="18" name="Shape 16"/>
          <p:cNvSpPr/>
          <p:nvPr/>
        </p:nvSpPr>
        <p:spPr>
          <a:xfrm>
            <a:off x="640080" y="4626864"/>
            <a:ext cx="10911535" cy="822960"/>
          </a:xfrm>
          <a:prstGeom prst="rect">
            <a:avLst/>
          </a:prstGeom>
          <a:solidFill>
            <a:srgbClr val="111111"/>
          </a:solidFill>
          <a:ln w="12700">
            <a:solidFill>
              <a:srgbClr val="111111"/>
            </a:solidFill>
            <a:prstDash val="solid"/>
          </a:ln>
        </p:spPr>
      </p:sp>
      <p:sp>
        <p:nvSpPr>
          <p:cNvPr id="19" name="Text 17"/>
          <p:cNvSpPr/>
          <p:nvPr/>
        </p:nvSpPr>
        <p:spPr>
          <a:xfrm>
            <a:off x="1097280" y="4718304"/>
            <a:ext cx="3291840" cy="640080"/>
          </a:xfrm>
          <a:prstGeom prst="rect">
            <a:avLst/>
          </a:prstGeom>
          <a:noFill/>
          <a:ln/>
        </p:spPr>
        <p:txBody>
          <a:bodyPr wrap="square" lIns="0" tIns="0" rIns="0" bIns="0" rtlCol="0" anchor="ctr"/>
          <a:lstStyle/>
          <a:p>
            <a:pPr indent="0" marL="0">
              <a:buNone/>
            </a:pPr>
            <a:r>
              <a:rPr lang="en-US" sz="1450" dirty="0">
                <a:solidFill>
                  <a:srgbClr val="FFFFFF"/>
                </a:solidFill>
                <a:latin typeface="Pretendard SemiBold" pitchFamily="34" charset="0"/>
                <a:ea typeface="Pretendard SemiBold" pitchFamily="34" charset="-122"/>
                <a:cs typeface="Pretendard SemiBold" pitchFamily="34" charset="-120"/>
              </a:rPr>
              <a:t>화면 목록표 틀 만들기</a:t>
            </a:r>
            <a:endParaRPr lang="en-US" sz="1450" dirty="0"/>
          </a:p>
        </p:txBody>
      </p:sp>
      <p:sp>
        <p:nvSpPr>
          <p:cNvPr id="20" name="Text 18"/>
          <p:cNvSpPr/>
          <p:nvPr/>
        </p:nvSpPr>
        <p:spPr>
          <a:xfrm>
            <a:off x="4480560" y="4718304"/>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B8B8B8"/>
                </a:solidFill>
                <a:latin typeface="Pretendard" pitchFamily="34" charset="0"/>
                <a:ea typeface="Pretendard" pitchFamily="34" charset="-122"/>
                <a:cs typeface="Pretendard" pitchFamily="34" charset="-120"/>
              </a:rPr>
              <a:t>여섯 칸으로. 번호와 이름까지만 넣어도 됩니다. 나머지는 과제로 이어 갑니다.</a:t>
            </a:r>
            <a:endParaRPr lang="en-US" sz="1150" dirty="0"/>
          </a:p>
        </p:txBody>
      </p:sp>
      <p:sp>
        <p:nvSpPr>
          <p:cNvPr id="21" name="Shape 19"/>
          <p:cNvSpPr/>
          <p:nvPr/>
        </p:nvSpPr>
        <p:spPr>
          <a:xfrm>
            <a:off x="640080" y="6291072"/>
            <a:ext cx="10911535" cy="7315"/>
          </a:xfrm>
          <a:prstGeom prst="rect">
            <a:avLst/>
          </a:prstGeom>
          <a:solidFill>
            <a:srgbClr val="DCDCDC"/>
          </a:solidFill>
          <a:ln w="12700">
            <a:solidFill>
              <a:srgbClr val="DCDCDC"/>
            </a:solidFill>
            <a:prstDash val="solid"/>
          </a:ln>
        </p:spPr>
      </p:sp>
      <p:sp>
        <p:nvSpPr>
          <p:cNvPr id="22" name="Text 2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8주차 흐름 늘리기 — 겹치는 화면 정리</a:t>
            </a:r>
            <a:endParaRPr lang="en-US" sz="850" dirty="0"/>
          </a:p>
        </p:txBody>
      </p:sp>
      <p:sp>
        <p:nvSpPr>
          <p:cNvPr id="23" name="Text 2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08</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04</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NOTICE</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중간 보고서 — 10/28 중간평가</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다음 주가 중간평가입니다. 지금까지 한 것을 모으면 대부분이 됩니다.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08</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REPORT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중간 보고서 — 여덟 장</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새로 쓰는 것은 첫 장과 마지막 장뿐입니다. 나머지 여섯 장은 모으는 일입니다.</a:t>
            </a:r>
            <a:endParaRPr lang="en-US" sz="1150" dirty="0"/>
          </a:p>
        </p:txBody>
      </p:sp>
      <p:sp>
        <p:nvSpPr>
          <p:cNvPr id="9" name="Shape 7"/>
          <p:cNvSpPr/>
          <p:nvPr/>
        </p:nvSpPr>
        <p:spPr>
          <a:xfrm>
            <a:off x="640080" y="1719072"/>
            <a:ext cx="10911535" cy="365760"/>
          </a:xfrm>
          <a:prstGeom prst="rect">
            <a:avLst/>
          </a:prstGeom>
          <a:solidFill>
            <a:srgbClr val="FFFFFF"/>
          </a:solidFill>
          <a:ln w="12700">
            <a:solidFill>
              <a:srgbClr val="DCDCDC"/>
            </a:solidFill>
            <a:prstDash val="solid"/>
          </a:ln>
        </p:spPr>
      </p:sp>
      <p:sp>
        <p:nvSpPr>
          <p:cNvPr id="10" name="Text 8"/>
          <p:cNvSpPr/>
          <p:nvPr/>
        </p:nvSpPr>
        <p:spPr>
          <a:xfrm>
            <a:off x="1097280" y="1810512"/>
            <a:ext cx="3291840" cy="1828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표지 — 새로 씁니다</a:t>
            </a:r>
            <a:endParaRPr lang="en-US" sz="1450" dirty="0"/>
          </a:p>
        </p:txBody>
      </p:sp>
      <p:sp>
        <p:nvSpPr>
          <p:cNvPr id="11" name="Text 9"/>
          <p:cNvSpPr/>
          <p:nvPr/>
        </p:nvSpPr>
        <p:spPr>
          <a:xfrm>
            <a:off x="4480560" y="1810512"/>
            <a:ext cx="6705295" cy="1828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서비스 이름 · 한 문장 정의 · 학번과 이름. 정의가 바뀌었으면 바뀐 것으로.</a:t>
            </a:r>
            <a:endParaRPr lang="en-US" sz="1150" dirty="0"/>
          </a:p>
        </p:txBody>
      </p:sp>
      <p:sp>
        <p:nvSpPr>
          <p:cNvPr id="12" name="Shape 10"/>
          <p:cNvSpPr/>
          <p:nvPr/>
        </p:nvSpPr>
        <p:spPr>
          <a:xfrm>
            <a:off x="640080" y="2231136"/>
            <a:ext cx="10911535" cy="365760"/>
          </a:xfrm>
          <a:prstGeom prst="rect">
            <a:avLst/>
          </a:prstGeom>
          <a:solidFill>
            <a:srgbClr val="FFFFFF"/>
          </a:solidFill>
          <a:ln w="12700">
            <a:solidFill>
              <a:srgbClr val="DCDCDC"/>
            </a:solidFill>
            <a:prstDash val="solid"/>
          </a:ln>
        </p:spPr>
      </p:sp>
      <p:sp>
        <p:nvSpPr>
          <p:cNvPr id="13" name="Text 11"/>
          <p:cNvSpPr/>
          <p:nvPr/>
        </p:nvSpPr>
        <p:spPr>
          <a:xfrm>
            <a:off x="1097280" y="2322576"/>
            <a:ext cx="3291840" cy="1828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작업 범위</a:t>
            </a:r>
            <a:endParaRPr lang="en-US" sz="1450" dirty="0"/>
          </a:p>
        </p:txBody>
      </p:sp>
      <p:sp>
        <p:nvSpPr>
          <p:cNvPr id="14" name="Text 12"/>
          <p:cNvSpPr/>
          <p:nvPr/>
        </p:nvSpPr>
        <p:spPr>
          <a:xfrm>
            <a:off x="4480560" y="2322576"/>
            <a:ext cx="6705295" cy="1828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2주차 확정서를 지금 기준으로 고칩니다. 만들 화면 · 패널에 실을 화면 · 비어 있는 것.</a:t>
            </a:r>
            <a:endParaRPr lang="en-US" sz="1150" dirty="0"/>
          </a:p>
        </p:txBody>
      </p:sp>
      <p:sp>
        <p:nvSpPr>
          <p:cNvPr id="15" name="Shape 13"/>
          <p:cNvSpPr/>
          <p:nvPr/>
        </p:nvSpPr>
        <p:spPr>
          <a:xfrm>
            <a:off x="640080" y="2743200"/>
            <a:ext cx="10911535" cy="365760"/>
          </a:xfrm>
          <a:prstGeom prst="rect">
            <a:avLst/>
          </a:prstGeom>
          <a:solidFill>
            <a:srgbClr val="FFFFFF"/>
          </a:solidFill>
          <a:ln w="12700">
            <a:solidFill>
              <a:srgbClr val="DCDCDC"/>
            </a:solidFill>
            <a:prstDash val="solid"/>
          </a:ln>
        </p:spPr>
      </p:sp>
      <p:sp>
        <p:nvSpPr>
          <p:cNvPr id="16" name="Text 14"/>
          <p:cNvSpPr/>
          <p:nvPr/>
        </p:nvSpPr>
        <p:spPr>
          <a:xfrm>
            <a:off x="1097280" y="2834640"/>
            <a:ext cx="3291840" cy="1828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규격 표</a:t>
            </a:r>
            <a:endParaRPr lang="en-US" sz="1450" dirty="0"/>
          </a:p>
        </p:txBody>
      </p:sp>
      <p:sp>
        <p:nvSpPr>
          <p:cNvPr id="17" name="Text 15"/>
          <p:cNvSpPr/>
          <p:nvPr/>
        </p:nvSpPr>
        <p:spPr>
          <a:xfrm>
            <a:off x="4480560" y="2834640"/>
            <a:ext cx="6705295" cy="1828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기준 폭 · GNB · 헤더 · 리스트 · 카드 · 아이콘 · 입력 · 버튼 · 세그먼트 탭. 3~6주차에 쌓은 것.</a:t>
            </a:r>
            <a:endParaRPr lang="en-US" sz="1150" dirty="0"/>
          </a:p>
        </p:txBody>
      </p:sp>
      <p:sp>
        <p:nvSpPr>
          <p:cNvPr id="18" name="Shape 16"/>
          <p:cNvSpPr/>
          <p:nvPr/>
        </p:nvSpPr>
        <p:spPr>
          <a:xfrm>
            <a:off x="640080" y="3255264"/>
            <a:ext cx="10911535" cy="365760"/>
          </a:xfrm>
          <a:prstGeom prst="rect">
            <a:avLst/>
          </a:prstGeom>
          <a:solidFill>
            <a:srgbClr val="FFFFFF"/>
          </a:solidFill>
          <a:ln w="12700">
            <a:solidFill>
              <a:srgbClr val="DCDCDC"/>
            </a:solidFill>
            <a:prstDash val="solid"/>
          </a:ln>
        </p:spPr>
      </p:sp>
      <p:sp>
        <p:nvSpPr>
          <p:cNvPr id="19" name="Text 17"/>
          <p:cNvSpPr/>
          <p:nvPr/>
        </p:nvSpPr>
        <p:spPr>
          <a:xfrm>
            <a:off x="1097280" y="3346704"/>
            <a:ext cx="3291840" cy="1828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토큰 표</a:t>
            </a:r>
            <a:endParaRPr lang="en-US" sz="1450" dirty="0"/>
          </a:p>
        </p:txBody>
      </p:sp>
      <p:sp>
        <p:nvSpPr>
          <p:cNvPr id="20" name="Text 18"/>
          <p:cNvSpPr/>
          <p:nvPr/>
        </p:nvSpPr>
        <p:spPr>
          <a:xfrm>
            <a:off x="4480560" y="3346704"/>
            <a:ext cx="6705295" cy="1828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색 · 글자 · 간격. 값과 이름과 쓰는 자리까지. 5주차 것.</a:t>
            </a:r>
            <a:endParaRPr lang="en-US" sz="1150" dirty="0"/>
          </a:p>
        </p:txBody>
      </p:sp>
      <p:sp>
        <p:nvSpPr>
          <p:cNvPr id="21" name="Shape 19"/>
          <p:cNvSpPr/>
          <p:nvPr/>
        </p:nvSpPr>
        <p:spPr>
          <a:xfrm>
            <a:off x="640080" y="3767328"/>
            <a:ext cx="10911535" cy="365760"/>
          </a:xfrm>
          <a:prstGeom prst="rect">
            <a:avLst/>
          </a:prstGeom>
          <a:solidFill>
            <a:srgbClr val="FFFFFF"/>
          </a:solidFill>
          <a:ln w="12700">
            <a:solidFill>
              <a:srgbClr val="DCDCDC"/>
            </a:solidFill>
            <a:prstDash val="solid"/>
          </a:ln>
        </p:spPr>
      </p:sp>
      <p:sp>
        <p:nvSpPr>
          <p:cNvPr id="22" name="Text 20"/>
          <p:cNvSpPr/>
          <p:nvPr/>
        </p:nvSpPr>
        <p:spPr>
          <a:xfrm>
            <a:off x="1097280" y="3858768"/>
            <a:ext cx="3291840" cy="1828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컴포넌트 목록</a:t>
            </a:r>
            <a:endParaRPr lang="en-US" sz="1450" dirty="0"/>
          </a:p>
        </p:txBody>
      </p:sp>
      <p:sp>
        <p:nvSpPr>
          <p:cNvPr id="23" name="Text 21"/>
          <p:cNvSpPr/>
          <p:nvPr/>
        </p:nvSpPr>
        <p:spPr>
          <a:xfrm>
            <a:off x="4480560" y="3858768"/>
            <a:ext cx="6705295" cy="1828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만든 컴포넌트와 배리언트, 화면에서 쓰인 인스턴스 수.</a:t>
            </a:r>
            <a:endParaRPr lang="en-US" sz="1150" dirty="0"/>
          </a:p>
        </p:txBody>
      </p:sp>
      <p:sp>
        <p:nvSpPr>
          <p:cNvPr id="24" name="Shape 22"/>
          <p:cNvSpPr/>
          <p:nvPr/>
        </p:nvSpPr>
        <p:spPr>
          <a:xfrm>
            <a:off x="640080" y="4279392"/>
            <a:ext cx="10911535" cy="365760"/>
          </a:xfrm>
          <a:prstGeom prst="rect">
            <a:avLst/>
          </a:prstGeom>
          <a:solidFill>
            <a:srgbClr val="FFFFFF"/>
          </a:solidFill>
          <a:ln w="12700">
            <a:solidFill>
              <a:srgbClr val="DCDCDC"/>
            </a:solidFill>
            <a:prstDash val="solid"/>
          </a:ln>
        </p:spPr>
      </p:sp>
      <p:sp>
        <p:nvSpPr>
          <p:cNvPr id="25" name="Text 23"/>
          <p:cNvSpPr/>
          <p:nvPr/>
        </p:nvSpPr>
        <p:spPr>
          <a:xfrm>
            <a:off x="1097280" y="4370832"/>
            <a:ext cx="3291840" cy="1828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흐름 지도와 흐름 셋</a:t>
            </a:r>
            <a:endParaRPr lang="en-US" sz="1450" dirty="0"/>
          </a:p>
        </p:txBody>
      </p:sp>
      <p:sp>
        <p:nvSpPr>
          <p:cNvPr id="26" name="Text 24"/>
          <p:cNvSpPr/>
          <p:nvPr/>
        </p:nvSpPr>
        <p:spPr>
          <a:xfrm>
            <a:off x="4480560" y="4370832"/>
            <a:ext cx="6705295" cy="1828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흐름끼리 어떻게 이어지는지 한 장, 그리고 흐름 셋의 화면 전체.</a:t>
            </a:r>
            <a:endParaRPr lang="en-US" sz="1150" dirty="0"/>
          </a:p>
        </p:txBody>
      </p:sp>
      <p:sp>
        <p:nvSpPr>
          <p:cNvPr id="27" name="Shape 25"/>
          <p:cNvSpPr/>
          <p:nvPr/>
        </p:nvSpPr>
        <p:spPr>
          <a:xfrm>
            <a:off x="640080" y="4791456"/>
            <a:ext cx="10911535" cy="365760"/>
          </a:xfrm>
          <a:prstGeom prst="rect">
            <a:avLst/>
          </a:prstGeom>
          <a:solidFill>
            <a:srgbClr val="FFFFFF"/>
          </a:solidFill>
          <a:ln w="12700">
            <a:solidFill>
              <a:srgbClr val="DCDCDC"/>
            </a:solidFill>
            <a:prstDash val="solid"/>
          </a:ln>
        </p:spPr>
      </p:sp>
      <p:sp>
        <p:nvSpPr>
          <p:cNvPr id="28" name="Text 26"/>
          <p:cNvSpPr/>
          <p:nvPr/>
        </p:nvSpPr>
        <p:spPr>
          <a:xfrm>
            <a:off x="1097280" y="4882896"/>
            <a:ext cx="3291840" cy="1828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화면 목록표</a:t>
            </a:r>
            <a:endParaRPr lang="en-US" sz="1450" dirty="0"/>
          </a:p>
        </p:txBody>
      </p:sp>
      <p:sp>
        <p:nvSpPr>
          <p:cNvPr id="29" name="Text 27"/>
          <p:cNvSpPr/>
          <p:nvPr/>
        </p:nvSpPr>
        <p:spPr>
          <a:xfrm>
            <a:off x="4480560" y="4882896"/>
            <a:ext cx="6705295" cy="1828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오늘 만든 여섯 칸 표. 보고서에서 가장 중요한 장입니다.</a:t>
            </a:r>
            <a:endParaRPr lang="en-US" sz="1150" dirty="0"/>
          </a:p>
        </p:txBody>
      </p:sp>
      <p:sp>
        <p:nvSpPr>
          <p:cNvPr id="30" name="Shape 28"/>
          <p:cNvSpPr/>
          <p:nvPr/>
        </p:nvSpPr>
        <p:spPr>
          <a:xfrm>
            <a:off x="640080" y="5303520"/>
            <a:ext cx="10911535" cy="365760"/>
          </a:xfrm>
          <a:prstGeom prst="rect">
            <a:avLst/>
          </a:prstGeom>
          <a:solidFill>
            <a:srgbClr val="111111"/>
          </a:solidFill>
          <a:ln w="12700">
            <a:solidFill>
              <a:srgbClr val="111111"/>
            </a:solidFill>
            <a:prstDash val="solid"/>
          </a:ln>
        </p:spPr>
      </p:sp>
      <p:sp>
        <p:nvSpPr>
          <p:cNvPr id="31" name="Text 29"/>
          <p:cNvSpPr/>
          <p:nvPr/>
        </p:nvSpPr>
        <p:spPr>
          <a:xfrm>
            <a:off x="1097280" y="5394960"/>
            <a:ext cx="3291840" cy="182880"/>
          </a:xfrm>
          <a:prstGeom prst="rect">
            <a:avLst/>
          </a:prstGeom>
          <a:noFill/>
          <a:ln/>
        </p:spPr>
        <p:txBody>
          <a:bodyPr wrap="square" lIns="0" tIns="0" rIns="0" bIns="0" rtlCol="0" anchor="ctr"/>
          <a:lstStyle/>
          <a:p>
            <a:pPr indent="0" marL="0">
              <a:buNone/>
            </a:pPr>
            <a:r>
              <a:rPr lang="en-US" sz="1450" dirty="0">
                <a:solidFill>
                  <a:srgbClr val="FFFFFF"/>
                </a:solidFill>
                <a:latin typeface="Pretendard SemiBold" pitchFamily="34" charset="0"/>
                <a:ea typeface="Pretendard SemiBold" pitchFamily="34" charset="-122"/>
                <a:cs typeface="Pretendard SemiBold" pitchFamily="34" charset="-120"/>
              </a:rPr>
              <a:t>남은 일정 — 새로 씁니다</a:t>
            </a:r>
            <a:endParaRPr lang="en-US" sz="1450" dirty="0"/>
          </a:p>
        </p:txBody>
      </p:sp>
      <p:sp>
        <p:nvSpPr>
          <p:cNvPr id="32" name="Text 30"/>
          <p:cNvSpPr/>
          <p:nvPr/>
        </p:nvSpPr>
        <p:spPr>
          <a:xfrm>
            <a:off x="4480560" y="5394960"/>
            <a:ext cx="6705295" cy="182880"/>
          </a:xfrm>
          <a:prstGeom prst="rect">
            <a:avLst/>
          </a:prstGeom>
          <a:noFill/>
          <a:ln/>
        </p:spPr>
        <p:txBody>
          <a:bodyPr wrap="square" lIns="0" tIns="0" rIns="0" bIns="0" rtlCol="0" anchor="ctr"/>
          <a:lstStyle/>
          <a:p>
            <a:pPr indent="0" marL="0">
              <a:lnSpc>
                <a:spcPct val="124000"/>
              </a:lnSpc>
              <a:buNone/>
            </a:pPr>
            <a:r>
              <a:rPr lang="en-US" sz="1150" dirty="0">
                <a:solidFill>
                  <a:srgbClr val="B8B8B8"/>
                </a:solidFill>
                <a:latin typeface="Pretendard" pitchFamily="34" charset="0"/>
                <a:ea typeface="Pretendard" pitchFamily="34" charset="-122"/>
                <a:cs typeface="Pretendard" pitchFamily="34" charset="-120"/>
              </a:rPr>
              <a:t>10~15주차에 무엇을 언제. '없음' 개수를 주차로 나누면 나옵니다.</a:t>
            </a:r>
            <a:endParaRPr lang="en-US" sz="1150" dirty="0"/>
          </a:p>
        </p:txBody>
      </p:sp>
      <p:sp>
        <p:nvSpPr>
          <p:cNvPr id="33" name="Shape 31"/>
          <p:cNvSpPr/>
          <p:nvPr/>
        </p:nvSpPr>
        <p:spPr>
          <a:xfrm>
            <a:off x="640080" y="6291072"/>
            <a:ext cx="10911535" cy="7315"/>
          </a:xfrm>
          <a:prstGeom prst="rect">
            <a:avLst/>
          </a:prstGeom>
          <a:solidFill>
            <a:srgbClr val="DCDCDC"/>
          </a:solidFill>
          <a:ln w="12700">
            <a:solidFill>
              <a:srgbClr val="DCDCDC"/>
            </a:solidFill>
            <a:prstDash val="solid"/>
          </a:ln>
        </p:spPr>
      </p:sp>
      <p:sp>
        <p:nvSpPr>
          <p:cNvPr id="34" name="Text 32"/>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8주차 흐름 늘리기 — 겹치는 화면 정리</a:t>
            </a:r>
            <a:endParaRPr lang="en-US" sz="850" dirty="0"/>
          </a:p>
        </p:txBody>
      </p:sp>
      <p:sp>
        <p:nvSpPr>
          <p:cNvPr id="35" name="Text 33"/>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08</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EVALUATE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무엇을 보는가 · 어떻게 내는가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발표가 아닙니다. 보고서를 띄워 놓고 묻는 자리입니다.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평가에서 보는 다섯 가지</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시스템으로 조립되었는가 — 직접 그린 요소가 남아 있지 않은가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흐름이 이어지는가 — 화면 수가 아니라 따라갈 수 있는가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규격이 지켜지는가 — 같은 요소가 같은 크기와 자리에 있는가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상태와 예외가 있는가 — 정상 화면만 있으면 절반입니다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남은 작업이 현실적인가 — 못 할 계획은 그 자체가 문제입니다</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내는 방법</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PDF 와 Figma 링크 둘 다 — 한쪽만 내면 미제출로 봅니다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파일 이름 — 학번_이름_중간보고서</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10월 28일(수) 수업 시작 전까지 — 수업 중 제출은 지연 처리</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중간평가는 1인 10분 검토와 질의 — 발표 준비는 하지 않습니다</a:t>
            </a:r>
            <a:endParaRPr lang="en-US" sz="1200" dirty="0"/>
          </a:p>
        </p:txBody>
      </p:sp>
      <p:sp>
        <p:nvSpPr>
          <p:cNvPr id="17" name="Text 15"/>
          <p:cNvSpPr/>
          <p:nvPr/>
        </p:nvSpPr>
        <p:spPr>
          <a:xfrm>
            <a:off x="640080" y="5541264"/>
            <a:ext cx="10911535" cy="402336"/>
          </a:xfrm>
          <a:prstGeom prst="rect">
            <a:avLst/>
          </a:prstGeom>
          <a:noFill/>
          <a:ln/>
        </p:spPr>
        <p:txBody>
          <a:bodyPr wrap="square" lIns="0" tIns="0" rIns="0" bIns="0" rtlCol="0" anchor="ctr"/>
          <a:lstStyle/>
          <a:p>
            <a:pPr indent="0" marL="0">
              <a:buNone/>
            </a:pPr>
            <a:r>
              <a:rPr lang="en-US" sz="1200" dirty="0">
                <a:solidFill>
                  <a:srgbClr val="6E6E6E"/>
                </a:solidFill>
                <a:latin typeface="Pretendard" pitchFamily="34" charset="0"/>
                <a:ea typeface="Pretendard" pitchFamily="34" charset="-122"/>
                <a:cs typeface="Pretendard" pitchFamily="34" charset="-120"/>
              </a:rPr>
              <a:t>보고서를 본인이 설명할 수 있어야 합니다. 화면 목록표에서 아무 줄이나 짚어 묻습니다.</a:t>
            </a:r>
            <a:endParaRPr lang="en-US" sz="1200" dirty="0"/>
          </a:p>
        </p:txBody>
      </p:sp>
      <p:sp>
        <p:nvSpPr>
          <p:cNvPr id="18" name="Shape 16"/>
          <p:cNvSpPr/>
          <p:nvPr/>
        </p:nvSpPr>
        <p:spPr>
          <a:xfrm>
            <a:off x="640080" y="6291072"/>
            <a:ext cx="10911535" cy="7315"/>
          </a:xfrm>
          <a:prstGeom prst="rect">
            <a:avLst/>
          </a:prstGeom>
          <a:solidFill>
            <a:srgbClr val="DCDCDC"/>
          </a:solidFill>
          <a:ln w="12700">
            <a:solidFill>
              <a:srgbClr val="DCDCDC"/>
            </a:solidFill>
            <a:prstDash val="solid"/>
          </a:ln>
        </p:spPr>
      </p:sp>
      <p:sp>
        <p:nvSpPr>
          <p:cNvPr id="19" name="Text 1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8주차 흐름 늘리기 — 겹치는 화면 정리</a:t>
            </a:r>
            <a:endParaRPr lang="en-US" sz="850" dirty="0"/>
          </a:p>
        </p:txBody>
      </p:sp>
      <p:sp>
        <p:nvSpPr>
          <p:cNvPr id="20" name="Text 1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08</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VERIFY</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확인 — 겹치는 화면이 한 벌인가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같은 이름의 프레임이 두 개 있으면 복제본입니다.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확인할 것</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흐름이 셋이고 그중 하나가 만드는 흐름이다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겹치는 화면이 한 벌만 있다 — 복제본이 없다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겹치는 화면 옆에 네 가지가 적혀 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화면 목록표에 '없음'인 줄이 있다</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오늘 자주 나오는 문제</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찾는 흐름만 셋을 만든 경우</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지우기 흐름을 빠뜨린 경우</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흐름마다 같은 화면을 복사해 둔 경우</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화면 목록표에 만든 화면만 적은 경우</a:t>
            </a:r>
            <a:endParaRPr lang="en-US" sz="1200" dirty="0"/>
          </a:p>
        </p:txBody>
      </p:sp>
      <p:sp>
        <p:nvSpPr>
          <p:cNvPr id="17" name="Text 15"/>
          <p:cNvSpPr/>
          <p:nvPr/>
        </p:nvSpPr>
        <p:spPr>
          <a:xfrm>
            <a:off x="640080" y="5541264"/>
            <a:ext cx="10911535" cy="402336"/>
          </a:xfrm>
          <a:prstGeom prst="rect">
            <a:avLst/>
          </a:prstGeom>
          <a:noFill/>
          <a:ln/>
        </p:spPr>
        <p:txBody>
          <a:bodyPr wrap="square" lIns="0" tIns="0" rIns="0" bIns="0" rtlCol="0" anchor="ctr"/>
          <a:lstStyle/>
          <a:p>
            <a:pPr indent="0" marL="0">
              <a:buNone/>
            </a:pPr>
            <a:r>
              <a:rPr lang="en-US" sz="1200" dirty="0">
                <a:solidFill>
                  <a:srgbClr val="6E6E6E"/>
                </a:solidFill>
                <a:latin typeface="Pretendard" pitchFamily="34" charset="0"/>
                <a:ea typeface="Pretendard" pitchFamily="34" charset="-122"/>
                <a:cs typeface="Pretendard" pitchFamily="34" charset="-120"/>
              </a:rPr>
              <a:t>복제본을 지금 정리하지 않으면 중간평가 뒤부터 하나를 고칠 때마다 셋을 찾아 고치게 됩니다.</a:t>
            </a:r>
            <a:endParaRPr lang="en-US" sz="1200" dirty="0"/>
          </a:p>
        </p:txBody>
      </p:sp>
      <p:sp>
        <p:nvSpPr>
          <p:cNvPr id="18" name="Shape 16"/>
          <p:cNvSpPr/>
          <p:nvPr/>
        </p:nvSpPr>
        <p:spPr>
          <a:xfrm>
            <a:off x="640080" y="6291072"/>
            <a:ext cx="10911535" cy="7315"/>
          </a:xfrm>
          <a:prstGeom prst="rect">
            <a:avLst/>
          </a:prstGeom>
          <a:solidFill>
            <a:srgbClr val="DCDCDC"/>
          </a:solidFill>
          <a:ln w="12700">
            <a:solidFill>
              <a:srgbClr val="DCDCDC"/>
            </a:solidFill>
            <a:prstDash val="solid"/>
          </a:ln>
        </p:spPr>
      </p:sp>
      <p:sp>
        <p:nvSpPr>
          <p:cNvPr id="19" name="Text 1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8주차 흐름 늘리기 — 겹치는 화면 정리</a:t>
            </a:r>
            <a:endParaRPr lang="en-US" sz="850" dirty="0"/>
          </a:p>
        </p:txBody>
      </p:sp>
      <p:sp>
        <p:nvSpPr>
          <p:cNvPr id="20" name="Text 1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P.10</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08</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SUBMIT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제출 점검표</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다음 주 10/28이 중간평가입니다. 그다음 주부터 남은 흐름을 채웁니다.</a:t>
            </a:r>
            <a:endParaRPr lang="en-US" sz="1150" dirty="0"/>
          </a:p>
        </p:txBody>
      </p:sp>
      <p:sp>
        <p:nvSpPr>
          <p:cNvPr id="9" name="Shape 7"/>
          <p:cNvSpPr/>
          <p:nvPr/>
        </p:nvSpPr>
        <p:spPr>
          <a:xfrm>
            <a:off x="640080" y="1755648"/>
            <a:ext cx="5254600" cy="270256"/>
          </a:xfrm>
          <a:prstGeom prst="rect">
            <a:avLst/>
          </a:prstGeom>
          <a:solidFill>
            <a:srgbClr val="F2F2F2"/>
          </a:solidFill>
          <a:ln w="12700">
            <a:solidFill>
              <a:srgbClr val="F2F2F2"/>
            </a:solidFill>
            <a:prstDash val="solid"/>
          </a:ln>
        </p:spPr>
      </p:sp>
      <p:sp>
        <p:nvSpPr>
          <p:cNvPr id="10" name="Shape 8"/>
          <p:cNvSpPr/>
          <p:nvPr/>
        </p:nvSpPr>
        <p:spPr>
          <a:xfrm>
            <a:off x="914400" y="1762760"/>
            <a:ext cx="256032" cy="256032"/>
          </a:xfrm>
          <a:prstGeom prst="ellipse">
            <a:avLst/>
          </a:prstGeom>
          <a:solidFill>
            <a:srgbClr val="F2F2F2"/>
          </a:solidFill>
          <a:ln w="12700">
            <a:solidFill>
              <a:srgbClr val="111111"/>
            </a:solidFill>
            <a:prstDash val="solid"/>
          </a:ln>
        </p:spPr>
      </p:sp>
      <p:sp>
        <p:nvSpPr>
          <p:cNvPr id="11" name="Text 9"/>
          <p:cNvSpPr/>
          <p:nvPr/>
        </p:nvSpPr>
        <p:spPr>
          <a:xfrm>
            <a:off x="914400" y="176276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01</a:t>
            </a:r>
            <a:endParaRPr lang="en-US" sz="800" dirty="0"/>
          </a:p>
        </p:txBody>
      </p:sp>
      <p:sp>
        <p:nvSpPr>
          <p:cNvPr id="12" name="Text 10"/>
          <p:cNvSpPr/>
          <p:nvPr/>
        </p:nvSpPr>
        <p:spPr>
          <a:xfrm>
            <a:off x="1298448" y="175564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흐름이 셋이고 각 흐름에 네 지점이 다 있다</a:t>
            </a:r>
            <a:endParaRPr lang="en-US" sz="1050" dirty="0"/>
          </a:p>
        </p:txBody>
      </p:sp>
      <p:sp>
        <p:nvSpPr>
          <p:cNvPr id="13" name="Shape 11"/>
          <p:cNvSpPr/>
          <p:nvPr/>
        </p:nvSpPr>
        <p:spPr>
          <a:xfrm>
            <a:off x="640080" y="2172208"/>
            <a:ext cx="5254600" cy="270256"/>
          </a:xfrm>
          <a:prstGeom prst="rect">
            <a:avLst/>
          </a:prstGeom>
          <a:solidFill>
            <a:srgbClr val="F2F2F2"/>
          </a:solidFill>
          <a:ln w="12700">
            <a:solidFill>
              <a:srgbClr val="F2F2F2"/>
            </a:solidFill>
            <a:prstDash val="solid"/>
          </a:ln>
        </p:spPr>
      </p:sp>
      <p:sp>
        <p:nvSpPr>
          <p:cNvPr id="14" name="Shape 12"/>
          <p:cNvSpPr/>
          <p:nvPr/>
        </p:nvSpPr>
        <p:spPr>
          <a:xfrm>
            <a:off x="914400" y="2179320"/>
            <a:ext cx="256032" cy="256032"/>
          </a:xfrm>
          <a:prstGeom prst="ellipse">
            <a:avLst/>
          </a:prstGeom>
          <a:solidFill>
            <a:srgbClr val="F2F2F2"/>
          </a:solidFill>
          <a:ln w="12700">
            <a:solidFill>
              <a:srgbClr val="111111"/>
            </a:solidFill>
            <a:prstDash val="solid"/>
          </a:ln>
        </p:spPr>
      </p:sp>
      <p:sp>
        <p:nvSpPr>
          <p:cNvPr id="15" name="Text 13"/>
          <p:cNvSpPr/>
          <p:nvPr/>
        </p:nvSpPr>
        <p:spPr>
          <a:xfrm>
            <a:off x="914400" y="217932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02</a:t>
            </a:r>
            <a:endParaRPr lang="en-US" sz="800" dirty="0"/>
          </a:p>
        </p:txBody>
      </p:sp>
      <p:sp>
        <p:nvSpPr>
          <p:cNvPr id="16" name="Text 14"/>
          <p:cNvSpPr/>
          <p:nvPr/>
        </p:nvSpPr>
        <p:spPr>
          <a:xfrm>
            <a:off x="1298448" y="217220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셋 중 하나가 만드는 흐름이다</a:t>
            </a:r>
            <a:endParaRPr lang="en-US" sz="1050" dirty="0"/>
          </a:p>
        </p:txBody>
      </p:sp>
      <p:sp>
        <p:nvSpPr>
          <p:cNvPr id="17" name="Shape 15"/>
          <p:cNvSpPr/>
          <p:nvPr/>
        </p:nvSpPr>
        <p:spPr>
          <a:xfrm>
            <a:off x="640080" y="2588768"/>
            <a:ext cx="5254600" cy="270256"/>
          </a:xfrm>
          <a:prstGeom prst="rect">
            <a:avLst/>
          </a:prstGeom>
          <a:solidFill>
            <a:srgbClr val="F2F2F2"/>
          </a:solidFill>
          <a:ln w="12700">
            <a:solidFill>
              <a:srgbClr val="F2F2F2"/>
            </a:solidFill>
            <a:prstDash val="solid"/>
          </a:ln>
        </p:spPr>
      </p:sp>
      <p:sp>
        <p:nvSpPr>
          <p:cNvPr id="18" name="Shape 16"/>
          <p:cNvSpPr/>
          <p:nvPr/>
        </p:nvSpPr>
        <p:spPr>
          <a:xfrm>
            <a:off x="914400" y="2595880"/>
            <a:ext cx="256032" cy="256032"/>
          </a:xfrm>
          <a:prstGeom prst="ellipse">
            <a:avLst/>
          </a:prstGeom>
          <a:solidFill>
            <a:srgbClr val="F2F2F2"/>
          </a:solidFill>
          <a:ln w="12700">
            <a:solidFill>
              <a:srgbClr val="111111"/>
            </a:solidFill>
            <a:prstDash val="solid"/>
          </a:ln>
        </p:spPr>
      </p:sp>
      <p:sp>
        <p:nvSpPr>
          <p:cNvPr id="19" name="Text 17"/>
          <p:cNvSpPr/>
          <p:nvPr/>
        </p:nvSpPr>
        <p:spPr>
          <a:xfrm>
            <a:off x="914400" y="259588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03</a:t>
            </a:r>
            <a:endParaRPr lang="en-US" sz="800" dirty="0"/>
          </a:p>
        </p:txBody>
      </p:sp>
      <p:sp>
        <p:nvSpPr>
          <p:cNvPr id="20" name="Text 18"/>
          <p:cNvSpPr/>
          <p:nvPr/>
        </p:nvSpPr>
        <p:spPr>
          <a:xfrm>
            <a:off x="1298448" y="258876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흐름 지도에 흐름 셋이 어떻게 이어지는지 그려져 있다</a:t>
            </a:r>
            <a:endParaRPr lang="en-US" sz="1050" dirty="0"/>
          </a:p>
        </p:txBody>
      </p:sp>
      <p:sp>
        <p:nvSpPr>
          <p:cNvPr id="21" name="Shape 19"/>
          <p:cNvSpPr/>
          <p:nvPr/>
        </p:nvSpPr>
        <p:spPr>
          <a:xfrm>
            <a:off x="640080" y="3005328"/>
            <a:ext cx="5254600" cy="270256"/>
          </a:xfrm>
          <a:prstGeom prst="rect">
            <a:avLst/>
          </a:prstGeom>
          <a:solidFill>
            <a:srgbClr val="F2F2F2"/>
          </a:solidFill>
          <a:ln w="12700">
            <a:solidFill>
              <a:srgbClr val="F2F2F2"/>
            </a:solidFill>
            <a:prstDash val="solid"/>
          </a:ln>
        </p:spPr>
      </p:sp>
      <p:sp>
        <p:nvSpPr>
          <p:cNvPr id="22" name="Shape 20"/>
          <p:cNvSpPr/>
          <p:nvPr/>
        </p:nvSpPr>
        <p:spPr>
          <a:xfrm>
            <a:off x="914400" y="3012440"/>
            <a:ext cx="256032" cy="256032"/>
          </a:xfrm>
          <a:prstGeom prst="ellipse">
            <a:avLst/>
          </a:prstGeom>
          <a:solidFill>
            <a:srgbClr val="F2F2F2"/>
          </a:solidFill>
          <a:ln w="12700">
            <a:solidFill>
              <a:srgbClr val="111111"/>
            </a:solidFill>
            <a:prstDash val="solid"/>
          </a:ln>
        </p:spPr>
      </p:sp>
      <p:sp>
        <p:nvSpPr>
          <p:cNvPr id="23" name="Text 21"/>
          <p:cNvSpPr/>
          <p:nvPr/>
        </p:nvSpPr>
        <p:spPr>
          <a:xfrm>
            <a:off x="914400" y="301244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04</a:t>
            </a:r>
            <a:endParaRPr lang="en-US" sz="800" dirty="0"/>
          </a:p>
        </p:txBody>
      </p:sp>
      <p:sp>
        <p:nvSpPr>
          <p:cNvPr id="24" name="Text 22"/>
          <p:cNvSpPr/>
          <p:nvPr/>
        </p:nvSpPr>
        <p:spPr>
          <a:xfrm>
            <a:off x="1298448" y="300532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겹치는 화면이 한 벌만 있고 복제본이 없다</a:t>
            </a:r>
            <a:endParaRPr lang="en-US" sz="1050" dirty="0"/>
          </a:p>
        </p:txBody>
      </p:sp>
      <p:sp>
        <p:nvSpPr>
          <p:cNvPr id="25" name="Shape 23"/>
          <p:cNvSpPr/>
          <p:nvPr/>
        </p:nvSpPr>
        <p:spPr>
          <a:xfrm>
            <a:off x="640080" y="3421888"/>
            <a:ext cx="5254600" cy="270256"/>
          </a:xfrm>
          <a:prstGeom prst="rect">
            <a:avLst/>
          </a:prstGeom>
          <a:solidFill>
            <a:srgbClr val="F2F2F2"/>
          </a:solidFill>
          <a:ln w="12700">
            <a:solidFill>
              <a:srgbClr val="F2F2F2"/>
            </a:solidFill>
            <a:prstDash val="solid"/>
          </a:ln>
        </p:spPr>
      </p:sp>
      <p:sp>
        <p:nvSpPr>
          <p:cNvPr id="26" name="Shape 24"/>
          <p:cNvSpPr/>
          <p:nvPr/>
        </p:nvSpPr>
        <p:spPr>
          <a:xfrm>
            <a:off x="914400" y="3429000"/>
            <a:ext cx="256032" cy="256032"/>
          </a:xfrm>
          <a:prstGeom prst="ellipse">
            <a:avLst/>
          </a:prstGeom>
          <a:solidFill>
            <a:srgbClr val="F2F2F2"/>
          </a:solidFill>
          <a:ln w="12700">
            <a:solidFill>
              <a:srgbClr val="111111"/>
            </a:solidFill>
            <a:prstDash val="solid"/>
          </a:ln>
        </p:spPr>
      </p:sp>
      <p:sp>
        <p:nvSpPr>
          <p:cNvPr id="27" name="Text 25"/>
          <p:cNvSpPr/>
          <p:nvPr/>
        </p:nvSpPr>
        <p:spPr>
          <a:xfrm>
            <a:off x="914400" y="342900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05</a:t>
            </a:r>
            <a:endParaRPr lang="en-US" sz="800" dirty="0"/>
          </a:p>
        </p:txBody>
      </p:sp>
      <p:sp>
        <p:nvSpPr>
          <p:cNvPr id="28" name="Text 26"/>
          <p:cNvSpPr/>
          <p:nvPr/>
        </p:nvSpPr>
        <p:spPr>
          <a:xfrm>
            <a:off x="1298448" y="342188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겹치는 화면 옆에 돌아가는 곳 · 처음 상태 · 노출 · 유지할 것이 적혀 있다</a:t>
            </a:r>
            <a:endParaRPr lang="en-US" sz="1050" dirty="0"/>
          </a:p>
        </p:txBody>
      </p:sp>
      <p:sp>
        <p:nvSpPr>
          <p:cNvPr id="29" name="Shape 27"/>
          <p:cNvSpPr/>
          <p:nvPr/>
        </p:nvSpPr>
        <p:spPr>
          <a:xfrm>
            <a:off x="640080" y="3838448"/>
            <a:ext cx="5254600" cy="270256"/>
          </a:xfrm>
          <a:prstGeom prst="rect">
            <a:avLst/>
          </a:prstGeom>
          <a:solidFill>
            <a:srgbClr val="F2F2F2"/>
          </a:solidFill>
          <a:ln w="12700">
            <a:solidFill>
              <a:srgbClr val="F2F2F2"/>
            </a:solidFill>
            <a:prstDash val="solid"/>
          </a:ln>
        </p:spPr>
      </p:sp>
      <p:sp>
        <p:nvSpPr>
          <p:cNvPr id="30" name="Shape 28"/>
          <p:cNvSpPr/>
          <p:nvPr/>
        </p:nvSpPr>
        <p:spPr>
          <a:xfrm>
            <a:off x="914400" y="3845560"/>
            <a:ext cx="256032" cy="256032"/>
          </a:xfrm>
          <a:prstGeom prst="ellipse">
            <a:avLst/>
          </a:prstGeom>
          <a:solidFill>
            <a:srgbClr val="F2F2F2"/>
          </a:solidFill>
          <a:ln w="12700">
            <a:solidFill>
              <a:srgbClr val="111111"/>
            </a:solidFill>
            <a:prstDash val="solid"/>
          </a:ln>
        </p:spPr>
      </p:sp>
      <p:sp>
        <p:nvSpPr>
          <p:cNvPr id="31" name="Text 29"/>
          <p:cNvSpPr/>
          <p:nvPr/>
        </p:nvSpPr>
        <p:spPr>
          <a:xfrm>
            <a:off x="914400" y="384556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06</a:t>
            </a:r>
            <a:endParaRPr lang="en-US" sz="800" dirty="0"/>
          </a:p>
        </p:txBody>
      </p:sp>
      <p:sp>
        <p:nvSpPr>
          <p:cNvPr id="32" name="Text 30"/>
          <p:cNvSpPr/>
          <p:nvPr/>
        </p:nvSpPr>
        <p:spPr>
          <a:xfrm>
            <a:off x="1298448" y="383844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화면 사이에 이동 방식이 밀기 · 덮기 · 바꾸기로 표시되어 있다</a:t>
            </a:r>
            <a:endParaRPr lang="en-US" sz="1050" dirty="0"/>
          </a:p>
        </p:txBody>
      </p:sp>
      <p:sp>
        <p:nvSpPr>
          <p:cNvPr id="33" name="Shape 31"/>
          <p:cNvSpPr/>
          <p:nvPr/>
        </p:nvSpPr>
        <p:spPr>
          <a:xfrm>
            <a:off x="640080" y="4255008"/>
            <a:ext cx="5254600" cy="270256"/>
          </a:xfrm>
          <a:prstGeom prst="rect">
            <a:avLst/>
          </a:prstGeom>
          <a:solidFill>
            <a:srgbClr val="F2F2F2"/>
          </a:solidFill>
          <a:ln w="12700">
            <a:solidFill>
              <a:srgbClr val="F2F2F2"/>
            </a:solidFill>
            <a:prstDash val="solid"/>
          </a:ln>
        </p:spPr>
      </p:sp>
      <p:sp>
        <p:nvSpPr>
          <p:cNvPr id="34" name="Shape 32"/>
          <p:cNvSpPr/>
          <p:nvPr/>
        </p:nvSpPr>
        <p:spPr>
          <a:xfrm>
            <a:off x="914400" y="4262120"/>
            <a:ext cx="256032" cy="256032"/>
          </a:xfrm>
          <a:prstGeom prst="ellipse">
            <a:avLst/>
          </a:prstGeom>
          <a:solidFill>
            <a:srgbClr val="F2F2F2"/>
          </a:solidFill>
          <a:ln w="12700">
            <a:solidFill>
              <a:srgbClr val="111111"/>
            </a:solidFill>
            <a:prstDash val="solid"/>
          </a:ln>
        </p:spPr>
      </p:sp>
      <p:sp>
        <p:nvSpPr>
          <p:cNvPr id="35" name="Text 33"/>
          <p:cNvSpPr/>
          <p:nvPr/>
        </p:nvSpPr>
        <p:spPr>
          <a:xfrm>
            <a:off x="914400" y="426212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07</a:t>
            </a:r>
            <a:endParaRPr lang="en-US" sz="800" dirty="0"/>
          </a:p>
        </p:txBody>
      </p:sp>
      <p:sp>
        <p:nvSpPr>
          <p:cNvPr id="36" name="Text 34"/>
          <p:cNvSpPr/>
          <p:nvPr/>
        </p:nvSpPr>
        <p:spPr>
          <a:xfrm>
            <a:off x="1298448" y="425500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화면 목록표가 여섯 칸으로 되어 있다</a:t>
            </a:r>
            <a:endParaRPr lang="en-US" sz="1050" dirty="0"/>
          </a:p>
        </p:txBody>
      </p:sp>
      <p:sp>
        <p:nvSpPr>
          <p:cNvPr id="37" name="Shape 35"/>
          <p:cNvSpPr/>
          <p:nvPr/>
        </p:nvSpPr>
        <p:spPr>
          <a:xfrm>
            <a:off x="640080" y="4671568"/>
            <a:ext cx="5254600" cy="270256"/>
          </a:xfrm>
          <a:prstGeom prst="rect">
            <a:avLst/>
          </a:prstGeom>
          <a:solidFill>
            <a:srgbClr val="F2F2F2"/>
          </a:solidFill>
          <a:ln w="12700">
            <a:solidFill>
              <a:srgbClr val="F2F2F2"/>
            </a:solidFill>
            <a:prstDash val="solid"/>
          </a:ln>
        </p:spPr>
      </p:sp>
      <p:sp>
        <p:nvSpPr>
          <p:cNvPr id="38" name="Shape 36"/>
          <p:cNvSpPr/>
          <p:nvPr/>
        </p:nvSpPr>
        <p:spPr>
          <a:xfrm>
            <a:off x="914400" y="4678680"/>
            <a:ext cx="256032" cy="256032"/>
          </a:xfrm>
          <a:prstGeom prst="ellipse">
            <a:avLst/>
          </a:prstGeom>
          <a:solidFill>
            <a:srgbClr val="F2F2F2"/>
          </a:solidFill>
          <a:ln w="12700">
            <a:solidFill>
              <a:srgbClr val="111111"/>
            </a:solidFill>
            <a:prstDash val="solid"/>
          </a:ln>
        </p:spPr>
      </p:sp>
      <p:sp>
        <p:nvSpPr>
          <p:cNvPr id="39" name="Text 37"/>
          <p:cNvSpPr/>
          <p:nvPr/>
        </p:nvSpPr>
        <p:spPr>
          <a:xfrm>
            <a:off x="914400" y="467868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08</a:t>
            </a:r>
            <a:endParaRPr lang="en-US" sz="800" dirty="0"/>
          </a:p>
        </p:txBody>
      </p:sp>
      <p:sp>
        <p:nvSpPr>
          <p:cNvPr id="40" name="Text 38"/>
          <p:cNvSpPr/>
          <p:nvPr/>
        </p:nvSpPr>
        <p:spPr>
          <a:xfrm>
            <a:off x="1298448" y="467156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화면 목록표에 상태가 '없음'인 줄이 있다</a:t>
            </a:r>
            <a:endParaRPr lang="en-US" sz="1050" dirty="0"/>
          </a:p>
        </p:txBody>
      </p:sp>
      <p:sp>
        <p:nvSpPr>
          <p:cNvPr id="41" name="Shape 39"/>
          <p:cNvSpPr/>
          <p:nvPr/>
        </p:nvSpPr>
        <p:spPr>
          <a:xfrm>
            <a:off x="640080" y="5088128"/>
            <a:ext cx="5254600" cy="270256"/>
          </a:xfrm>
          <a:prstGeom prst="rect">
            <a:avLst/>
          </a:prstGeom>
          <a:solidFill>
            <a:srgbClr val="F2F2F2"/>
          </a:solidFill>
          <a:ln w="12700">
            <a:solidFill>
              <a:srgbClr val="F2F2F2"/>
            </a:solidFill>
            <a:prstDash val="solid"/>
          </a:ln>
        </p:spPr>
      </p:sp>
      <p:sp>
        <p:nvSpPr>
          <p:cNvPr id="42" name="Shape 40"/>
          <p:cNvSpPr/>
          <p:nvPr/>
        </p:nvSpPr>
        <p:spPr>
          <a:xfrm>
            <a:off x="914400" y="5095240"/>
            <a:ext cx="256032" cy="256032"/>
          </a:xfrm>
          <a:prstGeom prst="ellipse">
            <a:avLst/>
          </a:prstGeom>
          <a:solidFill>
            <a:srgbClr val="F2F2F2"/>
          </a:solidFill>
          <a:ln w="12700">
            <a:solidFill>
              <a:srgbClr val="111111"/>
            </a:solidFill>
            <a:prstDash val="solid"/>
          </a:ln>
        </p:spPr>
      </p:sp>
      <p:sp>
        <p:nvSpPr>
          <p:cNvPr id="43" name="Text 41"/>
          <p:cNvSpPr/>
          <p:nvPr/>
        </p:nvSpPr>
        <p:spPr>
          <a:xfrm>
            <a:off x="914400" y="509524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09</a:t>
            </a:r>
            <a:endParaRPr lang="en-US" sz="800" dirty="0"/>
          </a:p>
        </p:txBody>
      </p:sp>
      <p:sp>
        <p:nvSpPr>
          <p:cNvPr id="44" name="Text 42"/>
          <p:cNvSpPr/>
          <p:nvPr/>
        </p:nvSpPr>
        <p:spPr>
          <a:xfrm>
            <a:off x="1298448" y="508812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전체 화면이 15~25장 사이다</a:t>
            </a:r>
            <a:endParaRPr lang="en-US" sz="1050" dirty="0"/>
          </a:p>
        </p:txBody>
      </p:sp>
      <p:sp>
        <p:nvSpPr>
          <p:cNvPr id="45" name="Shape 43"/>
          <p:cNvSpPr/>
          <p:nvPr/>
        </p:nvSpPr>
        <p:spPr>
          <a:xfrm>
            <a:off x="6297016" y="1755648"/>
            <a:ext cx="5254600" cy="270256"/>
          </a:xfrm>
          <a:prstGeom prst="rect">
            <a:avLst/>
          </a:prstGeom>
          <a:solidFill>
            <a:srgbClr val="F2F2F2"/>
          </a:solidFill>
          <a:ln w="12700">
            <a:solidFill>
              <a:srgbClr val="F2F2F2"/>
            </a:solidFill>
            <a:prstDash val="solid"/>
          </a:ln>
        </p:spPr>
      </p:sp>
      <p:sp>
        <p:nvSpPr>
          <p:cNvPr id="46" name="Shape 44"/>
          <p:cNvSpPr/>
          <p:nvPr/>
        </p:nvSpPr>
        <p:spPr>
          <a:xfrm>
            <a:off x="6571336" y="1762760"/>
            <a:ext cx="256032" cy="256032"/>
          </a:xfrm>
          <a:prstGeom prst="ellipse">
            <a:avLst/>
          </a:prstGeom>
          <a:solidFill>
            <a:srgbClr val="F2F2F2"/>
          </a:solidFill>
          <a:ln w="12700">
            <a:solidFill>
              <a:srgbClr val="111111"/>
            </a:solidFill>
            <a:prstDash val="solid"/>
          </a:ln>
        </p:spPr>
      </p:sp>
      <p:sp>
        <p:nvSpPr>
          <p:cNvPr id="47" name="Text 45"/>
          <p:cNvSpPr/>
          <p:nvPr/>
        </p:nvSpPr>
        <p:spPr>
          <a:xfrm>
            <a:off x="6571336" y="176276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10</a:t>
            </a:r>
            <a:endParaRPr lang="en-US" sz="800" dirty="0"/>
          </a:p>
        </p:txBody>
      </p:sp>
      <p:sp>
        <p:nvSpPr>
          <p:cNvPr id="48" name="Text 46"/>
          <p:cNvSpPr/>
          <p:nvPr/>
        </p:nvSpPr>
        <p:spPr>
          <a:xfrm>
            <a:off x="6955384" y="175564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패널 후보로 표시한 화면이 5~8장 있다</a:t>
            </a:r>
            <a:endParaRPr lang="en-US" sz="1050" dirty="0"/>
          </a:p>
        </p:txBody>
      </p:sp>
      <p:sp>
        <p:nvSpPr>
          <p:cNvPr id="49" name="Shape 47"/>
          <p:cNvSpPr/>
          <p:nvPr/>
        </p:nvSpPr>
        <p:spPr>
          <a:xfrm>
            <a:off x="6297016" y="2172208"/>
            <a:ext cx="5254600" cy="270256"/>
          </a:xfrm>
          <a:prstGeom prst="rect">
            <a:avLst/>
          </a:prstGeom>
          <a:solidFill>
            <a:srgbClr val="F2F2F2"/>
          </a:solidFill>
          <a:ln w="12700">
            <a:solidFill>
              <a:srgbClr val="F2F2F2"/>
            </a:solidFill>
            <a:prstDash val="solid"/>
          </a:ln>
        </p:spPr>
      </p:sp>
      <p:sp>
        <p:nvSpPr>
          <p:cNvPr id="50" name="Shape 48"/>
          <p:cNvSpPr/>
          <p:nvPr/>
        </p:nvSpPr>
        <p:spPr>
          <a:xfrm>
            <a:off x="6571336" y="2179320"/>
            <a:ext cx="256032" cy="256032"/>
          </a:xfrm>
          <a:prstGeom prst="ellipse">
            <a:avLst/>
          </a:prstGeom>
          <a:solidFill>
            <a:srgbClr val="F2F2F2"/>
          </a:solidFill>
          <a:ln w="12700">
            <a:solidFill>
              <a:srgbClr val="111111"/>
            </a:solidFill>
            <a:prstDash val="solid"/>
          </a:ln>
        </p:spPr>
      </p:sp>
      <p:sp>
        <p:nvSpPr>
          <p:cNvPr id="51" name="Text 49"/>
          <p:cNvSpPr/>
          <p:nvPr/>
        </p:nvSpPr>
        <p:spPr>
          <a:xfrm>
            <a:off x="6571336" y="217932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11</a:t>
            </a:r>
            <a:endParaRPr lang="en-US" sz="800" dirty="0"/>
          </a:p>
        </p:txBody>
      </p:sp>
      <p:sp>
        <p:nvSpPr>
          <p:cNvPr id="52" name="Text 50"/>
          <p:cNvSpPr/>
          <p:nvPr/>
        </p:nvSpPr>
        <p:spPr>
          <a:xfrm>
            <a:off x="6955384" y="217220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보고서가 여덟 장으로 되어 있다</a:t>
            </a:r>
            <a:endParaRPr lang="en-US" sz="1050" dirty="0"/>
          </a:p>
        </p:txBody>
      </p:sp>
      <p:sp>
        <p:nvSpPr>
          <p:cNvPr id="53" name="Shape 51"/>
          <p:cNvSpPr/>
          <p:nvPr/>
        </p:nvSpPr>
        <p:spPr>
          <a:xfrm>
            <a:off x="6297016" y="2588768"/>
            <a:ext cx="5254600" cy="270256"/>
          </a:xfrm>
          <a:prstGeom prst="rect">
            <a:avLst/>
          </a:prstGeom>
          <a:solidFill>
            <a:srgbClr val="F2F2F2"/>
          </a:solidFill>
          <a:ln w="12700">
            <a:solidFill>
              <a:srgbClr val="F2F2F2"/>
            </a:solidFill>
            <a:prstDash val="solid"/>
          </a:ln>
        </p:spPr>
      </p:sp>
      <p:sp>
        <p:nvSpPr>
          <p:cNvPr id="54" name="Shape 52"/>
          <p:cNvSpPr/>
          <p:nvPr/>
        </p:nvSpPr>
        <p:spPr>
          <a:xfrm>
            <a:off x="6571336" y="2595880"/>
            <a:ext cx="256032" cy="256032"/>
          </a:xfrm>
          <a:prstGeom prst="ellipse">
            <a:avLst/>
          </a:prstGeom>
          <a:solidFill>
            <a:srgbClr val="F2F2F2"/>
          </a:solidFill>
          <a:ln w="12700">
            <a:solidFill>
              <a:srgbClr val="111111"/>
            </a:solidFill>
            <a:prstDash val="solid"/>
          </a:ln>
        </p:spPr>
      </p:sp>
      <p:sp>
        <p:nvSpPr>
          <p:cNvPr id="55" name="Text 53"/>
          <p:cNvSpPr/>
          <p:nvPr/>
        </p:nvSpPr>
        <p:spPr>
          <a:xfrm>
            <a:off x="6571336" y="259588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12</a:t>
            </a:r>
            <a:endParaRPr lang="en-US" sz="800" dirty="0"/>
          </a:p>
        </p:txBody>
      </p:sp>
      <p:sp>
        <p:nvSpPr>
          <p:cNvPr id="56" name="Text 54"/>
          <p:cNvSpPr/>
          <p:nvPr/>
        </p:nvSpPr>
        <p:spPr>
          <a:xfrm>
            <a:off x="6955384" y="258876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규격 표와 토큰 표가 한 장씩 들어 있다</a:t>
            </a:r>
            <a:endParaRPr lang="en-US" sz="1050" dirty="0"/>
          </a:p>
        </p:txBody>
      </p:sp>
      <p:sp>
        <p:nvSpPr>
          <p:cNvPr id="57" name="Shape 55"/>
          <p:cNvSpPr/>
          <p:nvPr/>
        </p:nvSpPr>
        <p:spPr>
          <a:xfrm>
            <a:off x="6297016" y="3005328"/>
            <a:ext cx="5254600" cy="270256"/>
          </a:xfrm>
          <a:prstGeom prst="rect">
            <a:avLst/>
          </a:prstGeom>
          <a:solidFill>
            <a:srgbClr val="F2F2F2"/>
          </a:solidFill>
          <a:ln w="12700">
            <a:solidFill>
              <a:srgbClr val="F2F2F2"/>
            </a:solidFill>
            <a:prstDash val="solid"/>
          </a:ln>
        </p:spPr>
      </p:sp>
      <p:sp>
        <p:nvSpPr>
          <p:cNvPr id="58" name="Shape 56"/>
          <p:cNvSpPr/>
          <p:nvPr/>
        </p:nvSpPr>
        <p:spPr>
          <a:xfrm>
            <a:off x="6571336" y="3012440"/>
            <a:ext cx="256032" cy="256032"/>
          </a:xfrm>
          <a:prstGeom prst="ellipse">
            <a:avLst/>
          </a:prstGeom>
          <a:solidFill>
            <a:srgbClr val="F2F2F2"/>
          </a:solidFill>
          <a:ln w="12700">
            <a:solidFill>
              <a:srgbClr val="111111"/>
            </a:solidFill>
            <a:prstDash val="solid"/>
          </a:ln>
        </p:spPr>
      </p:sp>
      <p:sp>
        <p:nvSpPr>
          <p:cNvPr id="59" name="Text 57"/>
          <p:cNvSpPr/>
          <p:nvPr/>
        </p:nvSpPr>
        <p:spPr>
          <a:xfrm>
            <a:off x="6571336" y="301244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13</a:t>
            </a:r>
            <a:endParaRPr lang="en-US" sz="800" dirty="0"/>
          </a:p>
        </p:txBody>
      </p:sp>
      <p:sp>
        <p:nvSpPr>
          <p:cNvPr id="60" name="Text 58"/>
          <p:cNvSpPr/>
          <p:nvPr/>
        </p:nvSpPr>
        <p:spPr>
          <a:xfrm>
            <a:off x="6955384" y="300532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컴포넌트 목록에 인스턴스 사용 수가 적혀 있다</a:t>
            </a:r>
            <a:endParaRPr lang="en-US" sz="1050" dirty="0"/>
          </a:p>
        </p:txBody>
      </p:sp>
      <p:sp>
        <p:nvSpPr>
          <p:cNvPr id="61" name="Shape 59"/>
          <p:cNvSpPr/>
          <p:nvPr/>
        </p:nvSpPr>
        <p:spPr>
          <a:xfrm>
            <a:off x="6297016" y="3421888"/>
            <a:ext cx="5254600" cy="270256"/>
          </a:xfrm>
          <a:prstGeom prst="rect">
            <a:avLst/>
          </a:prstGeom>
          <a:solidFill>
            <a:srgbClr val="F2F2F2"/>
          </a:solidFill>
          <a:ln w="12700">
            <a:solidFill>
              <a:srgbClr val="F2F2F2"/>
            </a:solidFill>
            <a:prstDash val="solid"/>
          </a:ln>
        </p:spPr>
      </p:sp>
      <p:sp>
        <p:nvSpPr>
          <p:cNvPr id="62" name="Shape 60"/>
          <p:cNvSpPr/>
          <p:nvPr/>
        </p:nvSpPr>
        <p:spPr>
          <a:xfrm>
            <a:off x="6571336" y="3429000"/>
            <a:ext cx="256032" cy="256032"/>
          </a:xfrm>
          <a:prstGeom prst="ellipse">
            <a:avLst/>
          </a:prstGeom>
          <a:solidFill>
            <a:srgbClr val="F2F2F2"/>
          </a:solidFill>
          <a:ln w="12700">
            <a:solidFill>
              <a:srgbClr val="111111"/>
            </a:solidFill>
            <a:prstDash val="solid"/>
          </a:ln>
        </p:spPr>
      </p:sp>
      <p:sp>
        <p:nvSpPr>
          <p:cNvPr id="63" name="Text 61"/>
          <p:cNvSpPr/>
          <p:nvPr/>
        </p:nvSpPr>
        <p:spPr>
          <a:xfrm>
            <a:off x="6571336" y="342900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14</a:t>
            </a:r>
            <a:endParaRPr lang="en-US" sz="800" dirty="0"/>
          </a:p>
        </p:txBody>
      </p:sp>
      <p:sp>
        <p:nvSpPr>
          <p:cNvPr id="64" name="Text 62"/>
          <p:cNvSpPr/>
          <p:nvPr/>
        </p:nvSpPr>
        <p:spPr>
          <a:xfrm>
            <a:off x="6955384" y="342188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상태 화면 3종이 보고서에 들어 있다</a:t>
            </a:r>
            <a:endParaRPr lang="en-US" sz="1050" dirty="0"/>
          </a:p>
        </p:txBody>
      </p:sp>
      <p:sp>
        <p:nvSpPr>
          <p:cNvPr id="65" name="Shape 63"/>
          <p:cNvSpPr/>
          <p:nvPr/>
        </p:nvSpPr>
        <p:spPr>
          <a:xfrm>
            <a:off x="6297016" y="3838448"/>
            <a:ext cx="5254600" cy="270256"/>
          </a:xfrm>
          <a:prstGeom prst="rect">
            <a:avLst/>
          </a:prstGeom>
          <a:solidFill>
            <a:srgbClr val="F2F2F2"/>
          </a:solidFill>
          <a:ln w="12700">
            <a:solidFill>
              <a:srgbClr val="F2F2F2"/>
            </a:solidFill>
            <a:prstDash val="solid"/>
          </a:ln>
        </p:spPr>
      </p:sp>
      <p:sp>
        <p:nvSpPr>
          <p:cNvPr id="66" name="Shape 64"/>
          <p:cNvSpPr/>
          <p:nvPr/>
        </p:nvSpPr>
        <p:spPr>
          <a:xfrm>
            <a:off x="6571336" y="3845560"/>
            <a:ext cx="256032" cy="256032"/>
          </a:xfrm>
          <a:prstGeom prst="ellipse">
            <a:avLst/>
          </a:prstGeom>
          <a:solidFill>
            <a:srgbClr val="F2F2F2"/>
          </a:solidFill>
          <a:ln w="12700">
            <a:solidFill>
              <a:srgbClr val="111111"/>
            </a:solidFill>
            <a:prstDash val="solid"/>
          </a:ln>
        </p:spPr>
      </p:sp>
      <p:sp>
        <p:nvSpPr>
          <p:cNvPr id="67" name="Text 65"/>
          <p:cNvSpPr/>
          <p:nvPr/>
        </p:nvSpPr>
        <p:spPr>
          <a:xfrm>
            <a:off x="6571336" y="384556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15</a:t>
            </a:r>
            <a:endParaRPr lang="en-US" sz="800" dirty="0"/>
          </a:p>
        </p:txBody>
      </p:sp>
      <p:sp>
        <p:nvSpPr>
          <p:cNvPr id="68" name="Text 66"/>
          <p:cNvSpPr/>
          <p:nvPr/>
        </p:nvSpPr>
        <p:spPr>
          <a:xfrm>
            <a:off x="6955384" y="383844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PDF 와 Figma 링크를 둘 다 냈다</a:t>
            </a:r>
            <a:endParaRPr lang="en-US" sz="1050" dirty="0"/>
          </a:p>
        </p:txBody>
      </p:sp>
      <p:sp>
        <p:nvSpPr>
          <p:cNvPr id="69" name="Shape 67"/>
          <p:cNvSpPr/>
          <p:nvPr/>
        </p:nvSpPr>
        <p:spPr>
          <a:xfrm>
            <a:off x="6297016" y="4255008"/>
            <a:ext cx="5254600" cy="270256"/>
          </a:xfrm>
          <a:prstGeom prst="rect">
            <a:avLst/>
          </a:prstGeom>
          <a:solidFill>
            <a:srgbClr val="F2F2F2"/>
          </a:solidFill>
          <a:ln w="12700">
            <a:solidFill>
              <a:srgbClr val="F2F2F2"/>
            </a:solidFill>
            <a:prstDash val="solid"/>
          </a:ln>
        </p:spPr>
      </p:sp>
      <p:sp>
        <p:nvSpPr>
          <p:cNvPr id="70" name="Shape 68"/>
          <p:cNvSpPr/>
          <p:nvPr/>
        </p:nvSpPr>
        <p:spPr>
          <a:xfrm>
            <a:off x="6571336" y="4262120"/>
            <a:ext cx="256032" cy="256032"/>
          </a:xfrm>
          <a:prstGeom prst="ellipse">
            <a:avLst/>
          </a:prstGeom>
          <a:solidFill>
            <a:srgbClr val="F2F2F2"/>
          </a:solidFill>
          <a:ln w="12700">
            <a:solidFill>
              <a:srgbClr val="111111"/>
            </a:solidFill>
            <a:prstDash val="solid"/>
          </a:ln>
        </p:spPr>
      </p:sp>
      <p:sp>
        <p:nvSpPr>
          <p:cNvPr id="71" name="Text 69"/>
          <p:cNvSpPr/>
          <p:nvPr/>
        </p:nvSpPr>
        <p:spPr>
          <a:xfrm>
            <a:off x="6571336" y="426212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16</a:t>
            </a:r>
            <a:endParaRPr lang="en-US" sz="800" dirty="0"/>
          </a:p>
        </p:txBody>
      </p:sp>
      <p:sp>
        <p:nvSpPr>
          <p:cNvPr id="72" name="Text 70"/>
          <p:cNvSpPr/>
          <p:nvPr/>
        </p:nvSpPr>
        <p:spPr>
          <a:xfrm>
            <a:off x="6955384" y="425500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파일 이름이 학번_이름_중간보고서 다</a:t>
            </a:r>
            <a:endParaRPr lang="en-US" sz="1050" dirty="0"/>
          </a:p>
        </p:txBody>
      </p:sp>
      <p:sp>
        <p:nvSpPr>
          <p:cNvPr id="73" name="Shape 71"/>
          <p:cNvSpPr/>
          <p:nvPr/>
        </p:nvSpPr>
        <p:spPr>
          <a:xfrm>
            <a:off x="6297016" y="4671568"/>
            <a:ext cx="5254600" cy="270256"/>
          </a:xfrm>
          <a:prstGeom prst="rect">
            <a:avLst/>
          </a:prstGeom>
          <a:solidFill>
            <a:srgbClr val="F2F2F2"/>
          </a:solidFill>
          <a:ln w="12700">
            <a:solidFill>
              <a:srgbClr val="F2F2F2"/>
            </a:solidFill>
            <a:prstDash val="solid"/>
          </a:ln>
        </p:spPr>
      </p:sp>
      <p:sp>
        <p:nvSpPr>
          <p:cNvPr id="74" name="Shape 72"/>
          <p:cNvSpPr/>
          <p:nvPr/>
        </p:nvSpPr>
        <p:spPr>
          <a:xfrm>
            <a:off x="6571336" y="4678680"/>
            <a:ext cx="256032" cy="256032"/>
          </a:xfrm>
          <a:prstGeom prst="ellipse">
            <a:avLst/>
          </a:prstGeom>
          <a:solidFill>
            <a:srgbClr val="F2F2F2"/>
          </a:solidFill>
          <a:ln w="12700">
            <a:solidFill>
              <a:srgbClr val="111111"/>
            </a:solidFill>
            <a:prstDash val="solid"/>
          </a:ln>
        </p:spPr>
      </p:sp>
      <p:sp>
        <p:nvSpPr>
          <p:cNvPr id="75" name="Text 73"/>
          <p:cNvSpPr/>
          <p:nvPr/>
        </p:nvSpPr>
        <p:spPr>
          <a:xfrm>
            <a:off x="6571336" y="467868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17</a:t>
            </a:r>
            <a:endParaRPr lang="en-US" sz="800" dirty="0"/>
          </a:p>
        </p:txBody>
      </p:sp>
      <p:sp>
        <p:nvSpPr>
          <p:cNvPr id="76" name="Text 74"/>
          <p:cNvSpPr/>
          <p:nvPr/>
        </p:nvSpPr>
        <p:spPr>
          <a:xfrm>
            <a:off x="6955384" y="467156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남은 일정이 10~15주차로 나뉘어 주차별 작업량으로 적혀 있다</a:t>
            </a:r>
            <a:endParaRPr lang="en-US" sz="1050" dirty="0"/>
          </a:p>
        </p:txBody>
      </p:sp>
      <p:sp>
        <p:nvSpPr>
          <p:cNvPr id="77" name="Shape 75"/>
          <p:cNvSpPr/>
          <p:nvPr/>
        </p:nvSpPr>
        <p:spPr>
          <a:xfrm>
            <a:off x="6297016" y="5088128"/>
            <a:ext cx="5254600" cy="270256"/>
          </a:xfrm>
          <a:prstGeom prst="rect">
            <a:avLst/>
          </a:prstGeom>
          <a:solidFill>
            <a:srgbClr val="F2F2F2"/>
          </a:solidFill>
          <a:ln w="12700">
            <a:solidFill>
              <a:srgbClr val="F2F2F2"/>
            </a:solidFill>
            <a:prstDash val="solid"/>
          </a:ln>
        </p:spPr>
      </p:sp>
      <p:sp>
        <p:nvSpPr>
          <p:cNvPr id="78" name="Shape 76"/>
          <p:cNvSpPr/>
          <p:nvPr/>
        </p:nvSpPr>
        <p:spPr>
          <a:xfrm>
            <a:off x="6571336" y="5095240"/>
            <a:ext cx="256032" cy="256032"/>
          </a:xfrm>
          <a:prstGeom prst="ellipse">
            <a:avLst/>
          </a:prstGeom>
          <a:solidFill>
            <a:srgbClr val="F2F2F2"/>
          </a:solidFill>
          <a:ln w="12700">
            <a:solidFill>
              <a:srgbClr val="111111"/>
            </a:solidFill>
            <a:prstDash val="solid"/>
          </a:ln>
        </p:spPr>
      </p:sp>
      <p:sp>
        <p:nvSpPr>
          <p:cNvPr id="79" name="Text 77"/>
          <p:cNvSpPr/>
          <p:nvPr/>
        </p:nvSpPr>
        <p:spPr>
          <a:xfrm>
            <a:off x="6571336" y="509524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18</a:t>
            </a:r>
            <a:endParaRPr lang="en-US" sz="800" dirty="0"/>
          </a:p>
        </p:txBody>
      </p:sp>
      <p:sp>
        <p:nvSpPr>
          <p:cNvPr id="80" name="Text 78"/>
          <p:cNvSpPr/>
          <p:nvPr/>
        </p:nvSpPr>
        <p:spPr>
          <a:xfrm>
            <a:off x="6955384" y="508812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직접 그린 요소가 한 개도 남아 있지 않다</a:t>
            </a:r>
            <a:endParaRPr lang="en-US" sz="1050" dirty="0"/>
          </a:p>
        </p:txBody>
      </p:sp>
      <p:sp>
        <p:nvSpPr>
          <p:cNvPr id="81" name="Shape 79"/>
          <p:cNvSpPr/>
          <p:nvPr/>
        </p:nvSpPr>
        <p:spPr>
          <a:xfrm>
            <a:off x="640080" y="5559552"/>
            <a:ext cx="10911535" cy="7315"/>
          </a:xfrm>
          <a:prstGeom prst="rect">
            <a:avLst/>
          </a:prstGeom>
          <a:solidFill>
            <a:srgbClr val="111111"/>
          </a:solidFill>
          <a:ln w="12700">
            <a:solidFill>
              <a:srgbClr val="111111"/>
            </a:solidFill>
            <a:prstDash val="solid"/>
          </a:ln>
        </p:spPr>
      </p:sp>
      <p:sp>
        <p:nvSpPr>
          <p:cNvPr id="82" name="Text 80"/>
          <p:cNvSpPr/>
          <p:nvPr/>
        </p:nvSpPr>
        <p:spPr>
          <a:xfrm>
            <a:off x="640080" y="5669280"/>
            <a:ext cx="10911535" cy="402336"/>
          </a:xfrm>
          <a:prstGeom prst="rect">
            <a:avLst/>
          </a:prstGeom>
          <a:noFill/>
          <a:ln/>
        </p:spPr>
        <p:txBody>
          <a:bodyPr wrap="square" lIns="0" tIns="0" rIns="0" bIns="0" rtlCol="0" anchor="ctr"/>
          <a:lstStyle/>
          <a:p>
            <a:pPr indent="0" marL="0">
              <a:buNone/>
            </a:pPr>
            <a:r>
              <a:rPr lang="en-US" sz="1250" b="1" dirty="0">
                <a:solidFill>
                  <a:srgbClr val="111111"/>
                </a:solidFill>
                <a:latin typeface="Pretendard" pitchFamily="34" charset="0"/>
                <a:ea typeface="Pretendard" pitchFamily="34" charset="-122"/>
                <a:cs typeface="Pretendard" pitchFamily="34" charset="-120"/>
              </a:rPr>
              <a:t>4번과 15번을 먼저 보세요. 복제본이 남아 있거나 한쪽만 내면 나머지가 아무리 좋아도 깎입니다.</a:t>
            </a:r>
            <a:endParaRPr lang="en-US" sz="1250" dirty="0"/>
          </a:p>
        </p:txBody>
      </p:sp>
      <p:sp>
        <p:nvSpPr>
          <p:cNvPr id="83" name="Shape 81"/>
          <p:cNvSpPr/>
          <p:nvPr/>
        </p:nvSpPr>
        <p:spPr>
          <a:xfrm>
            <a:off x="640080" y="6291072"/>
            <a:ext cx="10911535" cy="7315"/>
          </a:xfrm>
          <a:prstGeom prst="rect">
            <a:avLst/>
          </a:prstGeom>
          <a:solidFill>
            <a:srgbClr val="DCDCDC"/>
          </a:solidFill>
          <a:ln w="12700">
            <a:solidFill>
              <a:srgbClr val="DCDCDC"/>
            </a:solidFill>
            <a:prstDash val="solid"/>
          </a:ln>
        </p:spPr>
      </p:sp>
      <p:sp>
        <p:nvSpPr>
          <p:cNvPr id="84" name="Text 82"/>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8주차 흐름 늘리기 — 겹치는 화면 정리</a:t>
            </a:r>
            <a:endParaRPr lang="en-US" sz="850" dirty="0"/>
          </a:p>
        </p:txBody>
      </p:sp>
      <p:sp>
        <p:nvSpPr>
          <p:cNvPr id="85" name="Text 83"/>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P.11</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08</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HOMEWORK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과제와 다음 주</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다음 주 10/28이 중간평가입니다. 그다음 주부터 남은 흐름을 채웁니다.</a:t>
            </a:r>
            <a:endParaRPr lang="en-US" sz="1150" dirty="0"/>
          </a:p>
        </p:txBody>
      </p:sp>
      <p:sp>
        <p:nvSpPr>
          <p:cNvPr id="9" name="Shape 7"/>
          <p:cNvSpPr/>
          <p:nvPr/>
        </p:nvSpPr>
        <p:spPr>
          <a:xfrm>
            <a:off x="640080" y="1719072"/>
            <a:ext cx="6309360" cy="896112"/>
          </a:xfrm>
          <a:prstGeom prst="rect">
            <a:avLst/>
          </a:prstGeom>
          <a:solidFill>
            <a:srgbClr val="FFFFFF"/>
          </a:solidFill>
          <a:ln w="12700">
            <a:solidFill>
              <a:srgbClr val="DCDCDC"/>
            </a:solidFill>
            <a:prstDash val="solid"/>
          </a:ln>
        </p:spPr>
      </p:sp>
      <p:sp>
        <p:nvSpPr>
          <p:cNvPr id="10" name="Shape 8"/>
          <p:cNvSpPr/>
          <p:nvPr/>
        </p:nvSpPr>
        <p:spPr>
          <a:xfrm>
            <a:off x="969264" y="1993392"/>
            <a:ext cx="329184" cy="329184"/>
          </a:xfrm>
          <a:prstGeom prst="ellipse">
            <a:avLst/>
          </a:prstGeom>
          <a:solidFill>
            <a:srgbClr val="111111"/>
          </a:solidFill>
          <a:ln w="12700">
            <a:solidFill>
              <a:srgbClr val="111111"/>
            </a:solidFill>
            <a:prstDash val="solid"/>
          </a:ln>
        </p:spPr>
      </p:sp>
      <p:sp>
        <p:nvSpPr>
          <p:cNvPr id="11" name="Text 9"/>
          <p:cNvSpPr/>
          <p:nvPr/>
        </p:nvSpPr>
        <p:spPr>
          <a:xfrm>
            <a:off x="969264" y="19933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1</a:t>
            </a:r>
            <a:endParaRPr lang="en-US" sz="1100" dirty="0"/>
          </a:p>
        </p:txBody>
      </p:sp>
      <p:sp>
        <p:nvSpPr>
          <p:cNvPr id="12" name="Text 10"/>
          <p:cNvSpPr/>
          <p:nvPr/>
        </p:nvSpPr>
        <p:spPr>
          <a:xfrm>
            <a:off x="1426464" y="1810512"/>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흐름 3개 — 화면 15장 안팎</a:t>
            </a:r>
            <a:endParaRPr lang="en-US" sz="1400" dirty="0"/>
          </a:p>
        </p:txBody>
      </p:sp>
      <p:sp>
        <p:nvSpPr>
          <p:cNvPr id="13" name="Text 11"/>
          <p:cNvSpPr/>
          <p:nvPr/>
        </p:nvSpPr>
        <p:spPr>
          <a:xfrm>
            <a:off x="1426464" y="2121408"/>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지난주 핵심 흐름에 둘을 더합니다. 각 흐름마다 시작 · 진행 · 결과 · 되돌아옴 네 지점이 있어야 합니다. 겹치는 화면은 한 벌만 만들고 흐름마다 달라지는 것을 옆에 적습니다.</a:t>
            </a:r>
            <a:endParaRPr lang="en-US" sz="1100" dirty="0"/>
          </a:p>
        </p:txBody>
      </p:sp>
      <p:sp>
        <p:nvSpPr>
          <p:cNvPr id="14" name="Shape 12"/>
          <p:cNvSpPr/>
          <p:nvPr/>
        </p:nvSpPr>
        <p:spPr>
          <a:xfrm>
            <a:off x="640080" y="2743200"/>
            <a:ext cx="6309360" cy="896112"/>
          </a:xfrm>
          <a:prstGeom prst="rect">
            <a:avLst/>
          </a:prstGeom>
          <a:solidFill>
            <a:srgbClr val="FFFFFF"/>
          </a:solidFill>
          <a:ln w="12700">
            <a:solidFill>
              <a:srgbClr val="DCDCDC"/>
            </a:solidFill>
            <a:prstDash val="solid"/>
          </a:ln>
        </p:spPr>
      </p:sp>
      <p:sp>
        <p:nvSpPr>
          <p:cNvPr id="15" name="Shape 13"/>
          <p:cNvSpPr/>
          <p:nvPr/>
        </p:nvSpPr>
        <p:spPr>
          <a:xfrm>
            <a:off x="969264" y="3017520"/>
            <a:ext cx="329184" cy="329184"/>
          </a:xfrm>
          <a:prstGeom prst="ellipse">
            <a:avLst/>
          </a:prstGeom>
          <a:solidFill>
            <a:srgbClr val="111111"/>
          </a:solidFill>
          <a:ln w="12700">
            <a:solidFill>
              <a:srgbClr val="111111"/>
            </a:solidFill>
            <a:prstDash val="solid"/>
          </a:ln>
        </p:spPr>
      </p:sp>
      <p:sp>
        <p:nvSpPr>
          <p:cNvPr id="16" name="Text 14"/>
          <p:cNvSpPr/>
          <p:nvPr/>
        </p:nvSpPr>
        <p:spPr>
          <a:xfrm>
            <a:off x="969264" y="30175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2</a:t>
            </a:r>
            <a:endParaRPr lang="en-US" sz="1100" dirty="0"/>
          </a:p>
        </p:txBody>
      </p:sp>
      <p:sp>
        <p:nvSpPr>
          <p:cNvPr id="17" name="Text 15"/>
          <p:cNvSpPr/>
          <p:nvPr/>
        </p:nvSpPr>
        <p:spPr>
          <a:xfrm>
            <a:off x="1426464" y="2834640"/>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화면 목록표</a:t>
            </a:r>
            <a:endParaRPr lang="en-US" sz="1400" dirty="0"/>
          </a:p>
        </p:txBody>
      </p:sp>
      <p:sp>
        <p:nvSpPr>
          <p:cNvPr id="18" name="Text 16"/>
          <p:cNvSpPr/>
          <p:nvPr/>
        </p:nvSpPr>
        <p:spPr>
          <a:xfrm>
            <a:off x="1426464" y="3145536"/>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지금까지 만든 화면을 전부 한 표에 적습니다. 번호 · 이름 · 속한 흐름 · 상태(완료/작업중/없음) · 패널 게재 여부. 보고서의 중심 문서입니다.</a:t>
            </a:r>
            <a:endParaRPr lang="en-US" sz="1100" dirty="0"/>
          </a:p>
        </p:txBody>
      </p:sp>
      <p:sp>
        <p:nvSpPr>
          <p:cNvPr id="19" name="Shape 17"/>
          <p:cNvSpPr/>
          <p:nvPr/>
        </p:nvSpPr>
        <p:spPr>
          <a:xfrm>
            <a:off x="640080" y="3767328"/>
            <a:ext cx="6309360" cy="896112"/>
          </a:xfrm>
          <a:prstGeom prst="rect">
            <a:avLst/>
          </a:prstGeom>
          <a:solidFill>
            <a:srgbClr val="FFFFFF"/>
          </a:solidFill>
          <a:ln w="12700">
            <a:solidFill>
              <a:srgbClr val="DCDCDC"/>
            </a:solidFill>
            <a:prstDash val="solid"/>
          </a:ln>
        </p:spPr>
      </p:sp>
      <p:sp>
        <p:nvSpPr>
          <p:cNvPr id="20" name="Shape 18"/>
          <p:cNvSpPr/>
          <p:nvPr/>
        </p:nvSpPr>
        <p:spPr>
          <a:xfrm>
            <a:off x="969264" y="4041648"/>
            <a:ext cx="329184" cy="329184"/>
          </a:xfrm>
          <a:prstGeom prst="ellipse">
            <a:avLst/>
          </a:prstGeom>
          <a:solidFill>
            <a:srgbClr val="111111"/>
          </a:solidFill>
          <a:ln w="12700">
            <a:solidFill>
              <a:srgbClr val="111111"/>
            </a:solidFill>
            <a:prstDash val="solid"/>
          </a:ln>
        </p:spPr>
      </p:sp>
      <p:sp>
        <p:nvSpPr>
          <p:cNvPr id="21" name="Text 19"/>
          <p:cNvSpPr/>
          <p:nvPr/>
        </p:nvSpPr>
        <p:spPr>
          <a:xfrm>
            <a:off x="969264" y="40416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3</a:t>
            </a:r>
            <a:endParaRPr lang="en-US" sz="1100" dirty="0"/>
          </a:p>
        </p:txBody>
      </p:sp>
      <p:sp>
        <p:nvSpPr>
          <p:cNvPr id="22" name="Text 20"/>
          <p:cNvSpPr/>
          <p:nvPr/>
        </p:nvSpPr>
        <p:spPr>
          <a:xfrm>
            <a:off x="1426464" y="3858768"/>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중간 보고서 — PDF</a:t>
            </a:r>
            <a:endParaRPr lang="en-US" sz="1400" dirty="0"/>
          </a:p>
        </p:txBody>
      </p:sp>
      <p:sp>
        <p:nvSpPr>
          <p:cNvPr id="23" name="Text 21"/>
          <p:cNvSpPr/>
          <p:nvPr/>
        </p:nvSpPr>
        <p:spPr>
          <a:xfrm>
            <a:off x="1426464" y="4169664"/>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오늘 안내한 여덟 장으로 묶습니다. 지금까지 만든 것을 모으는 일이고 새로 쓰는 것은 표지와 남은 일정뿐입니다. 10월 28일 수업 시작 전까지.</a:t>
            </a:r>
            <a:endParaRPr lang="en-US" sz="1100" dirty="0"/>
          </a:p>
        </p:txBody>
      </p:sp>
      <p:sp>
        <p:nvSpPr>
          <p:cNvPr id="24" name="Shape 22"/>
          <p:cNvSpPr/>
          <p:nvPr/>
        </p:nvSpPr>
        <p:spPr>
          <a:xfrm>
            <a:off x="640080" y="4809744"/>
            <a:ext cx="6309360" cy="7315"/>
          </a:xfrm>
          <a:prstGeom prst="rect">
            <a:avLst/>
          </a:prstGeom>
          <a:solidFill>
            <a:srgbClr val="111111"/>
          </a:solidFill>
          <a:ln w="12700">
            <a:solidFill>
              <a:srgbClr val="111111"/>
            </a:solidFill>
            <a:prstDash val="solid"/>
          </a:ln>
        </p:spPr>
      </p:sp>
      <p:sp>
        <p:nvSpPr>
          <p:cNvPr id="25" name="Text 23"/>
          <p:cNvSpPr/>
          <p:nvPr/>
        </p:nvSpPr>
        <p:spPr>
          <a:xfrm>
            <a:off x="640080" y="4901184"/>
            <a:ext cx="6309360" cy="329184"/>
          </a:xfrm>
          <a:prstGeom prst="rect">
            <a:avLst/>
          </a:prstGeom>
          <a:noFill/>
          <a:ln/>
        </p:spPr>
        <p:txBody>
          <a:bodyPr wrap="square" lIns="0" tIns="0" rIns="0" bIns="0" rtlCol="0" anchor="ctr"/>
          <a:lstStyle/>
          <a:p>
            <a:pPr indent="0" marL="0">
              <a:buNone/>
            </a:pPr>
            <a:r>
              <a:rPr lang="en-US" sz="1200" b="1" dirty="0">
                <a:solidFill>
                  <a:srgbClr val="111111"/>
                </a:solidFill>
                <a:latin typeface="Pretendard" pitchFamily="34" charset="0"/>
                <a:ea typeface="Pretendard" pitchFamily="34" charset="-122"/>
                <a:cs typeface="Pretendard" pitchFamily="34" charset="-120"/>
              </a:rPr>
              <a:t>제출 — 중간 보고서 — 10월 28일(수) 수업 시작 전까지 · PDF 와 Figma 링크 제출</a:t>
            </a:r>
            <a:endParaRPr lang="en-US" sz="1200" dirty="0"/>
          </a:p>
        </p:txBody>
      </p:sp>
      <p:sp>
        <p:nvSpPr>
          <p:cNvPr id="26" name="Shape 24"/>
          <p:cNvSpPr/>
          <p:nvPr/>
        </p:nvSpPr>
        <p:spPr>
          <a:xfrm>
            <a:off x="7351776" y="1719072"/>
            <a:ext cx="4199839" cy="3803904"/>
          </a:xfrm>
          <a:prstGeom prst="rect">
            <a:avLst/>
          </a:prstGeom>
          <a:solidFill>
            <a:srgbClr val="111111"/>
          </a:solidFill>
          <a:ln w="12700">
            <a:solidFill>
              <a:srgbClr val="111111"/>
            </a:solidFill>
            <a:prstDash val="solid"/>
          </a:ln>
        </p:spPr>
      </p:sp>
      <p:sp>
        <p:nvSpPr>
          <p:cNvPr id="27" name="Text 25"/>
          <p:cNvSpPr/>
          <p:nvPr/>
        </p:nvSpPr>
        <p:spPr>
          <a:xfrm>
            <a:off x="7735824" y="1993392"/>
            <a:ext cx="3431743" cy="256032"/>
          </a:xfrm>
          <a:prstGeom prst="rect">
            <a:avLst/>
          </a:prstGeom>
          <a:noFill/>
          <a:ln/>
        </p:spPr>
        <p:txBody>
          <a:bodyPr wrap="square" lIns="0" tIns="0" rIns="0" bIns="0" rtlCol="0" anchor="ctr"/>
          <a:lstStyle/>
          <a:p>
            <a:pPr indent="0" marL="0">
              <a:buNone/>
            </a:pPr>
            <a:r>
              <a:rPr lang="en-US" sz="950" spc="260" kern="0" dirty="0">
                <a:solidFill>
                  <a:srgbClr val="9A9A9A"/>
                </a:solidFill>
                <a:latin typeface="Pretendard" pitchFamily="34" charset="0"/>
                <a:ea typeface="Pretendard" pitchFamily="34" charset="-122"/>
                <a:cs typeface="Pretendard" pitchFamily="34" charset="-120"/>
              </a:rPr>
              <a:t>NEXT WEEK</a:t>
            </a:r>
            <a:endParaRPr lang="en-US" sz="950" dirty="0"/>
          </a:p>
        </p:txBody>
      </p:sp>
      <p:sp>
        <p:nvSpPr>
          <p:cNvPr id="28" name="Text 26"/>
          <p:cNvSpPr/>
          <p:nvPr/>
        </p:nvSpPr>
        <p:spPr>
          <a:xfrm>
            <a:off x="7735824" y="2286000"/>
            <a:ext cx="3431743" cy="402336"/>
          </a:xfrm>
          <a:prstGeom prst="rect">
            <a:avLst/>
          </a:prstGeom>
          <a:noFill/>
          <a:ln/>
        </p:spPr>
        <p:txBody>
          <a:bodyPr wrap="square" lIns="0" tIns="0" rIns="0" bIns="0" rtlCol="0" anchor="ctr"/>
          <a:lstStyle/>
          <a:p>
            <a:pPr indent="0" marL="0">
              <a:buNone/>
            </a:pPr>
            <a:r>
              <a:rPr lang="en-US" sz="2600" dirty="0">
                <a:solidFill>
                  <a:srgbClr val="FFFFFF"/>
                </a:solidFill>
                <a:latin typeface="Pretendard Light" pitchFamily="34" charset="0"/>
                <a:ea typeface="Pretendard Light" pitchFamily="34" charset="-122"/>
                <a:cs typeface="Pretendard Light" pitchFamily="34" charset="-120"/>
              </a:rPr>
              <a:t>09주차</a:t>
            </a:r>
            <a:endParaRPr lang="en-US" sz="2600" dirty="0"/>
          </a:p>
        </p:txBody>
      </p:sp>
      <p:sp>
        <p:nvSpPr>
          <p:cNvPr id="29" name="Text 27"/>
          <p:cNvSpPr/>
          <p:nvPr/>
        </p:nvSpPr>
        <p:spPr>
          <a:xfrm>
            <a:off x="7735824" y="2743200"/>
            <a:ext cx="3431743" cy="512064"/>
          </a:xfrm>
          <a:prstGeom prst="rect">
            <a:avLst/>
          </a:prstGeom>
          <a:noFill/>
          <a:ln/>
        </p:spPr>
        <p:txBody>
          <a:bodyPr wrap="square" lIns="0" tIns="0" rIns="0" bIns="0" rtlCol="0" anchor="t"/>
          <a:lstStyle/>
          <a:p>
            <a:pPr indent="0" marL="0">
              <a:lnSpc>
                <a:spcPct val="116000"/>
              </a:lnSpc>
              <a:buNone/>
            </a:pPr>
            <a:r>
              <a:rPr lang="en-US" sz="1700" dirty="0">
                <a:solidFill>
                  <a:srgbClr val="FFFFFF"/>
                </a:solidFill>
                <a:latin typeface="Pretendard SemiBold" pitchFamily="34" charset="0"/>
                <a:ea typeface="Pretendard SemiBold" pitchFamily="34" charset="-122"/>
                <a:cs typeface="Pretendard SemiBold" pitchFamily="34" charset="-120"/>
              </a:rPr>
              <a:t>중간평가 — 보고서 검토와 개별 면담</a:t>
            </a:r>
            <a:endParaRPr lang="en-US" sz="1700" dirty="0"/>
          </a:p>
        </p:txBody>
      </p:sp>
      <p:sp>
        <p:nvSpPr>
          <p:cNvPr id="30" name="Shape 28"/>
          <p:cNvSpPr/>
          <p:nvPr/>
        </p:nvSpPr>
        <p:spPr>
          <a:xfrm>
            <a:off x="7735824" y="3346704"/>
            <a:ext cx="3431743" cy="7315"/>
          </a:xfrm>
          <a:prstGeom prst="rect">
            <a:avLst/>
          </a:prstGeom>
          <a:solidFill>
            <a:srgbClr val="333333"/>
          </a:solidFill>
          <a:ln w="12700">
            <a:solidFill>
              <a:srgbClr val="333333"/>
            </a:solidFill>
            <a:prstDash val="solid"/>
          </a:ln>
        </p:spPr>
      </p:sp>
      <p:sp>
        <p:nvSpPr>
          <p:cNvPr id="31" name="Text 29"/>
          <p:cNvSpPr/>
          <p:nvPr/>
        </p:nvSpPr>
        <p:spPr>
          <a:xfrm>
            <a:off x="7735824" y="3493008"/>
            <a:ext cx="3431743" cy="1170432"/>
          </a:xfrm>
          <a:prstGeom prst="rect">
            <a:avLst/>
          </a:prstGeom>
          <a:noFill/>
          <a:ln/>
        </p:spPr>
        <p:txBody>
          <a:bodyPr wrap="square" lIns="0" tIns="0" rIns="0" bIns="0" rtlCol="0" anchor="t"/>
          <a:lstStyle/>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중간 보고서 제출</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1인 10분 검토와 질의</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남은 8주 작업 계획 확정</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보완 범위 개별 합의</a:t>
            </a:r>
            <a:endParaRPr lang="en-US" sz="1150" dirty="0"/>
          </a:p>
        </p:txBody>
      </p:sp>
      <p:sp>
        <p:nvSpPr>
          <p:cNvPr id="32" name="Shape 30"/>
          <p:cNvSpPr/>
          <p:nvPr/>
        </p:nvSpPr>
        <p:spPr>
          <a:xfrm>
            <a:off x="7735824" y="4700016"/>
            <a:ext cx="3431743" cy="7315"/>
          </a:xfrm>
          <a:prstGeom prst="rect">
            <a:avLst/>
          </a:prstGeom>
          <a:solidFill>
            <a:srgbClr val="333333"/>
          </a:solidFill>
          <a:ln w="12700">
            <a:solidFill>
              <a:srgbClr val="333333"/>
            </a:solidFill>
            <a:prstDash val="solid"/>
          </a:ln>
        </p:spPr>
      </p:sp>
      <p:sp>
        <p:nvSpPr>
          <p:cNvPr id="33" name="Text 31"/>
          <p:cNvSpPr/>
          <p:nvPr/>
        </p:nvSpPr>
        <p:spPr>
          <a:xfrm>
            <a:off x="7735824" y="4809744"/>
            <a:ext cx="3431743" cy="237744"/>
          </a:xfrm>
          <a:prstGeom prst="rect">
            <a:avLst/>
          </a:prstGeom>
          <a:noFill/>
          <a:ln/>
        </p:spPr>
        <p:txBody>
          <a:bodyPr wrap="square" lIns="0" tIns="0" rIns="0" bIns="0" rtlCol="0" anchor="ctr"/>
          <a:lstStyle/>
          <a:p>
            <a:pPr indent="0" marL="0">
              <a:buNone/>
            </a:pPr>
            <a:r>
              <a:rPr lang="en-US" sz="900" spc="160" kern="0" dirty="0">
                <a:solidFill>
                  <a:srgbClr val="9B9B9B"/>
                </a:solidFill>
                <a:latin typeface="Pretendard" pitchFamily="34" charset="0"/>
                <a:ea typeface="Pretendard" pitchFamily="34" charset="-122"/>
                <a:cs typeface="Pretendard" pitchFamily="34" charset="-120"/>
              </a:rPr>
              <a:t>미리 준비할 것</a:t>
            </a:r>
            <a:endParaRPr lang="en-US" sz="900" dirty="0"/>
          </a:p>
        </p:txBody>
      </p:sp>
      <p:sp>
        <p:nvSpPr>
          <p:cNvPr id="34" name="Text 32"/>
          <p:cNvSpPr/>
          <p:nvPr/>
        </p:nvSpPr>
        <p:spPr>
          <a:xfrm>
            <a:off x="7735824" y="5065776"/>
            <a:ext cx="3431743" cy="457200"/>
          </a:xfrm>
          <a:prstGeom prst="rect">
            <a:avLst/>
          </a:prstGeom>
          <a:noFill/>
          <a:ln/>
        </p:spPr>
        <p:txBody>
          <a:bodyPr wrap="square" lIns="0" tIns="0" rIns="0" bIns="0" rtlCol="0" anchor="t"/>
          <a:lstStyle/>
          <a:p>
            <a:pPr indent="0" marL="0">
              <a:lnSpc>
                <a:spcPct val="120000"/>
              </a:lnSpc>
              <a:buNone/>
            </a:pPr>
            <a:r>
              <a:rPr lang="en-US" sz="1100" b="1" dirty="0">
                <a:solidFill>
                  <a:srgbClr val="FFFFFF"/>
                </a:solidFill>
                <a:latin typeface="Pretendard" pitchFamily="34" charset="0"/>
                <a:ea typeface="Pretendard" pitchFamily="34" charset="-122"/>
                <a:cs typeface="Pretendard" pitchFamily="34" charset="-120"/>
              </a:rPr>
              <a:t>중간 보고서 PDF · Figma 링크 · 노트북</a:t>
            </a:r>
            <a:endParaRPr lang="en-US" sz="110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8주차 흐름 늘리기 — 겹치는 화면 정리</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MIN.D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서비스디자인 · 8주차 흐름 늘리기 — 겹치는 화면 정리</dc:title>
  <dc:subject>원광대학교 2026-2 · 학부 3학년 · 주 3시간 × 15주 · 1학기 기획을 졸업 전시 패널 데이터로</dc:subject>
  <dc:creator>MIN.D</dc:creator>
  <cp:lastModifiedBy>MIN.D</cp:lastModifiedBy>
  <cp:revision>1</cp:revision>
  <dcterms:created xsi:type="dcterms:W3CDTF">2026-10-20T09:50:54Z</dcterms:created>
  <dcterms:modified xsi:type="dcterms:W3CDTF">2026-10-20T09:50:54Z</dcterms:modified>
</cp:coreProperties>
</file>