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서비스디자인 네 번째 시간입니다.
지난주에 GNB 하나를 수치로 정하고 컴포넌트로 만들었습니다. 과제로 그 컴포넌트를 붙인 디자인 두 장을 받았고요.
오늘은 먼저 그 두 장을 함께 봅니다. 컨펌으로 시작하겠습니다.
그다음은 같은 작업을 세 번 더 합니다. 상단 헤더, 리스트, 카드. 화면마다 반복되는 나머지 요소들이에요.
그리고 오늘은 색과 글자 크기까지 갑니다. 원래 다음 주에 할 내용인데 오늘 붙였습니다. 형태를 정해 놓고 색을 나중에 정하면 만들어 둔 컴포넌트를 전부 다시 열어야 하거든요. 같은 날 정해서 한 번에 넣는 편이 낫습니다.
방식은 지난주와 똑같습니다. 근거에서 값을 찾고, 값에 이름을 붙이고, 화면에서는 꺼내 씁니다. 오늘이 끝나면 화면을 그리는 게 아니라 조립하는 상태가 됩니다.
[운영 메모]
원래 4주차와 5주차를 한 회차로 합친 자료다. 강의가 85분으로 길어졌으니 PART 마다 끊어 가고, 실습 50분은 반드시 확보할 것. 컨펌은 고쳐 주는 자리가 아니라 기준에 맞는지 함께 보는 자리로 운영한다. 과제를 안 해온 학생은 이 시간에 티가 나고 그것이 다음 주 태도를 바꾼다.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화면이 어떻게 나뉘는지 봅니다.
지난주에는 아래 90만 봤어요. 오늘은 위까지 봅니다.
844가 어디서 어떻게 쪼개지는지 알고 나면, 본문에 쓸 수 있는 높이가 정확히 얼마인지 나옵니다. 그 숫자가 오늘 제일 중요합니다.
[운영 메모]
35분 구간 중 앞 20분. 도판 두 장을 띄워 놓고 학생 파일과 대조시킬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오늘 기억하실 문장입니다.
지난주에 한 것을 세 번 더 반복합니다.
새로 배우는 방법은 없어요. 순서도 똑같습니다.
근거에서 값을 찾는다. 값을 컴포넌트에 담는다. 화면에서는 꺼내 쓴다.
지난주에 GNB로 한 번 해 보셨으니 오늘은 훨씬 빠를 겁니다. 막히면 지난주에 만든 Tab Item을 열어 보세요. 거기에 답이 있습니다.
[운영 메모]
'또 같은 걸 하네'라는 반응이 나오면 성공이다. 그 반복이 시스템을 만든다는 것을 짚어 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왼쪽 그림을 보세요.
맨 위 47이 상단 안전 영역입니다. 노치가 차지하는 높이예요. 이건 기기가 정한 값이라 우리가 못 바꿉니다.
그 아래 44가 헤더입니다. Apple 기준이 44, Material 앱 바는 56이에요. 어느 쪽을 쓰든 좋습니다. 다만 고르고 나면 학기 내내 같은 값을 씁니다.
맨 아래 90이 지난주에 정한 GNB고요.
그러면 본문은 844 빼기 47 빼기 44 빼기 90, 663입니다.
오른쪽을 보세요. 지난주에는 754라고 했죠. 그때는 위를 안 봤으니까요. 헤더를 넣으면 663으로 줄어듭니다. 91이 줄어든 겁니다.
이게 왜 중요하냐면, 스크롤 없이 보이는 첫 화면이 663이기 때문입니다. 이 안에 뭐가 들어가야 하는지를 정하지 않으면 중요한 게 아래로 밀립니다.
지금 여러분 파일에서 첫 화면을 열어 보세요. 663 안에 무엇이 들어가 있나요?
[운영 메모]
'스크롤 없이 보이는 높이'를 처음 듣는 학생이 많다. 이 한 장으로 첫 화면 우선순위 이야기를 함께 할 수 있다. 도판은 assets/screen/ 에 있고 fig4a.html 로 다시 그린다.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상단 헤더는 정할 게 네 가지뿐입니다.
첫째 높이. 44입니다. 상단 안전 영역 47은 헤더 높이에 넣지 않고 위에 따로 둡니다. 이걸 합쳐서 91로 잡는 분들이 있는데, 그러면 기기가 바뀌었을 때 헤더까지 같이 틀어집니다.
둘째 제목. 17pt에 가운데 정렬, 한 줄 고정이에요. 두 줄로 넘어가면 44가 깨집니다. 긴 이름은 줄이거나 말줄임으로 처리하세요.
셋째 좌우 아이콘. 보이는 건 24인데 손가락이 닿는 영역은 44입니다. 지난주 GNB에서 한 것과 같은 규칙이에요.
넷째 하단 구분선. 1px 선입니다. 그림자 대신 선, 이것도 지난주와 같습니다.
아래 줄을 보세요. 네 항목 전부 지난주에 쓴 근거를 그대로 씁니다. 새 기준을 만들 필요가 없어요.
[운영 메모]
안전 영역 47을 헤더 높이에 합쳐 91로 만드는 실수가 매년 나온다. 여기서 한 번 짚고, 실습 순회에서 다시 확인할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왼쪽이 리스트 한 행입니다.
행 높이 72. 썸네일 48에 위아래 여백 12씩을 더한 값이에요. 그리고 이 48은 지난주에 본 터치 최소 48과 같은 값입니다. 우연이 아니라 같은 근거에서 나왔습니다.
좌우 여백 16, 썸네일과 글 사이 간격 12.
오른쪽이 카드입니다. 안쪽 패딩 16, 모서리 8, 그림자 대신 선 1px.
그림자 이야기를 조금 하겠습니다. 그림자는 화면마다 흐려짐이 달라 보입니다. 배경색이 바뀌면 더 그렇고요. 선 1px으로 두면 어디서나 같게 보입니다. 패널로 출력할 때도 선이 안전합니다.
아래 문장이 오늘의 핵심입니다. 여백도 값입니다. 16, 12, 8처럼 정해 두면 다음 화면에서 다시 고민하지 않습니다.
[운영 메모]
여백을 '값'으로 보는 감각이 없는 학생이 많다. 이 장에서 자기 화면의 여백을 재 보게 할 것 — 대부분 화면마다 다르게 나온다.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두 번째입니다.
값을 다 정했다고 끝이 아닙니다.
흩어진 값을 규칙으로 묶어야 다음 화면에서 안 헤매고, 이름을 붙여야 찾아 씁니다.
둘 다 오늘 십 분이면 되는데 안 하면 다음 달에 하루가 듭니다.
[운영 메모]
30분 구간. 여기는 시연이 빠르다. 실습 시간을 넉넉히 남기는 쪽이 낫다.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간격은 여섯 개면 충분합니다. 4, 8, 12, 16, 24, 32.
전부 4의 배수예요. 지난주 GNB에서 쓴 간격 4도 여기 들어갑니다.
왼쪽부터 보겠습니다. 4와 8과 12는 요소 안쪽에 씁니다. 아이콘과 라벨 사이, 글줄 사이, 썸네일과 글 사이.
가운데 16과 24는 요소 사이예요. 화면 좌우 여백 16, 카드 패딩 16, 묶음과 묶음 사이 24. 이 둘을 제일 많이 씁니다.
오른쪽 32는 구역 사이입니다. 이보다 큰 여백은 쓰지 마세요. 더 띄우고 싶으면 구분선을 쓰는 게 낫습니다. 여백만으로 구역을 나누는 데는 한계가 있어요.
아래 문장을 보세요. 14나 18처럼 목록에 없는 값이 나오면 둘 중 하나입니다. 잘못 넣었거나, 아니면 목록에 없는 규칙이 정말 필요하거나.
후자면 목록에 추가하시면 됩니다. 다만 추가할 때는 왜 필요한지 적어 두세요.
[운영 메모]
'6개로 충분한가'를 묻는 학생이 있다. 대부분의 앱이 이 범위 안에서 돌아간다고 답하고, 정말 필요하면 근거를 적고 추가하라고 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이름은 세 칸으로 붙입니다. 영역 슬래시 이름 슬래시 상태.
Figma는 슬래시를 만나면 자동으로 묶어 줍니다. 이름만 제대로 붙여도 목록이 폴더처럼 정리돼요.
영역은 어디에 쓰는지입니다. Nav, List, Card, Tab.
이름은 그 요소가 무엇인지고요. Row나 Item이나 Cell 중에 하나로 통일하세요. 섞어 쓰면 검색이 안 됩니다.
상태는 Default, Selected, Pressed, Disabled. 네 개면 대부분 덮습니다.
네 번째 줄을 보세요. 지난주에 만든 Tab Item도 이 규칙으로 이름을 다시 붙이세요. 오늘 같이 정리하고 넘어갑니다.
아래 문장. 지금은 컴포넌트가 대여섯 개라 이름 없이도 찾습니다. 다음 달에 서른 개가 되면 못 찾아요. 그때 붙이려면 이미 쓰인 자리를 전부 따라다녀야 합니다.
[운영 메모]
이름 규칙은 지루해서 대충 넘기는데, 7~11주 화면 작업에서 가장 크게 되돌아온다. 실습 순회에서 이름부터 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강의 덩어리입니다. 색과 글자 크기예요.
원래 다음 주에 할 내용인데 오늘로 당겼습니다. 이유가 있습니다.
형태만 정해 놓고 색을 다음 주에 정하면, 오늘 만든 컴포넌트를 전부 다시 열어서 색을 넣어야 합니다. 같은 날 정해서 한 번에 넣는 편이 훨씬 빠릅니다.
여기서도 방식은 같습니다. 개수를 줄이고, 이름을 붙이고, 화면에서는 꺼내 씁니다.
[운영 메모]
30분 구간. 색 이론을 설명하는 자리가 아니다. '몇 개로 줄이고 어떻게 부를 것인가'만 다룰 것. 색 고르기로 빠지면 시간이 다 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색은 세 갈래로 나눠 정합니다.
첫째, 브랜드색입니다. 하나만 고르세요. 그리고 그 하나에서 밝기 단계를 다섯 개 만듭니다. 기본이 가운데고, 밝은 쪽 둘은 눌린 배경이나 선택된 영역에, 어두운 쪽 둘은 글자나 눌림 상태에 씁니다.
두 개 이상 고르고 싶어지실 텐데, 두 개가 되는 순간 어디에 무엇을 쓸지가 매번 고민거리가 됩니다.
둘째, 중립색입니다. 회색 계열이에요. 글자 세 단계, 배경 두 단계, 선 하나. 여섯이면 충분합니다. 실제로 화면의 대부분은 이 여섯 개로 칠해집니다.
셋째, 상태색입니다. 성공, 경고, 오류 셋. 알림은 브랜드색으로 대신하면 됩니다.
그리고 대비를 꼭 확인하세요. 본문 글자와 배경 사이가 4.5 대 1, 큰 글자는 3 대 1입니다. 연한 회색 글자가 예뻐 보여서 쓰는데, 밝은 데서 안 보입니다. 피그마 플러그인으로 바로 잴 수 있습니다.
[운영 메모]
대비 검사를 실제로 한 번 보여 줄 것. 연회색 글자는 매년 나오는 문제고, 수치로 보여 주면 바로 고친다.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글자 크기도 여섯 단계로 줄입니다.
32은 화면 제목입니다. 한 화면에 하나만 씁니다. 두 개 쓰면 둘 다 제목으로 안 보입니다.
24는 구역 제목. 화면 안에서 묶음을 나눌 때요.
20은 카드나 항목 제목입니다.
17이 본문이에요. 지난주에 헤더 제목을 17로 잡았는데 그것과 같은 값입니다. 우연이 아니라 같은 목록에서 꺼낸 겁니다.
15는 보조 설명, 13은 라벨과 캡션입니다. 13보다 작게는 내려가지 마세요. 모바일에서 안 읽힙니다.
행간은 1.4배로 두시면 대체로 맞습니다. 굵기는 두 가지만 쓰세요. 보통과 조금 굵게. 세 가지가 되면 어느 게 더 중요한지 안 보입니다.
[운영 메모]
17을 본문으로 잡는 이유가 지난주 헤더 값과 맞물린다는 점을 반드시 짚을 것. 값이 서로 연결되어 있다는 감각이 시스템의 핵심이다.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정한 값에 이름을 붙이는 것이 토큰입니다. 세 단계로 하시면 됩니다.
첫째, 값에 이름을 붙입니다. 피그마 변수로 만드세요. 이름 규칙은 지난주에 정한 것과 같습니다. 영역 슬래시 이름 슬래시 상태. 색이면 color 슬래시 text 슬래시 primary, 글자면 text 슬래시 body 이런 식이에요.
이름을 붙일 때 한 가지 조심하실 게 있습니다. blue-500 같은 이름 말고 text-primary 처럼 쓰임으로 부르세요. 나중에 파란색을 초록색으로 바꾸면 blue-500 이라는 이름이 거짓말이 됩니다.
둘째, 컴포넌트가 토큰을 보게 합니다. 헤더 제목 색을 직접 지정하지 말고 토큰을 거세요. 이게 오늘 실습의 핵심입니다.
셋째, 확인합니다. 토큰 값 하나를 바꿔서 화면 네 장이 같이 바뀌면 제대로 걸린 겁니다. 한 장만 바뀌면 나머지는 직접 지정한 거예요.
[운영 메모]
03 을 수업 중에 실제로 시연할 것. 토큰 하나를 바꿔 네 장이 한꺼번에 바뀌는 장면을 보면 왜 토큰을 쓰는지 설명이 필요 없다.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실습 50분입니다. 오늘은 단계가 다섯입니다.
처음 8분은 규격 명세를 이어 씁니다. 지난주 GNB 표에 헤더, 리스트, 카드를 이어서 적으세요. 값과 근거 두 칸을 같이 채웁니다. 근거 칸이 안 써지면 그 값은 아직 안 정해진 겁니다.
다음 12분은 헤더예요. 높이 44, 제목 17pt 한 줄, 좌우 아이콘 24에 터치 영역 44, 하단 선 1px. 만들고 나서 이름을 규칙대로 붙이는 것까지가 이 단계입니다.
다음 12분은 리스트 행과 카드. 행 높이 72, 썸네일 48, 여백 16, 간격 12. 카드는 패딩 16에 모서리 8입니다.
다음 8분은 토큰이에요. 색과 글자를 변수로 등록하고 방금 만든 컴포넌트에 거세요. 색을 고르느라 시간 쓰지 마시고, 일단 있는 색으로 등록만 해 두셔도 됩니다. 나중에 값만 바꾸면 되니까요.
마지막 10분이 오늘의 목표입니다. 지난주 컨펌 받은 두 장을 열어서 오늘 만든 인스턴스와 토큰으로 바꾸세요.
만드는 것보다 적용하는 게 중요합니다. 컴포넌트만 만들어 두고 화면은 그대로면 다음 주에도 낱개로 고치고 계실 겁니다.
막히면 손 드세요. 돌아다니겠습니다.
[운영 메모]
단계가 다섯으로 늘어 시간이 빠듯하다. 40분 지점에서 한 번 크게 알려 주고, 앞 단계가 안 끝났어도 적용으로 넘어가게 할 것. 적용을 못 해 보면 오늘 수업이 헛것이 된다. 토큰 단계에서 색 고르기로 빠지는 학생이 나오는데, '지금은 등록만' 이라고 잘라 줄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10분입니다. 옆 사람과 짝을 지어 서로의 파일을 봅니다.
왼쪽 네 가지를 확인하세요.
먼저 토큰 값 하나를 바꿔 보세요. 글자 색 토큰이 좋겠네요. 두 장이 같이 바뀌면 제대로 걸린 겁니다. 한 장만 바뀌면 나머지는 직접 지정한 거예요.
리스트 행을 하나 늘려 보세요. 간격이 그대로 유지되면 오토레이아웃이 들어간 거고요.
카드 안 글자를 길게 바꿔 보세요. 카드가 따라 늘어나야 합니다.
그리고 컴포넌트와 토큰 목록을 열어 이름 규칙대로 묶여 보이는지 보세요.
오른쪽은 매년 나오는 문제들입니다. 세 번째를 특히 보세요. 색을 직접 지정해 놓고 토큰을 만들어 둔 경우입니다. 토큰이 있는데 화면이 안 바뀌면 그겁니다.
네 가지가 다 되면 오늘 것은 끝난 겁니다. 하나라도 안 되면 화면 말고 컴포넌트를 먼저 고치세요.
[운영 메모]
짝을 지어 서로 보게 하는 것이 혼자 점검표를 읽는 것보다 훨씬 잘 걸린다. 자기 실수는 안 보이고 남의 실수는 보인다.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제출 점검표입니다. 다음 수업 전까지 올려 주세요.
열일곱 개인데 오늘 두 주차 분량을 했으니 늘었습니다. 뒤 다섯 개를 보세요.
열세 번째, 색과 글자가 직접 지정되지 않고 토큰으로 걸려 있는가.
열네 번째, 토큰 값 하나를 바꾸면 네 장이 함께 바뀌는가.
열다섯 번째와 열여섯 번째, 두 장은 인스턴스로 교체되었고 새 두 장은 컴포넌트와 토큰만으로 조립되었는가.
열일곱 번째, 직접 그린 것이 한 개도 남아 있지 않은가.
이 다섯 개가 이번 주의 실질입니다. 앞의 열두 개는 이걸 하기 위한 준비고요.
열두 번째도 한 번 보세요. 본문 글자와 배경의 대비가 4.5 대 1 이상인가. 플러그인으로 재 보시면 금방 압니다.
[운영 메모]
점검표를 인쇄해 나눠 주고 짝끼리 체크하게 하면 제출 품질이 눈에 띄게 올라간다. 12개는 많아 보이지만 10~12번만 지켜도 다음 주가 굴러간다.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 세 가지입니다. 규격 명세와 토큰 표, 컴포넌트 3종에 토큰 연결, 그리고 디자인 4장으로 확장.
첫째와 둘째는 오늘 실습에서 절반쯤 하셨습니다. 마무리만 하시면 됩니다.
둘째에서 한 가지만 지켜 주세요. 색과 글자를 컴포넌트에 직접 지정하지 마시고 토큰을 거세요. 직접 지정하면 다음에 색을 바꿀 때 컴포넌트를 전부 다시 열어야 합니다.
셋째가 이번 주의 실질입니다. 컨펌 받은 두 장에 두 장을 더해서 네 장으로 만드세요.
조건이 하나 있습니다. 오늘 만든 컴포넌트와 토큰만으로 조립하세요. 새로 그리는 요소가 생기면 그건 컴포넌트가 덜 만들어졌다는 뜻입니다. 그때는 컴포넌트를 먼저 고치고 다시 조립합니다.
오늘 두 주차 분량을 한 번에 했습니다. 양이 많으니 미루면 따라잡기 어렵습니다. 이번 주 안에 컴포넌트와 토큰까지는 끝내 두세요.
질문 있으신 분?
[운영 메모]
두 주차 분량을 한 번에 냈으므로 과제량이 늘었다. '이번 주 안에 컴포넌트와 토큰까지'를 못 박아 둘 것. 색을 직접 지정하고 토큰을 안 거는 학생이 반드시 나온다 — 다음 수업 컨펌 때 색 하나를 바꿔 보면 바로 드러난다.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04</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04  ·  PHASE 1 기준</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800" dirty="0">
                <a:solidFill>
                  <a:srgbClr val="111111"/>
                </a:solidFill>
                <a:latin typeface="Pretendard SemiBold" pitchFamily="34" charset="0"/>
                <a:ea typeface="Pretendard SemiBold" pitchFamily="34" charset="-122"/>
                <a:cs typeface="Pretendard SemiBold" pitchFamily="34" charset="-120"/>
              </a:rPr>
              <a:t>공통 요소와 스타일 토큰</a:t>
            </a:r>
            <a:endParaRPr lang="en-US" sz="48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지난주 GNB에 쓴 방식을 헤더 · 리스트 · 카드에 반복하고,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색과 글자 크기까지 토큰으로 묶어 화면을 조립할 수 있게 만듭니다.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서비스디자인 · 학부 3학년</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규격 명세 · 컴포넌트 3종 · 색과 글자 토큰 · 디자인 4장</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화면이 어떻게 나뉘는가</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세로 844를 네 덩어리로 나누고, 각 덩어리의 값을 근거에서 찾습니다.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640080" y="2103120"/>
            <a:ext cx="914400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PRINCIPLE</a:t>
            </a:r>
            <a:endParaRPr lang="en-US" sz="950" dirty="0"/>
          </a:p>
        </p:txBody>
      </p:sp>
      <p:sp>
        <p:nvSpPr>
          <p:cNvPr id="7" name="Shape 5"/>
          <p:cNvSpPr/>
          <p:nvPr/>
        </p:nvSpPr>
        <p:spPr>
          <a:xfrm>
            <a:off x="640080" y="2395728"/>
            <a:ext cx="2194560" cy="7315"/>
          </a:xfrm>
          <a:prstGeom prst="rect">
            <a:avLst/>
          </a:prstGeom>
          <a:solidFill>
            <a:srgbClr val="FFFFFF"/>
          </a:solidFill>
          <a:ln w="12700">
            <a:solidFill>
              <a:srgbClr val="FFFFFF"/>
            </a:solidFill>
            <a:prstDash val="solid"/>
          </a:ln>
        </p:spPr>
      </p:sp>
      <p:sp>
        <p:nvSpPr>
          <p:cNvPr id="8" name="Text 6"/>
          <p:cNvSpPr/>
          <p:nvPr/>
        </p:nvSpPr>
        <p:spPr>
          <a:xfrm>
            <a:off x="640080" y="2596896"/>
            <a:ext cx="10241280" cy="1371600"/>
          </a:xfrm>
          <a:prstGeom prst="rect">
            <a:avLst/>
          </a:prstGeom>
          <a:noFill/>
          <a:ln/>
        </p:spPr>
        <p:txBody>
          <a:bodyPr wrap="square" lIns="0" tIns="0" rIns="0" bIns="0" rtlCol="0" anchor="t"/>
          <a:lstStyle/>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지난주에 한 것을</a:t>
            </a:r>
            <a:endParaRPr lang="en-US" sz="3400" dirty="0"/>
          </a:p>
          <a:p>
            <a:pPr indent="0" marL="0">
              <a:lnSpc>
                <a:spcPct val="122000"/>
              </a:lnSpc>
              <a:buNone/>
            </a:pPr>
            <a:r>
              <a:rPr lang="en-US" sz="3400" dirty="0">
                <a:solidFill>
                  <a:srgbClr val="FFFFFF"/>
                </a:solidFill>
                <a:latin typeface="Pretendard SemiBold" pitchFamily="34" charset="0"/>
                <a:ea typeface="Pretendard SemiBold" pitchFamily="34" charset="-122"/>
                <a:cs typeface="Pretendard SemiBold" pitchFamily="34" charset="-120"/>
              </a:rPr>
              <a:t>세 번 더 반복합니다.</a:t>
            </a:r>
            <a:endParaRPr lang="en-US" sz="3400" dirty="0"/>
          </a:p>
        </p:txBody>
      </p:sp>
      <p:sp>
        <p:nvSpPr>
          <p:cNvPr id="9" name="Text 7"/>
          <p:cNvSpPr/>
          <p:nvPr/>
        </p:nvSpPr>
        <p:spPr>
          <a:xfrm>
            <a:off x="640080" y="4078224"/>
            <a:ext cx="9509760" cy="914400"/>
          </a:xfrm>
          <a:prstGeom prst="rect">
            <a:avLst/>
          </a:prstGeom>
          <a:noFill/>
          <a:ln/>
        </p:spPr>
        <p:txBody>
          <a:bodyPr wrap="square" lIns="0" tIns="0" rIns="0" bIns="0" rtlCol="0" anchor="t"/>
          <a:lstStyle/>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새로 배우는 방법은 없습니다.</a:t>
            </a:r>
            <a:endParaRPr lang="en-US" sz="1400" dirty="0"/>
          </a:p>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근거에서 값을 찾고, 값을 컴포넌트에 담고, 화면에서는 꺼내 씁니다.</a:t>
            </a:r>
            <a:endParaRPr lang="en-US" sz="1400" dirty="0"/>
          </a:p>
          <a:p>
            <a:pPr indent="0" marL="0">
              <a:lnSpc>
                <a:spcPct val="136000"/>
              </a:lnSpc>
              <a:buNone/>
            </a:pPr>
            <a:r>
              <a:rPr lang="en-US" sz="1400" dirty="0">
                <a:solidFill>
                  <a:srgbClr val="B8B8B8"/>
                </a:solidFill>
                <a:latin typeface="Pretendard Light" pitchFamily="34" charset="0"/>
                <a:ea typeface="Pretendard Light" pitchFamily="34" charset="-122"/>
                <a:cs typeface="Pretendard Light" pitchFamily="34" charset="-120"/>
              </a:rPr>
              <a:t>GNB에서 한 이 순서를 헤더 · 리스트 · 카드에 그대로 옮기면 됩니다.</a:t>
            </a:r>
            <a:endParaRPr lang="en-US" sz="1400" dirty="0"/>
          </a:p>
        </p:txBody>
      </p:sp>
      <p:sp>
        <p:nvSpPr>
          <p:cNvPr id="10" name="Text 8"/>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서비스디자인 · WEEK 04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REFERENCE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화면 세로가 나뉘는 자리</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844가 네 덩어리로 나뉘고, 본문이 실제로 쓰는 높이가 나옵니다.</a:t>
            </a:r>
            <a:endParaRPr lang="en-US" sz="1150" dirty="0"/>
          </a:p>
        </p:txBody>
      </p:sp>
      <p:pic>
        <p:nvPicPr>
          <p:cNvPr id="9" name="Image 0" descr="/home/user/MIN.D/assets/screen/screen-height.png">    </p:cNvPr>
          <p:cNvPicPr>
            <a:picLocks noChangeAspect="1"/>
          </p:cNvPicPr>
          <p:nvPr/>
        </p:nvPicPr>
        <p:blipFill>
          <a:blip r:embed="rId1"/>
          <a:stretch>
            <a:fillRect/>
          </a:stretch>
        </p:blipFill>
        <p:spPr>
          <a:xfrm>
            <a:off x="661699" y="1737360"/>
            <a:ext cx="10868297" cy="3803904"/>
          </a:xfrm>
          <a:prstGeom prst="rect">
            <a:avLst/>
          </a:prstGeom>
        </p:spPr>
      </p:pic>
      <p:sp>
        <p:nvSpPr>
          <p:cNvPr id="10" name="Shape 7"/>
          <p:cNvSpPr/>
          <p:nvPr/>
        </p:nvSpPr>
        <p:spPr>
          <a:xfrm>
            <a:off x="640080" y="5687568"/>
            <a:ext cx="10911535" cy="7315"/>
          </a:xfrm>
          <a:prstGeom prst="rect">
            <a:avLst/>
          </a:prstGeom>
          <a:solidFill>
            <a:srgbClr val="DCDCDC"/>
          </a:solidFill>
          <a:ln w="12700">
            <a:solidFill>
              <a:srgbClr val="DCDCDC"/>
            </a:solidFill>
            <a:prstDash val="solid"/>
          </a:ln>
        </p:spPr>
      </p:sp>
      <p:sp>
        <p:nvSpPr>
          <p:cNvPr id="11" name="Text 8"/>
          <p:cNvSpPr/>
          <p:nvPr/>
        </p:nvSpPr>
        <p:spPr>
          <a:xfrm>
            <a:off x="640080" y="5760720"/>
            <a:ext cx="10911535" cy="274320"/>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지난주 754에서 헤더와 상단 안전 영역을 빼면 663입니다. 첫 화면 설계는 이 663 안에서 합니다.</a:t>
            </a:r>
            <a:endParaRPr lang="en-US" sz="1150" dirty="0"/>
          </a:p>
        </p:txBody>
      </p:sp>
      <p:sp>
        <p:nvSpPr>
          <p:cNvPr id="12" name="Shape 9"/>
          <p:cNvSpPr/>
          <p:nvPr/>
        </p:nvSpPr>
        <p:spPr>
          <a:xfrm>
            <a:off x="640080" y="6291072"/>
            <a:ext cx="10911535" cy="7315"/>
          </a:xfrm>
          <a:prstGeom prst="rect">
            <a:avLst/>
          </a:prstGeom>
          <a:solidFill>
            <a:srgbClr val="DCDCDC"/>
          </a:solidFill>
          <a:ln w="12700">
            <a:solidFill>
              <a:srgbClr val="DCDCDC"/>
            </a:solidFill>
            <a:prstDash val="solid"/>
          </a:ln>
        </p:spPr>
      </p:sp>
      <p:sp>
        <p:nvSpPr>
          <p:cNvPr id="13" name="Text 1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4주차 공통 요소와 스타일 토큰</a:t>
            </a:r>
            <a:endParaRPr lang="en-US" sz="850" dirty="0"/>
          </a:p>
        </p:txBody>
      </p:sp>
      <p:sp>
        <p:nvSpPr>
          <p:cNvPr id="14" name="Text 1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HEADER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상단 헤더 — 정할 것은 네 가지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GNB와 같은 방식으로 값과 근거를 씁니다.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높이 44 / 상단 안전 영역 47은 따로</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Apple HIG 내비게이션 바 기준. 안전 영역은 헤더 높이에 포함하지 않고 위에 따로 둡니다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44 + 47</a:t>
            </a:r>
            <a:endParaRPr lang="en-US" sz="1050" dirty="0"/>
          </a:p>
        </p:txBody>
      </p:sp>
      <p:sp>
        <p:nvSpPr>
          <p:cNvPr id="15" name="Shape 13"/>
          <p:cNvSpPr/>
          <p:nvPr/>
        </p:nvSpPr>
        <p:spPr>
          <a:xfrm>
            <a:off x="640080" y="2596896"/>
            <a:ext cx="10911535" cy="7315"/>
          </a:xfrm>
          <a:prstGeom prst="rect">
            <a:avLst/>
          </a:prstGeom>
          <a:solidFill>
            <a:srgbClr val="DCDCDC"/>
          </a:solidFill>
          <a:ln w="12700">
            <a:solidFill>
              <a:srgbClr val="DCDCDC"/>
            </a:solidFill>
            <a:prstDash val="solid"/>
          </a:ln>
        </p:spPr>
      </p:sp>
      <p:sp>
        <p:nvSpPr>
          <p:cNvPr id="16" name="Shape 14"/>
          <p:cNvSpPr/>
          <p:nvPr/>
        </p:nvSpPr>
        <p:spPr>
          <a:xfrm>
            <a:off x="640080" y="2761488"/>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67004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제목 17pt · 가운데 정렬 · 1줄 고정</a:t>
            </a:r>
            <a:endParaRPr lang="en-US" sz="1450" dirty="0"/>
          </a:p>
        </p:txBody>
      </p:sp>
      <p:sp>
        <p:nvSpPr>
          <p:cNvPr id="19" name="Text 17"/>
          <p:cNvSpPr/>
          <p:nvPr/>
        </p:nvSpPr>
        <p:spPr>
          <a:xfrm>
            <a:off x="1188720" y="298094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두 줄로 넘어가면 44가 깨집니다. 긴 이름은 줄이거나 말줄임으로 처리합니다</a:t>
            </a:r>
            <a:endParaRPr lang="en-US" sz="1100" dirty="0"/>
          </a:p>
        </p:txBody>
      </p:sp>
      <p:sp>
        <p:nvSpPr>
          <p:cNvPr id="20" name="Text 18"/>
          <p:cNvSpPr/>
          <p:nvPr/>
        </p:nvSpPr>
        <p:spPr>
          <a:xfrm>
            <a:off x="9357055" y="276148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17 / 1줄</a:t>
            </a:r>
            <a:endParaRPr lang="en-US" sz="1050" dirty="0"/>
          </a:p>
        </p:txBody>
      </p:sp>
      <p:sp>
        <p:nvSpPr>
          <p:cNvPr id="21" name="Shape 19"/>
          <p:cNvSpPr/>
          <p:nvPr/>
        </p:nvSpPr>
        <p:spPr>
          <a:xfrm>
            <a:off x="640080" y="354787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71246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좌우 아이콘 24 × 24 · 터치 영역 44</a:t>
            </a:r>
            <a:endParaRPr lang="en-US" sz="1450" dirty="0"/>
          </a:p>
        </p:txBody>
      </p:sp>
      <p:sp>
        <p:nvSpPr>
          <p:cNvPr id="25" name="Text 23"/>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보이는 아이콘은 24지만 손가락이 닿는 영역은 44입니다. GNB와 같은 규칙</a:t>
            </a:r>
            <a:endParaRPr lang="en-US" sz="1100" dirty="0"/>
          </a:p>
        </p:txBody>
      </p:sp>
      <p:sp>
        <p:nvSpPr>
          <p:cNvPr id="26" name="Text 24"/>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24 / 44</a:t>
            </a:r>
            <a:endParaRPr lang="en-US" sz="1050" dirty="0"/>
          </a:p>
        </p:txBody>
      </p:sp>
      <p:sp>
        <p:nvSpPr>
          <p:cNvPr id="27" name="Shape 25"/>
          <p:cNvSpPr/>
          <p:nvPr/>
        </p:nvSpPr>
        <p:spPr>
          <a:xfrm>
            <a:off x="640080" y="4498848"/>
            <a:ext cx="10911535" cy="7315"/>
          </a:xfrm>
          <a:prstGeom prst="rect">
            <a:avLst/>
          </a:prstGeom>
          <a:solidFill>
            <a:srgbClr val="DCDCDC"/>
          </a:solidFill>
          <a:ln w="12700">
            <a:solidFill>
              <a:srgbClr val="DCDCDC"/>
            </a:solidFill>
            <a:prstDash val="solid"/>
          </a:ln>
        </p:spPr>
      </p:sp>
      <p:sp>
        <p:nvSpPr>
          <p:cNvPr id="28" name="Shape 26"/>
          <p:cNvSpPr/>
          <p:nvPr/>
        </p:nvSpPr>
        <p:spPr>
          <a:xfrm>
            <a:off x="640080" y="4663440"/>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57200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하단 구분선 1px hairline</a:t>
            </a:r>
            <a:endParaRPr lang="en-US" sz="1450" dirty="0"/>
          </a:p>
        </p:txBody>
      </p:sp>
      <p:sp>
        <p:nvSpPr>
          <p:cNvPr id="31" name="Text 29"/>
          <p:cNvSpPr/>
          <p:nvPr/>
        </p:nvSpPr>
        <p:spPr>
          <a:xfrm>
            <a:off x="1188720" y="488289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그림자 대신 선. 지배색 명도 단계에서 가져옵니다</a:t>
            </a:r>
            <a:endParaRPr lang="en-US" sz="1100" dirty="0"/>
          </a:p>
        </p:txBody>
      </p:sp>
      <p:sp>
        <p:nvSpPr>
          <p:cNvPr id="32" name="Text 30"/>
          <p:cNvSpPr/>
          <p:nvPr/>
        </p:nvSpPr>
        <p:spPr>
          <a:xfrm>
            <a:off x="9357055" y="466344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1px</a:t>
            </a:r>
            <a:endParaRPr lang="en-US" sz="1050" dirty="0"/>
          </a:p>
        </p:txBody>
      </p:sp>
      <p:sp>
        <p:nvSpPr>
          <p:cNvPr id="33" name="Shape 31"/>
          <p:cNvSpPr/>
          <p:nvPr/>
        </p:nvSpPr>
        <p:spPr>
          <a:xfrm>
            <a:off x="640080" y="5522976"/>
            <a:ext cx="10911535" cy="7315"/>
          </a:xfrm>
          <a:prstGeom prst="rect">
            <a:avLst/>
          </a:prstGeom>
          <a:solidFill>
            <a:srgbClr val="111111"/>
          </a:solidFill>
          <a:ln w="12700">
            <a:solidFill>
              <a:srgbClr val="111111"/>
            </a:solidFill>
            <a:prstDash val="solid"/>
          </a:ln>
        </p:spPr>
      </p:sp>
      <p:sp>
        <p:nvSpPr>
          <p:cNvPr id="34" name="Text 32"/>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네 항목 모두 지난주 GNB에서 쓴 근거를 그대로 씁니다. 새 기준을 만들지 않습니다.</a:t>
            </a:r>
            <a:endParaRPr lang="en-US" sz="12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4주차 공통 요소와 스타일 토큰</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REFERENCE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리스트 한 행과 카드 하나</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여백도 값입니다. 정해 두면 다음 화면에서 다시 고민하지 않습니다.</a:t>
            </a:r>
            <a:endParaRPr lang="en-US" sz="1150" dirty="0"/>
          </a:p>
        </p:txBody>
      </p:sp>
      <p:pic>
        <p:nvPicPr>
          <p:cNvPr id="9" name="Image 0" descr="/home/user/MIN.D/assets/screen/list-card.png">    </p:cNvPr>
          <p:cNvPicPr>
            <a:picLocks noChangeAspect="1"/>
          </p:cNvPicPr>
          <p:nvPr/>
        </p:nvPicPr>
        <p:blipFill>
          <a:blip r:embed="rId1"/>
          <a:stretch>
            <a:fillRect/>
          </a:stretch>
        </p:blipFill>
        <p:spPr>
          <a:xfrm>
            <a:off x="661699" y="1737360"/>
            <a:ext cx="10868297" cy="3803904"/>
          </a:xfrm>
          <a:prstGeom prst="rect">
            <a:avLst/>
          </a:prstGeom>
        </p:spPr>
      </p:pic>
      <p:sp>
        <p:nvSpPr>
          <p:cNvPr id="10" name="Shape 7"/>
          <p:cNvSpPr/>
          <p:nvPr/>
        </p:nvSpPr>
        <p:spPr>
          <a:xfrm>
            <a:off x="640080" y="5687568"/>
            <a:ext cx="10911535" cy="7315"/>
          </a:xfrm>
          <a:prstGeom prst="rect">
            <a:avLst/>
          </a:prstGeom>
          <a:solidFill>
            <a:srgbClr val="DCDCDC"/>
          </a:solidFill>
          <a:ln w="12700">
            <a:solidFill>
              <a:srgbClr val="DCDCDC"/>
            </a:solidFill>
            <a:prstDash val="solid"/>
          </a:ln>
        </p:spPr>
      </p:sp>
      <p:sp>
        <p:nvSpPr>
          <p:cNvPr id="11" name="Text 8"/>
          <p:cNvSpPr/>
          <p:nvPr/>
        </p:nvSpPr>
        <p:spPr>
          <a:xfrm>
            <a:off x="640080" y="5760720"/>
            <a:ext cx="10911535" cy="274320"/>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썸네일 48은 터치 최소 48과 같은 값입니다. 우연이 아니라 같은 근거에서 나온 값입니다.</a:t>
            </a:r>
            <a:endParaRPr lang="en-US" sz="1150" dirty="0"/>
          </a:p>
        </p:txBody>
      </p:sp>
      <p:sp>
        <p:nvSpPr>
          <p:cNvPr id="12" name="Shape 9"/>
          <p:cNvSpPr/>
          <p:nvPr/>
        </p:nvSpPr>
        <p:spPr>
          <a:xfrm>
            <a:off x="640080" y="6291072"/>
            <a:ext cx="10911535" cy="7315"/>
          </a:xfrm>
          <a:prstGeom prst="rect">
            <a:avLst/>
          </a:prstGeom>
          <a:solidFill>
            <a:srgbClr val="DCDCDC"/>
          </a:solidFill>
          <a:ln w="12700">
            <a:solidFill>
              <a:srgbClr val="DCDCDC"/>
            </a:solidFill>
            <a:prstDash val="solid"/>
          </a:ln>
        </p:spPr>
      </p:sp>
      <p:sp>
        <p:nvSpPr>
          <p:cNvPr id="13" name="Text 1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4주차 공통 요소와 스타일 토큰</a:t>
            </a:r>
            <a:endParaRPr lang="en-US" sz="850" dirty="0"/>
          </a:p>
        </p:txBody>
      </p:sp>
      <p:sp>
        <p:nvSpPr>
          <p:cNvPr id="14" name="Text 1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간격과 이름</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값을 정했으면 규칙으로 묶고, 찾을 수 있게 이름을 붙입니다.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SPACING</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간격 여섯 단계</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4의 배수로 여섯 단계를 정해 두고 그 안에서만 고릅니다.</a:t>
            </a:r>
            <a:endParaRPr lang="en-US" sz="1150" dirty="0"/>
          </a:p>
        </p:txBody>
      </p:sp>
      <p:sp>
        <p:nvSpPr>
          <p:cNvPr id="9" name="Shape 7"/>
          <p:cNvSpPr/>
          <p:nvPr/>
        </p:nvSpPr>
        <p:spPr>
          <a:xfrm>
            <a:off x="640080" y="1700784"/>
            <a:ext cx="3417722" cy="3529584"/>
          </a:xfrm>
          <a:prstGeom prst="rect">
            <a:avLst/>
          </a:prstGeom>
          <a:solidFill>
            <a:srgbClr val="111111"/>
          </a:solidFill>
          <a:ln w="12700">
            <a:solidFill>
              <a:srgbClr val="111111"/>
            </a:solidFill>
            <a:prstDash val="solid"/>
          </a:ln>
        </p:spPr>
      </p:sp>
      <p:sp>
        <p:nvSpPr>
          <p:cNvPr id="10" name="Text 8"/>
          <p:cNvSpPr/>
          <p:nvPr/>
        </p:nvSpPr>
        <p:spPr>
          <a:xfrm>
            <a:off x="987552" y="1956816"/>
            <a:ext cx="2722778" cy="420624"/>
          </a:xfrm>
          <a:prstGeom prst="rect">
            <a:avLst/>
          </a:prstGeom>
          <a:noFill/>
          <a:ln/>
        </p:spPr>
        <p:txBody>
          <a:bodyPr wrap="square" lIns="0" tIns="0" rIns="0" bIns="0" rtlCol="0" anchor="ctr"/>
          <a:lstStyle/>
          <a:p>
            <a:pPr indent="0" marL="0">
              <a:buNone/>
            </a:pPr>
            <a:r>
              <a:rPr lang="en-US" sz="1700" dirty="0">
                <a:solidFill>
                  <a:srgbClr val="FFFFFF"/>
                </a:solidFill>
                <a:latin typeface="Pretendard SemiBold" pitchFamily="34" charset="0"/>
                <a:ea typeface="Pretendard SemiBold" pitchFamily="34" charset="-122"/>
                <a:cs typeface="Pretendard SemiBold" pitchFamily="34" charset="-120"/>
              </a:rPr>
              <a:t>4 · 8 · 12</a:t>
            </a:r>
            <a:endParaRPr lang="en-US" sz="1700" dirty="0"/>
          </a:p>
        </p:txBody>
      </p:sp>
      <p:sp>
        <p:nvSpPr>
          <p:cNvPr id="11" name="Text 9"/>
          <p:cNvSpPr/>
          <p:nvPr/>
        </p:nvSpPr>
        <p:spPr>
          <a:xfrm>
            <a:off x="987552"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9A9A9A"/>
                </a:solidFill>
                <a:latin typeface="Pretendard" pitchFamily="34" charset="0"/>
                <a:ea typeface="Pretendard" pitchFamily="34" charset="-122"/>
                <a:cs typeface="Pretendard" pitchFamily="34" charset="-120"/>
              </a:rPr>
              <a:t>요소 안쪽</a:t>
            </a:r>
            <a:endParaRPr lang="en-US" sz="1000" dirty="0"/>
          </a:p>
        </p:txBody>
      </p:sp>
      <p:sp>
        <p:nvSpPr>
          <p:cNvPr id="12" name="Shape 10"/>
          <p:cNvSpPr/>
          <p:nvPr/>
        </p:nvSpPr>
        <p:spPr>
          <a:xfrm>
            <a:off x="987552" y="2798064"/>
            <a:ext cx="2722778" cy="7315"/>
          </a:xfrm>
          <a:prstGeom prst="rect">
            <a:avLst/>
          </a:prstGeom>
          <a:solidFill>
            <a:srgbClr val="333333"/>
          </a:solidFill>
          <a:ln w="12700">
            <a:solidFill>
              <a:srgbClr val="333333"/>
            </a:solidFill>
            <a:prstDash val="solid"/>
          </a:ln>
        </p:spPr>
      </p:sp>
      <p:sp>
        <p:nvSpPr>
          <p:cNvPr id="13" name="Text 11"/>
          <p:cNvSpPr/>
          <p:nvPr/>
        </p:nvSpPr>
        <p:spPr>
          <a:xfrm>
            <a:off x="987552"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아이콘과 라벨 사이 4</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글줄 사이 8</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썸네일과 글 사이 12</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지난주 GNB의 간격 4가 여기 들어갑니다</a:t>
            </a:r>
            <a:endParaRPr lang="en-US" sz="1150" dirty="0"/>
          </a:p>
        </p:txBody>
      </p:sp>
      <p:sp>
        <p:nvSpPr>
          <p:cNvPr id="14" name="Shape 12"/>
          <p:cNvSpPr/>
          <p:nvPr/>
        </p:nvSpPr>
        <p:spPr>
          <a:xfrm>
            <a:off x="4386986" y="1700784"/>
            <a:ext cx="3417722" cy="3529584"/>
          </a:xfrm>
          <a:prstGeom prst="rect">
            <a:avLst/>
          </a:prstGeom>
          <a:solidFill>
            <a:srgbClr val="FFFFFF"/>
          </a:solidFill>
          <a:ln w="12700">
            <a:solidFill>
              <a:srgbClr val="DCDCDC"/>
            </a:solidFill>
            <a:prstDash val="solid"/>
          </a:ln>
        </p:spPr>
      </p:sp>
      <p:sp>
        <p:nvSpPr>
          <p:cNvPr id="15" name="Text 13"/>
          <p:cNvSpPr/>
          <p:nvPr/>
        </p:nvSpPr>
        <p:spPr>
          <a:xfrm>
            <a:off x="4734458"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16 · 24</a:t>
            </a:r>
            <a:endParaRPr lang="en-US" sz="1700" dirty="0"/>
          </a:p>
        </p:txBody>
      </p:sp>
      <p:sp>
        <p:nvSpPr>
          <p:cNvPr id="16" name="Text 14"/>
          <p:cNvSpPr/>
          <p:nvPr/>
        </p:nvSpPr>
        <p:spPr>
          <a:xfrm>
            <a:off x="4734458"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요소 사이</a:t>
            </a:r>
            <a:endParaRPr lang="en-US" sz="1000" dirty="0"/>
          </a:p>
        </p:txBody>
      </p:sp>
      <p:sp>
        <p:nvSpPr>
          <p:cNvPr id="17" name="Shape 15"/>
          <p:cNvSpPr/>
          <p:nvPr/>
        </p:nvSpPr>
        <p:spPr>
          <a:xfrm>
            <a:off x="4734458" y="2798064"/>
            <a:ext cx="2722778" cy="7315"/>
          </a:xfrm>
          <a:prstGeom prst="rect">
            <a:avLst/>
          </a:prstGeom>
          <a:solidFill>
            <a:srgbClr val="111111"/>
          </a:solidFill>
          <a:ln w="12700">
            <a:solidFill>
              <a:srgbClr val="111111"/>
            </a:solidFill>
            <a:prstDash val="solid"/>
          </a:ln>
        </p:spPr>
      </p:sp>
      <p:sp>
        <p:nvSpPr>
          <p:cNvPr id="18" name="Text 16"/>
          <p:cNvSpPr/>
          <p:nvPr/>
        </p:nvSpPr>
        <p:spPr>
          <a:xfrm>
            <a:off x="4734458"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화면 좌우 여백 16</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카드 안쪽 패딩 16</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묶음과 묶음 사이 24</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가장 많이 쓰는 두 값입니다</a:t>
            </a:r>
            <a:endParaRPr lang="en-US" sz="1150" dirty="0"/>
          </a:p>
        </p:txBody>
      </p:sp>
      <p:sp>
        <p:nvSpPr>
          <p:cNvPr id="19" name="Shape 17"/>
          <p:cNvSpPr/>
          <p:nvPr/>
        </p:nvSpPr>
        <p:spPr>
          <a:xfrm>
            <a:off x="8133893" y="1700784"/>
            <a:ext cx="3417722" cy="3529584"/>
          </a:xfrm>
          <a:prstGeom prst="rect">
            <a:avLst/>
          </a:prstGeom>
          <a:solidFill>
            <a:srgbClr val="FFFFFF"/>
          </a:solidFill>
          <a:ln w="12700">
            <a:solidFill>
              <a:srgbClr val="DCDCDC"/>
            </a:solidFill>
            <a:prstDash val="solid"/>
          </a:ln>
        </p:spPr>
      </p:sp>
      <p:sp>
        <p:nvSpPr>
          <p:cNvPr id="20" name="Text 18"/>
          <p:cNvSpPr/>
          <p:nvPr/>
        </p:nvSpPr>
        <p:spPr>
          <a:xfrm>
            <a:off x="8481365"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32</a:t>
            </a:r>
            <a:endParaRPr lang="en-US" sz="1700" dirty="0"/>
          </a:p>
        </p:txBody>
      </p:sp>
      <p:sp>
        <p:nvSpPr>
          <p:cNvPr id="21" name="Text 19"/>
          <p:cNvSpPr/>
          <p:nvPr/>
        </p:nvSpPr>
        <p:spPr>
          <a:xfrm>
            <a:off x="8481365"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구역 사이</a:t>
            </a:r>
            <a:endParaRPr lang="en-US" sz="1000" dirty="0"/>
          </a:p>
        </p:txBody>
      </p:sp>
      <p:sp>
        <p:nvSpPr>
          <p:cNvPr id="22" name="Shape 20"/>
          <p:cNvSpPr/>
          <p:nvPr/>
        </p:nvSpPr>
        <p:spPr>
          <a:xfrm>
            <a:off x="8481365" y="2798064"/>
            <a:ext cx="2722778" cy="7315"/>
          </a:xfrm>
          <a:prstGeom prst="rect">
            <a:avLst/>
          </a:prstGeom>
          <a:solidFill>
            <a:srgbClr val="111111"/>
          </a:solidFill>
          <a:ln w="12700">
            <a:solidFill>
              <a:srgbClr val="111111"/>
            </a:solidFill>
            <a:prstDash val="solid"/>
          </a:ln>
        </p:spPr>
      </p:sp>
      <p:sp>
        <p:nvSpPr>
          <p:cNvPr id="23" name="Text 21"/>
          <p:cNvSpPr/>
          <p:nvPr/>
        </p:nvSpPr>
        <p:spPr>
          <a:xfrm>
            <a:off x="8481365"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섹션과 섹션 사이 32</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이보다 큰 여백은 쓰지 않습니다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더 띄우고 싶으면 구분선을 씁니다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여백으로 구역을 나누는 데는 한계가 있습니다</a:t>
            </a:r>
            <a:endParaRPr lang="en-US" sz="1150" dirty="0"/>
          </a:p>
        </p:txBody>
      </p:sp>
      <p:sp>
        <p:nvSpPr>
          <p:cNvPr id="24" name="Shape 22"/>
          <p:cNvSpPr/>
          <p:nvPr/>
        </p:nvSpPr>
        <p:spPr>
          <a:xfrm>
            <a:off x="640080" y="5504688"/>
            <a:ext cx="10911535" cy="7315"/>
          </a:xfrm>
          <a:prstGeom prst="rect">
            <a:avLst/>
          </a:prstGeom>
          <a:solidFill>
            <a:srgbClr val="111111"/>
          </a:solidFill>
          <a:ln w="12700">
            <a:solidFill>
              <a:srgbClr val="111111"/>
            </a:solidFill>
            <a:prstDash val="solid"/>
          </a:ln>
        </p:spPr>
      </p:sp>
      <p:sp>
        <p:nvSpPr>
          <p:cNvPr id="25" name="Text 23"/>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14나 18처럼 목록에 없는 값이 나오면 둘 중 하나입니다 — 잘못 넣었거나, 목록에 없는 규칙이 필요하거나.</a:t>
            </a:r>
            <a:endParaRPr lang="en-US" sz="125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4주차 공통 요소와 스타일 토큰</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NAMING</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이름은 영역 / 이름 / 상태 세 칸으로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Figma는 슬래시를 만나면 자동으로 묶어 줍니다.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Nav / Header / Default</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영역은 Nav · List · Card · Tab 처럼 어디에 쓰는지로 정합니다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영역</a:t>
            </a:r>
            <a:endParaRPr lang="en-US" sz="1050" dirty="0"/>
          </a:p>
        </p:txBody>
      </p:sp>
      <p:sp>
        <p:nvSpPr>
          <p:cNvPr id="15" name="Shape 13"/>
          <p:cNvSpPr/>
          <p:nvPr/>
        </p:nvSpPr>
        <p:spPr>
          <a:xfrm>
            <a:off x="640080" y="2596896"/>
            <a:ext cx="10911535" cy="7315"/>
          </a:xfrm>
          <a:prstGeom prst="rect">
            <a:avLst/>
          </a:prstGeom>
          <a:solidFill>
            <a:srgbClr val="DCDCDC"/>
          </a:solidFill>
          <a:ln w="12700">
            <a:solidFill>
              <a:srgbClr val="DCDCDC"/>
            </a:solidFill>
            <a:prstDash val="solid"/>
          </a:ln>
        </p:spPr>
      </p:sp>
      <p:sp>
        <p:nvSpPr>
          <p:cNvPr id="16" name="Shape 14"/>
          <p:cNvSpPr/>
          <p:nvPr/>
        </p:nvSpPr>
        <p:spPr>
          <a:xfrm>
            <a:off x="640080" y="2761488"/>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76148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a:t>
            </a:r>
            <a:endParaRPr lang="en-US" sz="1000" dirty="0"/>
          </a:p>
        </p:txBody>
      </p:sp>
      <p:sp>
        <p:nvSpPr>
          <p:cNvPr id="18" name="Text 16"/>
          <p:cNvSpPr/>
          <p:nvPr/>
        </p:nvSpPr>
        <p:spPr>
          <a:xfrm>
            <a:off x="1188720" y="267004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List / Row / Selected</a:t>
            </a:r>
            <a:endParaRPr lang="en-US" sz="1450" dirty="0"/>
          </a:p>
        </p:txBody>
      </p:sp>
      <p:sp>
        <p:nvSpPr>
          <p:cNvPr id="19" name="Text 17"/>
          <p:cNvSpPr/>
          <p:nvPr/>
        </p:nvSpPr>
        <p:spPr>
          <a:xfrm>
            <a:off x="1188720" y="298094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이름은 그 요소가 무엇인지. Row · Item · Cell 중 하나로 통일합니다</a:t>
            </a:r>
            <a:endParaRPr lang="en-US" sz="1100" dirty="0"/>
          </a:p>
        </p:txBody>
      </p:sp>
      <p:sp>
        <p:nvSpPr>
          <p:cNvPr id="20" name="Text 18"/>
          <p:cNvSpPr/>
          <p:nvPr/>
        </p:nvSpPr>
        <p:spPr>
          <a:xfrm>
            <a:off x="9357055" y="276148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이름</a:t>
            </a:r>
            <a:endParaRPr lang="en-US" sz="1050" dirty="0"/>
          </a:p>
        </p:txBody>
      </p:sp>
      <p:sp>
        <p:nvSpPr>
          <p:cNvPr id="21" name="Shape 19"/>
          <p:cNvSpPr/>
          <p:nvPr/>
        </p:nvSpPr>
        <p:spPr>
          <a:xfrm>
            <a:off x="640080" y="3547872"/>
            <a:ext cx="10911535" cy="7315"/>
          </a:xfrm>
          <a:prstGeom prst="rect">
            <a:avLst/>
          </a:prstGeom>
          <a:solidFill>
            <a:srgbClr val="DCDCDC"/>
          </a:solidFill>
          <a:ln w="12700">
            <a:solidFill>
              <a:srgbClr val="DCDCDC"/>
            </a:solidFill>
            <a:prstDash val="solid"/>
          </a:ln>
        </p:spPr>
      </p:sp>
      <p:sp>
        <p:nvSpPr>
          <p:cNvPr id="22" name="Shape 20"/>
          <p:cNvSpPr/>
          <p:nvPr/>
        </p:nvSpPr>
        <p:spPr>
          <a:xfrm>
            <a:off x="640080" y="3712464"/>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a:t>
            </a:r>
            <a:endParaRPr lang="en-US" sz="1000" dirty="0"/>
          </a:p>
        </p:txBody>
      </p:sp>
      <p:sp>
        <p:nvSpPr>
          <p:cNvPr id="24" name="Text 22"/>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Card / Basic / Pressed</a:t>
            </a:r>
            <a:endParaRPr lang="en-US" sz="1450" dirty="0"/>
          </a:p>
        </p:txBody>
      </p:sp>
      <p:sp>
        <p:nvSpPr>
          <p:cNvPr id="25" name="Text 23"/>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상태는 Default · Selected · Pressed · Disabled 네 개면 대부분 덮습니다</a:t>
            </a:r>
            <a:endParaRPr lang="en-US" sz="1100" dirty="0"/>
          </a:p>
        </p:txBody>
      </p:sp>
      <p:sp>
        <p:nvSpPr>
          <p:cNvPr id="26" name="Text 24"/>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상태</a:t>
            </a:r>
            <a:endParaRPr lang="en-US" sz="1050" dirty="0"/>
          </a:p>
        </p:txBody>
      </p:sp>
      <p:sp>
        <p:nvSpPr>
          <p:cNvPr id="27" name="Shape 25"/>
          <p:cNvSpPr/>
          <p:nvPr/>
        </p:nvSpPr>
        <p:spPr>
          <a:xfrm>
            <a:off x="640080" y="4498848"/>
            <a:ext cx="10911535" cy="7315"/>
          </a:xfrm>
          <a:prstGeom prst="rect">
            <a:avLst/>
          </a:prstGeom>
          <a:solidFill>
            <a:srgbClr val="DCDCDC"/>
          </a:solidFill>
          <a:ln w="12700">
            <a:solidFill>
              <a:srgbClr val="DCDCDC"/>
            </a:solidFill>
            <a:prstDash val="solid"/>
          </a:ln>
        </p:spPr>
      </p:sp>
      <p:sp>
        <p:nvSpPr>
          <p:cNvPr id="28" name="Shape 26"/>
          <p:cNvSpPr/>
          <p:nvPr/>
        </p:nvSpPr>
        <p:spPr>
          <a:xfrm>
            <a:off x="640080" y="4663440"/>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466344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4</a:t>
            </a:r>
            <a:endParaRPr lang="en-US" sz="1000" dirty="0"/>
          </a:p>
        </p:txBody>
      </p:sp>
      <p:sp>
        <p:nvSpPr>
          <p:cNvPr id="30" name="Text 28"/>
          <p:cNvSpPr/>
          <p:nvPr/>
        </p:nvSpPr>
        <p:spPr>
          <a:xfrm>
            <a:off x="1188720" y="457200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Tab / Item / Active</a:t>
            </a:r>
            <a:endParaRPr lang="en-US" sz="1450" dirty="0"/>
          </a:p>
        </p:txBody>
      </p:sp>
      <p:sp>
        <p:nvSpPr>
          <p:cNvPr id="31" name="Text 29"/>
          <p:cNvSpPr/>
          <p:nvPr/>
        </p:nvSpPr>
        <p:spPr>
          <a:xfrm>
            <a:off x="1188720" y="488289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지난주에 만든 Tab Item 도 이 규칙으로 이름을 다시 붙입니다</a:t>
            </a:r>
            <a:endParaRPr lang="en-US" sz="1100" dirty="0"/>
          </a:p>
        </p:txBody>
      </p:sp>
      <p:sp>
        <p:nvSpPr>
          <p:cNvPr id="32" name="Text 30"/>
          <p:cNvSpPr/>
          <p:nvPr/>
        </p:nvSpPr>
        <p:spPr>
          <a:xfrm>
            <a:off x="9357055" y="466344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지난주 것도</a:t>
            </a:r>
            <a:endParaRPr lang="en-US" sz="1050" dirty="0"/>
          </a:p>
        </p:txBody>
      </p:sp>
      <p:sp>
        <p:nvSpPr>
          <p:cNvPr id="33" name="Shape 31"/>
          <p:cNvSpPr/>
          <p:nvPr/>
        </p:nvSpPr>
        <p:spPr>
          <a:xfrm>
            <a:off x="640080" y="5522976"/>
            <a:ext cx="10911535" cy="7315"/>
          </a:xfrm>
          <a:prstGeom prst="rect">
            <a:avLst/>
          </a:prstGeom>
          <a:solidFill>
            <a:srgbClr val="111111"/>
          </a:solidFill>
          <a:ln w="12700">
            <a:solidFill>
              <a:srgbClr val="111111"/>
            </a:solidFill>
            <a:prstDash val="solid"/>
          </a:ln>
        </p:spPr>
      </p:sp>
      <p:sp>
        <p:nvSpPr>
          <p:cNvPr id="34" name="Text 32"/>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지금은 컴포넌트가 대여섯 개라 이름 없이도 찾습니다. 다음 달에 서른 개가 되면 못 찾습니다.</a:t>
            </a:r>
            <a:endParaRPr lang="en-US" sz="125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4주차 공통 요소와 스타일 토큰</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03</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03</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색과 글자 크기</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형태를 정했으면 색과 글자가 남습니다. 오늘 같이 정해 둡니다.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COLOR</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색 세 갈래</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색을 고르는 시간이 아니라 개수를 줄이고 이름을 붙이는 시간입니다.</a:t>
            </a:r>
            <a:endParaRPr lang="en-US" sz="1150" dirty="0"/>
          </a:p>
        </p:txBody>
      </p:sp>
      <p:sp>
        <p:nvSpPr>
          <p:cNvPr id="9" name="Shape 7"/>
          <p:cNvSpPr/>
          <p:nvPr/>
        </p:nvSpPr>
        <p:spPr>
          <a:xfrm>
            <a:off x="640080" y="1700784"/>
            <a:ext cx="3417722" cy="3529584"/>
          </a:xfrm>
          <a:prstGeom prst="rect">
            <a:avLst/>
          </a:prstGeom>
          <a:solidFill>
            <a:srgbClr val="111111"/>
          </a:solidFill>
          <a:ln w="12700">
            <a:solidFill>
              <a:srgbClr val="111111"/>
            </a:solidFill>
            <a:prstDash val="solid"/>
          </a:ln>
        </p:spPr>
      </p:sp>
      <p:sp>
        <p:nvSpPr>
          <p:cNvPr id="10" name="Text 8"/>
          <p:cNvSpPr/>
          <p:nvPr/>
        </p:nvSpPr>
        <p:spPr>
          <a:xfrm>
            <a:off x="987552" y="1956816"/>
            <a:ext cx="2722778" cy="420624"/>
          </a:xfrm>
          <a:prstGeom prst="rect">
            <a:avLst/>
          </a:prstGeom>
          <a:noFill/>
          <a:ln/>
        </p:spPr>
        <p:txBody>
          <a:bodyPr wrap="square" lIns="0" tIns="0" rIns="0" bIns="0" rtlCol="0" anchor="ctr"/>
          <a:lstStyle/>
          <a:p>
            <a:pPr indent="0" marL="0">
              <a:buNone/>
            </a:pPr>
            <a:r>
              <a:rPr lang="en-US" sz="1700" dirty="0">
                <a:solidFill>
                  <a:srgbClr val="FFFFFF"/>
                </a:solidFill>
                <a:latin typeface="Pretendard SemiBold" pitchFamily="34" charset="0"/>
                <a:ea typeface="Pretendard SemiBold" pitchFamily="34" charset="-122"/>
                <a:cs typeface="Pretendard SemiBold" pitchFamily="34" charset="-120"/>
              </a:rPr>
              <a:t>브랜드색</a:t>
            </a:r>
            <a:endParaRPr lang="en-US" sz="1700" dirty="0"/>
          </a:p>
        </p:txBody>
      </p:sp>
      <p:sp>
        <p:nvSpPr>
          <p:cNvPr id="11" name="Text 9"/>
          <p:cNvSpPr/>
          <p:nvPr/>
        </p:nvSpPr>
        <p:spPr>
          <a:xfrm>
            <a:off x="987552"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9A9A9A"/>
                </a:solidFill>
                <a:latin typeface="Pretendard" pitchFamily="34" charset="0"/>
                <a:ea typeface="Pretendard" pitchFamily="34" charset="-122"/>
                <a:cs typeface="Pretendard" pitchFamily="34" charset="-120"/>
              </a:rPr>
              <a:t>하나에서 다섯 단계</a:t>
            </a:r>
            <a:endParaRPr lang="en-US" sz="1000" dirty="0"/>
          </a:p>
        </p:txBody>
      </p:sp>
      <p:sp>
        <p:nvSpPr>
          <p:cNvPr id="12" name="Shape 10"/>
          <p:cNvSpPr/>
          <p:nvPr/>
        </p:nvSpPr>
        <p:spPr>
          <a:xfrm>
            <a:off x="987552" y="2798064"/>
            <a:ext cx="2722778" cy="7315"/>
          </a:xfrm>
          <a:prstGeom prst="rect">
            <a:avLst/>
          </a:prstGeom>
          <a:solidFill>
            <a:srgbClr val="333333"/>
          </a:solidFill>
          <a:ln w="12700">
            <a:solidFill>
              <a:srgbClr val="333333"/>
            </a:solidFill>
            <a:prstDash val="solid"/>
          </a:ln>
        </p:spPr>
      </p:sp>
      <p:sp>
        <p:nvSpPr>
          <p:cNvPr id="13" name="Text 11"/>
          <p:cNvSpPr/>
          <p:nvPr/>
        </p:nvSpPr>
        <p:spPr>
          <a:xfrm>
            <a:off x="987552"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브랜드색은 하나만 고릅니다</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그 하나에서 밝기 다섯 단계</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밝은 쪽 둘 — 선택된 영역 · 눌린 배경</a:t>
            </a:r>
            <a:endParaRPr lang="en-US" sz="1150" dirty="0"/>
          </a:p>
          <a:p>
            <a:pPr marL="177800" indent="-177800">
              <a:lnSpc>
                <a:spcPct val="120000"/>
              </a:lnSpc>
              <a:spcAft>
                <a:spcPts val="900"/>
              </a:spcAft>
              <a:buSzPct val="100000"/>
              <a:buChar char="•"/>
            </a:pPr>
            <a:r>
              <a:rPr lang="en-US" sz="1150" dirty="0">
                <a:solidFill>
                  <a:srgbClr val="FFFFFF"/>
                </a:solidFill>
                <a:latin typeface="Pretendard" pitchFamily="34" charset="0"/>
                <a:ea typeface="Pretendard" pitchFamily="34" charset="-122"/>
                <a:cs typeface="Pretendard" pitchFamily="34" charset="-120"/>
              </a:rPr>
              <a:t>어두운 쪽 둘 — 글자 · 눌림 상태</a:t>
            </a:r>
            <a:endParaRPr lang="en-US" sz="1150" dirty="0"/>
          </a:p>
        </p:txBody>
      </p:sp>
      <p:sp>
        <p:nvSpPr>
          <p:cNvPr id="14" name="Shape 12"/>
          <p:cNvSpPr/>
          <p:nvPr/>
        </p:nvSpPr>
        <p:spPr>
          <a:xfrm>
            <a:off x="4386986" y="1700784"/>
            <a:ext cx="3417722" cy="3529584"/>
          </a:xfrm>
          <a:prstGeom prst="rect">
            <a:avLst/>
          </a:prstGeom>
          <a:solidFill>
            <a:srgbClr val="FFFFFF"/>
          </a:solidFill>
          <a:ln w="12700">
            <a:solidFill>
              <a:srgbClr val="DCDCDC"/>
            </a:solidFill>
            <a:prstDash val="solid"/>
          </a:ln>
        </p:spPr>
      </p:sp>
      <p:sp>
        <p:nvSpPr>
          <p:cNvPr id="15" name="Text 13"/>
          <p:cNvSpPr/>
          <p:nvPr/>
        </p:nvSpPr>
        <p:spPr>
          <a:xfrm>
            <a:off x="4734458"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중립색</a:t>
            </a:r>
            <a:endParaRPr lang="en-US" sz="1700" dirty="0"/>
          </a:p>
        </p:txBody>
      </p:sp>
      <p:sp>
        <p:nvSpPr>
          <p:cNvPr id="16" name="Text 14"/>
          <p:cNvSpPr/>
          <p:nvPr/>
        </p:nvSpPr>
        <p:spPr>
          <a:xfrm>
            <a:off x="4734458"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여섯이면 충분</a:t>
            </a:r>
            <a:endParaRPr lang="en-US" sz="1000" dirty="0"/>
          </a:p>
        </p:txBody>
      </p:sp>
      <p:sp>
        <p:nvSpPr>
          <p:cNvPr id="17" name="Shape 15"/>
          <p:cNvSpPr/>
          <p:nvPr/>
        </p:nvSpPr>
        <p:spPr>
          <a:xfrm>
            <a:off x="4734458" y="2798064"/>
            <a:ext cx="2722778" cy="7315"/>
          </a:xfrm>
          <a:prstGeom prst="rect">
            <a:avLst/>
          </a:prstGeom>
          <a:solidFill>
            <a:srgbClr val="111111"/>
          </a:solidFill>
          <a:ln w="12700">
            <a:solidFill>
              <a:srgbClr val="111111"/>
            </a:solidFill>
            <a:prstDash val="solid"/>
          </a:ln>
        </p:spPr>
      </p:sp>
      <p:sp>
        <p:nvSpPr>
          <p:cNvPr id="18" name="Text 16"/>
          <p:cNvSpPr/>
          <p:nvPr/>
        </p:nvSpPr>
        <p:spPr>
          <a:xfrm>
            <a:off x="4734458"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글자 세 단계 — 기본 · 보조 · 흐림</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배경 두 단계 — 바탕 · 카드</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선 하나</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화면의 대부분은 이 여섯으로 칠해집니다</a:t>
            </a:r>
            <a:endParaRPr lang="en-US" sz="1150" dirty="0"/>
          </a:p>
        </p:txBody>
      </p:sp>
      <p:sp>
        <p:nvSpPr>
          <p:cNvPr id="19" name="Shape 17"/>
          <p:cNvSpPr/>
          <p:nvPr/>
        </p:nvSpPr>
        <p:spPr>
          <a:xfrm>
            <a:off x="8133893" y="1700784"/>
            <a:ext cx="3417722" cy="3529584"/>
          </a:xfrm>
          <a:prstGeom prst="rect">
            <a:avLst/>
          </a:prstGeom>
          <a:solidFill>
            <a:srgbClr val="FFFFFF"/>
          </a:solidFill>
          <a:ln w="12700">
            <a:solidFill>
              <a:srgbClr val="DCDCDC"/>
            </a:solidFill>
            <a:prstDash val="solid"/>
          </a:ln>
        </p:spPr>
      </p:sp>
      <p:sp>
        <p:nvSpPr>
          <p:cNvPr id="20" name="Text 18"/>
          <p:cNvSpPr/>
          <p:nvPr/>
        </p:nvSpPr>
        <p:spPr>
          <a:xfrm>
            <a:off x="8481365" y="1956816"/>
            <a:ext cx="2722778" cy="420624"/>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상태색</a:t>
            </a:r>
            <a:endParaRPr lang="en-US" sz="1700" dirty="0"/>
          </a:p>
        </p:txBody>
      </p:sp>
      <p:sp>
        <p:nvSpPr>
          <p:cNvPr id="21" name="Text 19"/>
          <p:cNvSpPr/>
          <p:nvPr/>
        </p:nvSpPr>
        <p:spPr>
          <a:xfrm>
            <a:off x="8481365" y="2395728"/>
            <a:ext cx="2722778" cy="310896"/>
          </a:xfrm>
          <a:prstGeom prst="rect">
            <a:avLst/>
          </a:prstGeom>
          <a:noFill/>
          <a:ln/>
        </p:spPr>
        <p:txBody>
          <a:bodyPr wrap="square" lIns="0" tIns="0" rIns="0" bIns="0" rtlCol="0" anchor="t"/>
          <a:lstStyle/>
          <a:p>
            <a:pPr indent="0" marL="0">
              <a:lnSpc>
                <a:spcPct val="115000"/>
              </a:lnSpc>
              <a:buNone/>
            </a:pPr>
            <a:r>
              <a:rPr lang="en-US" sz="1000" b="1" spc="140" kern="0" dirty="0">
                <a:solidFill>
                  <a:srgbClr val="6E6E6E"/>
                </a:solidFill>
                <a:latin typeface="Pretendard" pitchFamily="34" charset="0"/>
                <a:ea typeface="Pretendard" pitchFamily="34" charset="-122"/>
                <a:cs typeface="Pretendard" pitchFamily="34" charset="-120"/>
              </a:rPr>
              <a:t>셋만</a:t>
            </a:r>
            <a:endParaRPr lang="en-US" sz="1000" dirty="0"/>
          </a:p>
        </p:txBody>
      </p:sp>
      <p:sp>
        <p:nvSpPr>
          <p:cNvPr id="22" name="Shape 20"/>
          <p:cNvSpPr/>
          <p:nvPr/>
        </p:nvSpPr>
        <p:spPr>
          <a:xfrm>
            <a:off x="8481365" y="2798064"/>
            <a:ext cx="2722778" cy="7315"/>
          </a:xfrm>
          <a:prstGeom prst="rect">
            <a:avLst/>
          </a:prstGeom>
          <a:solidFill>
            <a:srgbClr val="111111"/>
          </a:solidFill>
          <a:ln w="12700">
            <a:solidFill>
              <a:srgbClr val="111111"/>
            </a:solidFill>
            <a:prstDash val="solid"/>
          </a:ln>
        </p:spPr>
      </p:sp>
      <p:sp>
        <p:nvSpPr>
          <p:cNvPr id="23" name="Text 21"/>
          <p:cNvSpPr/>
          <p:nvPr/>
        </p:nvSpPr>
        <p:spPr>
          <a:xfrm>
            <a:off x="8481365" y="2944368"/>
            <a:ext cx="2722778" cy="1975104"/>
          </a:xfrm>
          <a:prstGeom prst="rect">
            <a:avLst/>
          </a:prstGeom>
          <a:noFill/>
          <a:ln/>
        </p:spPr>
        <p:txBody>
          <a:bodyPr wrap="square" lIns="0" tIns="0" rIns="0" bIns="0" rtlCol="0" anchor="t"/>
          <a:lstStyle/>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성공 · 경고 · 오류</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알림은 브랜드색으로 대신합니다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상태색을 본문에 쓰지 않습니다</a:t>
            </a:r>
            <a:endParaRPr lang="en-US" sz="1150" dirty="0"/>
          </a:p>
          <a:p>
            <a:pPr marL="177800" indent="-177800">
              <a:lnSpc>
                <a:spcPct val="120000"/>
              </a:lnSpc>
              <a:spcAft>
                <a:spcPts val="900"/>
              </a:spcAft>
              <a:buSzPct val="100000"/>
              <a:buChar char="•"/>
            </a:pPr>
            <a:r>
              <a:rPr lang="en-US" sz="1150" dirty="0">
                <a:solidFill>
                  <a:srgbClr val="1F1F1F"/>
                </a:solidFill>
                <a:latin typeface="Pretendard" pitchFamily="34" charset="0"/>
                <a:ea typeface="Pretendard" pitchFamily="34" charset="-122"/>
                <a:cs typeface="Pretendard" pitchFamily="34" charset="-120"/>
              </a:rPr>
              <a:t>쓰는 자리를 미리 정해 둡니다</a:t>
            </a:r>
            <a:endParaRPr lang="en-US" sz="1150" dirty="0"/>
          </a:p>
        </p:txBody>
      </p:sp>
      <p:sp>
        <p:nvSpPr>
          <p:cNvPr id="24" name="Shape 22"/>
          <p:cNvSpPr/>
          <p:nvPr/>
        </p:nvSpPr>
        <p:spPr>
          <a:xfrm>
            <a:off x="640080" y="5504688"/>
            <a:ext cx="10911535" cy="7315"/>
          </a:xfrm>
          <a:prstGeom prst="rect">
            <a:avLst/>
          </a:prstGeom>
          <a:solidFill>
            <a:srgbClr val="111111"/>
          </a:solidFill>
          <a:ln w="12700">
            <a:solidFill>
              <a:srgbClr val="111111"/>
            </a:solidFill>
            <a:prstDash val="solid"/>
          </a:ln>
        </p:spPr>
      </p:sp>
      <p:sp>
        <p:nvSpPr>
          <p:cNvPr id="25" name="Text 23"/>
          <p:cNvSpPr/>
          <p:nvPr/>
        </p:nvSpPr>
        <p:spPr>
          <a:xfrm>
            <a:off x="640080" y="5614416"/>
            <a:ext cx="10911535" cy="420624"/>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본문 글자와 배경의 대비는 4.5 대 1, 큰 글자는 3 대 1. 연한 회색 글자는 밝은 데서 보이지 않습니다.</a:t>
            </a:r>
            <a:endParaRPr lang="en-US" sz="125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4주차 공통 요소와 스타일 토큰</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TYPE</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글자 크기 여섯 단계</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네 배수에서 고르되, 본문 17은 지난주 헤더 제목과 같은 값입니다.</a:t>
            </a:r>
            <a:endParaRPr lang="en-US" sz="1150" dirty="0"/>
          </a:p>
        </p:txBody>
      </p:sp>
      <p:sp>
        <p:nvSpPr>
          <p:cNvPr id="9" name="Shape 7"/>
          <p:cNvSpPr/>
          <p:nvPr/>
        </p:nvSpPr>
        <p:spPr>
          <a:xfrm>
            <a:off x="640080" y="1664208"/>
            <a:ext cx="10911535" cy="7315"/>
          </a:xfrm>
          <a:prstGeom prst="rect">
            <a:avLst/>
          </a:prstGeom>
          <a:solidFill>
            <a:srgbClr val="111111"/>
          </a:solidFill>
          <a:ln w="12700">
            <a:solidFill>
              <a:srgbClr val="111111"/>
            </a:solidFill>
            <a:prstDash val="solid"/>
          </a:ln>
        </p:spPr>
      </p:sp>
      <p:sp>
        <p:nvSpPr>
          <p:cNvPr id="10" name="Shape 8"/>
          <p:cNvSpPr/>
          <p:nvPr/>
        </p:nvSpPr>
        <p:spPr>
          <a:xfrm>
            <a:off x="640080" y="1810512"/>
            <a:ext cx="310896" cy="310896"/>
          </a:xfrm>
          <a:prstGeom prst="ellipse">
            <a:avLst/>
          </a:prstGeom>
          <a:solidFill>
            <a:srgbClr val="FFFFFF"/>
          </a:solidFill>
          <a:ln w="12700">
            <a:solidFill>
              <a:srgbClr val="111111"/>
            </a:solidFill>
            <a:prstDash val="solid"/>
          </a:ln>
        </p:spPr>
      </p:sp>
      <p:sp>
        <p:nvSpPr>
          <p:cNvPr id="11" name="Text 9"/>
          <p:cNvSpPr/>
          <p:nvPr/>
        </p:nvSpPr>
        <p:spPr>
          <a:xfrm>
            <a:off x="640080" y="181051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32</a:t>
            </a:r>
            <a:endParaRPr lang="en-US" sz="1000" dirty="0"/>
          </a:p>
        </p:txBody>
      </p:sp>
      <p:sp>
        <p:nvSpPr>
          <p:cNvPr id="12" name="Text 10"/>
          <p:cNvSpPr/>
          <p:nvPr/>
        </p:nvSpPr>
        <p:spPr>
          <a:xfrm>
            <a:off x="1188720" y="171907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화면 제목</a:t>
            </a:r>
            <a:endParaRPr lang="en-US" sz="1450" dirty="0"/>
          </a:p>
        </p:txBody>
      </p:sp>
      <p:sp>
        <p:nvSpPr>
          <p:cNvPr id="13" name="Text 11"/>
          <p:cNvSpPr/>
          <p:nvPr/>
        </p:nvSpPr>
        <p:spPr>
          <a:xfrm>
            <a:off x="1188720" y="202996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한 화면에 하나만. 두 개를 쓰면 둘 다 제목으로 보이지 않습니다</a:t>
            </a:r>
            <a:endParaRPr lang="en-US" sz="1100" dirty="0"/>
          </a:p>
        </p:txBody>
      </p:sp>
      <p:sp>
        <p:nvSpPr>
          <p:cNvPr id="14" name="Text 12"/>
          <p:cNvSpPr/>
          <p:nvPr/>
        </p:nvSpPr>
        <p:spPr>
          <a:xfrm>
            <a:off x="9357055" y="181051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Display</a:t>
            </a:r>
            <a:endParaRPr lang="en-US" sz="1050" dirty="0"/>
          </a:p>
        </p:txBody>
      </p:sp>
      <p:sp>
        <p:nvSpPr>
          <p:cNvPr id="15" name="Shape 13"/>
          <p:cNvSpPr/>
          <p:nvPr/>
        </p:nvSpPr>
        <p:spPr>
          <a:xfrm>
            <a:off x="640080" y="2279904"/>
            <a:ext cx="10911535" cy="7315"/>
          </a:xfrm>
          <a:prstGeom prst="rect">
            <a:avLst/>
          </a:prstGeom>
          <a:solidFill>
            <a:srgbClr val="DCDCDC"/>
          </a:solidFill>
          <a:ln w="12700">
            <a:solidFill>
              <a:srgbClr val="DCDCDC"/>
            </a:solidFill>
            <a:prstDash val="solid"/>
          </a:ln>
        </p:spPr>
      </p:sp>
      <p:sp>
        <p:nvSpPr>
          <p:cNvPr id="16" name="Shape 14"/>
          <p:cNvSpPr/>
          <p:nvPr/>
        </p:nvSpPr>
        <p:spPr>
          <a:xfrm>
            <a:off x="640080" y="2444496"/>
            <a:ext cx="310896" cy="310896"/>
          </a:xfrm>
          <a:prstGeom prst="ellipse">
            <a:avLst/>
          </a:prstGeom>
          <a:solidFill>
            <a:srgbClr val="FFFFFF"/>
          </a:solidFill>
          <a:ln w="12700">
            <a:solidFill>
              <a:srgbClr val="111111"/>
            </a:solidFill>
            <a:prstDash val="solid"/>
          </a:ln>
        </p:spPr>
      </p:sp>
      <p:sp>
        <p:nvSpPr>
          <p:cNvPr id="17" name="Text 15"/>
          <p:cNvSpPr/>
          <p:nvPr/>
        </p:nvSpPr>
        <p:spPr>
          <a:xfrm>
            <a:off x="640080" y="2444496"/>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24</a:t>
            </a:r>
            <a:endParaRPr lang="en-US" sz="1000" dirty="0"/>
          </a:p>
        </p:txBody>
      </p:sp>
      <p:sp>
        <p:nvSpPr>
          <p:cNvPr id="18" name="Text 16"/>
          <p:cNvSpPr/>
          <p:nvPr/>
        </p:nvSpPr>
        <p:spPr>
          <a:xfrm>
            <a:off x="1188720" y="2353056"/>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구역 제목</a:t>
            </a:r>
            <a:endParaRPr lang="en-US" sz="1450" dirty="0"/>
          </a:p>
        </p:txBody>
      </p:sp>
      <p:sp>
        <p:nvSpPr>
          <p:cNvPr id="19" name="Text 17"/>
          <p:cNvSpPr/>
          <p:nvPr/>
        </p:nvSpPr>
        <p:spPr>
          <a:xfrm>
            <a:off x="1188720" y="2663952"/>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화면 안에서 묶음을 나눌 때 씁니다</a:t>
            </a:r>
            <a:endParaRPr lang="en-US" sz="1100" dirty="0"/>
          </a:p>
        </p:txBody>
      </p:sp>
      <p:sp>
        <p:nvSpPr>
          <p:cNvPr id="20" name="Text 18"/>
          <p:cNvSpPr/>
          <p:nvPr/>
        </p:nvSpPr>
        <p:spPr>
          <a:xfrm>
            <a:off x="9357055" y="2444496"/>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Title</a:t>
            </a:r>
            <a:endParaRPr lang="en-US" sz="1050" dirty="0"/>
          </a:p>
        </p:txBody>
      </p:sp>
      <p:sp>
        <p:nvSpPr>
          <p:cNvPr id="21" name="Shape 19"/>
          <p:cNvSpPr/>
          <p:nvPr/>
        </p:nvSpPr>
        <p:spPr>
          <a:xfrm>
            <a:off x="640080" y="2913888"/>
            <a:ext cx="10911535" cy="7315"/>
          </a:xfrm>
          <a:prstGeom prst="rect">
            <a:avLst/>
          </a:prstGeom>
          <a:solidFill>
            <a:srgbClr val="DCDCDC"/>
          </a:solidFill>
          <a:ln w="12700">
            <a:solidFill>
              <a:srgbClr val="DCDCDC"/>
            </a:solidFill>
            <a:prstDash val="solid"/>
          </a:ln>
        </p:spPr>
      </p:sp>
      <p:sp>
        <p:nvSpPr>
          <p:cNvPr id="22" name="Shape 20"/>
          <p:cNvSpPr/>
          <p:nvPr/>
        </p:nvSpPr>
        <p:spPr>
          <a:xfrm>
            <a:off x="640080" y="3078480"/>
            <a:ext cx="310896" cy="310896"/>
          </a:xfrm>
          <a:prstGeom prst="ellipse">
            <a:avLst/>
          </a:prstGeom>
          <a:solidFill>
            <a:srgbClr val="FFFFFF"/>
          </a:solidFill>
          <a:ln w="12700">
            <a:solidFill>
              <a:srgbClr val="111111"/>
            </a:solidFill>
            <a:prstDash val="solid"/>
          </a:ln>
        </p:spPr>
      </p:sp>
      <p:sp>
        <p:nvSpPr>
          <p:cNvPr id="23" name="Text 21"/>
          <p:cNvSpPr/>
          <p:nvPr/>
        </p:nvSpPr>
        <p:spPr>
          <a:xfrm>
            <a:off x="640080" y="3078480"/>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20</a:t>
            </a:r>
            <a:endParaRPr lang="en-US" sz="1000" dirty="0"/>
          </a:p>
        </p:txBody>
      </p:sp>
      <p:sp>
        <p:nvSpPr>
          <p:cNvPr id="24" name="Text 22"/>
          <p:cNvSpPr/>
          <p:nvPr/>
        </p:nvSpPr>
        <p:spPr>
          <a:xfrm>
            <a:off x="1188720" y="2987040"/>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카드 · 항목 제목</a:t>
            </a:r>
            <a:endParaRPr lang="en-US" sz="1450" dirty="0"/>
          </a:p>
        </p:txBody>
      </p:sp>
      <p:sp>
        <p:nvSpPr>
          <p:cNvPr id="25" name="Text 23"/>
          <p:cNvSpPr/>
          <p:nvPr/>
        </p:nvSpPr>
        <p:spPr>
          <a:xfrm>
            <a:off x="1188720" y="3297936"/>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카드 안의 제목, 리스트 행의 첫 줄</a:t>
            </a:r>
            <a:endParaRPr lang="en-US" sz="1100" dirty="0"/>
          </a:p>
        </p:txBody>
      </p:sp>
      <p:sp>
        <p:nvSpPr>
          <p:cNvPr id="26" name="Text 24"/>
          <p:cNvSpPr/>
          <p:nvPr/>
        </p:nvSpPr>
        <p:spPr>
          <a:xfrm>
            <a:off x="9357055" y="3078480"/>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Subtitle</a:t>
            </a:r>
            <a:endParaRPr lang="en-US" sz="1050" dirty="0"/>
          </a:p>
        </p:txBody>
      </p:sp>
      <p:sp>
        <p:nvSpPr>
          <p:cNvPr id="27" name="Shape 25"/>
          <p:cNvSpPr/>
          <p:nvPr/>
        </p:nvSpPr>
        <p:spPr>
          <a:xfrm>
            <a:off x="640080" y="3547872"/>
            <a:ext cx="10911535" cy="7315"/>
          </a:xfrm>
          <a:prstGeom prst="rect">
            <a:avLst/>
          </a:prstGeom>
          <a:solidFill>
            <a:srgbClr val="DCDCDC"/>
          </a:solidFill>
          <a:ln w="12700">
            <a:solidFill>
              <a:srgbClr val="DCDCDC"/>
            </a:solidFill>
            <a:prstDash val="solid"/>
          </a:ln>
        </p:spPr>
      </p:sp>
      <p:sp>
        <p:nvSpPr>
          <p:cNvPr id="28" name="Shape 26"/>
          <p:cNvSpPr/>
          <p:nvPr/>
        </p:nvSpPr>
        <p:spPr>
          <a:xfrm>
            <a:off x="640080" y="3712464"/>
            <a:ext cx="310896" cy="310896"/>
          </a:xfrm>
          <a:prstGeom prst="ellipse">
            <a:avLst/>
          </a:prstGeom>
          <a:solidFill>
            <a:srgbClr val="FFFFFF"/>
          </a:solidFill>
          <a:ln w="12700">
            <a:solidFill>
              <a:srgbClr val="111111"/>
            </a:solidFill>
            <a:prstDash val="solid"/>
          </a:ln>
        </p:spPr>
      </p:sp>
      <p:sp>
        <p:nvSpPr>
          <p:cNvPr id="29" name="Text 27"/>
          <p:cNvSpPr/>
          <p:nvPr/>
        </p:nvSpPr>
        <p:spPr>
          <a:xfrm>
            <a:off x="640080" y="3712464"/>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17</a:t>
            </a:r>
            <a:endParaRPr lang="en-US" sz="1000" dirty="0"/>
          </a:p>
        </p:txBody>
      </p:sp>
      <p:sp>
        <p:nvSpPr>
          <p:cNvPr id="30" name="Text 28"/>
          <p:cNvSpPr/>
          <p:nvPr/>
        </p:nvSpPr>
        <p:spPr>
          <a:xfrm>
            <a:off x="1188720" y="3621024"/>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본문</a:t>
            </a:r>
            <a:endParaRPr lang="en-US" sz="1450" dirty="0"/>
          </a:p>
        </p:txBody>
      </p:sp>
      <p:sp>
        <p:nvSpPr>
          <p:cNvPr id="31" name="Text 29"/>
          <p:cNvSpPr/>
          <p:nvPr/>
        </p:nvSpPr>
        <p:spPr>
          <a:xfrm>
            <a:off x="1188720" y="3931920"/>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지난주 헤더 제목과 같은 값입니다. 같은 목록에서 꺼냈습니다</a:t>
            </a:r>
            <a:endParaRPr lang="en-US" sz="1100" dirty="0"/>
          </a:p>
        </p:txBody>
      </p:sp>
      <p:sp>
        <p:nvSpPr>
          <p:cNvPr id="32" name="Text 30"/>
          <p:cNvSpPr/>
          <p:nvPr/>
        </p:nvSpPr>
        <p:spPr>
          <a:xfrm>
            <a:off x="9357055" y="3712464"/>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Body</a:t>
            </a:r>
            <a:endParaRPr lang="en-US" sz="1050" dirty="0"/>
          </a:p>
        </p:txBody>
      </p:sp>
      <p:sp>
        <p:nvSpPr>
          <p:cNvPr id="33" name="Shape 31"/>
          <p:cNvSpPr/>
          <p:nvPr/>
        </p:nvSpPr>
        <p:spPr>
          <a:xfrm>
            <a:off x="640080" y="4181856"/>
            <a:ext cx="10911535" cy="7315"/>
          </a:xfrm>
          <a:prstGeom prst="rect">
            <a:avLst/>
          </a:prstGeom>
          <a:solidFill>
            <a:srgbClr val="DCDCDC"/>
          </a:solidFill>
          <a:ln w="12700">
            <a:solidFill>
              <a:srgbClr val="DCDCDC"/>
            </a:solidFill>
            <a:prstDash val="solid"/>
          </a:ln>
        </p:spPr>
      </p:sp>
      <p:sp>
        <p:nvSpPr>
          <p:cNvPr id="34" name="Shape 32"/>
          <p:cNvSpPr/>
          <p:nvPr/>
        </p:nvSpPr>
        <p:spPr>
          <a:xfrm>
            <a:off x="640080" y="4346448"/>
            <a:ext cx="310896" cy="310896"/>
          </a:xfrm>
          <a:prstGeom prst="ellipse">
            <a:avLst/>
          </a:prstGeom>
          <a:solidFill>
            <a:srgbClr val="FFFFFF"/>
          </a:solidFill>
          <a:ln w="12700">
            <a:solidFill>
              <a:srgbClr val="111111"/>
            </a:solidFill>
            <a:prstDash val="solid"/>
          </a:ln>
        </p:spPr>
      </p:sp>
      <p:sp>
        <p:nvSpPr>
          <p:cNvPr id="35" name="Text 33"/>
          <p:cNvSpPr/>
          <p:nvPr/>
        </p:nvSpPr>
        <p:spPr>
          <a:xfrm>
            <a:off x="640080" y="4346448"/>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15</a:t>
            </a:r>
            <a:endParaRPr lang="en-US" sz="1000" dirty="0"/>
          </a:p>
        </p:txBody>
      </p:sp>
      <p:sp>
        <p:nvSpPr>
          <p:cNvPr id="36" name="Text 34"/>
          <p:cNvSpPr/>
          <p:nvPr/>
        </p:nvSpPr>
        <p:spPr>
          <a:xfrm>
            <a:off x="1188720" y="4255008"/>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보조 설명</a:t>
            </a:r>
            <a:endParaRPr lang="en-US" sz="1450" dirty="0"/>
          </a:p>
        </p:txBody>
      </p:sp>
      <p:sp>
        <p:nvSpPr>
          <p:cNvPr id="37" name="Text 35"/>
          <p:cNvSpPr/>
          <p:nvPr/>
        </p:nvSpPr>
        <p:spPr>
          <a:xfrm>
            <a:off x="1188720" y="4565904"/>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본문 아래 한 줄 설명, 리스트 행의 둘째 줄</a:t>
            </a:r>
            <a:endParaRPr lang="en-US" sz="1100" dirty="0"/>
          </a:p>
        </p:txBody>
      </p:sp>
      <p:sp>
        <p:nvSpPr>
          <p:cNvPr id="38" name="Text 36"/>
          <p:cNvSpPr/>
          <p:nvPr/>
        </p:nvSpPr>
        <p:spPr>
          <a:xfrm>
            <a:off x="9357055" y="4346448"/>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Caption</a:t>
            </a:r>
            <a:endParaRPr lang="en-US" sz="1050" dirty="0"/>
          </a:p>
        </p:txBody>
      </p:sp>
      <p:sp>
        <p:nvSpPr>
          <p:cNvPr id="39" name="Shape 37"/>
          <p:cNvSpPr/>
          <p:nvPr/>
        </p:nvSpPr>
        <p:spPr>
          <a:xfrm>
            <a:off x="640080" y="4815840"/>
            <a:ext cx="10911535" cy="7315"/>
          </a:xfrm>
          <a:prstGeom prst="rect">
            <a:avLst/>
          </a:prstGeom>
          <a:solidFill>
            <a:srgbClr val="DCDCDC"/>
          </a:solidFill>
          <a:ln w="12700">
            <a:solidFill>
              <a:srgbClr val="DCDCDC"/>
            </a:solidFill>
            <a:prstDash val="solid"/>
          </a:ln>
        </p:spPr>
      </p:sp>
      <p:sp>
        <p:nvSpPr>
          <p:cNvPr id="40" name="Shape 38"/>
          <p:cNvSpPr/>
          <p:nvPr/>
        </p:nvSpPr>
        <p:spPr>
          <a:xfrm>
            <a:off x="640080" y="4980432"/>
            <a:ext cx="310896" cy="310896"/>
          </a:xfrm>
          <a:prstGeom prst="ellipse">
            <a:avLst/>
          </a:prstGeom>
          <a:solidFill>
            <a:srgbClr val="FFFFFF"/>
          </a:solidFill>
          <a:ln w="12700">
            <a:solidFill>
              <a:srgbClr val="111111"/>
            </a:solidFill>
            <a:prstDash val="solid"/>
          </a:ln>
        </p:spPr>
      </p:sp>
      <p:sp>
        <p:nvSpPr>
          <p:cNvPr id="41" name="Text 39"/>
          <p:cNvSpPr/>
          <p:nvPr/>
        </p:nvSpPr>
        <p:spPr>
          <a:xfrm>
            <a:off x="640080" y="4980432"/>
            <a:ext cx="310896" cy="310896"/>
          </a:xfrm>
          <a:prstGeom prst="rect">
            <a:avLst/>
          </a:prstGeom>
          <a:noFill/>
          <a:ln/>
        </p:spPr>
        <p:txBody>
          <a:bodyPr wrap="square" lIns="0" tIns="0" rIns="0" bIns="0" rtlCol="0" anchor="ctr"/>
          <a:lstStyle/>
          <a:p>
            <a:pPr algn="ctr" indent="0" marL="0">
              <a:buNone/>
            </a:pPr>
            <a:r>
              <a:rPr lang="en-US" sz="1000" b="1" dirty="0">
                <a:solidFill>
                  <a:srgbClr val="111111"/>
                </a:solidFill>
                <a:latin typeface="Pretendard" pitchFamily="34" charset="0"/>
                <a:ea typeface="Pretendard" pitchFamily="34" charset="-122"/>
                <a:cs typeface="Pretendard" pitchFamily="34" charset="-120"/>
              </a:rPr>
              <a:t>13</a:t>
            </a:r>
            <a:endParaRPr lang="en-US" sz="1000" dirty="0"/>
          </a:p>
        </p:txBody>
      </p:sp>
      <p:sp>
        <p:nvSpPr>
          <p:cNvPr id="42" name="Text 40"/>
          <p:cNvSpPr/>
          <p:nvPr/>
        </p:nvSpPr>
        <p:spPr>
          <a:xfrm>
            <a:off x="1188720" y="4888992"/>
            <a:ext cx="7498080" cy="310896"/>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라벨 · 캡션</a:t>
            </a:r>
            <a:endParaRPr lang="en-US" sz="1450" dirty="0"/>
          </a:p>
        </p:txBody>
      </p:sp>
      <p:sp>
        <p:nvSpPr>
          <p:cNvPr id="43" name="Text 41"/>
          <p:cNvSpPr/>
          <p:nvPr/>
        </p:nvSpPr>
        <p:spPr>
          <a:xfrm>
            <a:off x="1188720" y="5199888"/>
            <a:ext cx="7498080" cy="292608"/>
          </a:xfrm>
          <a:prstGeom prst="rect">
            <a:avLst/>
          </a:prstGeom>
          <a:noFill/>
          <a:ln/>
        </p:spPr>
        <p:txBody>
          <a:bodyPr wrap="square" lIns="0" tIns="0" rIns="0" bIns="0" rtlCol="0" anchor="ctr"/>
          <a:lstStyle/>
          <a:p>
            <a:pPr indent="0" marL="0">
              <a:buNone/>
            </a:pPr>
            <a:r>
              <a:rPr lang="en-US" sz="1100" dirty="0">
                <a:solidFill>
                  <a:srgbClr val="6E6E6E"/>
                </a:solidFill>
                <a:latin typeface="Pretendard" pitchFamily="34" charset="0"/>
                <a:ea typeface="Pretendard" pitchFamily="34" charset="-122"/>
                <a:cs typeface="Pretendard" pitchFamily="34" charset="-120"/>
              </a:rPr>
              <a:t>탭 라벨, 배지, 이미지 설명. 이보다 작게는 내려가지 않습니다</a:t>
            </a:r>
            <a:endParaRPr lang="en-US" sz="1100" dirty="0"/>
          </a:p>
        </p:txBody>
      </p:sp>
      <p:sp>
        <p:nvSpPr>
          <p:cNvPr id="44" name="Text 42"/>
          <p:cNvSpPr/>
          <p:nvPr/>
        </p:nvSpPr>
        <p:spPr>
          <a:xfrm>
            <a:off x="9357055" y="4980432"/>
            <a:ext cx="2194560" cy="310896"/>
          </a:xfrm>
          <a:prstGeom prst="rect">
            <a:avLst/>
          </a:prstGeom>
          <a:noFill/>
          <a:ln/>
        </p:spPr>
        <p:txBody>
          <a:bodyPr wrap="square" lIns="0" tIns="0" rIns="0" bIns="0" rtlCol="0" anchor="ctr"/>
          <a:lstStyle/>
          <a:p>
            <a:pPr algn="r" indent="0" marL="0">
              <a:buNone/>
            </a:pPr>
            <a:r>
              <a:rPr lang="en-US" sz="1050" b="1" spc="120" kern="0" dirty="0">
                <a:solidFill>
                  <a:srgbClr val="111111"/>
                </a:solidFill>
                <a:latin typeface="Pretendard" pitchFamily="34" charset="0"/>
                <a:ea typeface="Pretendard" pitchFamily="34" charset="-122"/>
                <a:cs typeface="Pretendard" pitchFamily="34" charset="-120"/>
              </a:rPr>
              <a:t>Label</a:t>
            </a:r>
            <a:endParaRPr lang="en-US" sz="1050" dirty="0"/>
          </a:p>
        </p:txBody>
      </p:sp>
      <p:sp>
        <p:nvSpPr>
          <p:cNvPr id="45" name="Shape 43"/>
          <p:cNvSpPr/>
          <p:nvPr/>
        </p:nvSpPr>
        <p:spPr>
          <a:xfrm>
            <a:off x="640080" y="5522976"/>
            <a:ext cx="10911535" cy="7315"/>
          </a:xfrm>
          <a:prstGeom prst="rect">
            <a:avLst/>
          </a:prstGeom>
          <a:solidFill>
            <a:srgbClr val="111111"/>
          </a:solidFill>
          <a:ln w="12700">
            <a:solidFill>
              <a:srgbClr val="111111"/>
            </a:solidFill>
            <a:prstDash val="solid"/>
          </a:ln>
        </p:spPr>
      </p:sp>
      <p:sp>
        <p:nvSpPr>
          <p:cNvPr id="46" name="Text 44"/>
          <p:cNvSpPr/>
          <p:nvPr/>
        </p:nvSpPr>
        <p:spPr>
          <a:xfrm>
            <a:off x="640080" y="5632704"/>
            <a:ext cx="10911535" cy="402336"/>
          </a:xfrm>
          <a:prstGeom prst="rect">
            <a:avLst/>
          </a:prstGeom>
          <a:noFill/>
          <a:ln/>
        </p:spPr>
        <p:txBody>
          <a:bodyPr wrap="square" lIns="0" tIns="0" rIns="0" bIns="0" rtlCol="0" anchor="t"/>
          <a:lstStyle/>
          <a:p>
            <a:pPr indent="0" marL="0">
              <a:lnSpc>
                <a:spcPct val="120000"/>
              </a:lnSpc>
              <a:buNone/>
            </a:pPr>
            <a:r>
              <a:rPr lang="en-US" sz="1250" b="1" dirty="0">
                <a:solidFill>
                  <a:srgbClr val="111111"/>
                </a:solidFill>
                <a:latin typeface="Pretendard" pitchFamily="34" charset="0"/>
                <a:ea typeface="Pretendard" pitchFamily="34" charset="-122"/>
                <a:cs typeface="Pretendard" pitchFamily="34" charset="-120"/>
              </a:rPr>
              <a:t>행간은 1.4배. 굵기는 보통과 조금 굵게 두 가지만 씁니다 — 세 가지가 되면 무엇이 더 중요한지 보이지 않습니다.</a:t>
            </a:r>
            <a:endParaRPr lang="en-US" sz="1250" dirty="0"/>
          </a:p>
        </p:txBody>
      </p:sp>
      <p:sp>
        <p:nvSpPr>
          <p:cNvPr id="47" name="Shape 45"/>
          <p:cNvSpPr/>
          <p:nvPr/>
        </p:nvSpPr>
        <p:spPr>
          <a:xfrm>
            <a:off x="640080" y="6291072"/>
            <a:ext cx="10911535" cy="7315"/>
          </a:xfrm>
          <a:prstGeom prst="rect">
            <a:avLst/>
          </a:prstGeom>
          <a:solidFill>
            <a:srgbClr val="DCDCDC"/>
          </a:solidFill>
          <a:ln w="12700">
            <a:solidFill>
              <a:srgbClr val="DCDCDC"/>
            </a:solidFill>
            <a:prstDash val="solid"/>
          </a:ln>
        </p:spPr>
      </p:sp>
      <p:sp>
        <p:nvSpPr>
          <p:cNvPr id="48" name="Text 4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4주차 공통 요소와 스타일 토큰</a:t>
            </a:r>
            <a:endParaRPr lang="en-US" sz="850" dirty="0"/>
          </a:p>
        </p:txBody>
      </p:sp>
      <p:sp>
        <p:nvSpPr>
          <p:cNvPr id="49" name="Text 4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TOKEN</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토큰으로 묶기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값에 이름을 붙이고, 컴포넌트가 그 이름을 보게 합니다.</a:t>
            </a:r>
            <a:endParaRPr lang="en-US" sz="1150" dirty="0"/>
          </a:p>
        </p:txBody>
      </p:sp>
      <p:sp>
        <p:nvSpPr>
          <p:cNvPr id="9" name="Shape 7"/>
          <p:cNvSpPr/>
          <p:nvPr/>
        </p:nvSpPr>
        <p:spPr>
          <a:xfrm>
            <a:off x="640080" y="1737360"/>
            <a:ext cx="3393338" cy="3035808"/>
          </a:xfrm>
          <a:prstGeom prst="rect">
            <a:avLst/>
          </a:prstGeom>
          <a:solidFill>
            <a:srgbClr val="FFFFFF"/>
          </a:solidFill>
          <a:ln w="12700">
            <a:solidFill>
              <a:srgbClr val="DCDCDC"/>
            </a:solidFill>
            <a:prstDash val="solid"/>
          </a:ln>
        </p:spPr>
      </p:sp>
      <p:sp>
        <p:nvSpPr>
          <p:cNvPr id="10" name="Shape 8"/>
          <p:cNvSpPr/>
          <p:nvPr/>
        </p:nvSpPr>
        <p:spPr>
          <a:xfrm>
            <a:off x="1024128" y="2011680"/>
            <a:ext cx="365760" cy="365760"/>
          </a:xfrm>
          <a:prstGeom prst="ellipse">
            <a:avLst/>
          </a:prstGeom>
          <a:solidFill>
            <a:srgbClr val="FFFFFF"/>
          </a:solidFill>
          <a:ln w="12700">
            <a:solidFill>
              <a:srgbClr val="111111"/>
            </a:solidFill>
            <a:prstDash val="solid"/>
          </a:ln>
        </p:spPr>
      </p:sp>
      <p:sp>
        <p:nvSpPr>
          <p:cNvPr id="11" name="Text 9"/>
          <p:cNvSpPr/>
          <p:nvPr/>
        </p:nvSpPr>
        <p:spPr>
          <a:xfrm>
            <a:off x="1024128"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01</a:t>
            </a:r>
            <a:endParaRPr lang="en-US" sz="1150" dirty="0"/>
          </a:p>
        </p:txBody>
      </p:sp>
      <p:sp>
        <p:nvSpPr>
          <p:cNvPr id="12" name="Text 10"/>
          <p:cNvSpPr/>
          <p:nvPr/>
        </p:nvSpPr>
        <p:spPr>
          <a:xfrm>
            <a:off x="1024128"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값에 이름 붙이기</a:t>
            </a:r>
            <a:endParaRPr lang="en-US" sz="1700" dirty="0"/>
          </a:p>
        </p:txBody>
      </p:sp>
      <p:sp>
        <p:nvSpPr>
          <p:cNvPr id="13" name="Text 11"/>
          <p:cNvSpPr/>
          <p:nvPr/>
        </p:nvSpPr>
        <p:spPr>
          <a:xfrm>
            <a:off x="1024128"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피그마 변수로 등록합니다. 이름은 지난주 규칙 그대로 영역 / 이름 / 상태.</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blue-500 이 아니라 text-primary 처럼 쓰임으로 부릅니다 — 색이 바뀌면 이름이 거짓말이 됩니다.</a:t>
            </a:r>
            <a:endParaRPr lang="en-US" sz="1150" dirty="0"/>
          </a:p>
        </p:txBody>
      </p:sp>
      <p:sp>
        <p:nvSpPr>
          <p:cNvPr id="14" name="Shape 12"/>
          <p:cNvSpPr/>
          <p:nvPr/>
        </p:nvSpPr>
        <p:spPr>
          <a:xfrm>
            <a:off x="4399178" y="1737360"/>
            <a:ext cx="3393338" cy="3035808"/>
          </a:xfrm>
          <a:prstGeom prst="rect">
            <a:avLst/>
          </a:prstGeom>
          <a:solidFill>
            <a:srgbClr val="FFFFFF"/>
          </a:solidFill>
          <a:ln w="12700">
            <a:solidFill>
              <a:srgbClr val="DCDCDC"/>
            </a:solidFill>
            <a:prstDash val="solid"/>
          </a:ln>
        </p:spPr>
      </p:sp>
      <p:sp>
        <p:nvSpPr>
          <p:cNvPr id="15" name="Shape 13"/>
          <p:cNvSpPr/>
          <p:nvPr/>
        </p:nvSpPr>
        <p:spPr>
          <a:xfrm>
            <a:off x="4783226" y="2011680"/>
            <a:ext cx="365760" cy="365760"/>
          </a:xfrm>
          <a:prstGeom prst="ellipse">
            <a:avLst/>
          </a:prstGeom>
          <a:solidFill>
            <a:srgbClr val="FFFFFF"/>
          </a:solidFill>
          <a:ln w="12700">
            <a:solidFill>
              <a:srgbClr val="111111"/>
            </a:solidFill>
            <a:prstDash val="solid"/>
          </a:ln>
        </p:spPr>
      </p:sp>
      <p:sp>
        <p:nvSpPr>
          <p:cNvPr id="16" name="Text 14"/>
          <p:cNvSpPr/>
          <p:nvPr/>
        </p:nvSpPr>
        <p:spPr>
          <a:xfrm>
            <a:off x="4783226" y="2011680"/>
            <a:ext cx="365760" cy="365760"/>
          </a:xfrm>
          <a:prstGeom prst="rect">
            <a:avLst/>
          </a:prstGeom>
          <a:noFill/>
          <a:ln/>
        </p:spPr>
        <p:txBody>
          <a:bodyPr wrap="square" lIns="0" tIns="0" rIns="0" bIns="0" rtlCol="0" anchor="ctr"/>
          <a:lstStyle/>
          <a:p>
            <a:pPr algn="ctr" indent="0" marL="0">
              <a:buNone/>
            </a:pPr>
            <a:r>
              <a:rPr lang="en-US" sz="1150" b="1" dirty="0">
                <a:solidFill>
                  <a:srgbClr val="111111"/>
                </a:solidFill>
                <a:latin typeface="Pretendard" pitchFamily="34" charset="0"/>
                <a:ea typeface="Pretendard" pitchFamily="34" charset="-122"/>
                <a:cs typeface="Pretendard" pitchFamily="34" charset="-120"/>
              </a:rPr>
              <a:t>02</a:t>
            </a:r>
            <a:endParaRPr lang="en-US" sz="1150" dirty="0"/>
          </a:p>
        </p:txBody>
      </p:sp>
      <p:sp>
        <p:nvSpPr>
          <p:cNvPr id="17" name="Text 15"/>
          <p:cNvSpPr/>
          <p:nvPr/>
        </p:nvSpPr>
        <p:spPr>
          <a:xfrm>
            <a:off x="4783226"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111111"/>
                </a:solidFill>
                <a:latin typeface="Pretendard SemiBold" pitchFamily="34" charset="0"/>
                <a:ea typeface="Pretendard SemiBold" pitchFamily="34" charset="-122"/>
                <a:cs typeface="Pretendard SemiBold" pitchFamily="34" charset="-120"/>
              </a:rPr>
              <a:t>컴포넌트가 토큰을 보게 하기</a:t>
            </a:r>
            <a:endParaRPr lang="en-US" sz="1700" dirty="0"/>
          </a:p>
        </p:txBody>
      </p:sp>
      <p:sp>
        <p:nvSpPr>
          <p:cNvPr id="18" name="Text 16"/>
          <p:cNvSpPr/>
          <p:nvPr/>
        </p:nvSpPr>
        <p:spPr>
          <a:xfrm>
            <a:off x="4783226"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헤더 제목 색을 직접 지정하지 말고 토큰을 겁니다.</a:t>
            </a:r>
            <a:endParaRPr lang="en-US" sz="1150" dirty="0"/>
          </a:p>
          <a:p>
            <a:pPr indent="0" marL="0">
              <a:lnSpc>
                <a:spcPct val="130000"/>
              </a:lnSpc>
              <a:buNone/>
            </a:pPr>
            <a:r>
              <a:rPr lang="en-US" sz="1150" dirty="0">
                <a:solidFill>
                  <a:srgbClr val="6E6E6E"/>
                </a:solidFill>
                <a:latin typeface="Pretendard" pitchFamily="34" charset="0"/>
                <a:ea typeface="Pretendard" pitchFamily="34" charset="-122"/>
                <a:cs typeface="Pretendard" pitchFamily="34" charset="-120"/>
              </a:rPr>
              <a:t>오늘 실습의 핵심입니다. 여기를 건너뛰면 토큰을 만든 의미가 없습니다.</a:t>
            </a:r>
            <a:endParaRPr lang="en-US" sz="1150" dirty="0"/>
          </a:p>
        </p:txBody>
      </p:sp>
      <p:sp>
        <p:nvSpPr>
          <p:cNvPr id="19" name="Shape 17"/>
          <p:cNvSpPr/>
          <p:nvPr/>
        </p:nvSpPr>
        <p:spPr>
          <a:xfrm>
            <a:off x="8158277" y="1737360"/>
            <a:ext cx="3393338" cy="3035808"/>
          </a:xfrm>
          <a:prstGeom prst="rect">
            <a:avLst/>
          </a:prstGeom>
          <a:solidFill>
            <a:srgbClr val="111111"/>
          </a:solidFill>
          <a:ln w="12700">
            <a:solidFill>
              <a:srgbClr val="111111"/>
            </a:solidFill>
            <a:prstDash val="solid"/>
          </a:ln>
        </p:spPr>
      </p:sp>
      <p:sp>
        <p:nvSpPr>
          <p:cNvPr id="20" name="Shape 18"/>
          <p:cNvSpPr/>
          <p:nvPr/>
        </p:nvSpPr>
        <p:spPr>
          <a:xfrm>
            <a:off x="8542325" y="2011680"/>
            <a:ext cx="365760" cy="365760"/>
          </a:xfrm>
          <a:prstGeom prst="ellipse">
            <a:avLst/>
          </a:prstGeom>
          <a:solidFill>
            <a:srgbClr val="111111"/>
          </a:solidFill>
          <a:ln w="12700">
            <a:solidFill>
              <a:srgbClr val="FFFFFF"/>
            </a:solidFill>
            <a:prstDash val="solid"/>
          </a:ln>
        </p:spPr>
      </p:sp>
      <p:sp>
        <p:nvSpPr>
          <p:cNvPr id="21" name="Text 19"/>
          <p:cNvSpPr/>
          <p:nvPr/>
        </p:nvSpPr>
        <p:spPr>
          <a:xfrm>
            <a:off x="8542325" y="2011680"/>
            <a:ext cx="365760"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Pretendard" pitchFamily="34" charset="0"/>
                <a:ea typeface="Pretendard" pitchFamily="34" charset="-122"/>
                <a:cs typeface="Pretendard" pitchFamily="34" charset="-120"/>
              </a:rPr>
              <a:t>03</a:t>
            </a:r>
            <a:endParaRPr lang="en-US" sz="1150" dirty="0"/>
          </a:p>
        </p:txBody>
      </p:sp>
      <p:sp>
        <p:nvSpPr>
          <p:cNvPr id="22" name="Text 20"/>
          <p:cNvSpPr/>
          <p:nvPr/>
        </p:nvSpPr>
        <p:spPr>
          <a:xfrm>
            <a:off x="8542325" y="2505456"/>
            <a:ext cx="2625242" cy="457200"/>
          </a:xfrm>
          <a:prstGeom prst="rect">
            <a:avLst/>
          </a:prstGeom>
          <a:noFill/>
          <a:ln/>
        </p:spPr>
        <p:txBody>
          <a:bodyPr wrap="square" lIns="0" tIns="0" rIns="0" bIns="0" rtlCol="0" anchor="t"/>
          <a:lstStyle/>
          <a:p>
            <a:pPr indent="0" marL="0">
              <a:lnSpc>
                <a:spcPct val="114000"/>
              </a:lnSpc>
              <a:buNone/>
            </a:pPr>
            <a:r>
              <a:rPr lang="en-US" sz="1700" dirty="0">
                <a:solidFill>
                  <a:srgbClr val="FFFFFF"/>
                </a:solidFill>
                <a:latin typeface="Pretendard SemiBold" pitchFamily="34" charset="0"/>
                <a:ea typeface="Pretendard SemiBold" pitchFamily="34" charset="-122"/>
                <a:cs typeface="Pretendard SemiBold" pitchFamily="34" charset="-120"/>
              </a:rPr>
              <a:t>한 번에 바뀌는지 확인</a:t>
            </a:r>
            <a:endParaRPr lang="en-US" sz="1700" dirty="0"/>
          </a:p>
        </p:txBody>
      </p:sp>
      <p:sp>
        <p:nvSpPr>
          <p:cNvPr id="23" name="Text 21"/>
          <p:cNvSpPr/>
          <p:nvPr/>
        </p:nvSpPr>
        <p:spPr>
          <a:xfrm>
            <a:off x="8542325" y="2999232"/>
            <a:ext cx="2625242" cy="1645920"/>
          </a:xfrm>
          <a:prstGeom prst="rect">
            <a:avLst/>
          </a:prstGeom>
          <a:noFill/>
          <a:ln/>
        </p:spPr>
        <p:txBody>
          <a:bodyPr wrap="square" lIns="0" tIns="0" rIns="0" bIns="0" rtlCol="0" anchor="t"/>
          <a:lstStyle/>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토큰 값 하나를 바꿔 화면 네 장이 같이 바뀌면 제대로 걸린 것입니다.</a:t>
            </a:r>
            <a:endParaRPr lang="en-US" sz="1150" dirty="0"/>
          </a:p>
          <a:p>
            <a:pPr indent="0" marL="0">
              <a:lnSpc>
                <a:spcPct val="130000"/>
              </a:lnSpc>
              <a:buNone/>
            </a:pPr>
            <a:r>
              <a:rPr lang="en-US" sz="1150" dirty="0">
                <a:solidFill>
                  <a:srgbClr val="B8B8B8"/>
                </a:solidFill>
                <a:latin typeface="Pretendard" pitchFamily="34" charset="0"/>
                <a:ea typeface="Pretendard" pitchFamily="34" charset="-122"/>
                <a:cs typeface="Pretendard" pitchFamily="34" charset="-120"/>
              </a:rPr>
              <a:t>한 장만 바뀌면 나머지는 직접 지정되어 있습니다.</a:t>
            </a:r>
            <a:endParaRPr lang="en-US" sz="1150" dirty="0"/>
          </a:p>
        </p:txBody>
      </p:sp>
      <p:sp>
        <p:nvSpPr>
          <p:cNvPr id="24" name="Shape 22"/>
          <p:cNvSpPr/>
          <p:nvPr/>
        </p:nvSpPr>
        <p:spPr>
          <a:xfrm>
            <a:off x="640080" y="5084064"/>
            <a:ext cx="10911535" cy="7315"/>
          </a:xfrm>
          <a:prstGeom prst="rect">
            <a:avLst/>
          </a:prstGeom>
          <a:solidFill>
            <a:srgbClr val="111111"/>
          </a:solidFill>
          <a:ln w="12700">
            <a:solidFill>
              <a:srgbClr val="111111"/>
            </a:solidFill>
            <a:prstDash val="solid"/>
          </a:ln>
        </p:spPr>
      </p:sp>
      <p:sp>
        <p:nvSpPr>
          <p:cNvPr id="25" name="Text 23"/>
          <p:cNvSpPr/>
          <p:nvPr/>
        </p:nvSpPr>
        <p:spPr>
          <a:xfrm>
            <a:off x="640080" y="5193792"/>
            <a:ext cx="10911535" cy="438912"/>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토큰은 색을 예쁘게 만드는 장치가 아니라, 한 번에 바꿀 수 있게 만드는 장치입니다.</a:t>
            </a:r>
            <a:endParaRPr lang="en-US" sz="1300" dirty="0"/>
          </a:p>
        </p:txBody>
      </p:sp>
      <p:sp>
        <p:nvSpPr>
          <p:cNvPr id="26" name="Shape 24"/>
          <p:cNvSpPr/>
          <p:nvPr/>
        </p:nvSpPr>
        <p:spPr>
          <a:xfrm>
            <a:off x="640080" y="6291072"/>
            <a:ext cx="10911535" cy="7315"/>
          </a:xfrm>
          <a:prstGeom prst="rect">
            <a:avLst/>
          </a:prstGeom>
          <a:solidFill>
            <a:srgbClr val="DCDCDC"/>
          </a:solidFill>
          <a:ln w="12700">
            <a:solidFill>
              <a:srgbClr val="DCDCDC"/>
            </a:solidFill>
            <a:prstDash val="solid"/>
          </a:ln>
        </p:spPr>
      </p:sp>
      <p:sp>
        <p:nvSpPr>
          <p:cNvPr id="27" name="Text 25"/>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4주차 공통 요소와 스타일 토큰</a:t>
            </a:r>
            <a:endParaRPr lang="en-US" sz="850" dirty="0"/>
          </a:p>
        </p:txBody>
      </p:sp>
      <p:sp>
        <p:nvSpPr>
          <p:cNvPr id="28" name="Text 26"/>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WORKSHOP</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실습 · 세 요소와 토큰 만들고 2장에 적용</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개인 작업 — 만드는 것보다 적용하는 것이 오늘의 목표입니다.</a:t>
            </a:r>
            <a:endParaRPr lang="en-US" sz="1150" dirty="0"/>
          </a:p>
        </p:txBody>
      </p:sp>
      <p:sp>
        <p:nvSpPr>
          <p:cNvPr id="9" name="Shape 7"/>
          <p:cNvSpPr/>
          <p:nvPr/>
        </p:nvSpPr>
        <p:spPr>
          <a:xfrm>
            <a:off x="640080" y="1719072"/>
            <a:ext cx="10911535" cy="672998"/>
          </a:xfrm>
          <a:prstGeom prst="rect">
            <a:avLst/>
          </a:prstGeom>
          <a:solidFill>
            <a:srgbClr val="FFFFFF"/>
          </a:solidFill>
          <a:ln w="12700">
            <a:solidFill>
              <a:srgbClr val="DCDCDC"/>
            </a:solidFill>
            <a:prstDash val="solid"/>
          </a:ln>
        </p:spPr>
      </p:sp>
      <p:sp>
        <p:nvSpPr>
          <p:cNvPr id="10" name="Text 8"/>
          <p:cNvSpPr/>
          <p:nvPr/>
        </p:nvSpPr>
        <p:spPr>
          <a:xfrm>
            <a:off x="1097280" y="1810512"/>
            <a:ext cx="3291840" cy="49011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규격 명세 이어 쓰기</a:t>
            </a:r>
            <a:endParaRPr lang="en-US" sz="1450" dirty="0"/>
          </a:p>
        </p:txBody>
      </p:sp>
      <p:sp>
        <p:nvSpPr>
          <p:cNvPr id="11" name="Text 9"/>
          <p:cNvSpPr/>
          <p:nvPr/>
        </p:nvSpPr>
        <p:spPr>
          <a:xfrm>
            <a:off x="4480560" y="1810512"/>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지난주 GNB 표에 헤더 · 리스트 · 카드를 이어서 적습니다. 값과 근거 두 칸을 함께 채웁니다.</a:t>
            </a:r>
            <a:endParaRPr lang="en-US" sz="1150" dirty="0"/>
          </a:p>
        </p:txBody>
      </p:sp>
      <p:sp>
        <p:nvSpPr>
          <p:cNvPr id="12" name="Shape 10"/>
          <p:cNvSpPr/>
          <p:nvPr/>
        </p:nvSpPr>
        <p:spPr>
          <a:xfrm>
            <a:off x="640080" y="2538374"/>
            <a:ext cx="10911535" cy="672998"/>
          </a:xfrm>
          <a:prstGeom prst="rect">
            <a:avLst/>
          </a:prstGeom>
          <a:solidFill>
            <a:srgbClr val="FFFFFF"/>
          </a:solidFill>
          <a:ln w="12700">
            <a:solidFill>
              <a:srgbClr val="DCDCDC"/>
            </a:solidFill>
            <a:prstDash val="solid"/>
          </a:ln>
        </p:spPr>
      </p:sp>
      <p:sp>
        <p:nvSpPr>
          <p:cNvPr id="13" name="Text 11"/>
          <p:cNvSpPr/>
          <p:nvPr/>
        </p:nvSpPr>
        <p:spPr>
          <a:xfrm>
            <a:off x="1097280" y="2629814"/>
            <a:ext cx="3291840" cy="49011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헤더 만들기</a:t>
            </a:r>
            <a:endParaRPr lang="en-US" sz="1450" dirty="0"/>
          </a:p>
        </p:txBody>
      </p:sp>
      <p:sp>
        <p:nvSpPr>
          <p:cNvPr id="14" name="Text 12"/>
          <p:cNvSpPr/>
          <p:nvPr/>
        </p:nvSpPr>
        <p:spPr>
          <a:xfrm>
            <a:off x="4480560" y="2629814"/>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높이 44, 제목 17pt 1줄, 좌우 아이콘 24에 터치 영역 44, 하단 선 1px. 컴포넌트로 만들고 이름을 규칙대로 붙입니다.</a:t>
            </a:r>
            <a:endParaRPr lang="en-US" sz="1150" dirty="0"/>
          </a:p>
        </p:txBody>
      </p:sp>
      <p:sp>
        <p:nvSpPr>
          <p:cNvPr id="15" name="Shape 13"/>
          <p:cNvSpPr/>
          <p:nvPr/>
        </p:nvSpPr>
        <p:spPr>
          <a:xfrm>
            <a:off x="640080" y="3357677"/>
            <a:ext cx="10911535" cy="672998"/>
          </a:xfrm>
          <a:prstGeom prst="rect">
            <a:avLst/>
          </a:prstGeom>
          <a:solidFill>
            <a:srgbClr val="FFFFFF"/>
          </a:solidFill>
          <a:ln w="12700">
            <a:solidFill>
              <a:srgbClr val="DCDCDC"/>
            </a:solidFill>
            <a:prstDash val="solid"/>
          </a:ln>
        </p:spPr>
      </p:sp>
      <p:sp>
        <p:nvSpPr>
          <p:cNvPr id="16" name="Text 14"/>
          <p:cNvSpPr/>
          <p:nvPr/>
        </p:nvSpPr>
        <p:spPr>
          <a:xfrm>
            <a:off x="1097280" y="3449117"/>
            <a:ext cx="3291840" cy="49011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리스트 행과 카드</a:t>
            </a:r>
            <a:endParaRPr lang="en-US" sz="1450" dirty="0"/>
          </a:p>
        </p:txBody>
      </p:sp>
      <p:sp>
        <p:nvSpPr>
          <p:cNvPr id="17" name="Text 15"/>
          <p:cNvSpPr/>
          <p:nvPr/>
        </p:nvSpPr>
        <p:spPr>
          <a:xfrm>
            <a:off x="4480560" y="3449117"/>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행 높이 72, 썸네일 48, 여백 16, 간격 12. 카드는 패딩 16에 모서리 8. 둘 다 컴포넌트로.</a:t>
            </a:r>
            <a:endParaRPr lang="en-US" sz="1150" dirty="0"/>
          </a:p>
        </p:txBody>
      </p:sp>
      <p:sp>
        <p:nvSpPr>
          <p:cNvPr id="18" name="Shape 16"/>
          <p:cNvSpPr/>
          <p:nvPr/>
        </p:nvSpPr>
        <p:spPr>
          <a:xfrm>
            <a:off x="640080" y="4176979"/>
            <a:ext cx="10911535" cy="672998"/>
          </a:xfrm>
          <a:prstGeom prst="rect">
            <a:avLst/>
          </a:prstGeom>
          <a:solidFill>
            <a:srgbClr val="FFFFFF"/>
          </a:solidFill>
          <a:ln w="12700">
            <a:solidFill>
              <a:srgbClr val="DCDCDC"/>
            </a:solidFill>
            <a:prstDash val="solid"/>
          </a:ln>
        </p:spPr>
      </p:sp>
      <p:sp>
        <p:nvSpPr>
          <p:cNvPr id="19" name="Text 17"/>
          <p:cNvSpPr/>
          <p:nvPr/>
        </p:nvSpPr>
        <p:spPr>
          <a:xfrm>
            <a:off x="1097280" y="4268419"/>
            <a:ext cx="3291840" cy="49011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색과 글자 토큰 등록</a:t>
            </a:r>
            <a:endParaRPr lang="en-US" sz="1450" dirty="0"/>
          </a:p>
        </p:txBody>
      </p:sp>
      <p:sp>
        <p:nvSpPr>
          <p:cNvPr id="20" name="Text 18"/>
          <p:cNvSpPr/>
          <p:nvPr/>
        </p:nvSpPr>
        <p:spPr>
          <a:xfrm>
            <a:off x="4480560" y="4268419"/>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브랜드 다섯 · 중립 여섯 · 상태 셋, 글자 여섯 단계를 변수로 만들고 컴포넌트에 겁니다.</a:t>
            </a:r>
            <a:endParaRPr lang="en-US" sz="1150" dirty="0"/>
          </a:p>
        </p:txBody>
      </p:sp>
      <p:sp>
        <p:nvSpPr>
          <p:cNvPr id="21" name="Shape 19"/>
          <p:cNvSpPr/>
          <p:nvPr/>
        </p:nvSpPr>
        <p:spPr>
          <a:xfrm>
            <a:off x="640080" y="4996282"/>
            <a:ext cx="10911535" cy="672998"/>
          </a:xfrm>
          <a:prstGeom prst="rect">
            <a:avLst/>
          </a:prstGeom>
          <a:solidFill>
            <a:srgbClr val="111111"/>
          </a:solidFill>
          <a:ln w="12700">
            <a:solidFill>
              <a:srgbClr val="111111"/>
            </a:solidFill>
            <a:prstDash val="solid"/>
          </a:ln>
        </p:spPr>
      </p:sp>
      <p:sp>
        <p:nvSpPr>
          <p:cNvPr id="22" name="Text 20"/>
          <p:cNvSpPr/>
          <p:nvPr/>
        </p:nvSpPr>
        <p:spPr>
          <a:xfrm>
            <a:off x="1097280" y="5087722"/>
            <a:ext cx="3291840" cy="490118"/>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2장에 적용</a:t>
            </a:r>
            <a:endParaRPr lang="en-US" sz="1450" dirty="0"/>
          </a:p>
        </p:txBody>
      </p:sp>
      <p:sp>
        <p:nvSpPr>
          <p:cNvPr id="23" name="Text 21"/>
          <p:cNvSpPr/>
          <p:nvPr/>
        </p:nvSpPr>
        <p:spPr>
          <a:xfrm>
            <a:off x="4480560" y="5087722"/>
            <a:ext cx="6705295" cy="490118"/>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지난주 컨펌 받은 두 장을 오늘 만든 인스턴스와 토큰으로 바꿉니다. 직접 그린 것이 남지 않게 합니다.</a:t>
            </a:r>
            <a:endParaRPr lang="en-US" sz="1150" dirty="0"/>
          </a:p>
        </p:txBody>
      </p:sp>
      <p:sp>
        <p:nvSpPr>
          <p:cNvPr id="24" name="Shape 22"/>
          <p:cNvSpPr/>
          <p:nvPr/>
        </p:nvSpPr>
        <p:spPr>
          <a:xfrm>
            <a:off x="640080" y="6291072"/>
            <a:ext cx="10911535" cy="7315"/>
          </a:xfrm>
          <a:prstGeom prst="rect">
            <a:avLst/>
          </a:prstGeom>
          <a:solidFill>
            <a:srgbClr val="DCDCDC"/>
          </a:solidFill>
          <a:ln w="12700">
            <a:solidFill>
              <a:srgbClr val="DCDCDC"/>
            </a:solidFill>
            <a:prstDash val="solid"/>
          </a:ln>
        </p:spPr>
      </p:sp>
      <p:sp>
        <p:nvSpPr>
          <p:cNvPr id="25" name="Text 23"/>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4주차 공통 요소와 스타일 토큰</a:t>
            </a:r>
            <a:endParaRPr lang="en-US" sz="850" dirty="0"/>
          </a:p>
        </p:txBody>
      </p:sp>
      <p:sp>
        <p:nvSpPr>
          <p:cNvPr id="26" name="Text 24"/>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VERIFY</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확인 — 조립이 되는가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2인 1조로 서로의 파일에서 확인합니다.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이렇게 확인합니다</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토큰 값 하나를 바꿔 두 장이 같이 바뀌는지 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리스트 행을 하나 늘렸을 때 간격이 그대로인지 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카드 안 글자를 길게 바꿔 카드가 늘어나는지 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컴포넌트와 토큰 이름이 규칙대로 묶여 보이는지 봅니다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자주 나오는 문제</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상단 안전 영역 47을 헤더 높이에 합쳐 91로 만든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제목이 두 줄로 넘어가 헤더 44가 깨진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색을 직접 지정해 토큰을 바꿔도 화면이 안 바뀌는 경우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간격이나 글자 크기에 목록에 없는 값이 섞인 경우</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네 가지가 다 되면 오늘 것은 끝난 겁니다. 하나라도 안 되면 그 컴포넌트를 먼저 고치고 화면으로 갑니다.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4주차 공통 요소와 스타일 토큰</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SUBMIT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디자인 점검표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수업은 이 시스템으로 남은 화면을 넓힙니다.</a:t>
            </a:r>
            <a:endParaRPr lang="en-US" sz="1150" dirty="0"/>
          </a:p>
        </p:txBody>
      </p:sp>
      <p:sp>
        <p:nvSpPr>
          <p:cNvPr id="9" name="Shape 7"/>
          <p:cNvSpPr/>
          <p:nvPr/>
        </p:nvSpPr>
        <p:spPr>
          <a:xfrm>
            <a:off x="640080" y="1755648"/>
            <a:ext cx="5254600" cy="270256"/>
          </a:xfrm>
          <a:prstGeom prst="rect">
            <a:avLst/>
          </a:prstGeom>
          <a:solidFill>
            <a:srgbClr val="F2F2F2"/>
          </a:solidFill>
          <a:ln w="12700">
            <a:solidFill>
              <a:srgbClr val="F2F2F2"/>
            </a:solidFill>
            <a:prstDash val="solid"/>
          </a:ln>
        </p:spPr>
      </p:sp>
      <p:sp>
        <p:nvSpPr>
          <p:cNvPr id="10" name="Shape 8"/>
          <p:cNvSpPr/>
          <p:nvPr/>
        </p:nvSpPr>
        <p:spPr>
          <a:xfrm>
            <a:off x="914400" y="1762760"/>
            <a:ext cx="256032" cy="256032"/>
          </a:xfrm>
          <a:prstGeom prst="ellipse">
            <a:avLst/>
          </a:prstGeom>
          <a:solidFill>
            <a:srgbClr val="F2F2F2"/>
          </a:solidFill>
          <a:ln w="12700">
            <a:solidFill>
              <a:srgbClr val="111111"/>
            </a:solidFill>
            <a:prstDash val="solid"/>
          </a:ln>
        </p:spPr>
      </p:sp>
      <p:sp>
        <p:nvSpPr>
          <p:cNvPr id="11" name="Text 9"/>
          <p:cNvSpPr/>
          <p:nvPr/>
        </p:nvSpPr>
        <p:spPr>
          <a:xfrm>
            <a:off x="914400" y="176276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01</a:t>
            </a:r>
            <a:endParaRPr lang="en-US" sz="800" dirty="0"/>
          </a:p>
        </p:txBody>
      </p:sp>
      <p:sp>
        <p:nvSpPr>
          <p:cNvPr id="12" name="Text 10"/>
          <p:cNvSpPr/>
          <p:nvPr/>
        </p:nvSpPr>
        <p:spPr>
          <a:xfrm>
            <a:off x="1298448" y="175564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헤더 · 리스트 · 카드가 규격 명세 표에 값과 근거로 적혀 있다</a:t>
            </a:r>
            <a:endParaRPr lang="en-US" sz="1050" dirty="0"/>
          </a:p>
        </p:txBody>
      </p:sp>
      <p:sp>
        <p:nvSpPr>
          <p:cNvPr id="13" name="Shape 11"/>
          <p:cNvSpPr/>
          <p:nvPr/>
        </p:nvSpPr>
        <p:spPr>
          <a:xfrm>
            <a:off x="640080" y="2172208"/>
            <a:ext cx="5254600" cy="270256"/>
          </a:xfrm>
          <a:prstGeom prst="rect">
            <a:avLst/>
          </a:prstGeom>
          <a:solidFill>
            <a:srgbClr val="F2F2F2"/>
          </a:solidFill>
          <a:ln w="12700">
            <a:solidFill>
              <a:srgbClr val="F2F2F2"/>
            </a:solidFill>
            <a:prstDash val="solid"/>
          </a:ln>
        </p:spPr>
      </p:sp>
      <p:sp>
        <p:nvSpPr>
          <p:cNvPr id="14" name="Shape 12"/>
          <p:cNvSpPr/>
          <p:nvPr/>
        </p:nvSpPr>
        <p:spPr>
          <a:xfrm>
            <a:off x="914400" y="2179320"/>
            <a:ext cx="256032" cy="256032"/>
          </a:xfrm>
          <a:prstGeom prst="ellipse">
            <a:avLst/>
          </a:prstGeom>
          <a:solidFill>
            <a:srgbClr val="F2F2F2"/>
          </a:solidFill>
          <a:ln w="12700">
            <a:solidFill>
              <a:srgbClr val="111111"/>
            </a:solidFill>
            <a:prstDash val="solid"/>
          </a:ln>
        </p:spPr>
      </p:sp>
      <p:sp>
        <p:nvSpPr>
          <p:cNvPr id="15" name="Text 13"/>
          <p:cNvSpPr/>
          <p:nvPr/>
        </p:nvSpPr>
        <p:spPr>
          <a:xfrm>
            <a:off x="914400" y="217932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02</a:t>
            </a:r>
            <a:endParaRPr lang="en-US" sz="800" dirty="0"/>
          </a:p>
        </p:txBody>
      </p:sp>
      <p:sp>
        <p:nvSpPr>
          <p:cNvPr id="16" name="Text 14"/>
          <p:cNvSpPr/>
          <p:nvPr/>
        </p:nvSpPr>
        <p:spPr>
          <a:xfrm>
            <a:off x="1298448" y="217220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상단 안전 영역 47이 헤더 높이와 따로 잡혀 있다</a:t>
            </a:r>
            <a:endParaRPr lang="en-US" sz="1050" dirty="0"/>
          </a:p>
        </p:txBody>
      </p:sp>
      <p:sp>
        <p:nvSpPr>
          <p:cNvPr id="17" name="Shape 15"/>
          <p:cNvSpPr/>
          <p:nvPr/>
        </p:nvSpPr>
        <p:spPr>
          <a:xfrm>
            <a:off x="640080" y="2588768"/>
            <a:ext cx="5254600" cy="270256"/>
          </a:xfrm>
          <a:prstGeom prst="rect">
            <a:avLst/>
          </a:prstGeom>
          <a:solidFill>
            <a:srgbClr val="F2F2F2"/>
          </a:solidFill>
          <a:ln w="12700">
            <a:solidFill>
              <a:srgbClr val="F2F2F2"/>
            </a:solidFill>
            <a:prstDash val="solid"/>
          </a:ln>
        </p:spPr>
      </p:sp>
      <p:sp>
        <p:nvSpPr>
          <p:cNvPr id="18" name="Shape 16"/>
          <p:cNvSpPr/>
          <p:nvPr/>
        </p:nvSpPr>
        <p:spPr>
          <a:xfrm>
            <a:off x="914400" y="2595880"/>
            <a:ext cx="256032" cy="256032"/>
          </a:xfrm>
          <a:prstGeom prst="ellipse">
            <a:avLst/>
          </a:prstGeom>
          <a:solidFill>
            <a:srgbClr val="F2F2F2"/>
          </a:solidFill>
          <a:ln w="12700">
            <a:solidFill>
              <a:srgbClr val="111111"/>
            </a:solidFill>
            <a:prstDash val="solid"/>
          </a:ln>
        </p:spPr>
      </p:sp>
      <p:sp>
        <p:nvSpPr>
          <p:cNvPr id="19" name="Text 17"/>
          <p:cNvSpPr/>
          <p:nvPr/>
        </p:nvSpPr>
        <p:spPr>
          <a:xfrm>
            <a:off x="914400" y="259588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03</a:t>
            </a:r>
            <a:endParaRPr lang="en-US" sz="800" dirty="0"/>
          </a:p>
        </p:txBody>
      </p:sp>
      <p:sp>
        <p:nvSpPr>
          <p:cNvPr id="20" name="Text 18"/>
          <p:cNvSpPr/>
          <p:nvPr/>
        </p:nvSpPr>
        <p:spPr>
          <a:xfrm>
            <a:off x="1298448" y="258876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헤더 제목이 한 줄로 고정되어 있다</a:t>
            </a:r>
            <a:endParaRPr lang="en-US" sz="1050" dirty="0"/>
          </a:p>
        </p:txBody>
      </p:sp>
      <p:sp>
        <p:nvSpPr>
          <p:cNvPr id="21" name="Shape 19"/>
          <p:cNvSpPr/>
          <p:nvPr/>
        </p:nvSpPr>
        <p:spPr>
          <a:xfrm>
            <a:off x="640080" y="3005328"/>
            <a:ext cx="5254600" cy="270256"/>
          </a:xfrm>
          <a:prstGeom prst="rect">
            <a:avLst/>
          </a:prstGeom>
          <a:solidFill>
            <a:srgbClr val="F2F2F2"/>
          </a:solidFill>
          <a:ln w="12700">
            <a:solidFill>
              <a:srgbClr val="F2F2F2"/>
            </a:solidFill>
            <a:prstDash val="solid"/>
          </a:ln>
        </p:spPr>
      </p:sp>
      <p:sp>
        <p:nvSpPr>
          <p:cNvPr id="22" name="Shape 20"/>
          <p:cNvSpPr/>
          <p:nvPr/>
        </p:nvSpPr>
        <p:spPr>
          <a:xfrm>
            <a:off x="914400" y="3012440"/>
            <a:ext cx="256032" cy="256032"/>
          </a:xfrm>
          <a:prstGeom prst="ellipse">
            <a:avLst/>
          </a:prstGeom>
          <a:solidFill>
            <a:srgbClr val="F2F2F2"/>
          </a:solidFill>
          <a:ln w="12700">
            <a:solidFill>
              <a:srgbClr val="111111"/>
            </a:solidFill>
            <a:prstDash val="solid"/>
          </a:ln>
        </p:spPr>
      </p:sp>
      <p:sp>
        <p:nvSpPr>
          <p:cNvPr id="23" name="Text 21"/>
          <p:cNvSpPr/>
          <p:nvPr/>
        </p:nvSpPr>
        <p:spPr>
          <a:xfrm>
            <a:off x="914400" y="301244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04</a:t>
            </a:r>
            <a:endParaRPr lang="en-US" sz="800" dirty="0"/>
          </a:p>
        </p:txBody>
      </p:sp>
      <p:sp>
        <p:nvSpPr>
          <p:cNvPr id="24" name="Text 22"/>
          <p:cNvSpPr/>
          <p:nvPr/>
        </p:nvSpPr>
        <p:spPr>
          <a:xfrm>
            <a:off x="1298448" y="300532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리스트 행 높이와 썸네일 크기가 화면마다 같다</a:t>
            </a:r>
            <a:endParaRPr lang="en-US" sz="1050" dirty="0"/>
          </a:p>
        </p:txBody>
      </p:sp>
      <p:sp>
        <p:nvSpPr>
          <p:cNvPr id="25" name="Shape 23"/>
          <p:cNvSpPr/>
          <p:nvPr/>
        </p:nvSpPr>
        <p:spPr>
          <a:xfrm>
            <a:off x="640080" y="3421888"/>
            <a:ext cx="5254600" cy="270256"/>
          </a:xfrm>
          <a:prstGeom prst="rect">
            <a:avLst/>
          </a:prstGeom>
          <a:solidFill>
            <a:srgbClr val="F2F2F2"/>
          </a:solidFill>
          <a:ln w="12700">
            <a:solidFill>
              <a:srgbClr val="F2F2F2"/>
            </a:solidFill>
            <a:prstDash val="solid"/>
          </a:ln>
        </p:spPr>
      </p:sp>
      <p:sp>
        <p:nvSpPr>
          <p:cNvPr id="26" name="Shape 24"/>
          <p:cNvSpPr/>
          <p:nvPr/>
        </p:nvSpPr>
        <p:spPr>
          <a:xfrm>
            <a:off x="914400" y="3429000"/>
            <a:ext cx="256032" cy="256032"/>
          </a:xfrm>
          <a:prstGeom prst="ellipse">
            <a:avLst/>
          </a:prstGeom>
          <a:solidFill>
            <a:srgbClr val="F2F2F2"/>
          </a:solidFill>
          <a:ln w="12700">
            <a:solidFill>
              <a:srgbClr val="111111"/>
            </a:solidFill>
            <a:prstDash val="solid"/>
          </a:ln>
        </p:spPr>
      </p:sp>
      <p:sp>
        <p:nvSpPr>
          <p:cNvPr id="27" name="Text 25"/>
          <p:cNvSpPr/>
          <p:nvPr/>
        </p:nvSpPr>
        <p:spPr>
          <a:xfrm>
            <a:off x="914400" y="342900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05</a:t>
            </a:r>
            <a:endParaRPr lang="en-US" sz="800" dirty="0"/>
          </a:p>
        </p:txBody>
      </p:sp>
      <p:sp>
        <p:nvSpPr>
          <p:cNvPr id="28" name="Text 26"/>
          <p:cNvSpPr/>
          <p:nvPr/>
        </p:nvSpPr>
        <p:spPr>
          <a:xfrm>
            <a:off x="1298448" y="342188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카드에 오토레이아웃이 들어가 글자 길이에 따라 늘어난다</a:t>
            </a:r>
            <a:endParaRPr lang="en-US" sz="1050" dirty="0"/>
          </a:p>
        </p:txBody>
      </p:sp>
      <p:sp>
        <p:nvSpPr>
          <p:cNvPr id="29" name="Shape 27"/>
          <p:cNvSpPr/>
          <p:nvPr/>
        </p:nvSpPr>
        <p:spPr>
          <a:xfrm>
            <a:off x="640080" y="3838448"/>
            <a:ext cx="5254600" cy="270256"/>
          </a:xfrm>
          <a:prstGeom prst="rect">
            <a:avLst/>
          </a:prstGeom>
          <a:solidFill>
            <a:srgbClr val="F2F2F2"/>
          </a:solidFill>
          <a:ln w="12700">
            <a:solidFill>
              <a:srgbClr val="F2F2F2"/>
            </a:solidFill>
            <a:prstDash val="solid"/>
          </a:ln>
        </p:spPr>
      </p:sp>
      <p:sp>
        <p:nvSpPr>
          <p:cNvPr id="30" name="Shape 28"/>
          <p:cNvSpPr/>
          <p:nvPr/>
        </p:nvSpPr>
        <p:spPr>
          <a:xfrm>
            <a:off x="914400" y="3845560"/>
            <a:ext cx="256032" cy="256032"/>
          </a:xfrm>
          <a:prstGeom prst="ellipse">
            <a:avLst/>
          </a:prstGeom>
          <a:solidFill>
            <a:srgbClr val="F2F2F2"/>
          </a:solidFill>
          <a:ln w="12700">
            <a:solidFill>
              <a:srgbClr val="111111"/>
            </a:solidFill>
            <a:prstDash val="solid"/>
          </a:ln>
        </p:spPr>
      </p:sp>
      <p:sp>
        <p:nvSpPr>
          <p:cNvPr id="31" name="Text 29"/>
          <p:cNvSpPr/>
          <p:nvPr/>
        </p:nvSpPr>
        <p:spPr>
          <a:xfrm>
            <a:off x="914400" y="384556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06</a:t>
            </a:r>
            <a:endParaRPr lang="en-US" sz="800" dirty="0"/>
          </a:p>
        </p:txBody>
      </p:sp>
      <p:sp>
        <p:nvSpPr>
          <p:cNvPr id="32" name="Text 30"/>
          <p:cNvSpPr/>
          <p:nvPr/>
        </p:nvSpPr>
        <p:spPr>
          <a:xfrm>
            <a:off x="1298448" y="383844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그림자 대신 선 1px을 썼다</a:t>
            </a:r>
            <a:endParaRPr lang="en-US" sz="1050" dirty="0"/>
          </a:p>
        </p:txBody>
      </p:sp>
      <p:sp>
        <p:nvSpPr>
          <p:cNvPr id="33" name="Shape 31"/>
          <p:cNvSpPr/>
          <p:nvPr/>
        </p:nvSpPr>
        <p:spPr>
          <a:xfrm>
            <a:off x="640080" y="4255008"/>
            <a:ext cx="5254600" cy="270256"/>
          </a:xfrm>
          <a:prstGeom prst="rect">
            <a:avLst/>
          </a:prstGeom>
          <a:solidFill>
            <a:srgbClr val="F2F2F2"/>
          </a:solidFill>
          <a:ln w="12700">
            <a:solidFill>
              <a:srgbClr val="F2F2F2"/>
            </a:solidFill>
            <a:prstDash val="solid"/>
          </a:ln>
        </p:spPr>
      </p:sp>
      <p:sp>
        <p:nvSpPr>
          <p:cNvPr id="34" name="Shape 32"/>
          <p:cNvSpPr/>
          <p:nvPr/>
        </p:nvSpPr>
        <p:spPr>
          <a:xfrm>
            <a:off x="914400" y="4262120"/>
            <a:ext cx="256032" cy="256032"/>
          </a:xfrm>
          <a:prstGeom prst="ellipse">
            <a:avLst/>
          </a:prstGeom>
          <a:solidFill>
            <a:srgbClr val="F2F2F2"/>
          </a:solidFill>
          <a:ln w="12700">
            <a:solidFill>
              <a:srgbClr val="111111"/>
            </a:solidFill>
            <a:prstDash val="solid"/>
          </a:ln>
        </p:spPr>
      </p:sp>
      <p:sp>
        <p:nvSpPr>
          <p:cNvPr id="35" name="Text 33"/>
          <p:cNvSpPr/>
          <p:nvPr/>
        </p:nvSpPr>
        <p:spPr>
          <a:xfrm>
            <a:off x="914400" y="426212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07</a:t>
            </a:r>
            <a:endParaRPr lang="en-US" sz="800" dirty="0"/>
          </a:p>
        </p:txBody>
      </p:sp>
      <p:sp>
        <p:nvSpPr>
          <p:cNvPr id="36" name="Text 34"/>
          <p:cNvSpPr/>
          <p:nvPr/>
        </p:nvSpPr>
        <p:spPr>
          <a:xfrm>
            <a:off x="1298448" y="425500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간격이 4 · 8 · 12 · 16 · 24 · 32 안에서만 쓰였다</a:t>
            </a:r>
            <a:endParaRPr lang="en-US" sz="1050" dirty="0"/>
          </a:p>
        </p:txBody>
      </p:sp>
      <p:sp>
        <p:nvSpPr>
          <p:cNvPr id="37" name="Shape 35"/>
          <p:cNvSpPr/>
          <p:nvPr/>
        </p:nvSpPr>
        <p:spPr>
          <a:xfrm>
            <a:off x="640080" y="4671568"/>
            <a:ext cx="5254600" cy="270256"/>
          </a:xfrm>
          <a:prstGeom prst="rect">
            <a:avLst/>
          </a:prstGeom>
          <a:solidFill>
            <a:srgbClr val="F2F2F2"/>
          </a:solidFill>
          <a:ln w="12700">
            <a:solidFill>
              <a:srgbClr val="F2F2F2"/>
            </a:solidFill>
            <a:prstDash val="solid"/>
          </a:ln>
        </p:spPr>
      </p:sp>
      <p:sp>
        <p:nvSpPr>
          <p:cNvPr id="38" name="Shape 36"/>
          <p:cNvSpPr/>
          <p:nvPr/>
        </p:nvSpPr>
        <p:spPr>
          <a:xfrm>
            <a:off x="914400" y="4678680"/>
            <a:ext cx="256032" cy="256032"/>
          </a:xfrm>
          <a:prstGeom prst="ellipse">
            <a:avLst/>
          </a:prstGeom>
          <a:solidFill>
            <a:srgbClr val="F2F2F2"/>
          </a:solidFill>
          <a:ln w="12700">
            <a:solidFill>
              <a:srgbClr val="111111"/>
            </a:solidFill>
            <a:prstDash val="solid"/>
          </a:ln>
        </p:spPr>
      </p:sp>
      <p:sp>
        <p:nvSpPr>
          <p:cNvPr id="39" name="Text 37"/>
          <p:cNvSpPr/>
          <p:nvPr/>
        </p:nvSpPr>
        <p:spPr>
          <a:xfrm>
            <a:off x="914400" y="467868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08</a:t>
            </a:r>
            <a:endParaRPr lang="en-US" sz="800" dirty="0"/>
          </a:p>
        </p:txBody>
      </p:sp>
      <p:sp>
        <p:nvSpPr>
          <p:cNvPr id="40" name="Text 38"/>
          <p:cNvSpPr/>
          <p:nvPr/>
        </p:nvSpPr>
        <p:spPr>
          <a:xfrm>
            <a:off x="1298448" y="467156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컴포넌트 이름이 영역 / 이름 / 상태 로 붙어 있다</a:t>
            </a:r>
            <a:endParaRPr lang="en-US" sz="1050" dirty="0"/>
          </a:p>
        </p:txBody>
      </p:sp>
      <p:sp>
        <p:nvSpPr>
          <p:cNvPr id="41" name="Shape 39"/>
          <p:cNvSpPr/>
          <p:nvPr/>
        </p:nvSpPr>
        <p:spPr>
          <a:xfrm>
            <a:off x="640080" y="5088128"/>
            <a:ext cx="5254600" cy="270256"/>
          </a:xfrm>
          <a:prstGeom prst="rect">
            <a:avLst/>
          </a:prstGeom>
          <a:solidFill>
            <a:srgbClr val="F2F2F2"/>
          </a:solidFill>
          <a:ln w="12700">
            <a:solidFill>
              <a:srgbClr val="F2F2F2"/>
            </a:solidFill>
            <a:prstDash val="solid"/>
          </a:ln>
        </p:spPr>
      </p:sp>
      <p:sp>
        <p:nvSpPr>
          <p:cNvPr id="42" name="Shape 40"/>
          <p:cNvSpPr/>
          <p:nvPr/>
        </p:nvSpPr>
        <p:spPr>
          <a:xfrm>
            <a:off x="914400" y="5095240"/>
            <a:ext cx="256032" cy="256032"/>
          </a:xfrm>
          <a:prstGeom prst="ellipse">
            <a:avLst/>
          </a:prstGeom>
          <a:solidFill>
            <a:srgbClr val="F2F2F2"/>
          </a:solidFill>
          <a:ln w="12700">
            <a:solidFill>
              <a:srgbClr val="111111"/>
            </a:solidFill>
            <a:prstDash val="solid"/>
          </a:ln>
        </p:spPr>
      </p:sp>
      <p:sp>
        <p:nvSpPr>
          <p:cNvPr id="43" name="Text 41"/>
          <p:cNvSpPr/>
          <p:nvPr/>
        </p:nvSpPr>
        <p:spPr>
          <a:xfrm>
            <a:off x="914400" y="509524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09</a:t>
            </a:r>
            <a:endParaRPr lang="en-US" sz="800" dirty="0"/>
          </a:p>
        </p:txBody>
      </p:sp>
      <p:sp>
        <p:nvSpPr>
          <p:cNvPr id="44" name="Text 42"/>
          <p:cNvSpPr/>
          <p:nvPr/>
        </p:nvSpPr>
        <p:spPr>
          <a:xfrm>
            <a:off x="1298448" y="508812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지난주 Tab Item 도 같은 이름 규칙으로 바뀌어 있다</a:t>
            </a:r>
            <a:endParaRPr lang="en-US" sz="1050" dirty="0"/>
          </a:p>
        </p:txBody>
      </p:sp>
      <p:sp>
        <p:nvSpPr>
          <p:cNvPr id="45" name="Shape 43"/>
          <p:cNvSpPr/>
          <p:nvPr/>
        </p:nvSpPr>
        <p:spPr>
          <a:xfrm>
            <a:off x="6297016" y="1755648"/>
            <a:ext cx="5254600" cy="270256"/>
          </a:xfrm>
          <a:prstGeom prst="rect">
            <a:avLst/>
          </a:prstGeom>
          <a:solidFill>
            <a:srgbClr val="F2F2F2"/>
          </a:solidFill>
          <a:ln w="12700">
            <a:solidFill>
              <a:srgbClr val="F2F2F2"/>
            </a:solidFill>
            <a:prstDash val="solid"/>
          </a:ln>
        </p:spPr>
      </p:sp>
      <p:sp>
        <p:nvSpPr>
          <p:cNvPr id="46" name="Shape 44"/>
          <p:cNvSpPr/>
          <p:nvPr/>
        </p:nvSpPr>
        <p:spPr>
          <a:xfrm>
            <a:off x="6571336" y="1762760"/>
            <a:ext cx="256032" cy="256032"/>
          </a:xfrm>
          <a:prstGeom prst="ellipse">
            <a:avLst/>
          </a:prstGeom>
          <a:solidFill>
            <a:srgbClr val="F2F2F2"/>
          </a:solidFill>
          <a:ln w="12700">
            <a:solidFill>
              <a:srgbClr val="111111"/>
            </a:solidFill>
            <a:prstDash val="solid"/>
          </a:ln>
        </p:spPr>
      </p:sp>
      <p:sp>
        <p:nvSpPr>
          <p:cNvPr id="47" name="Text 45"/>
          <p:cNvSpPr/>
          <p:nvPr/>
        </p:nvSpPr>
        <p:spPr>
          <a:xfrm>
            <a:off x="6571336" y="176276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10</a:t>
            </a:r>
            <a:endParaRPr lang="en-US" sz="800" dirty="0"/>
          </a:p>
        </p:txBody>
      </p:sp>
      <p:sp>
        <p:nvSpPr>
          <p:cNvPr id="48" name="Text 46"/>
          <p:cNvSpPr/>
          <p:nvPr/>
        </p:nvSpPr>
        <p:spPr>
          <a:xfrm>
            <a:off x="6955384" y="175564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색이 브랜드 다섯 · 중립 여섯 · 상태 셋 안에서만 쓰였다</a:t>
            </a:r>
            <a:endParaRPr lang="en-US" sz="1050" dirty="0"/>
          </a:p>
        </p:txBody>
      </p:sp>
      <p:sp>
        <p:nvSpPr>
          <p:cNvPr id="49" name="Shape 47"/>
          <p:cNvSpPr/>
          <p:nvPr/>
        </p:nvSpPr>
        <p:spPr>
          <a:xfrm>
            <a:off x="6297016" y="2172208"/>
            <a:ext cx="5254600" cy="270256"/>
          </a:xfrm>
          <a:prstGeom prst="rect">
            <a:avLst/>
          </a:prstGeom>
          <a:solidFill>
            <a:srgbClr val="F2F2F2"/>
          </a:solidFill>
          <a:ln w="12700">
            <a:solidFill>
              <a:srgbClr val="F2F2F2"/>
            </a:solidFill>
            <a:prstDash val="solid"/>
          </a:ln>
        </p:spPr>
      </p:sp>
      <p:sp>
        <p:nvSpPr>
          <p:cNvPr id="50" name="Shape 48"/>
          <p:cNvSpPr/>
          <p:nvPr/>
        </p:nvSpPr>
        <p:spPr>
          <a:xfrm>
            <a:off x="6571336" y="2179320"/>
            <a:ext cx="256032" cy="256032"/>
          </a:xfrm>
          <a:prstGeom prst="ellipse">
            <a:avLst/>
          </a:prstGeom>
          <a:solidFill>
            <a:srgbClr val="F2F2F2"/>
          </a:solidFill>
          <a:ln w="12700">
            <a:solidFill>
              <a:srgbClr val="111111"/>
            </a:solidFill>
            <a:prstDash val="solid"/>
          </a:ln>
        </p:spPr>
      </p:sp>
      <p:sp>
        <p:nvSpPr>
          <p:cNvPr id="51" name="Text 49"/>
          <p:cNvSpPr/>
          <p:nvPr/>
        </p:nvSpPr>
        <p:spPr>
          <a:xfrm>
            <a:off x="6571336" y="217932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11</a:t>
            </a:r>
            <a:endParaRPr lang="en-US" sz="800" dirty="0"/>
          </a:p>
        </p:txBody>
      </p:sp>
      <p:sp>
        <p:nvSpPr>
          <p:cNvPr id="52" name="Text 50"/>
          <p:cNvSpPr/>
          <p:nvPr/>
        </p:nvSpPr>
        <p:spPr>
          <a:xfrm>
            <a:off x="6955384" y="217220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글자 크기가 32 · 24 · 20 · 17 · 15 · 13 안에서만 쓰였다</a:t>
            </a:r>
            <a:endParaRPr lang="en-US" sz="1050" dirty="0"/>
          </a:p>
        </p:txBody>
      </p:sp>
      <p:sp>
        <p:nvSpPr>
          <p:cNvPr id="53" name="Shape 51"/>
          <p:cNvSpPr/>
          <p:nvPr/>
        </p:nvSpPr>
        <p:spPr>
          <a:xfrm>
            <a:off x="6297016" y="2588768"/>
            <a:ext cx="5254600" cy="270256"/>
          </a:xfrm>
          <a:prstGeom prst="rect">
            <a:avLst/>
          </a:prstGeom>
          <a:solidFill>
            <a:srgbClr val="F2F2F2"/>
          </a:solidFill>
          <a:ln w="12700">
            <a:solidFill>
              <a:srgbClr val="F2F2F2"/>
            </a:solidFill>
            <a:prstDash val="solid"/>
          </a:ln>
        </p:spPr>
      </p:sp>
      <p:sp>
        <p:nvSpPr>
          <p:cNvPr id="54" name="Shape 52"/>
          <p:cNvSpPr/>
          <p:nvPr/>
        </p:nvSpPr>
        <p:spPr>
          <a:xfrm>
            <a:off x="6571336" y="2595880"/>
            <a:ext cx="256032" cy="256032"/>
          </a:xfrm>
          <a:prstGeom prst="ellipse">
            <a:avLst/>
          </a:prstGeom>
          <a:solidFill>
            <a:srgbClr val="F2F2F2"/>
          </a:solidFill>
          <a:ln w="12700">
            <a:solidFill>
              <a:srgbClr val="111111"/>
            </a:solidFill>
            <a:prstDash val="solid"/>
          </a:ln>
        </p:spPr>
      </p:sp>
      <p:sp>
        <p:nvSpPr>
          <p:cNvPr id="55" name="Text 53"/>
          <p:cNvSpPr/>
          <p:nvPr/>
        </p:nvSpPr>
        <p:spPr>
          <a:xfrm>
            <a:off x="6571336" y="259588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12</a:t>
            </a:r>
            <a:endParaRPr lang="en-US" sz="800" dirty="0"/>
          </a:p>
        </p:txBody>
      </p:sp>
      <p:sp>
        <p:nvSpPr>
          <p:cNvPr id="56" name="Text 54"/>
          <p:cNvSpPr/>
          <p:nvPr/>
        </p:nvSpPr>
        <p:spPr>
          <a:xfrm>
            <a:off x="6955384" y="258876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본문 글자와 배경의 대비가 4.5 대 1 이상이다</a:t>
            </a:r>
            <a:endParaRPr lang="en-US" sz="1050" dirty="0"/>
          </a:p>
        </p:txBody>
      </p:sp>
      <p:sp>
        <p:nvSpPr>
          <p:cNvPr id="57" name="Shape 55"/>
          <p:cNvSpPr/>
          <p:nvPr/>
        </p:nvSpPr>
        <p:spPr>
          <a:xfrm>
            <a:off x="6297016" y="3005328"/>
            <a:ext cx="5254600" cy="270256"/>
          </a:xfrm>
          <a:prstGeom prst="rect">
            <a:avLst/>
          </a:prstGeom>
          <a:solidFill>
            <a:srgbClr val="F2F2F2"/>
          </a:solidFill>
          <a:ln w="12700">
            <a:solidFill>
              <a:srgbClr val="F2F2F2"/>
            </a:solidFill>
            <a:prstDash val="solid"/>
          </a:ln>
        </p:spPr>
      </p:sp>
      <p:sp>
        <p:nvSpPr>
          <p:cNvPr id="58" name="Shape 56"/>
          <p:cNvSpPr/>
          <p:nvPr/>
        </p:nvSpPr>
        <p:spPr>
          <a:xfrm>
            <a:off x="6571336" y="3012440"/>
            <a:ext cx="256032" cy="256032"/>
          </a:xfrm>
          <a:prstGeom prst="ellipse">
            <a:avLst/>
          </a:prstGeom>
          <a:solidFill>
            <a:srgbClr val="F2F2F2"/>
          </a:solidFill>
          <a:ln w="12700">
            <a:solidFill>
              <a:srgbClr val="111111"/>
            </a:solidFill>
            <a:prstDash val="solid"/>
          </a:ln>
        </p:spPr>
      </p:sp>
      <p:sp>
        <p:nvSpPr>
          <p:cNvPr id="59" name="Text 57"/>
          <p:cNvSpPr/>
          <p:nvPr/>
        </p:nvSpPr>
        <p:spPr>
          <a:xfrm>
            <a:off x="6571336" y="301244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13</a:t>
            </a:r>
            <a:endParaRPr lang="en-US" sz="800" dirty="0"/>
          </a:p>
        </p:txBody>
      </p:sp>
      <p:sp>
        <p:nvSpPr>
          <p:cNvPr id="60" name="Text 58"/>
          <p:cNvSpPr/>
          <p:nvPr/>
        </p:nvSpPr>
        <p:spPr>
          <a:xfrm>
            <a:off x="6955384" y="300532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색과 글자가 컴포넌트에 직접 지정되지 않고 토큰으로 걸려 있다</a:t>
            </a:r>
            <a:endParaRPr lang="en-US" sz="1050" dirty="0"/>
          </a:p>
        </p:txBody>
      </p:sp>
      <p:sp>
        <p:nvSpPr>
          <p:cNvPr id="61" name="Shape 59"/>
          <p:cNvSpPr/>
          <p:nvPr/>
        </p:nvSpPr>
        <p:spPr>
          <a:xfrm>
            <a:off x="6297016" y="3421888"/>
            <a:ext cx="5254600" cy="270256"/>
          </a:xfrm>
          <a:prstGeom prst="rect">
            <a:avLst/>
          </a:prstGeom>
          <a:solidFill>
            <a:srgbClr val="F2F2F2"/>
          </a:solidFill>
          <a:ln w="12700">
            <a:solidFill>
              <a:srgbClr val="F2F2F2"/>
            </a:solidFill>
            <a:prstDash val="solid"/>
          </a:ln>
        </p:spPr>
      </p:sp>
      <p:sp>
        <p:nvSpPr>
          <p:cNvPr id="62" name="Shape 60"/>
          <p:cNvSpPr/>
          <p:nvPr/>
        </p:nvSpPr>
        <p:spPr>
          <a:xfrm>
            <a:off x="6571336" y="3429000"/>
            <a:ext cx="256032" cy="256032"/>
          </a:xfrm>
          <a:prstGeom prst="ellipse">
            <a:avLst/>
          </a:prstGeom>
          <a:solidFill>
            <a:srgbClr val="F2F2F2"/>
          </a:solidFill>
          <a:ln w="12700">
            <a:solidFill>
              <a:srgbClr val="111111"/>
            </a:solidFill>
            <a:prstDash val="solid"/>
          </a:ln>
        </p:spPr>
      </p:sp>
      <p:sp>
        <p:nvSpPr>
          <p:cNvPr id="63" name="Text 61"/>
          <p:cNvSpPr/>
          <p:nvPr/>
        </p:nvSpPr>
        <p:spPr>
          <a:xfrm>
            <a:off x="6571336" y="342900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14</a:t>
            </a:r>
            <a:endParaRPr lang="en-US" sz="800" dirty="0"/>
          </a:p>
        </p:txBody>
      </p:sp>
      <p:sp>
        <p:nvSpPr>
          <p:cNvPr id="64" name="Text 62"/>
          <p:cNvSpPr/>
          <p:nvPr/>
        </p:nvSpPr>
        <p:spPr>
          <a:xfrm>
            <a:off x="6955384" y="342188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토큰 값 하나를 바꾸면 네 장이 함께 바뀐다</a:t>
            </a:r>
            <a:endParaRPr lang="en-US" sz="1050" dirty="0"/>
          </a:p>
        </p:txBody>
      </p:sp>
      <p:sp>
        <p:nvSpPr>
          <p:cNvPr id="65" name="Shape 63"/>
          <p:cNvSpPr/>
          <p:nvPr/>
        </p:nvSpPr>
        <p:spPr>
          <a:xfrm>
            <a:off x="6297016" y="3838448"/>
            <a:ext cx="5254600" cy="270256"/>
          </a:xfrm>
          <a:prstGeom prst="rect">
            <a:avLst/>
          </a:prstGeom>
          <a:solidFill>
            <a:srgbClr val="F2F2F2"/>
          </a:solidFill>
          <a:ln w="12700">
            <a:solidFill>
              <a:srgbClr val="F2F2F2"/>
            </a:solidFill>
            <a:prstDash val="solid"/>
          </a:ln>
        </p:spPr>
      </p:sp>
      <p:sp>
        <p:nvSpPr>
          <p:cNvPr id="66" name="Shape 64"/>
          <p:cNvSpPr/>
          <p:nvPr/>
        </p:nvSpPr>
        <p:spPr>
          <a:xfrm>
            <a:off x="6571336" y="3845560"/>
            <a:ext cx="256032" cy="256032"/>
          </a:xfrm>
          <a:prstGeom prst="ellipse">
            <a:avLst/>
          </a:prstGeom>
          <a:solidFill>
            <a:srgbClr val="F2F2F2"/>
          </a:solidFill>
          <a:ln w="12700">
            <a:solidFill>
              <a:srgbClr val="111111"/>
            </a:solidFill>
            <a:prstDash val="solid"/>
          </a:ln>
        </p:spPr>
      </p:sp>
      <p:sp>
        <p:nvSpPr>
          <p:cNvPr id="67" name="Text 65"/>
          <p:cNvSpPr/>
          <p:nvPr/>
        </p:nvSpPr>
        <p:spPr>
          <a:xfrm>
            <a:off x="6571336" y="384556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15</a:t>
            </a:r>
            <a:endParaRPr lang="en-US" sz="800" dirty="0"/>
          </a:p>
        </p:txBody>
      </p:sp>
      <p:sp>
        <p:nvSpPr>
          <p:cNvPr id="68" name="Text 66"/>
          <p:cNvSpPr/>
          <p:nvPr/>
        </p:nvSpPr>
        <p:spPr>
          <a:xfrm>
            <a:off x="6955384" y="383844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컨펌 받은 2장의 헤더 · 리스트 · 카드가 인스턴스로 교체되었다</a:t>
            </a:r>
            <a:endParaRPr lang="en-US" sz="1050" dirty="0"/>
          </a:p>
        </p:txBody>
      </p:sp>
      <p:sp>
        <p:nvSpPr>
          <p:cNvPr id="69" name="Shape 67"/>
          <p:cNvSpPr/>
          <p:nvPr/>
        </p:nvSpPr>
        <p:spPr>
          <a:xfrm>
            <a:off x="6297016" y="4255008"/>
            <a:ext cx="5254600" cy="270256"/>
          </a:xfrm>
          <a:prstGeom prst="rect">
            <a:avLst/>
          </a:prstGeom>
          <a:solidFill>
            <a:srgbClr val="F2F2F2"/>
          </a:solidFill>
          <a:ln w="12700">
            <a:solidFill>
              <a:srgbClr val="F2F2F2"/>
            </a:solidFill>
            <a:prstDash val="solid"/>
          </a:ln>
        </p:spPr>
      </p:sp>
      <p:sp>
        <p:nvSpPr>
          <p:cNvPr id="70" name="Shape 68"/>
          <p:cNvSpPr/>
          <p:nvPr/>
        </p:nvSpPr>
        <p:spPr>
          <a:xfrm>
            <a:off x="6571336" y="4262120"/>
            <a:ext cx="256032" cy="256032"/>
          </a:xfrm>
          <a:prstGeom prst="ellipse">
            <a:avLst/>
          </a:prstGeom>
          <a:solidFill>
            <a:srgbClr val="F2F2F2"/>
          </a:solidFill>
          <a:ln w="12700">
            <a:solidFill>
              <a:srgbClr val="111111"/>
            </a:solidFill>
            <a:prstDash val="solid"/>
          </a:ln>
        </p:spPr>
      </p:sp>
      <p:sp>
        <p:nvSpPr>
          <p:cNvPr id="71" name="Text 69"/>
          <p:cNvSpPr/>
          <p:nvPr/>
        </p:nvSpPr>
        <p:spPr>
          <a:xfrm>
            <a:off x="6571336" y="426212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16</a:t>
            </a:r>
            <a:endParaRPr lang="en-US" sz="800" dirty="0"/>
          </a:p>
        </p:txBody>
      </p:sp>
      <p:sp>
        <p:nvSpPr>
          <p:cNvPr id="72" name="Text 70"/>
          <p:cNvSpPr/>
          <p:nvPr/>
        </p:nvSpPr>
        <p:spPr>
          <a:xfrm>
            <a:off x="6955384" y="425500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새로 만든 2장이 오늘 만든 컴포넌트와 토큰만으로 조립되었다</a:t>
            </a:r>
            <a:endParaRPr lang="en-US" sz="1050" dirty="0"/>
          </a:p>
        </p:txBody>
      </p:sp>
      <p:sp>
        <p:nvSpPr>
          <p:cNvPr id="73" name="Shape 71"/>
          <p:cNvSpPr/>
          <p:nvPr/>
        </p:nvSpPr>
        <p:spPr>
          <a:xfrm>
            <a:off x="6297016" y="4671568"/>
            <a:ext cx="5254600" cy="270256"/>
          </a:xfrm>
          <a:prstGeom prst="rect">
            <a:avLst/>
          </a:prstGeom>
          <a:solidFill>
            <a:srgbClr val="F2F2F2"/>
          </a:solidFill>
          <a:ln w="12700">
            <a:solidFill>
              <a:srgbClr val="F2F2F2"/>
            </a:solidFill>
            <a:prstDash val="solid"/>
          </a:ln>
        </p:spPr>
      </p:sp>
      <p:sp>
        <p:nvSpPr>
          <p:cNvPr id="74" name="Shape 72"/>
          <p:cNvSpPr/>
          <p:nvPr/>
        </p:nvSpPr>
        <p:spPr>
          <a:xfrm>
            <a:off x="6571336" y="4678680"/>
            <a:ext cx="256032" cy="256032"/>
          </a:xfrm>
          <a:prstGeom prst="ellipse">
            <a:avLst/>
          </a:prstGeom>
          <a:solidFill>
            <a:srgbClr val="F2F2F2"/>
          </a:solidFill>
          <a:ln w="12700">
            <a:solidFill>
              <a:srgbClr val="111111"/>
            </a:solidFill>
            <a:prstDash val="solid"/>
          </a:ln>
        </p:spPr>
      </p:sp>
      <p:sp>
        <p:nvSpPr>
          <p:cNvPr id="75" name="Text 73"/>
          <p:cNvSpPr/>
          <p:nvPr/>
        </p:nvSpPr>
        <p:spPr>
          <a:xfrm>
            <a:off x="6571336" y="4678680"/>
            <a:ext cx="256032" cy="256032"/>
          </a:xfrm>
          <a:prstGeom prst="rect">
            <a:avLst/>
          </a:prstGeom>
          <a:noFill/>
          <a:ln/>
        </p:spPr>
        <p:txBody>
          <a:bodyPr wrap="square" lIns="0" tIns="0" rIns="0" bIns="0" rtlCol="0" anchor="ctr"/>
          <a:lstStyle/>
          <a:p>
            <a:pPr algn="ctr" indent="0" marL="0">
              <a:buNone/>
            </a:pPr>
            <a:r>
              <a:rPr lang="en-US" sz="800" b="1" dirty="0">
                <a:solidFill>
                  <a:srgbClr val="111111"/>
                </a:solidFill>
                <a:latin typeface="Pretendard" pitchFamily="34" charset="0"/>
                <a:ea typeface="Pretendard" pitchFamily="34" charset="-122"/>
                <a:cs typeface="Pretendard" pitchFamily="34" charset="-120"/>
              </a:rPr>
              <a:t>17</a:t>
            </a:r>
            <a:endParaRPr lang="en-US" sz="800" dirty="0"/>
          </a:p>
        </p:txBody>
      </p:sp>
      <p:sp>
        <p:nvSpPr>
          <p:cNvPr id="76" name="Text 74"/>
          <p:cNvSpPr/>
          <p:nvPr/>
        </p:nvSpPr>
        <p:spPr>
          <a:xfrm>
            <a:off x="6955384" y="4671568"/>
            <a:ext cx="4321912" cy="270256"/>
          </a:xfrm>
          <a:prstGeom prst="rect">
            <a:avLst/>
          </a:prstGeom>
          <a:noFill/>
          <a:ln/>
        </p:spPr>
        <p:txBody>
          <a:bodyPr wrap="square" lIns="0" tIns="0" rIns="0" bIns="0" rtlCol="0" anchor="ctr"/>
          <a:lstStyle/>
          <a:p>
            <a:pPr indent="0" marL="0">
              <a:buNone/>
            </a:pPr>
            <a:r>
              <a:rPr lang="en-US" sz="1050" dirty="0">
                <a:solidFill>
                  <a:srgbClr val="111111"/>
                </a:solidFill>
                <a:latin typeface="Pretendard" pitchFamily="34" charset="0"/>
                <a:ea typeface="Pretendard" pitchFamily="34" charset="-122"/>
                <a:cs typeface="Pretendard" pitchFamily="34" charset="-120"/>
              </a:rPr>
              <a:t>직접 그린 헤더 · 리스트 · 카드가 한 개도 남아 있지 않다</a:t>
            </a:r>
            <a:endParaRPr lang="en-US" sz="1050" dirty="0"/>
          </a:p>
        </p:txBody>
      </p:sp>
      <p:sp>
        <p:nvSpPr>
          <p:cNvPr id="77" name="Shape 75"/>
          <p:cNvSpPr/>
          <p:nvPr/>
        </p:nvSpPr>
        <p:spPr>
          <a:xfrm>
            <a:off x="640080" y="5559552"/>
            <a:ext cx="10911535" cy="7315"/>
          </a:xfrm>
          <a:prstGeom prst="rect">
            <a:avLst/>
          </a:prstGeom>
          <a:solidFill>
            <a:srgbClr val="111111"/>
          </a:solidFill>
          <a:ln w="12700">
            <a:solidFill>
              <a:srgbClr val="111111"/>
            </a:solidFill>
            <a:prstDash val="solid"/>
          </a:ln>
        </p:spPr>
      </p:sp>
      <p:sp>
        <p:nvSpPr>
          <p:cNvPr id="78" name="Text 76"/>
          <p:cNvSpPr/>
          <p:nvPr/>
        </p:nvSpPr>
        <p:spPr>
          <a:xfrm>
            <a:off x="640080" y="566928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13~17번이 이번 주의 실질입니다. 토큰을 걸지 않고 직접 지정하면 다음 주에도 낱개 화면을 고치고 있게 됩니다.</a:t>
            </a:r>
            <a:endParaRPr lang="en-US" sz="1250" dirty="0"/>
          </a:p>
        </p:txBody>
      </p:sp>
      <p:sp>
        <p:nvSpPr>
          <p:cNvPr id="79" name="Shape 77"/>
          <p:cNvSpPr/>
          <p:nvPr/>
        </p:nvSpPr>
        <p:spPr>
          <a:xfrm>
            <a:off x="640080" y="6291072"/>
            <a:ext cx="10911535" cy="7315"/>
          </a:xfrm>
          <a:prstGeom prst="rect">
            <a:avLst/>
          </a:prstGeom>
          <a:solidFill>
            <a:srgbClr val="DCDCDC"/>
          </a:solidFill>
          <a:ln w="12700">
            <a:solidFill>
              <a:srgbClr val="DCDCDC"/>
            </a:solidFill>
            <a:prstDash val="solid"/>
          </a:ln>
        </p:spPr>
      </p:sp>
      <p:sp>
        <p:nvSpPr>
          <p:cNvPr id="80" name="Text 78"/>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4주차 공통 요소와 스타일 토큰</a:t>
            </a:r>
            <a:endParaRPr lang="en-US" sz="850" dirty="0"/>
          </a:p>
        </p:txBody>
      </p:sp>
      <p:sp>
        <p:nvSpPr>
          <p:cNvPr id="81" name="Text 79"/>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P.11</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서비스디자인</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1 기준</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04</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 수업은 만든 시스템을 남은 화면으로 넓힙니다.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규격 명세와 토큰 표</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헤더 · 리스트 · 카드를 항목 · 값 · 근거 세 칸으로 채우고, 색과 글자 크기 토큰도 같은 표에 이어 적습니다.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컴포넌트 3종 · 토큰 연결</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헤더 · 리스트 행 · 카드를 컴포넌트로 만들고, 색과 글자는 직접 지정하지 말고 토큰을 걸어 둡니다.</a:t>
            </a:r>
            <a:endParaRPr lang="en-US" sz="1100" dirty="0"/>
          </a:p>
        </p:txBody>
      </p:sp>
      <p:sp>
        <p:nvSpPr>
          <p:cNvPr id="19" name="Shape 17"/>
          <p:cNvSpPr/>
          <p:nvPr/>
        </p:nvSpPr>
        <p:spPr>
          <a:xfrm>
            <a:off x="640080" y="3767328"/>
            <a:ext cx="6309360" cy="896112"/>
          </a:xfrm>
          <a:prstGeom prst="rect">
            <a:avLst/>
          </a:prstGeom>
          <a:solidFill>
            <a:srgbClr val="FFFFFF"/>
          </a:solidFill>
          <a:ln w="12700">
            <a:solidFill>
              <a:srgbClr val="DCDCDC"/>
            </a:solidFill>
            <a:prstDash val="solid"/>
          </a:ln>
        </p:spPr>
      </p:sp>
      <p:sp>
        <p:nvSpPr>
          <p:cNvPr id="20" name="Shape 18"/>
          <p:cNvSpPr/>
          <p:nvPr/>
        </p:nvSpPr>
        <p:spPr>
          <a:xfrm>
            <a:off x="969264" y="4041648"/>
            <a:ext cx="329184" cy="329184"/>
          </a:xfrm>
          <a:prstGeom prst="ellipse">
            <a:avLst/>
          </a:prstGeom>
          <a:solidFill>
            <a:srgbClr val="111111"/>
          </a:solidFill>
          <a:ln w="12700">
            <a:solidFill>
              <a:srgbClr val="111111"/>
            </a:solidFill>
            <a:prstDash val="solid"/>
          </a:ln>
        </p:spPr>
      </p:sp>
      <p:sp>
        <p:nvSpPr>
          <p:cNvPr id="21" name="Text 19"/>
          <p:cNvSpPr/>
          <p:nvPr/>
        </p:nvSpPr>
        <p:spPr>
          <a:xfrm>
            <a:off x="969264" y="40416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3</a:t>
            </a:r>
            <a:endParaRPr lang="en-US" sz="1100" dirty="0"/>
          </a:p>
        </p:txBody>
      </p:sp>
      <p:sp>
        <p:nvSpPr>
          <p:cNvPr id="22" name="Text 20"/>
          <p:cNvSpPr/>
          <p:nvPr/>
        </p:nvSpPr>
        <p:spPr>
          <a:xfrm>
            <a:off x="1426464" y="3858768"/>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디자인 4장으로 확장</a:t>
            </a:r>
            <a:endParaRPr lang="en-US" sz="1400" dirty="0"/>
          </a:p>
        </p:txBody>
      </p:sp>
      <p:sp>
        <p:nvSpPr>
          <p:cNvPr id="23" name="Text 21"/>
          <p:cNvSpPr/>
          <p:nvPr/>
        </p:nvSpPr>
        <p:spPr>
          <a:xfrm>
            <a:off x="1426464" y="4169664"/>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컨펌 받은 2장에 2장을 더해 네 장을 만듭니다. 새로 만든 2장은 오늘 만든 컴포넌트와 토큰만으로 조립합니다.</a:t>
            </a:r>
            <a:endParaRPr lang="en-US" sz="1100" dirty="0"/>
          </a:p>
        </p:txBody>
      </p:sp>
      <p:sp>
        <p:nvSpPr>
          <p:cNvPr id="24" name="Shape 22"/>
          <p:cNvSpPr/>
          <p:nvPr/>
        </p:nvSpPr>
        <p:spPr>
          <a:xfrm>
            <a:off x="640080" y="4809744"/>
            <a:ext cx="6309360" cy="7315"/>
          </a:xfrm>
          <a:prstGeom prst="rect">
            <a:avLst/>
          </a:prstGeom>
          <a:solidFill>
            <a:srgbClr val="111111"/>
          </a:solidFill>
          <a:ln w="12700">
            <a:solidFill>
              <a:srgbClr val="111111"/>
            </a:solidFill>
            <a:prstDash val="solid"/>
          </a:ln>
        </p:spPr>
      </p:sp>
      <p:sp>
        <p:nvSpPr>
          <p:cNvPr id="25" name="Text 23"/>
          <p:cNvSpPr/>
          <p:nvPr/>
        </p:nvSpPr>
        <p:spPr>
          <a:xfrm>
            <a:off x="640080" y="4901184"/>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10월 7일(수) 수업 시작 전까지 · Figma 링크 제출</a:t>
            </a:r>
            <a:endParaRPr lang="en-US" sz="1200" dirty="0"/>
          </a:p>
        </p:txBody>
      </p:sp>
      <p:sp>
        <p:nvSpPr>
          <p:cNvPr id="26" name="Shape 24"/>
          <p:cNvSpPr/>
          <p:nvPr/>
        </p:nvSpPr>
        <p:spPr>
          <a:xfrm>
            <a:off x="7351776" y="1719072"/>
            <a:ext cx="4199839" cy="3803904"/>
          </a:xfrm>
          <a:prstGeom prst="rect">
            <a:avLst/>
          </a:prstGeom>
          <a:solidFill>
            <a:srgbClr val="111111"/>
          </a:solidFill>
          <a:ln w="12700">
            <a:solidFill>
              <a:srgbClr val="111111"/>
            </a:solidFill>
            <a:prstDash val="solid"/>
          </a:ln>
        </p:spPr>
      </p:sp>
      <p:sp>
        <p:nvSpPr>
          <p:cNvPr id="27" name="Text 25"/>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8" name="Text 26"/>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05주차</a:t>
            </a:r>
            <a:endParaRPr lang="en-US" sz="2600" dirty="0"/>
          </a:p>
        </p:txBody>
      </p:sp>
      <p:sp>
        <p:nvSpPr>
          <p:cNvPr id="29" name="Text 27"/>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남은 화면으로 넓히기</a:t>
            </a:r>
            <a:endParaRPr lang="en-US" sz="1700" dirty="0"/>
          </a:p>
        </p:txBody>
      </p:sp>
      <p:sp>
        <p:nvSpPr>
          <p:cNvPr id="30" name="Shape 28"/>
          <p:cNvSpPr/>
          <p:nvPr/>
        </p:nvSpPr>
        <p:spPr>
          <a:xfrm>
            <a:off x="7735824" y="3346704"/>
            <a:ext cx="3431743" cy="7315"/>
          </a:xfrm>
          <a:prstGeom prst="rect">
            <a:avLst/>
          </a:prstGeom>
          <a:solidFill>
            <a:srgbClr val="333333"/>
          </a:solidFill>
          <a:ln w="12700">
            <a:solidFill>
              <a:srgbClr val="333333"/>
            </a:solidFill>
            <a:prstDash val="solid"/>
          </a:ln>
        </p:spPr>
      </p:sp>
      <p:sp>
        <p:nvSpPr>
          <p:cNvPr id="31" name="Text 29"/>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아이콘과 입력 요소</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빈 화면 · 불러오는 중 · 오류 상태</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만든 시스템으로 화면 늘리기</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안 맞는 화면을 만났을 때</a:t>
            </a:r>
            <a:endParaRPr lang="en-US" sz="1150" dirty="0"/>
          </a:p>
        </p:txBody>
      </p:sp>
      <p:sp>
        <p:nvSpPr>
          <p:cNvPr id="32" name="Shape 30"/>
          <p:cNvSpPr/>
          <p:nvPr/>
        </p:nvSpPr>
        <p:spPr>
          <a:xfrm>
            <a:off x="7735824" y="4700016"/>
            <a:ext cx="3431743" cy="7315"/>
          </a:xfrm>
          <a:prstGeom prst="rect">
            <a:avLst/>
          </a:prstGeom>
          <a:solidFill>
            <a:srgbClr val="333333"/>
          </a:solidFill>
          <a:ln w="12700">
            <a:solidFill>
              <a:srgbClr val="333333"/>
            </a:solidFill>
            <a:prstDash val="solid"/>
          </a:ln>
        </p:spPr>
      </p:sp>
      <p:sp>
        <p:nvSpPr>
          <p:cNvPr id="33" name="Text 31"/>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34" name="Text 32"/>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규격 명세와 토큰 표 · 컴포넌트 3종 · 디자인 4장</a:t>
            </a:r>
            <a:endParaRPr lang="en-US" sz="1100" dirty="0"/>
          </a:p>
        </p:txBody>
      </p:sp>
      <p:sp>
        <p:nvSpPr>
          <p:cNvPr id="35" name="Shape 33"/>
          <p:cNvSpPr/>
          <p:nvPr/>
        </p:nvSpPr>
        <p:spPr>
          <a:xfrm>
            <a:off x="640080" y="6291072"/>
            <a:ext cx="10911535" cy="7315"/>
          </a:xfrm>
          <a:prstGeom prst="rect">
            <a:avLst/>
          </a:prstGeom>
          <a:solidFill>
            <a:srgbClr val="DCDCDC"/>
          </a:solidFill>
          <a:ln w="12700">
            <a:solidFill>
              <a:srgbClr val="DCDCDC"/>
            </a:solidFill>
            <a:prstDash val="solid"/>
          </a:ln>
        </p:spPr>
      </p:sp>
      <p:sp>
        <p:nvSpPr>
          <p:cNvPr id="36" name="Text 34"/>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서비스디자인 · 4주차 공통 요소와 스타일 토큰</a:t>
            </a:r>
            <a:endParaRPr lang="en-US" sz="850" dirty="0"/>
          </a:p>
        </p:txBody>
      </p:sp>
      <p:sp>
        <p:nvSpPr>
          <p:cNvPr id="37" name="Text 35"/>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서비스디자인 · 4주차 공통 요소와 스타일 토큰</dc:title>
  <dc:subject>원광대학교 2026-2 · 학부 3학년 · 주 3시간 × 15주 · 1학기 기획을 졸업 전시 패널 데이터로</dc:subject>
  <dc:creator>MIN.D</dc:creator>
  <cp:lastModifiedBy>MIN.D</cp:lastModifiedBy>
  <cp:revision>1</cp:revision>
  <dcterms:created xsi:type="dcterms:W3CDTF">2026-10-06T11:49:33Z</dcterms:created>
  <dcterms:modified xsi:type="dcterms:W3CDTF">2026-10-06T11:49:33Z</dcterms:modified>
</cp:coreProperties>
</file>