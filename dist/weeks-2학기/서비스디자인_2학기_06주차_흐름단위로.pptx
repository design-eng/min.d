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여섯 번째 시간입니다.
지난주로 기준 구간이 끝났습니다. 헤더와 리스트와 카드, 아이콘과 입력과 버튼, 상태 화면까지. 다시 만들 일은 이제 없습니다.
오늘부터 화면 구간입니다. 다섯 주 동안 패널에 실릴 화면을 만듭니다.
그런데 시작하기 전에 짚을 것이 하나 있어요. 화면을 한 장씩 만들면 안 됩니다.
매년 이 구간에서 같은 일이 생깁니다. 화면 수는 스무 장인데 서로 이어지지 않아요. 이 화면에서 저 화면으로 어떻게 가는지, 갔다가 어떻게 돌아오는지가 비어 있습니다.
그래서 오늘은 단위를 바꿉니다. 한 장이 아니라 한 흐름입니다.
흐름 하나를 끝까지 만들고 다음 흐름으로 넘어갑니다. 그러면 화면이 늘어나도 서비스로 보입니다.
[운영 메모]
화면 구간의 첫 수업이다. '단위를 바꾼다'는 말이 오늘의 전부다. 학생들은 화면 수를 채우려 하는데, 이어지지 않는 스무 장보다 이어지는 일곱 장이 패널에서 훨씬 낫다는 점을 컨펌 때 실물로 보여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 번째입니다. 단위 이야기예요.
여러분은 지금까지 화면을 한 장씩 만들어 왔습니다. 1학기 기획도 그랬고 지난 네 주도 그랬어요.
그게 틀린 건 아닙니다. 기준을 만들 때는 그래야 했어요.
그런데 이제부터는 달라집니다. 화면이 서로를 가리키기 시작하거든요.
[운영 메모]
30분 구간. 도판 한 장에서 15분 이상 쓸 것. 말로 설명하는 것보다 도판에서 '03과 05가 왜 필요한가'를 묻는 편이 빠르다.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한 문장으로 말씀드리면 이겁니다.
화면을 한 장씩 그리면, 화면은 늘어나는데 서비스는 생기지 않습니다.
왜 그런가. 한 장씩 그릴 때 우리는 그 화면 안만 봅니다. 여기 뭐가 들어가야 하나, 어떻게 배치하나.
그런데 사용자는 화면을 보는 게 아니라 일을 합니다. 장소를 저장하는 일, 코스를 만드는 일, 친구에게 보내는 일.
그 일 하나가 흐름입니다. 흐름은 보통 화면 다섯 장에서 일곱 장이에요.
단위를 바꾸세요. 한 장을 끝내고 다음 장으로 가는 게 아니라, 한 흐름을 끝내고 다음 흐름으로 갑니다.
그러면 중간에 빠진 화면이 눈에 보입니다. 장 단위로 그릴 때는 안 보여요.
[운영 메모]
화면 구간의 첫 선언. 이 말을 듣고도 장 단위로 작업하는 학생이 있으므로 실습 순회에서 반복해 확인할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도판을 보시겠습니다. 장소를 저장하는 흐름입니다. 다섯 장이에요.
01, 목록에서 고릅니다. 02, 상세를 봅니다. 03, 저장되었다고 알립니다. 04, 보관함에 들어와 있습니다. 05, 돌아와도 남아 있습니다.
여기서 03과 05를 보세요. 이 두 장이 오늘의 핵심입니다.
03은 새 화면이 아닙니다. 02와 같은 화면이에요. 버튼이 '저장하기'에서 '저장됨'으로 바뀌고 아래 알림이 떴을 뿐입니다.
많은 분들이 이걸 새 화면으로 그립니다. 그러면 화면 수는 늘지만 개발자는 혼란스러워요. 같은 화면의 상태 변화인지 다른 화면인지 알 수가 없습니다.
05는 아예 안 그리는 경우가 대부분입니다. 저장을 했으면 목록으로 돌아왔을 때 하트가 채워져 있어야 하잖아요. 그 화면을 안 그리면 개발 단계에서 그냥 빠집니다. 저장은 되는데 목록에는 반영이 안 되는 거예요.
실제로 이런 앱들 있습니다. 여러분도 써 보셨을 겁니다.
그리고 02를 한 번 더 보세요. 헤더 왼쪽에 꺾쇠가 있습니다. 어디서 왔는지 남긴 겁니다. 들어온 길을 남기지 않으면 사용자는 돌아갈 데를 잃습니다.
01과 02의 정보 분량도 다릅니다. 목록에는 이름과 분류와 거리만, 상세에는 설명까지. 이건 세 번째 파트에서 다루겠습니다.
다섯 장이 아니라 한 흐름입니다. 이 말을 오늘 가져가세요.
[운영 메모]
03(같은 화면의 상태 변화)과 05(되돌아왔을 때)가 이 도판의 전부다. 학생들에게 '여러분 파일에 05에 해당하는 화면이 있습니까'를 직접 물을 것. 대부분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흐름 하나에는 네 지점이 있습니다. 이 넷이 다 있으면 흐름이고, 하나라도 없으면 아직 낱장입니다.
첫째, 시작. 사용자가 어디서 이 일을 시작하는가. 보통 목록이나 홈입니다.
둘째, 진행. 무엇을 보고 무엇을 누르는가. 여기가 보통 한두 장입니다.
셋째, 결과. 그래서 어떻게 되었는가. 아까 도판의 03과 04입니다. 알림과 결과 화면이요.
넷째, 되돌아옴. 다시 왔을 때 그 결과가 남아 있는가. 도판의 05입니다.
네 번째를 빠뜨리는 분이 열에 아홉입니다. 그런데 사용자 입장에서는 이게 제일 중요해요. 내가 한 일이 남아 있는지를 확인하는 순간이거든요.
자기 흐름을 적어 보시면서 네 지점에 각각 어떤 화면이 해당하는지 짚어 보세요. 비는 자리가 바로 빠진 화면입니다.
[운영 메모]
실습 순회에서 이 네 지점으로 확인하면 빠른 진단이 된다. 4번이 비어 있는 학생이 대부분이다.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방식의 차이를 정리했습니다.
세는 단위가 다릅니다. 장 단위는 화면 몇 장이고, 흐름 단위는 할 수 있는 일 몇 개입니다.
끝났다고 판단하는 기준도 달라요. 장 단위는 그 화면이 예뻐 보이면 끝인데, 흐름 단위는 처음부터 끝까지 따라갈 수 있으면 끝입니다.
빠진 것이 드러나는 시점. 이게 제일 큽니다. 장 단위로 그리면 개발 단계나 패널 만들 때 드러나요. 그때는 늦습니다. 흐름 단위로 그리면 그리는 중에 드러납니다.
컨펌 방식도 바뀝니다. 다음 주부터는 한 장씩 보지 않고 흐름을 통째로 봅니다. 다섯 장을 한 화면에 펼쳐 놓고 따라가 보는 겁니다.
마지막, 패널에 올릴 때. 낱장은 캡처 모음이 됩니다. 흐름은 장면이 돼요. 3미터 밖에서도 '이 서비스로 무엇을 하는지'가 읽힙니다.
[운영 메모]
'빠진 것이 보이는 때' 행이 설득의 핵심이다. 작년 사례로 개발 단계에서 화면을 다시 그린 팀 이야기를 덧붙이면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화면과 화면 사이예요.
여러분 기획안에 화살표가 그어져 있을 겁니다. 이 화면에서 저 화면으로.
그런데 화살표만으로는 부족합니다. 어떻게 가는지, 그리고 어떻게 돌아오는지를 정해야 해요.
[운영 메모]
30분 구간. 도판 중심으로 진행. 되돌아오기를 설명하지 못하는 이동은 설계된 것이 아니라는 점을 반복할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도판을 보시겠습니다. 모바일에서 화면이 바뀌는 방식은 사실 세 가지뿐입니다.
첫 번째, 밀기. 오른쪽에서 새 화면이 들어옵니다. 더 깊이 들어가는 이동이에요. 목록에서 상세로, 설정에서 하위 설정으로.
돌아갈 때는 헤더 왼쪽 꺾쇠를 누르거나 화면을 오른쪽으로 씁니다. 그래서 밀기에는 반드시 꺾쇠가 있어야 해요.
주의할 게 하나 있습니다. 세 번 넘게 밀면 사용자가 돌아 나오기 어려워집니다. 꺾쇠를 세 번 눌러야 처음으로 가는 거죠. 흐름을 설계할 때 깊이를 세 단계 안으로 잡으세요.
두 번째, 덮기. 아래에서 올라와 현재 화면을 덮습니다. 끝내면 제자리로 돌아오는 일에 씁니다. 공유, 필터, 짧은 입력 같은 것들이요.
돌아가는 길이 세 개입니다. 오른쪽 위 닫기, 아래로 끌어내리기, 바깥 누르기. 이 중 최소 두 개는 열어 두세요.
덮기 위에 또 덮지 마세요. 사용자가 몇 겹에 있는지 모르게 됩니다.
세 번째, 바꾸기. 지난주에 한 세그먼트 탭입니다. 이건 사실 이동이 아니에요. 화면은 그대로 있고 안의 내용만 바뀝니다.
그래서 꺾쇠가 생기지 않습니다. 이전 탭을 다시 누르면 되니까요.
여기서 자주 틀리는 게 있습니다. 탭을 눌렀는데 헤더까지 바뀌면 그건 탭이 아니라 다른 화면으로 간 겁니다. 탭으로 그려 놓고 다른 화면처럼 만들면 개발 단계에서 반드시 문제가 생겨요.
아래 문장을 보세요. 세 가지 중 하나를 고르는 기준은 어떻게 돌아오는가입니다. 돌아오는 길을 설명할 수 없으면 그 이동은 아직 설계된 게 아닙니다.
[운영 메모]
'돌아오는 길을 설명할 수 없으면 설계된 것이 아니다'가 이 파트의 결론. 학생들이 모달을 남용하는 경향이 있으니 '덮기 위에 또 덮지 않는다'를 규칙으로 못 박을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돌아오는 쪽을 조금 더 보겠습니다. 네 가지입니다.
첫째, 들어온 길로 돌아갑니다. 밀기로 들어왔으면 꺾쇠로 나가고, 덮기로 왔으면 닫기로 나가요. 밀기로 들어왔는데 닫기 버튼이 있으면 사용자가 헷갈립니다.
둘째, 하던 일이 남아 있어야 합니다. 목록을 아래로 내려서 보다가 상세에 들어갔다 나왔는데 맨 위로 올라가 있으면 안 됩니다. 이거 흔한 실수예요. 스크롤 위치, 입력하던 내용, 선택해 둔 필터. 다 남아 있어야 합니다.
셋째, 한 일의 결과가 반영되어 있어야 합니다. 아까 도판의 05번입니다. 저장했으면 하트가 채워져 있어야죠.
넷째, 돌아갈 데가 없는 화면을 만들지 마세요. 가끔 보면 들어가면 못 나오는 화면이 있습니다. 보통 모달 위에 모달을 쌓거나, 꺾쇠를 깜빡하고 안 그린 경우예요.
둘째를 한 번 더 강조하겠습니다. 이걸 안 적어 두면 개발 단계에서 그냥 초기화됩니다. 화면에는 안 보이는 거라서 그려 넣을 수가 없어요. 대신 화면 옆에 글로 적어 두세요. '돌아올 때 스크롤 위치 유지'라고요.
[운영 메모]
2번(상태 유지)은 개발 단계에서 반드시 문제가 되는 지점이다. 학생들이 '화면에 안 보이니까 적을 필요 없다'고 생각하므로 메모로 남기는 습관을 여기서 들일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번째입니다. 화면이 늘어날 때 제일 흔들리는 자리예요.
같은 장소가 목록에도 나오고 카드에도 나오고 상세에도 나옵니다. 세 번 나오는 거죠.
그때마다 새로 디자인하면 같은 장소가 화면마다 다르게 보입니다.
[운영 메모]
25분 구간. 도판 한 장과 규칙 네 가지로 끝낼 것. 실습 시간 확보를 위해 여기를 줄여도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도판을 보시겠습니다.
왼쪽이 장소 하나가 가진 정보입니다. 이름, 분류, 거리, 사진, 한 줄 소개, 상세 설명, 영업시간, 저장 여부. 여덟 가지예요.
오른쪽 열을 보세요. 이 정보가 어느 자리에 나오는지 적어 뒀습니다. 이게 규칙입니다.
그다음 세 분량을 보겠습니다.
첫 번째, 목록 행. 고르기 위한 분량이에요. 이름, 분류, 거리, 사진, 저장 여부만 있습니다.
한 줄 소개를 넣지 않았습니다. 왜냐. 고르는 데 필요가 없고, 넣으면 소개가 긴 장소와 짧은 장소의 행 높이가 달라집니다. 목록이 들쭉날쭉해져요.
두 번째, 카드. 권하기 위한 분량입니다. 홈에서 '이런 곳은 어떠세요' 할 때 쓰는 거죠. 사진을 키우고 한 줄 소개를 더합니다.
여기서도 소개는 한 줄로 자릅니다. 두 줄이 되면 카드 높이가 제각각이 돼요. 피그마에서 텍스트에 줄 수 제한을 거시면 됩니다.
세 번째, 상세. 결정하기 위한 분량입니다. 전부 나옵니다.
정리하면 이렇습니다. 같은 장소를 세 번 디자인하는 게 아니라, 한 번 정한 정보를 자리에 맞게 덜어 내는 겁니다.
과제로 이 표를 만들어 오세요. 여러분 서비스에서 제일 자주 나오는 정보 한 건을 골라서요. 장소일 수도 있고 상품일 수도 있고 사람일 수도 있습니다.
[운영 메모]
'덜어 낸다'는 말이 핵심이다. 학생들은 화면마다 새로 구성하려 한다. 한 줄 소개의 줄 수 제한은 피그마에서 실제로 보여 주면 바로 따라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분량을 정할 때 기준 네 가지입니다.
첫째, 그 화면에서 사용자가 하는 판단을 생각하세요. 목록에서는 고릅니다. 고르는 데 필요한 것만 넣으세요. 상세에서는 결정합니다. 결정에 필요한 걸 다 넣고요.
둘째, 줄 수를 고정하세요. 제목은 한 줄, 소개는 한 줄. 두 줄이 되면 높이가 흔들립니다.
셋째, 같은 정보는 같은 자리에 두세요. 거리가 목록에서는 이름 아래에 있는데 카드에서는 오른쪽 위에 있으면 매번 찾아야 합니다.
넷째, 분량이 바뀌어도 순서는 그대로. 목록에서 이름, 분류, 거리 순이면 상세에서도 그 순서입니다. 중간에 끼워 넣지 마세요.
세 번째와 네 번째가 지켜지면 사용자는 같은 서비스 안에 있다고 느낍니다. 이게 일관성이에요. 색이나 폰트만 맞춘다고 일관된 게 아닙니다.
[운영 메모]
'일관성은 색과 글꼴이 아니라 자리와 순서'라는 말을 여기서 한 번 해 둘 것. 패널 구간에서 다시 쓰인다.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50분 실습입니다. 오늘은 흐름 하나를 통째로 만듭니다.
먼저 8분. 흐름 목록을 적으세요. 이 서비스에서 사용자가 하는 일을 적는 겁니다. 보통 네댓 개 나옵니다. 그중 제일 중요한 하나에 표시하세요.
다음 10분. 그 흐름의 네 지점을 적습니다. 시작, 진행, 결과, 되돌아옴. 각 지점에 어떤 화면이 들어가는지 이름만 적으세요. 아직 그리지 마시고요.
여기서 비는 자리가 나올 겁니다. 대부분 네 번째예요. 그 자리에 들어갈 화면 이름을 지어 주세요.
다음 22분. 화면을 조립합니다. 다섯 장에서 일곱 장. 지난주까지 만든 컴포넌트로만 하세요. 새로 그리는 게 아닙니다.
이미 있는 화면은 가져다 쓰시고, 없는 화면만 새로 조립하면 됩니다.
마지막 10분. 화면 사이에 이동 방식을 표시하세요. 밀기인지 덮기인지 바꾸기인지. 그리고 돌아올 때 유지할 것을 메모로 적습니다.
다 하신 분은 다섯 장을 한 줄로 펼쳐 놓고 왼쪽부터 따라가 보세요. 막히는 데가 있으면 거기가 빠진 화면입니다.
[운영 메모]
2단계에서 비는 자리를 찾는 것이 실습의 핵심이다. 순회하며 '되돌아옴 자리에 뭐가 있나요'를 반드시 물을 것. 3단계에서 새로 그리기 시작하는 학생은 바로 막을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10분입니다. 2인 1조로 서로의 흐름을 따라가 보겠습니다.
방법은 간단합니다. 짝의 화면을 왼쪽부터 보면서 소리 내어 설명해 보세요. '여기서 이걸 누르면 여기로 가고, 여기서 돌아오면 여기로 온다.'
막히는 데가 나오면 거기가 빠진 자리입니다.
왼쪽 네 가지를 확인하세요.
첫째, 다섯 장을 처음부터 끝까지 막힘없이 따라갈 수 있는가.
둘째, 네 지점이 다 있는가. 특히 되돌아옴이요.
셋째, 화면 사이에 이동 방식이 적혀 있는가. 화살표만 있으면 안 됩니다.
넷째, 전부 컴포넌트로 조립되었는가.
오른쪽은 오늘 자주 나오는 문제입니다. 세 번째를 보세요. 상태 변화를 새 화면으로 만든 경우. 도판의 03번 이야기입니다. 02와 03은 같은 화면이에요.
[운영 메모]
소리 내어 설명하게 하는 것이 핵심이다. 눈으로만 보면 본인은 다 안다고 생각한다. 짝이 막히는 지점을 적어 주게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제출 점검표입니다. 다음 수업 전까지 올려 주세요.
열여섯 개인데 앞의 네 개가 흐름입니다.
네 번째를 보세요. 되돌아왔을 때의 화면이 있는가. 이게 오늘 수업의 전부입니다.
중간 다섯 개가 이동이에요. 여덟 번째, 밀기로 들어간 화면에 꺾쇠가 있는가. 아홉 번째, 덮기로 올라온 화면에 닫는 길이 두 개 이상 있는가.
열한 번째, 돌아올 때 유지할 것이 메모로 적혀 있는가. 화면에 안 보이는 것이니 글로 적어야 합니다.
뒤 다섯 개가 정보 분량입니다. 열세 번째, 목록과 카드와 상세에 무엇이 나오는지 표로 적혀 있는가.
열여섯 번째는 매번 같습니다. 직접 그린 요소가 없는가.
[운영 메모]
4번과 11번을 과제 확인 때 먼저 볼 것. 이 둘이 화면 구간 전체의 품질을 가른다.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흐름 목록과 지도 한 장, 핵심 흐름 하나, 정보 분량 표.
두 번째가 중심입니다. 화면 다섯 장에서 일곱 장. 많이 하실 필요 없어요. 대신 네 지점이 다 있어야 합니다. 시작, 진행, 결과, 그리고 되돌아왔을 때.
네 번째 지점을 빠뜨리는 분이 많습니다. 저장을 했으면 목록으로 돌아왔을 때 저장된 게 보여야 해요. 그 화면을 그려야 합니다.
그리고 화면 사이에 이동 방식을 적어 두세요. 밀기인지 덮기인지 바꾸기인지. 화살표만 그어 놓으면 개발 단계에서 각자 다르게 만듭니다.
첫 번째, 흐름 목록은 길게 쓰지 마세요. 네댓 줄이면 됩니다. 핵심 흐름을 하나 고르는 게 목적이에요.
다음 주에는 흐름을 두 개 더 만들고, 흐름끼리 겹치는 화면을 정리합니다.
질문 있으신 분?
[운영 메모]
'되돌아옴' 지점을 반드시 받을 것. 이 지점이 없으면 다음 구간에서 상태가 남지 않는 화면 뭉치가 된다. 흐름 목록을 길게 쓰는 학생이 있는데 네댓 줄로 제한할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06</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06  ·  PHASE 2 화면</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화면 늘리기 — 흐름 단위로</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화면을 한 장씩이 아니라 한 흐름씩 만들고,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이동과 되돌아오기까지 설계합니다.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흐름 목록 · 흐름 지도 1장 · 핵심 흐름 1개(화면 5~7장) · 정보 분량 표</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한 화면이 아니라 한 흐름</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화면 수를 채우는 일과 서비스를 만드는 일은 다릅니다.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UNIT</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화면을 한 장씩 그리면</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화면은 늘어나는데 서비스는 생기지 않습니다.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사용자는 화면을 보는 것이 아니라 일을 합니다. 장소를 저장하는 일, 코스를 만드는 일, 친구에게 보내는 일. 그 일 하나가 흐름이고, 보통 화면 다섯에서 일곱 장입니다. 한 장을 끝내고 다음 장으로 가는 대신 한 흐름을 끝내고 다음 흐름으로 가면, 중간에 빠진 화면이 눈에 보입니다.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06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CASE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흐름 하나는 이렇게 생겼습니다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'장소 저장하기' 흐름 — 화면 다섯 장.</a:t>
            </a:r>
            <a:endParaRPr lang="en-US" sz="1150" dirty="0"/>
          </a:p>
        </p:txBody>
      </p:sp>
      <p:pic>
        <p:nvPicPr>
          <p:cNvPr id="9" name="Image 0" descr="/home/user/MIN.D/assets/case/flow-case.png">    </p:cNvPr>
          <p:cNvPicPr>
            <a:picLocks noChangeAspect="1"/>
          </p:cNvPicPr>
          <p:nvPr/>
        </p:nvPicPr>
        <p:blipFill>
          <a:blip r:embed="rId1"/>
          <a:stretch>
            <a:fillRect/>
          </a:stretch>
        </p:blipFill>
        <p:spPr>
          <a:xfrm>
            <a:off x="640080" y="1838909"/>
            <a:ext cx="10911535" cy="3600807"/>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03 과 05 가 흐름 단위로 만들 때만 나오는 화면입니다. 장 단위로 그리면 둘 다 빠집니다.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FLOW</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흐름 하나를 이루는 네 지점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넷이 다 있으면 흐름이고, 하나라도 없으면 아직 낱장입니다.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시작 — 어디서 이 일을 시작하는가</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보통 목록이나 홈입니다. 들어가는 입구가 하나인지 둘인지도 여기서 정합니다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1장</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진행 — 무엇을 보고 무엇을 누르는가</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상세를 보고 결정하는 구간입니다. 보통 한두 장입니다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1–2장</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결과 — 그래서 어떻게 되었는가</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알림과 결과 화면. 같은 화면의 상태 변화인 경우가 많습니다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1–2장</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되돌아옴 — 다시 왔을 때 남아 있는가</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열에 아홉이 빠뜨립니다. 사용자가 자기 일을 확인하는 순간입니다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1장</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자기 흐름을 네 지점에 맞춰 적어 보면 비는 자리가 바로 빠진 화면입니다.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SHIFT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장 단위로 그릴 때와 흐름 단위로 그릴 때</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 컨펌부터 흐름 단위로 봅니다.</a:t>
            </a:r>
            <a:endParaRPr lang="en-US" sz="1150" dirty="0"/>
          </a:p>
        </p:txBody>
      </p:sp>
      <p:sp>
        <p:nvSpPr>
          <p:cNvPr id="9" name="Shape 7"/>
          <p:cNvSpPr/>
          <p:nvPr/>
        </p:nvSpPr>
        <p:spPr>
          <a:xfrm>
            <a:off x="640080" y="1627632"/>
            <a:ext cx="5254600" cy="4078224"/>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흐름 단위</a:t>
            </a:r>
            <a:endParaRPr lang="en-US" sz="1700" dirty="0"/>
          </a:p>
        </p:txBody>
      </p:sp>
      <p:sp>
        <p:nvSpPr>
          <p:cNvPr id="11" name="Shape 9"/>
          <p:cNvSpPr/>
          <p:nvPr/>
        </p:nvSpPr>
        <p:spPr>
          <a:xfrm>
            <a:off x="6297016" y="1627632"/>
            <a:ext cx="5254600" cy="4078224"/>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장 단위</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세는 단위</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할 수 있는 일 몇 개</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세는 단위</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몇 장</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끝났다는 기준</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처음부터 끝까지 따라갈 수 있다</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끝났다는 기준</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그 화면이 보기 좋다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빠진 것이 보이는 때</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그리는 중에 보인다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빠진 것이 보이는 때</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개발 단계나 패널에서 보인다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컨펌 방식</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다섯 장을 펼쳐 놓고 따라간다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컨펌 방식</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한 장씩 넘겨 본다</a:t>
            </a:r>
            <a:endParaRPr lang="en-US" sz="1150" dirty="0"/>
          </a:p>
        </p:txBody>
      </p:sp>
      <p:sp>
        <p:nvSpPr>
          <p:cNvPr id="35" name="Shape 33"/>
          <p:cNvSpPr/>
          <p:nvPr/>
        </p:nvSpPr>
        <p:spPr>
          <a:xfrm>
            <a:off x="1042416" y="5029200"/>
            <a:ext cx="4449928" cy="7315"/>
          </a:xfrm>
          <a:prstGeom prst="rect">
            <a:avLst/>
          </a:prstGeom>
          <a:solidFill>
            <a:srgbClr val="D2D2D2"/>
          </a:solidFill>
          <a:ln w="12700">
            <a:solidFill>
              <a:srgbClr val="D2D2D2"/>
            </a:solidFill>
            <a:prstDash val="solid"/>
          </a:ln>
        </p:spPr>
      </p:sp>
      <p:sp>
        <p:nvSpPr>
          <p:cNvPr id="36" name="Shape 34"/>
          <p:cNvSpPr/>
          <p:nvPr/>
        </p:nvSpPr>
        <p:spPr>
          <a:xfrm>
            <a:off x="6699352" y="5029200"/>
            <a:ext cx="4449928" cy="7315"/>
          </a:xfrm>
          <a:prstGeom prst="rect">
            <a:avLst/>
          </a:prstGeom>
          <a:solidFill>
            <a:srgbClr val="DCDCDC"/>
          </a:solidFill>
          <a:ln w="12700">
            <a:solidFill>
              <a:srgbClr val="DCDCDC"/>
            </a:solidFill>
            <a:prstDash val="solid"/>
          </a:ln>
        </p:spPr>
      </p:sp>
      <p:sp>
        <p:nvSpPr>
          <p:cNvPr id="37" name="Text 35"/>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패널에 올리면</a:t>
            </a:r>
            <a:endParaRPr lang="en-US" sz="900" dirty="0"/>
          </a:p>
        </p:txBody>
      </p:sp>
      <p:sp>
        <p:nvSpPr>
          <p:cNvPr id="38" name="Text 36"/>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장면이 된다</a:t>
            </a:r>
            <a:endParaRPr lang="en-US" sz="1150" dirty="0"/>
          </a:p>
        </p:txBody>
      </p:sp>
      <p:sp>
        <p:nvSpPr>
          <p:cNvPr id="39" name="Text 37"/>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패널에 올리면</a:t>
            </a:r>
            <a:endParaRPr lang="en-US" sz="900" dirty="0"/>
          </a:p>
        </p:txBody>
      </p:sp>
      <p:sp>
        <p:nvSpPr>
          <p:cNvPr id="40" name="Text 38"/>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캡처 모음이 된다</a:t>
            </a:r>
            <a:endParaRPr lang="en-US" sz="11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이동과 되돌아오기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화살표만 그어 놓으면 개발 단계에서 각자 다르게 만듭니다.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이동은 세 가지뿐입니다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고르는 기준은 어떻게 돌아오는가입니다.</a:t>
            </a:r>
            <a:endParaRPr lang="en-US" sz="1150" dirty="0"/>
          </a:p>
        </p:txBody>
      </p:sp>
      <p:pic>
        <p:nvPicPr>
          <p:cNvPr id="9" name="Image 0" descr="/home/user/MIN.D/assets/flow/nav-types.png">    </p:cNvPr>
          <p:cNvPicPr>
            <a:picLocks noChangeAspect="1"/>
          </p:cNvPicPr>
          <p:nvPr/>
        </p:nvPicPr>
        <p:blipFill>
          <a:blip r:embed="rId1"/>
          <a:stretch>
            <a:fillRect/>
          </a:stretch>
        </p:blipFill>
        <p:spPr>
          <a:xfrm>
            <a:off x="640080" y="2002582"/>
            <a:ext cx="10911535" cy="3273461"/>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세 번째는 이동이 아닙니다. 화면은 그대로이고 안의 내용만 바뀝니다. 헤더가 바뀌면 그것은 탭이 아니라 다른 화면입니다.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BACK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되돌아올 때 지킬 네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화면에 안 보이는 것은 화면 옆에 글로 적습니다.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들어온 길로 돌아간다</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밀기로 들어왔으면 꺾쇠, 덮기로 왔으면 닫기. 섞으면 사용자가 헷갈립니다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일관</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하던 일이 남아 있다</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스크롤 위치 · 입력하던 내용 · 선택한 필터. 적어 두지 않으면 개발 단계에서 초기화됩니다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유지</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한 일의 결과가 반영되어 있다</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저장했으면 하트가 채워져 있어야 합니다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반영</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돌아갈 데가 없는 화면을 만들지 않는다</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덮기 위에 덮기를 쌓거나 꺾쇠를 빠뜨리면 생깁니다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출구</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2번은 화면에 보이지 않습니다. 화면 옆에 '돌아올 때 스크롤 위치 유지'처럼 글로 적어 두세요.</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같은 정보를 다른 화면에서</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같은 장소를 세 번 디자인하는 것이 아니라 한 번 정한 정보를 세 분량으로 덜어 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같은 정보, 세 분량</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어느 정보가 어디에 나오는지를 먼저 정합니다.</a:t>
            </a:r>
            <a:endParaRPr lang="en-US" sz="1150" dirty="0"/>
          </a:p>
        </p:txBody>
      </p:sp>
      <p:pic>
        <p:nvPicPr>
          <p:cNvPr id="9" name="Image 0" descr="/home/user/MIN.D/assets/flow/same-data.png">    </p:cNvPr>
          <p:cNvPicPr>
            <a:picLocks noChangeAspect="1"/>
          </p:cNvPicPr>
          <p:nvPr/>
        </p:nvPicPr>
        <p:blipFill>
          <a:blip r:embed="rId1"/>
          <a:stretch>
            <a:fillRect/>
          </a:stretch>
        </p:blipFill>
        <p:spPr>
          <a:xfrm>
            <a:off x="640080" y="2299921"/>
            <a:ext cx="10911535" cy="2678782"/>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정보마다 나오는 자리를 미리 정해 두면, 화면이 늘어나도 같은 장소가 화면마다 다르게 보이지 않습니다.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RULE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정보 분량을 정하는 네 가지 기준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색과 글꼴만 맞춘다고 일관된 것이 아닙니다.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그 화면에서 하는 판단에 맞춘다</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목록에서는 고르고 상세에서는 결정합니다. 판단에 필요한 것만 넣습니다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판단</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줄 수를 고정한다</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제목 한 줄, 소개 한 줄. 두 줄이 되면 행과 카드 높이가 흔들립니다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줄 수</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같은 정보는 같은 자리에</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거리가 목록에서는 이름 아래, 카드에서는 오른쪽 위면 매번 찾아야 합니다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자리</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분량이 줄어도 순서는 그대로</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이름 · 분류 · 거리 순이면 어느 화면에서나 그 순서입니다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순서</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3번과 4번이 지켜지면 사용자는 같은 서비스 안에 있다고 느낍니다.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흐름 하나 완성하기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새로 그리는 것이 아니라 지금까지 만든 컴포넌트로 조립합니다.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흐름 목록 적기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이 서비스에서 사용자가 하는 일을 적습니다. 보통 네댓 개. 그중 핵심 흐름 하나에 표시합니다.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네 지점 채우기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시작 · 진행 · 결과 · 되돌아옴에 들어갈 화면 이름만 적습니다. 아직 그리지 않습니다. 비는 자리가 빠진 화면입니다.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화면 5~7장 조립</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이미 있는 화면은 가져다 쓰고 없는 화면만 조립합니다. 지난주까지 만든 컴포넌트와 토큰만 씁니다.</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이동 표시와 메모</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화면 사이에 밀기 · 덮기 · 바꾸기를 표시하고, 돌아올 때 유지할 것을 글로 적습니다.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VERIFY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확인 — 따라갈 수 있는가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짝의 화면을 왼쪽부터 소리 내어 설명해 보세요. 막히는 데가 빠진 자리입니다.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확인할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다섯 장을 처음부터 끝까지 막힘없이 따라갈 수 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시작 · 진행 · 결과 · 되돌아옴 네 지점이 다 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사이에 이동 방식이 적혀 있다 — 화살표만 있지 않다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모든 화면이 지난주까지 만든 컴포넌트로 조립되었다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오늘 자주 나오는 문제</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되돌아왔을 때의 화면이 없는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밀기로 들어갔는데 닫기 버튼으로 나오는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같은 화면의 상태 변화를 새 화면으로 만든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목록과 상세에서 같은 정보가 다른 자리에 있는 경우</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소리 내어 설명하다 막히면 거기가 빠진 화면입니다. 혼자 보면 보이지 않습니다.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디자인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주에는 흐름을 두 개 더 만들고 겹치는 화면을 정리합니다.</a:t>
            </a:r>
            <a:endParaRPr lang="en-US" sz="1150" dirty="0"/>
          </a:p>
        </p:txBody>
      </p:sp>
      <p:sp>
        <p:nvSpPr>
          <p:cNvPr id="9" name="Shape 7"/>
          <p:cNvSpPr/>
          <p:nvPr/>
        </p:nvSpPr>
        <p:spPr>
          <a:xfrm>
            <a:off x="640080" y="1755648"/>
            <a:ext cx="5254600" cy="322326"/>
          </a:xfrm>
          <a:prstGeom prst="rect">
            <a:avLst/>
          </a:prstGeom>
          <a:solidFill>
            <a:srgbClr val="F2F2F2"/>
          </a:solidFill>
          <a:ln w="12700">
            <a:solidFill>
              <a:srgbClr val="F2F2F2"/>
            </a:solidFill>
            <a:prstDash val="solid"/>
          </a:ln>
        </p:spPr>
      </p:sp>
      <p:sp>
        <p:nvSpPr>
          <p:cNvPr id="10" name="Shape 8"/>
          <p:cNvSpPr/>
          <p:nvPr/>
        </p:nvSpPr>
        <p:spPr>
          <a:xfrm>
            <a:off x="914400" y="1788795"/>
            <a:ext cx="256032" cy="256032"/>
          </a:xfrm>
          <a:prstGeom prst="ellipse">
            <a:avLst/>
          </a:prstGeom>
          <a:solidFill>
            <a:srgbClr val="F2F2F2"/>
          </a:solidFill>
          <a:ln w="12700">
            <a:solidFill>
              <a:srgbClr val="111111"/>
            </a:solidFill>
            <a:prstDash val="solid"/>
          </a:ln>
        </p:spPr>
      </p:sp>
      <p:sp>
        <p:nvSpPr>
          <p:cNvPr id="11" name="Text 9"/>
          <p:cNvSpPr/>
          <p:nvPr/>
        </p:nvSpPr>
        <p:spPr>
          <a:xfrm>
            <a:off x="914400" y="178879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1298448" y="175564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흐름 목록이 적혀 있고 핵심 흐름 하나가 표시되어 있다</a:t>
            </a:r>
            <a:endParaRPr lang="en-US" sz="1050" dirty="0"/>
          </a:p>
        </p:txBody>
      </p:sp>
      <p:sp>
        <p:nvSpPr>
          <p:cNvPr id="13" name="Shape 11"/>
          <p:cNvSpPr/>
          <p:nvPr/>
        </p:nvSpPr>
        <p:spPr>
          <a:xfrm>
            <a:off x="640080" y="2224278"/>
            <a:ext cx="5254600" cy="322326"/>
          </a:xfrm>
          <a:prstGeom prst="rect">
            <a:avLst/>
          </a:prstGeom>
          <a:solidFill>
            <a:srgbClr val="F2F2F2"/>
          </a:solidFill>
          <a:ln w="12700">
            <a:solidFill>
              <a:srgbClr val="F2F2F2"/>
            </a:solidFill>
            <a:prstDash val="solid"/>
          </a:ln>
        </p:spPr>
      </p:sp>
      <p:sp>
        <p:nvSpPr>
          <p:cNvPr id="14" name="Shape 12"/>
          <p:cNvSpPr/>
          <p:nvPr/>
        </p:nvSpPr>
        <p:spPr>
          <a:xfrm>
            <a:off x="914400" y="2257425"/>
            <a:ext cx="256032" cy="256032"/>
          </a:xfrm>
          <a:prstGeom prst="ellipse">
            <a:avLst/>
          </a:prstGeom>
          <a:solidFill>
            <a:srgbClr val="F2F2F2"/>
          </a:solidFill>
          <a:ln w="12700">
            <a:solidFill>
              <a:srgbClr val="111111"/>
            </a:solidFill>
            <a:prstDash val="solid"/>
          </a:ln>
        </p:spPr>
      </p:sp>
      <p:sp>
        <p:nvSpPr>
          <p:cNvPr id="15" name="Text 13"/>
          <p:cNvSpPr/>
          <p:nvPr/>
        </p:nvSpPr>
        <p:spPr>
          <a:xfrm>
            <a:off x="914400" y="225742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02</a:t>
            </a:r>
            <a:endParaRPr lang="en-US" sz="800" dirty="0"/>
          </a:p>
        </p:txBody>
      </p:sp>
      <p:sp>
        <p:nvSpPr>
          <p:cNvPr id="16" name="Text 14"/>
          <p:cNvSpPr/>
          <p:nvPr/>
        </p:nvSpPr>
        <p:spPr>
          <a:xfrm>
            <a:off x="1298448" y="222427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흐름 지도 한 장에 흐름끼리 어떻게 이어지는지 그려져 있다</a:t>
            </a:r>
            <a:endParaRPr lang="en-US" sz="1050" dirty="0"/>
          </a:p>
        </p:txBody>
      </p:sp>
      <p:sp>
        <p:nvSpPr>
          <p:cNvPr id="17" name="Shape 15"/>
          <p:cNvSpPr/>
          <p:nvPr/>
        </p:nvSpPr>
        <p:spPr>
          <a:xfrm>
            <a:off x="640080" y="2692908"/>
            <a:ext cx="5254600" cy="322326"/>
          </a:xfrm>
          <a:prstGeom prst="rect">
            <a:avLst/>
          </a:prstGeom>
          <a:solidFill>
            <a:srgbClr val="F2F2F2"/>
          </a:solidFill>
          <a:ln w="12700">
            <a:solidFill>
              <a:srgbClr val="F2F2F2"/>
            </a:solidFill>
            <a:prstDash val="solid"/>
          </a:ln>
        </p:spPr>
      </p:sp>
      <p:sp>
        <p:nvSpPr>
          <p:cNvPr id="18" name="Shape 16"/>
          <p:cNvSpPr/>
          <p:nvPr/>
        </p:nvSpPr>
        <p:spPr>
          <a:xfrm>
            <a:off x="914400" y="2726055"/>
            <a:ext cx="256032" cy="256032"/>
          </a:xfrm>
          <a:prstGeom prst="ellipse">
            <a:avLst/>
          </a:prstGeom>
          <a:solidFill>
            <a:srgbClr val="F2F2F2"/>
          </a:solidFill>
          <a:ln w="12700">
            <a:solidFill>
              <a:srgbClr val="111111"/>
            </a:solidFill>
            <a:prstDash val="solid"/>
          </a:ln>
        </p:spPr>
      </p:sp>
      <p:sp>
        <p:nvSpPr>
          <p:cNvPr id="19" name="Text 17"/>
          <p:cNvSpPr/>
          <p:nvPr/>
        </p:nvSpPr>
        <p:spPr>
          <a:xfrm>
            <a:off x="914400" y="272605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03</a:t>
            </a:r>
            <a:endParaRPr lang="en-US" sz="800" dirty="0"/>
          </a:p>
        </p:txBody>
      </p:sp>
      <p:sp>
        <p:nvSpPr>
          <p:cNvPr id="20" name="Text 18"/>
          <p:cNvSpPr/>
          <p:nvPr/>
        </p:nvSpPr>
        <p:spPr>
          <a:xfrm>
            <a:off x="1298448" y="269290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핵심 흐름이 화면 5~7장으로 되어 있다</a:t>
            </a:r>
            <a:endParaRPr lang="en-US" sz="1050" dirty="0"/>
          </a:p>
        </p:txBody>
      </p:sp>
      <p:sp>
        <p:nvSpPr>
          <p:cNvPr id="21" name="Shape 19"/>
          <p:cNvSpPr/>
          <p:nvPr/>
        </p:nvSpPr>
        <p:spPr>
          <a:xfrm>
            <a:off x="640080" y="3161538"/>
            <a:ext cx="5254600" cy="322326"/>
          </a:xfrm>
          <a:prstGeom prst="rect">
            <a:avLst/>
          </a:prstGeom>
          <a:solidFill>
            <a:srgbClr val="F2F2F2"/>
          </a:solidFill>
          <a:ln w="12700">
            <a:solidFill>
              <a:srgbClr val="F2F2F2"/>
            </a:solidFill>
            <a:prstDash val="solid"/>
          </a:ln>
        </p:spPr>
      </p:sp>
      <p:sp>
        <p:nvSpPr>
          <p:cNvPr id="22" name="Shape 20"/>
          <p:cNvSpPr/>
          <p:nvPr/>
        </p:nvSpPr>
        <p:spPr>
          <a:xfrm>
            <a:off x="914400" y="3194685"/>
            <a:ext cx="256032" cy="256032"/>
          </a:xfrm>
          <a:prstGeom prst="ellipse">
            <a:avLst/>
          </a:prstGeom>
          <a:solidFill>
            <a:srgbClr val="F2F2F2"/>
          </a:solidFill>
          <a:ln w="12700">
            <a:solidFill>
              <a:srgbClr val="111111"/>
            </a:solidFill>
            <a:prstDash val="solid"/>
          </a:ln>
        </p:spPr>
      </p:sp>
      <p:sp>
        <p:nvSpPr>
          <p:cNvPr id="23" name="Text 21"/>
          <p:cNvSpPr/>
          <p:nvPr/>
        </p:nvSpPr>
        <p:spPr>
          <a:xfrm>
            <a:off x="914400" y="319468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04</a:t>
            </a:r>
            <a:endParaRPr lang="en-US" sz="800" dirty="0"/>
          </a:p>
        </p:txBody>
      </p:sp>
      <p:sp>
        <p:nvSpPr>
          <p:cNvPr id="24" name="Text 22"/>
          <p:cNvSpPr/>
          <p:nvPr/>
        </p:nvSpPr>
        <p:spPr>
          <a:xfrm>
            <a:off x="1298448" y="316153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되돌아왔을 때의 화면이 있다</a:t>
            </a:r>
            <a:endParaRPr lang="en-US" sz="1050" dirty="0"/>
          </a:p>
        </p:txBody>
      </p:sp>
      <p:sp>
        <p:nvSpPr>
          <p:cNvPr id="25" name="Shape 23"/>
          <p:cNvSpPr/>
          <p:nvPr/>
        </p:nvSpPr>
        <p:spPr>
          <a:xfrm>
            <a:off x="640080" y="3630168"/>
            <a:ext cx="5254600" cy="322326"/>
          </a:xfrm>
          <a:prstGeom prst="rect">
            <a:avLst/>
          </a:prstGeom>
          <a:solidFill>
            <a:srgbClr val="F2F2F2"/>
          </a:solidFill>
          <a:ln w="12700">
            <a:solidFill>
              <a:srgbClr val="F2F2F2"/>
            </a:solidFill>
            <a:prstDash val="solid"/>
          </a:ln>
        </p:spPr>
      </p:sp>
      <p:sp>
        <p:nvSpPr>
          <p:cNvPr id="26" name="Shape 24"/>
          <p:cNvSpPr/>
          <p:nvPr/>
        </p:nvSpPr>
        <p:spPr>
          <a:xfrm>
            <a:off x="914400" y="3663315"/>
            <a:ext cx="256032" cy="256032"/>
          </a:xfrm>
          <a:prstGeom prst="ellipse">
            <a:avLst/>
          </a:prstGeom>
          <a:solidFill>
            <a:srgbClr val="F2F2F2"/>
          </a:solidFill>
          <a:ln w="12700">
            <a:solidFill>
              <a:srgbClr val="111111"/>
            </a:solidFill>
            <a:prstDash val="solid"/>
          </a:ln>
        </p:spPr>
      </p:sp>
      <p:sp>
        <p:nvSpPr>
          <p:cNvPr id="27" name="Text 25"/>
          <p:cNvSpPr/>
          <p:nvPr/>
        </p:nvSpPr>
        <p:spPr>
          <a:xfrm>
            <a:off x="914400" y="366331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05</a:t>
            </a:r>
            <a:endParaRPr lang="en-US" sz="800" dirty="0"/>
          </a:p>
        </p:txBody>
      </p:sp>
      <p:sp>
        <p:nvSpPr>
          <p:cNvPr id="28" name="Text 26"/>
          <p:cNvSpPr/>
          <p:nvPr/>
        </p:nvSpPr>
        <p:spPr>
          <a:xfrm>
            <a:off x="1298448" y="363016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시작 · 진행 · 결과 · 되돌아옴 네 지점이 화면과 짝지어져 있다</a:t>
            </a:r>
            <a:endParaRPr lang="en-US" sz="1050" dirty="0"/>
          </a:p>
        </p:txBody>
      </p:sp>
      <p:sp>
        <p:nvSpPr>
          <p:cNvPr id="29" name="Shape 27"/>
          <p:cNvSpPr/>
          <p:nvPr/>
        </p:nvSpPr>
        <p:spPr>
          <a:xfrm>
            <a:off x="640080" y="4098798"/>
            <a:ext cx="5254600" cy="322326"/>
          </a:xfrm>
          <a:prstGeom prst="rect">
            <a:avLst/>
          </a:prstGeom>
          <a:solidFill>
            <a:srgbClr val="F2F2F2"/>
          </a:solidFill>
          <a:ln w="12700">
            <a:solidFill>
              <a:srgbClr val="F2F2F2"/>
            </a:solidFill>
            <a:prstDash val="solid"/>
          </a:ln>
        </p:spPr>
      </p:sp>
      <p:sp>
        <p:nvSpPr>
          <p:cNvPr id="30" name="Shape 28"/>
          <p:cNvSpPr/>
          <p:nvPr/>
        </p:nvSpPr>
        <p:spPr>
          <a:xfrm>
            <a:off x="914400" y="4131945"/>
            <a:ext cx="256032" cy="256032"/>
          </a:xfrm>
          <a:prstGeom prst="ellipse">
            <a:avLst/>
          </a:prstGeom>
          <a:solidFill>
            <a:srgbClr val="F2F2F2"/>
          </a:solidFill>
          <a:ln w="12700">
            <a:solidFill>
              <a:srgbClr val="111111"/>
            </a:solidFill>
            <a:prstDash val="solid"/>
          </a:ln>
        </p:spPr>
      </p:sp>
      <p:sp>
        <p:nvSpPr>
          <p:cNvPr id="31" name="Text 29"/>
          <p:cNvSpPr/>
          <p:nvPr/>
        </p:nvSpPr>
        <p:spPr>
          <a:xfrm>
            <a:off x="914400" y="413194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06</a:t>
            </a:r>
            <a:endParaRPr lang="en-US" sz="800" dirty="0"/>
          </a:p>
        </p:txBody>
      </p:sp>
      <p:sp>
        <p:nvSpPr>
          <p:cNvPr id="32" name="Text 30"/>
          <p:cNvSpPr/>
          <p:nvPr/>
        </p:nvSpPr>
        <p:spPr>
          <a:xfrm>
            <a:off x="1298448" y="409879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화면 사이에 이동 방식이 밀기 · 덮기 · 바꾸기로 표시되어 있다</a:t>
            </a:r>
            <a:endParaRPr lang="en-US" sz="1050" dirty="0"/>
          </a:p>
        </p:txBody>
      </p:sp>
      <p:sp>
        <p:nvSpPr>
          <p:cNvPr id="33" name="Shape 31"/>
          <p:cNvSpPr/>
          <p:nvPr/>
        </p:nvSpPr>
        <p:spPr>
          <a:xfrm>
            <a:off x="640080" y="4567428"/>
            <a:ext cx="5254600" cy="322326"/>
          </a:xfrm>
          <a:prstGeom prst="rect">
            <a:avLst/>
          </a:prstGeom>
          <a:solidFill>
            <a:srgbClr val="F2F2F2"/>
          </a:solidFill>
          <a:ln w="12700">
            <a:solidFill>
              <a:srgbClr val="F2F2F2"/>
            </a:solidFill>
            <a:prstDash val="solid"/>
          </a:ln>
        </p:spPr>
      </p:sp>
      <p:sp>
        <p:nvSpPr>
          <p:cNvPr id="34" name="Shape 32"/>
          <p:cNvSpPr/>
          <p:nvPr/>
        </p:nvSpPr>
        <p:spPr>
          <a:xfrm>
            <a:off x="914400" y="4600575"/>
            <a:ext cx="256032" cy="256032"/>
          </a:xfrm>
          <a:prstGeom prst="ellipse">
            <a:avLst/>
          </a:prstGeom>
          <a:solidFill>
            <a:srgbClr val="F2F2F2"/>
          </a:solidFill>
          <a:ln w="12700">
            <a:solidFill>
              <a:srgbClr val="111111"/>
            </a:solidFill>
            <a:prstDash val="solid"/>
          </a:ln>
        </p:spPr>
      </p:sp>
      <p:sp>
        <p:nvSpPr>
          <p:cNvPr id="35" name="Text 33"/>
          <p:cNvSpPr/>
          <p:nvPr/>
        </p:nvSpPr>
        <p:spPr>
          <a:xfrm>
            <a:off x="914400" y="460057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07</a:t>
            </a:r>
            <a:endParaRPr lang="en-US" sz="800" dirty="0"/>
          </a:p>
        </p:txBody>
      </p:sp>
      <p:sp>
        <p:nvSpPr>
          <p:cNvPr id="36" name="Text 34"/>
          <p:cNvSpPr/>
          <p:nvPr/>
        </p:nvSpPr>
        <p:spPr>
          <a:xfrm>
            <a:off x="1298448" y="456742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같은 화면의 상태 변화를 새 화면으로 만들지 않았다</a:t>
            </a:r>
            <a:endParaRPr lang="en-US" sz="1050" dirty="0"/>
          </a:p>
        </p:txBody>
      </p:sp>
      <p:sp>
        <p:nvSpPr>
          <p:cNvPr id="37" name="Shape 35"/>
          <p:cNvSpPr/>
          <p:nvPr/>
        </p:nvSpPr>
        <p:spPr>
          <a:xfrm>
            <a:off x="640080" y="5036058"/>
            <a:ext cx="5254600" cy="322326"/>
          </a:xfrm>
          <a:prstGeom prst="rect">
            <a:avLst/>
          </a:prstGeom>
          <a:solidFill>
            <a:srgbClr val="F2F2F2"/>
          </a:solidFill>
          <a:ln w="12700">
            <a:solidFill>
              <a:srgbClr val="F2F2F2"/>
            </a:solidFill>
            <a:prstDash val="solid"/>
          </a:ln>
        </p:spPr>
      </p:sp>
      <p:sp>
        <p:nvSpPr>
          <p:cNvPr id="38" name="Shape 36"/>
          <p:cNvSpPr/>
          <p:nvPr/>
        </p:nvSpPr>
        <p:spPr>
          <a:xfrm>
            <a:off x="914400" y="5069205"/>
            <a:ext cx="256032" cy="256032"/>
          </a:xfrm>
          <a:prstGeom prst="ellipse">
            <a:avLst/>
          </a:prstGeom>
          <a:solidFill>
            <a:srgbClr val="F2F2F2"/>
          </a:solidFill>
          <a:ln w="12700">
            <a:solidFill>
              <a:srgbClr val="111111"/>
            </a:solidFill>
            <a:prstDash val="solid"/>
          </a:ln>
        </p:spPr>
      </p:sp>
      <p:sp>
        <p:nvSpPr>
          <p:cNvPr id="39" name="Text 37"/>
          <p:cNvSpPr/>
          <p:nvPr/>
        </p:nvSpPr>
        <p:spPr>
          <a:xfrm>
            <a:off x="914400" y="506920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08</a:t>
            </a:r>
            <a:endParaRPr lang="en-US" sz="800" dirty="0"/>
          </a:p>
        </p:txBody>
      </p:sp>
      <p:sp>
        <p:nvSpPr>
          <p:cNvPr id="40" name="Text 38"/>
          <p:cNvSpPr/>
          <p:nvPr/>
        </p:nvSpPr>
        <p:spPr>
          <a:xfrm>
            <a:off x="1298448" y="503605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밀기로 들어간 화면에 돌아가기 꺾쇠가 있다</a:t>
            </a:r>
            <a:endParaRPr lang="en-US" sz="1050" dirty="0"/>
          </a:p>
        </p:txBody>
      </p:sp>
      <p:sp>
        <p:nvSpPr>
          <p:cNvPr id="41" name="Shape 39"/>
          <p:cNvSpPr/>
          <p:nvPr/>
        </p:nvSpPr>
        <p:spPr>
          <a:xfrm>
            <a:off x="6297016" y="1755648"/>
            <a:ext cx="5254600" cy="322326"/>
          </a:xfrm>
          <a:prstGeom prst="rect">
            <a:avLst/>
          </a:prstGeom>
          <a:solidFill>
            <a:srgbClr val="F2F2F2"/>
          </a:solidFill>
          <a:ln w="12700">
            <a:solidFill>
              <a:srgbClr val="F2F2F2"/>
            </a:solidFill>
            <a:prstDash val="solid"/>
          </a:ln>
        </p:spPr>
      </p:sp>
      <p:sp>
        <p:nvSpPr>
          <p:cNvPr id="42" name="Shape 40"/>
          <p:cNvSpPr/>
          <p:nvPr/>
        </p:nvSpPr>
        <p:spPr>
          <a:xfrm>
            <a:off x="6571336" y="1788795"/>
            <a:ext cx="256032" cy="256032"/>
          </a:xfrm>
          <a:prstGeom prst="ellipse">
            <a:avLst/>
          </a:prstGeom>
          <a:solidFill>
            <a:srgbClr val="F2F2F2"/>
          </a:solidFill>
          <a:ln w="12700">
            <a:solidFill>
              <a:srgbClr val="111111"/>
            </a:solidFill>
            <a:prstDash val="solid"/>
          </a:ln>
        </p:spPr>
      </p:sp>
      <p:sp>
        <p:nvSpPr>
          <p:cNvPr id="43" name="Text 41"/>
          <p:cNvSpPr/>
          <p:nvPr/>
        </p:nvSpPr>
        <p:spPr>
          <a:xfrm>
            <a:off x="6571336" y="178879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09</a:t>
            </a:r>
            <a:endParaRPr lang="en-US" sz="800" dirty="0"/>
          </a:p>
        </p:txBody>
      </p:sp>
      <p:sp>
        <p:nvSpPr>
          <p:cNvPr id="44" name="Text 42"/>
          <p:cNvSpPr/>
          <p:nvPr/>
        </p:nvSpPr>
        <p:spPr>
          <a:xfrm>
            <a:off x="6955384" y="175564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덮기로 올라온 화면에 닫는 길이 두 개 이상 있다</a:t>
            </a:r>
            <a:endParaRPr lang="en-US" sz="1050" dirty="0"/>
          </a:p>
        </p:txBody>
      </p:sp>
      <p:sp>
        <p:nvSpPr>
          <p:cNvPr id="45" name="Shape 43"/>
          <p:cNvSpPr/>
          <p:nvPr/>
        </p:nvSpPr>
        <p:spPr>
          <a:xfrm>
            <a:off x="6297016" y="2224278"/>
            <a:ext cx="5254600" cy="322326"/>
          </a:xfrm>
          <a:prstGeom prst="rect">
            <a:avLst/>
          </a:prstGeom>
          <a:solidFill>
            <a:srgbClr val="F2F2F2"/>
          </a:solidFill>
          <a:ln w="12700">
            <a:solidFill>
              <a:srgbClr val="F2F2F2"/>
            </a:solidFill>
            <a:prstDash val="solid"/>
          </a:ln>
        </p:spPr>
      </p:sp>
      <p:sp>
        <p:nvSpPr>
          <p:cNvPr id="46" name="Shape 44"/>
          <p:cNvSpPr/>
          <p:nvPr/>
        </p:nvSpPr>
        <p:spPr>
          <a:xfrm>
            <a:off x="6571336" y="2257425"/>
            <a:ext cx="256032" cy="256032"/>
          </a:xfrm>
          <a:prstGeom prst="ellipse">
            <a:avLst/>
          </a:prstGeom>
          <a:solidFill>
            <a:srgbClr val="F2F2F2"/>
          </a:solidFill>
          <a:ln w="12700">
            <a:solidFill>
              <a:srgbClr val="111111"/>
            </a:solidFill>
            <a:prstDash val="solid"/>
          </a:ln>
        </p:spPr>
      </p:sp>
      <p:sp>
        <p:nvSpPr>
          <p:cNvPr id="47" name="Text 45"/>
          <p:cNvSpPr/>
          <p:nvPr/>
        </p:nvSpPr>
        <p:spPr>
          <a:xfrm>
            <a:off x="6571336" y="225742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10</a:t>
            </a:r>
            <a:endParaRPr lang="en-US" sz="800" dirty="0"/>
          </a:p>
        </p:txBody>
      </p:sp>
      <p:sp>
        <p:nvSpPr>
          <p:cNvPr id="48" name="Text 46"/>
          <p:cNvSpPr/>
          <p:nvPr/>
        </p:nvSpPr>
        <p:spPr>
          <a:xfrm>
            <a:off x="6955384" y="222427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덮기 위에 덮기가 쌓여 있지 않다</a:t>
            </a:r>
            <a:endParaRPr lang="en-US" sz="1050" dirty="0"/>
          </a:p>
        </p:txBody>
      </p:sp>
      <p:sp>
        <p:nvSpPr>
          <p:cNvPr id="49" name="Shape 47"/>
          <p:cNvSpPr/>
          <p:nvPr/>
        </p:nvSpPr>
        <p:spPr>
          <a:xfrm>
            <a:off x="6297016" y="2692908"/>
            <a:ext cx="5254600" cy="322326"/>
          </a:xfrm>
          <a:prstGeom prst="rect">
            <a:avLst/>
          </a:prstGeom>
          <a:solidFill>
            <a:srgbClr val="F2F2F2"/>
          </a:solidFill>
          <a:ln w="12700">
            <a:solidFill>
              <a:srgbClr val="F2F2F2"/>
            </a:solidFill>
            <a:prstDash val="solid"/>
          </a:ln>
        </p:spPr>
      </p:sp>
      <p:sp>
        <p:nvSpPr>
          <p:cNvPr id="50" name="Shape 48"/>
          <p:cNvSpPr/>
          <p:nvPr/>
        </p:nvSpPr>
        <p:spPr>
          <a:xfrm>
            <a:off x="6571336" y="2726055"/>
            <a:ext cx="256032" cy="256032"/>
          </a:xfrm>
          <a:prstGeom prst="ellipse">
            <a:avLst/>
          </a:prstGeom>
          <a:solidFill>
            <a:srgbClr val="F2F2F2"/>
          </a:solidFill>
          <a:ln w="12700">
            <a:solidFill>
              <a:srgbClr val="111111"/>
            </a:solidFill>
            <a:prstDash val="solid"/>
          </a:ln>
        </p:spPr>
      </p:sp>
      <p:sp>
        <p:nvSpPr>
          <p:cNvPr id="51" name="Text 49"/>
          <p:cNvSpPr/>
          <p:nvPr/>
        </p:nvSpPr>
        <p:spPr>
          <a:xfrm>
            <a:off x="6571336" y="272605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11</a:t>
            </a:r>
            <a:endParaRPr lang="en-US" sz="800" dirty="0"/>
          </a:p>
        </p:txBody>
      </p:sp>
      <p:sp>
        <p:nvSpPr>
          <p:cNvPr id="52" name="Text 50"/>
          <p:cNvSpPr/>
          <p:nvPr/>
        </p:nvSpPr>
        <p:spPr>
          <a:xfrm>
            <a:off x="6955384" y="269290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돌아올 때 유지할 것이 화면 옆에 메모로 적혀 있다</a:t>
            </a:r>
            <a:endParaRPr lang="en-US" sz="1050" dirty="0"/>
          </a:p>
        </p:txBody>
      </p:sp>
      <p:sp>
        <p:nvSpPr>
          <p:cNvPr id="53" name="Shape 51"/>
          <p:cNvSpPr/>
          <p:nvPr/>
        </p:nvSpPr>
        <p:spPr>
          <a:xfrm>
            <a:off x="6297016" y="3161538"/>
            <a:ext cx="5254600" cy="322326"/>
          </a:xfrm>
          <a:prstGeom prst="rect">
            <a:avLst/>
          </a:prstGeom>
          <a:solidFill>
            <a:srgbClr val="F2F2F2"/>
          </a:solidFill>
          <a:ln w="12700">
            <a:solidFill>
              <a:srgbClr val="F2F2F2"/>
            </a:solidFill>
            <a:prstDash val="solid"/>
          </a:ln>
        </p:spPr>
      </p:sp>
      <p:sp>
        <p:nvSpPr>
          <p:cNvPr id="54" name="Shape 52"/>
          <p:cNvSpPr/>
          <p:nvPr/>
        </p:nvSpPr>
        <p:spPr>
          <a:xfrm>
            <a:off x="6571336" y="3194685"/>
            <a:ext cx="256032" cy="256032"/>
          </a:xfrm>
          <a:prstGeom prst="ellipse">
            <a:avLst/>
          </a:prstGeom>
          <a:solidFill>
            <a:srgbClr val="F2F2F2"/>
          </a:solidFill>
          <a:ln w="12700">
            <a:solidFill>
              <a:srgbClr val="111111"/>
            </a:solidFill>
            <a:prstDash val="solid"/>
          </a:ln>
        </p:spPr>
      </p:sp>
      <p:sp>
        <p:nvSpPr>
          <p:cNvPr id="55" name="Text 53"/>
          <p:cNvSpPr/>
          <p:nvPr/>
        </p:nvSpPr>
        <p:spPr>
          <a:xfrm>
            <a:off x="6571336" y="319468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12</a:t>
            </a:r>
            <a:endParaRPr lang="en-US" sz="800" dirty="0"/>
          </a:p>
        </p:txBody>
      </p:sp>
      <p:sp>
        <p:nvSpPr>
          <p:cNvPr id="56" name="Text 54"/>
          <p:cNvSpPr/>
          <p:nvPr/>
        </p:nvSpPr>
        <p:spPr>
          <a:xfrm>
            <a:off x="6955384" y="316153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흐름의 깊이가 세 단계를 넘지 않는다</a:t>
            </a:r>
            <a:endParaRPr lang="en-US" sz="1050" dirty="0"/>
          </a:p>
        </p:txBody>
      </p:sp>
      <p:sp>
        <p:nvSpPr>
          <p:cNvPr id="57" name="Shape 55"/>
          <p:cNvSpPr/>
          <p:nvPr/>
        </p:nvSpPr>
        <p:spPr>
          <a:xfrm>
            <a:off x="6297016" y="3630168"/>
            <a:ext cx="5254600" cy="322326"/>
          </a:xfrm>
          <a:prstGeom prst="rect">
            <a:avLst/>
          </a:prstGeom>
          <a:solidFill>
            <a:srgbClr val="F2F2F2"/>
          </a:solidFill>
          <a:ln w="12700">
            <a:solidFill>
              <a:srgbClr val="F2F2F2"/>
            </a:solidFill>
            <a:prstDash val="solid"/>
          </a:ln>
        </p:spPr>
      </p:sp>
      <p:sp>
        <p:nvSpPr>
          <p:cNvPr id="58" name="Shape 56"/>
          <p:cNvSpPr/>
          <p:nvPr/>
        </p:nvSpPr>
        <p:spPr>
          <a:xfrm>
            <a:off x="6571336" y="3663315"/>
            <a:ext cx="256032" cy="256032"/>
          </a:xfrm>
          <a:prstGeom prst="ellipse">
            <a:avLst/>
          </a:prstGeom>
          <a:solidFill>
            <a:srgbClr val="F2F2F2"/>
          </a:solidFill>
          <a:ln w="12700">
            <a:solidFill>
              <a:srgbClr val="111111"/>
            </a:solidFill>
            <a:prstDash val="solid"/>
          </a:ln>
        </p:spPr>
      </p:sp>
      <p:sp>
        <p:nvSpPr>
          <p:cNvPr id="59" name="Text 57"/>
          <p:cNvSpPr/>
          <p:nvPr/>
        </p:nvSpPr>
        <p:spPr>
          <a:xfrm>
            <a:off x="6571336" y="366331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13</a:t>
            </a:r>
            <a:endParaRPr lang="en-US" sz="800" dirty="0"/>
          </a:p>
        </p:txBody>
      </p:sp>
      <p:sp>
        <p:nvSpPr>
          <p:cNvPr id="60" name="Text 58"/>
          <p:cNvSpPr/>
          <p:nvPr/>
        </p:nvSpPr>
        <p:spPr>
          <a:xfrm>
            <a:off x="6955384" y="363016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정보 분량 표에 목록 · 카드 · 상세가 나뉘어 적혀 있다</a:t>
            </a:r>
            <a:endParaRPr lang="en-US" sz="1050" dirty="0"/>
          </a:p>
        </p:txBody>
      </p:sp>
      <p:sp>
        <p:nvSpPr>
          <p:cNvPr id="61" name="Shape 59"/>
          <p:cNvSpPr/>
          <p:nvPr/>
        </p:nvSpPr>
        <p:spPr>
          <a:xfrm>
            <a:off x="6297016" y="4098798"/>
            <a:ext cx="5254600" cy="322326"/>
          </a:xfrm>
          <a:prstGeom prst="rect">
            <a:avLst/>
          </a:prstGeom>
          <a:solidFill>
            <a:srgbClr val="F2F2F2"/>
          </a:solidFill>
          <a:ln w="12700">
            <a:solidFill>
              <a:srgbClr val="F2F2F2"/>
            </a:solidFill>
            <a:prstDash val="solid"/>
          </a:ln>
        </p:spPr>
      </p:sp>
      <p:sp>
        <p:nvSpPr>
          <p:cNvPr id="62" name="Shape 60"/>
          <p:cNvSpPr/>
          <p:nvPr/>
        </p:nvSpPr>
        <p:spPr>
          <a:xfrm>
            <a:off x="6571336" y="4131945"/>
            <a:ext cx="256032" cy="256032"/>
          </a:xfrm>
          <a:prstGeom prst="ellipse">
            <a:avLst/>
          </a:prstGeom>
          <a:solidFill>
            <a:srgbClr val="F2F2F2"/>
          </a:solidFill>
          <a:ln w="12700">
            <a:solidFill>
              <a:srgbClr val="111111"/>
            </a:solidFill>
            <a:prstDash val="solid"/>
          </a:ln>
        </p:spPr>
      </p:sp>
      <p:sp>
        <p:nvSpPr>
          <p:cNvPr id="63" name="Text 61"/>
          <p:cNvSpPr/>
          <p:nvPr/>
        </p:nvSpPr>
        <p:spPr>
          <a:xfrm>
            <a:off x="6571336" y="413194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14</a:t>
            </a:r>
            <a:endParaRPr lang="en-US" sz="800" dirty="0"/>
          </a:p>
        </p:txBody>
      </p:sp>
      <p:sp>
        <p:nvSpPr>
          <p:cNvPr id="64" name="Text 62"/>
          <p:cNvSpPr/>
          <p:nvPr/>
        </p:nvSpPr>
        <p:spPr>
          <a:xfrm>
            <a:off x="6955384" y="409879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목록 행과 카드에서 제목과 소개가 한 줄로 고정되어 있다</a:t>
            </a:r>
            <a:endParaRPr lang="en-US" sz="1050" dirty="0"/>
          </a:p>
        </p:txBody>
      </p:sp>
      <p:sp>
        <p:nvSpPr>
          <p:cNvPr id="65" name="Shape 63"/>
          <p:cNvSpPr/>
          <p:nvPr/>
        </p:nvSpPr>
        <p:spPr>
          <a:xfrm>
            <a:off x="6297016" y="4567428"/>
            <a:ext cx="5254600" cy="322326"/>
          </a:xfrm>
          <a:prstGeom prst="rect">
            <a:avLst/>
          </a:prstGeom>
          <a:solidFill>
            <a:srgbClr val="F2F2F2"/>
          </a:solidFill>
          <a:ln w="12700">
            <a:solidFill>
              <a:srgbClr val="F2F2F2"/>
            </a:solidFill>
            <a:prstDash val="solid"/>
          </a:ln>
        </p:spPr>
      </p:sp>
      <p:sp>
        <p:nvSpPr>
          <p:cNvPr id="66" name="Shape 64"/>
          <p:cNvSpPr/>
          <p:nvPr/>
        </p:nvSpPr>
        <p:spPr>
          <a:xfrm>
            <a:off x="6571336" y="4600575"/>
            <a:ext cx="256032" cy="256032"/>
          </a:xfrm>
          <a:prstGeom prst="ellipse">
            <a:avLst/>
          </a:prstGeom>
          <a:solidFill>
            <a:srgbClr val="F2F2F2"/>
          </a:solidFill>
          <a:ln w="12700">
            <a:solidFill>
              <a:srgbClr val="111111"/>
            </a:solidFill>
            <a:prstDash val="solid"/>
          </a:ln>
        </p:spPr>
      </p:sp>
      <p:sp>
        <p:nvSpPr>
          <p:cNvPr id="67" name="Text 65"/>
          <p:cNvSpPr/>
          <p:nvPr/>
        </p:nvSpPr>
        <p:spPr>
          <a:xfrm>
            <a:off x="6571336" y="460057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15</a:t>
            </a:r>
            <a:endParaRPr lang="en-US" sz="800" dirty="0"/>
          </a:p>
        </p:txBody>
      </p:sp>
      <p:sp>
        <p:nvSpPr>
          <p:cNvPr id="68" name="Text 66"/>
          <p:cNvSpPr/>
          <p:nvPr/>
        </p:nvSpPr>
        <p:spPr>
          <a:xfrm>
            <a:off x="6955384" y="456742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같은 정보가 어느 화면에서나 같은 자리와 같은 순서로 나온다</a:t>
            </a:r>
            <a:endParaRPr lang="en-US" sz="1050" dirty="0"/>
          </a:p>
        </p:txBody>
      </p:sp>
      <p:sp>
        <p:nvSpPr>
          <p:cNvPr id="69" name="Shape 67"/>
          <p:cNvSpPr/>
          <p:nvPr/>
        </p:nvSpPr>
        <p:spPr>
          <a:xfrm>
            <a:off x="6297016" y="5036058"/>
            <a:ext cx="5254600" cy="322326"/>
          </a:xfrm>
          <a:prstGeom prst="rect">
            <a:avLst/>
          </a:prstGeom>
          <a:solidFill>
            <a:srgbClr val="F2F2F2"/>
          </a:solidFill>
          <a:ln w="12700">
            <a:solidFill>
              <a:srgbClr val="F2F2F2"/>
            </a:solidFill>
            <a:prstDash val="solid"/>
          </a:ln>
        </p:spPr>
      </p:sp>
      <p:sp>
        <p:nvSpPr>
          <p:cNvPr id="70" name="Shape 68"/>
          <p:cNvSpPr/>
          <p:nvPr/>
        </p:nvSpPr>
        <p:spPr>
          <a:xfrm>
            <a:off x="6571336" y="5069205"/>
            <a:ext cx="256032" cy="256032"/>
          </a:xfrm>
          <a:prstGeom prst="ellipse">
            <a:avLst/>
          </a:prstGeom>
          <a:solidFill>
            <a:srgbClr val="F2F2F2"/>
          </a:solidFill>
          <a:ln w="12700">
            <a:solidFill>
              <a:srgbClr val="111111"/>
            </a:solidFill>
            <a:prstDash val="solid"/>
          </a:ln>
        </p:spPr>
      </p:sp>
      <p:sp>
        <p:nvSpPr>
          <p:cNvPr id="71" name="Text 69"/>
          <p:cNvSpPr/>
          <p:nvPr/>
        </p:nvSpPr>
        <p:spPr>
          <a:xfrm>
            <a:off x="6571336" y="506920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16</a:t>
            </a:r>
            <a:endParaRPr lang="en-US" sz="800" dirty="0"/>
          </a:p>
        </p:txBody>
      </p:sp>
      <p:sp>
        <p:nvSpPr>
          <p:cNvPr id="72" name="Text 70"/>
          <p:cNvSpPr/>
          <p:nvPr/>
        </p:nvSpPr>
        <p:spPr>
          <a:xfrm>
            <a:off x="6955384" y="503605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직접 그린 요소가 한 개도 남아 있지 않다</a:t>
            </a:r>
            <a:endParaRPr lang="en-US" sz="1050" dirty="0"/>
          </a:p>
        </p:txBody>
      </p:sp>
      <p:sp>
        <p:nvSpPr>
          <p:cNvPr id="73" name="Shape 71"/>
          <p:cNvSpPr/>
          <p:nvPr/>
        </p:nvSpPr>
        <p:spPr>
          <a:xfrm>
            <a:off x="640080" y="5559552"/>
            <a:ext cx="10911535" cy="7315"/>
          </a:xfrm>
          <a:prstGeom prst="rect">
            <a:avLst/>
          </a:prstGeom>
          <a:solidFill>
            <a:srgbClr val="111111"/>
          </a:solidFill>
          <a:ln w="12700">
            <a:solidFill>
              <a:srgbClr val="111111"/>
            </a:solidFill>
            <a:prstDash val="solid"/>
          </a:ln>
        </p:spPr>
      </p:sp>
      <p:sp>
        <p:nvSpPr>
          <p:cNvPr id="74" name="Text 72"/>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4번 하나만 지켜도 이번 주는 성공입니다. 되돌아왔을 때의 화면이 없으면 흐름이 아직 끝나지 않은 것입니다.</a:t>
            </a:r>
            <a:endParaRPr lang="en-US" sz="1250" dirty="0"/>
          </a:p>
        </p:txBody>
      </p:sp>
      <p:sp>
        <p:nvSpPr>
          <p:cNvPr id="75" name="Shape 73"/>
          <p:cNvSpPr/>
          <p:nvPr/>
        </p:nvSpPr>
        <p:spPr>
          <a:xfrm>
            <a:off x="640080" y="6291072"/>
            <a:ext cx="10911535" cy="7315"/>
          </a:xfrm>
          <a:prstGeom prst="rect">
            <a:avLst/>
          </a:prstGeom>
          <a:solidFill>
            <a:srgbClr val="DCDCDC"/>
          </a:solidFill>
          <a:ln w="12700">
            <a:solidFill>
              <a:srgbClr val="DCDCDC"/>
            </a:solidFill>
            <a:prstDash val="solid"/>
          </a:ln>
        </p:spPr>
      </p:sp>
      <p:sp>
        <p:nvSpPr>
          <p:cNvPr id="76" name="Text 7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77" name="Text 7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화면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06</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주부터 흐름을 늘려 갑니다. 이번 주에 만든 한 흐름이 기준이 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흐름 목록과 흐름 지도 1장</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이 서비스에서 사용자가 하는 일을 흐름 단위로 적습니다. 보통 네댓 개입니다. 그중 핵심 흐름을 하나 정하고, 흐름끼리 어떻게 이어지는지를 한 장에 그립니다.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핵심 흐름 1개 — 화면 5~7장</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시작 · 진행 · 결과 · 되돌아옴 네 지점이 다 들어가야 합니다. 화면 사이에 이동 방식(밀기 · 덮기 · 바꾸기)을 표시합니다.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정보 분량 표</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핵심 정보 한 건을 골라, 어느 정보가 목록 · 카드 · 상세 중 어디에 나오는지 표로 적습니다. 오늘 도판과 같은 형식입니다.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10월 21일(수) 수업 시작 전까지 · Figma 링크 제출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07주차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흐름 늘리기 — 겹치는 화면 정리</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흐름 두 개를 더 만든다</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흐름끼리 겹치는 화면</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한 화면이 여러 흐름에 쓰일 때</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화면 목록 확정</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흐름 지도 · 핵심 흐름 화면 5~7장 · 정보 분량 표</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6주차 화면 늘리기 — 흐름 단위로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6주차 화면 늘리기 — 흐름 단위로</dc:title>
  <dc:subject>원광대학교 2026-2 · 학부 3학년 · 주 3시간 × 15주 · 1학기 기획을 졸업 전시 패널 데이터로</dc:subject>
  <dc:creator>MIN.D</dc:creator>
  <cp:lastModifiedBy>MIN.D</cp:lastModifiedBy>
  <cp:revision>1</cp:revision>
  <dcterms:created xsi:type="dcterms:W3CDTF">2026-10-06T09:58:56Z</dcterms:created>
  <dcterms:modified xsi:type="dcterms:W3CDTF">2026-10-06T09:58:56Z</dcterms:modified>
</cp:coreProperties>
</file>