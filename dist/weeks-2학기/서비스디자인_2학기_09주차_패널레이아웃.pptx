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아홉 번째 시간입니다.
오늘부터 수업 성격이 바뀝니다.
지금까지는 화면을 만들었어요. 오늘부터는 그걸 거는 일을 합니다.
학기 끝에 졸업 전시 패널을 겁니다. 인쇄 데이터를 넘겨야 해요. 그게 이 수업의 결과물입니다.
그런데 패널은 화면을 모아 놓는다고 되는 게 아닙니다. 만든 걸 다 올리면 아무것도 안 보여요.
오늘은 올리기 전에 틀부터 세웁니다. 그리드요.
그리고 무엇을 올리고 무엇을 뺄지 정합니다.
먼저 오늘부터 무엇이 달라지는지 말씀드리고 시작하겠습니다.
[운영 메모]
화면 작업이 길어져 지친 상태로 온다. '이제 새로 그리는 일은 거의 없다, 있는 걸 거는 일이다'를 표지에서 말해 주면 분위기가 산다. 앞 20분 평가 정리는 개인 지적이 아니라 공통으로 나온 것만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전시장에서 패널 하나 앞에 몇 초나 서 계셨어요.
저도 그렇고 여러분도 그렇고, 3초입니다. 지나가면서 흘끗 봐요.
그 3초 안에 '아 이게 뭐구나' 하고 알면 멈춰 섭니다. 모르면 그냥 지나갑니다.
그러니까 패널은 두 번 읽히는 겁니다.
먼저 2m 떨어진 데서 3초. 여기서 멈추게 만들어야 해요.
멈춘 사람이 다가와서 1m 앞에서 1분. 여기서 자세히 봅니다.
두 거리에서 각각 읽혀야 합니다. 그래서 글자 크기가 두 벌 필요해요.
지금 여러분 머릿속에 있는 건 1m용뿐일 겁니다. 2m용을 오늘 만듭니다.
[운영 메모]
'3초'를 숫자로 못 박을 것. 학생들은 자기 패널 앞에 사람이 오래 서 있을 거라고 생각한다. 전시장 사진이 있으면 띄워 놓고 말하면 더 빨리 납득한다.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패널을 누가 보는지. 이걸 먼저 정해야 무엇을 크게 할지 정할 수 있습니다.
[운영 메모]
25분. 셋째(일반 관람객)에 시간을 쓸 것. 학생들이 가장 빠뜨리는 사람이다.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사람입니다.
먼저 심사하는 분. 교수님들이죠. 이분들은 과정을 봅니다. 결과만 예쁘면 '어떻게 나왔냐'고 물으세요.
그러니까 리서치에서 화면까지 어떻게 왔는지가 보여야 합니다.
그다음은 업계에서 오신 분입니다. 전시회에 꼭 오십니다. 이분들은 '이 학생을 쓸 수 있나'를 봅니다.
규격을 정할 줄 아는지, 컴포넌트를 만들 줄 아는지. 여러분이 3주차부터 쌓은 게 여기서 값을 합니다.
마지막이 가장 많은데 가장 많이 빠뜨립니다. 가족, 친구, 그냥 지나가는 관람객입니다.
이분들은 UX가 뭔지 모르십니다. '무엇을 만들었는가' 하나만 보세요.
그래서 한 줄 정의가 필요한 겁니다. 작품명만 크게 써 놓으면 이분들은 아무것도 모르고 지나갑니다.
셋 다 3초 안에 알아야 합니다.
[운영 메모]
셋째를 강조할 것. 매년 전시장에서 '이게 뭐야?'라는 질문이 가장 많이 나온다. 한 줄 정의 하나로 해결된다.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내용인데 2m에서 보이느냐 안 보이느냐가 갈립니다.
첫 줄. 왼쪽은 앱 이름만 크게 씁니다. 멋있어 보이죠. 그런데 지나가는 분은 그게 앱인지 브랜드인지 모릅니다.
오른쪽은 이름 아래 한 줄을 붙였어요. '사회초년생을 위한 매너 학습 앱.' 이거면 3초 안에 끝납니다.
둘째 줄. 왼쪽은 화면 열두 장을 나란히 깝니다. 열심히 한 걸 다 보여 주고 싶으니까요.
그런데 다 같은 크기면 어디를 봐야 할지 모릅니다. 결국 아무것도 안 봐요.
오른쪽은 주인공 한 장만 크게 뒀습니다. 나머지는 작게 깔고요.
셋째 줄. 왼쪽은 화면 속 글씨로 설명합니다. 출력하면 2pt예요. 아무도 못 읽습니다.
오른쪽은 화면 밖에 캡션을 달았어요.
넷째 줄. 본문을 12pt로 빽빽하게 채우면 1m에서도 힘듭니다. 18pt 위로 올리고 글을 줄이세요.
[운영 메모]
둘째 줄이 가장 고치기 어렵다. 다 보여 주고 싶은 마음을 꺾어야 한다. '열두 장을 다 보여 주면 한 장도 못 보여 준 것'이라고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그리드요. 내용을 올리기 전에 세우는 틀입니다.
이걸 건너뛰고 화면부터 붙이시면 나중에 고칠 수가 없습니다.
[운영 메모]
30분. 여기가 오늘의 핵심이다. 도판을 띄워 놓고 설명한 뒤 자기 파일에 그리드부터 그리게 하면 다음 주가 수월하다.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한 장입니다. A0 세로, 841 곱하기 1189밀리예요.
바깥 점선이 재단 여백입니다. 사방 3밀리. 인쇄소에서 자를 때 조금씩 밀리거든요. 배경색은 여기까지 깔아야 흰 테두리가 안 생깁니다.
안쪽 점선이 마진입니다. 사방 40밀리. 글자가 이 선을 넘으면 안 됩니다.
파란 세로줄이 열이에요. 여섯 개로 나눴습니다. 사이 간격은 8밀리.
여섯 개가 정답은 아닙니다. 넷으로 하셔도 되고 열둘로 하셔도 돼요. 다만 한 번 정하면 석 장 다 같은 걸 쓰셔야 합니다.
가운데가 세우는 순서입니다. 재단 여백, 마진, 열, 기준선. 이 넷을 정하고 나서 내용을 올립니다.
오른쪽이 글자 크기예요. 1.5미터에서 읽히는 크기입니다.
작품명 180포인트 위. 한 줄 정의 48에서 60. 섹션 제목 60에서 72. 본문 18에서 24. 캡션 14 위.
본문을 16포인트 아래로 내리지 마세요. 그 밑으로 가면 1미터에서도 안 읽힙니다.
맨 아래 한 줄 보세요. 목업 안의 UI 글씨는 출력하면 2에서 3포인트입니다. 그러니까 읽혀야 하는 말은 화면 밖에 적으셔야 해요.
[운영 메모]
도판은 assets/panel/ 에 있고 scratchpad 의 panelfig/grid.html 로 다시 만든다. '열 개수는 정답이 없지만 석 장이 같아야 한다'를 반드시 말할 것. 본문 16pt 하한도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순서가 중요합니다.
먼저 그리드를 그립니다. 재단 여백, 마진, 열, 기준선. 내용은 아직 없어요.
다음 큰 덩어리를 앉힙니다. 작품명 자리, 주인공 화면 자리, 섹션 네 개 자리. 네모로만 둡니다. 글은 아직 안 넣어요.
여기서 멈추고 한 번 보세요. 네모만 봐도 어디가 주인공인지 보여야 합니다. 안 보이면 지금 고치세요. 글을 넣고 나면 고치기 어렵습니다.
그다음에 글을 넣습니다. 한 줄 정의, 섹션 제목, 본문을 열 폭에 맞춰 흘리세요.
마지막이 캡션입니다. 화면 옆에 지시선을 긋고 한 줄씩.
캡션을 마지막에 하는 이유가 있어요. 화면 자리가 정해져야 지시선을 어디로 그을지 알 수 있거든요.
[운영 메모]
둘째 단계에서 멈춰 보게 하는 것이 핵심이다. 네모 상태에서 위계가 안 보이면 글을 넣어도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그리드를 쓰면 뭐가 달라지는지 보겠습니다.
첫 줄. 그리드가 없으면 요소마다 왼쪽 끝이 조금씩 다릅니다. 2밀리, 3밀리씩이요.
멀리서 보면 이게 지저분하게 보입니다. 왜 지저분한지는 모르는데 지저분해요.
오른쪽은 다 같은 선에서 시작합니다.
둘째 줄. 여백을 눈대중으로 띄우면 제각각이 됩니다. 단 간격 하나로 통일하세요.
셋째 줄이 실제로 제일 아픕니다. 그리드가 없으면 하나를 옮길 때 나머지가 다 어긋납니다.
마감 이틀 전에 '이거 좀 옮겨 볼까' 했다가 밤을 새우는 거예요.
그리드가 있으면 열 안에서만 옮기면 됩니다.
넷째 줄. 석 장을 거시잖아요. 그리드가 없으면 석 장이 따로 놉니다. 나란히 걸면 바로 보여요.
[운영 메모]
셋째 줄을 실제 경험으로 말해 줄 것. 마감 직전에 레이아웃을 못 고쳐서 포기하는 학생이 매년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그리드를 세웠으니 이제 그 위에 덩어리를 앉힙니다.
여기서 많이들 눈대중으로 하세요. 자리 남는 만큼 늘리고, 내용 있는 만큼 키우고.
그러면 그리드를 세운 뜻이 없어집니다.
[운영 메모]
20분. 그리드를 세워 놓고 그 위에서 눈대중으로 작업하는 학생이 많다. 열 단위로 잡는다는 것을 숫자로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가지입니다.
먼저 폭이요. 블록 하나가 열 몇 개를 쓰는지 먼저 정하세요.
여섯 열이면 2열, 3열, 6열 중에서 고르시면 됩니다. 2열이면 세 개가 나란히 들어가고, 3열이면 둘, 6열이면 하나죠.
2.5열 같은 건 없습니다. 열을 반으로 쪼개 쓰시면 안 돼요.
높이는 본문 줄 간격의 배수로 끊으세요. 줄 간격이 30이면 블록 높이는 300, 330, 360 이런 식으로요.
내용 있는 만큼만 늘리시면 블록마다 높이가 제각각이 됩니다.
블록 사이 간격은 단 간격의 두 배로 띄우세요.
이게 왜 중요하냐면, 블록 안쪽 여백보다 블록 사이가 넓어야 한 덩어리로 보입니다. 반대면 흩어져 보여요.
마지막으로 글은 왼쪽 끝을 맞추세요. 가운데 정렬하면 줄마다 끝이 달라져서 지저분해 보입니다.
가운데 정렬은 작품명 한 군데만 쓰셔도 충분합니다.
[운영 메모]
셋째를 그림으로 보여 주면 빠르다. 블록 사이가 좁은 예와 넓은 예를 즉석에서 만들어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눈대중, 오른쪽이 열 단위입니다.
첫 줄. 눈대중으로 하면 자리 남는 만큼 늘리게 됩니다. 블록마다 폭이 조금씩 달라져요.
2밀리, 3밀리 차이인데 멀리서 보면 이게 보입니다. 왜 지저분한지는 모르는데 지저분해요.
둘째 줄. 높이도 마찬가지입니다. 내용 있는 만큼만 늘리면 제각각이 됩니다. 기준선 배수로 끊으세요.
셋째 줄. 블록 사이를 눈으로 띄우면 어디는 넓고 어디는 좁습니다. 단 간격의 두 배 하나로 통일하세요.
넷째 줄. 가운데 정렬이요. 보기 좋을 것 같아서 하시는데, 줄마다 왼쪽 끝이 달라집니다.
왼쪽 끝이 하나로 맞아 있으면 그것만으로 정돈돼 보입니다.
[운영 메모]
첫 줄의 '2밀리 차이가 보인다'를 실제로 보여 줄 것. 말로만 하면 안 믿는다.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번째입니다. 오늘 새로 들어가는 부분이에요.
패널에서 관람자가 제일 오래 보는 곳이 어디일 것 같으세요.
작품명 바로 아래입니다. 제목을 보고 '이게 뭐지' 하면서 바로 아래를 봐요.
그 자리에 여러분 서비스의 핵심 설명이 들어가야 합니다.
그런데 여기를 글로만 채우시면 아무도 안 읽습니다. 화면만 깔면 뭔지 모르고요.
네 칸으로 나눠서 글과 그림을 같이 두는 방법을 보겠습니다.
[운영 메모]
30분. 오늘 추가된 부분이라 시간을 넉넉히 둔다. 도판 10분, 네 칸 설명 10분, 과제 안내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전체입니다. 맨 위가 작품명과 한 줄 정의예요.
그 바로 아래, 파랗게 칠한 자리가 핵심 서비스 설명입니다. 패널 높이의 3분의 1쯤 됩니다.
그 아래로 흐름과 규격, 화면 목록이 오고, 맨 아래가 남은 일정과 이름이에요.
가운데가 그 설명 영역을 펼친 겁니다. 네 칸이에요.
① 어떤 문제. 2열입니다. 글로 두 줄.
② 어떻게 풀었나. 역시 2열, 한 문장.
③ 핵심 화면. 3열인데 높이를 길게 썼습니다. 여기가 패널에서 제일 큰 화면이에요.
④ 어떻게 작동하나. 아래쪽을 가로로 넓게 썼습니다. 화면 넉 장으로 흐름을 보이는 자리예요.
①②는 글이고 ③④는 그림입니다. 글만 있으면 안 읽고 그림만 있으면 모릅니다. 둘을 같이 둬야 해요.
오른쪽이 칸마다 무엇을 적는지입니다. 이건 다음 장에서 하나씩 보겠습니다.
[운영 메모]
도판은 assets/panel/ 에 있고 scratchpad 의 panelfig/service.html 로 다시 만든다. 2·2·3·6 열 배분은 예시일 뿐이고 서비스에 따라 달라질 수 있다는 것도 말할 것 — 다만 열 단위로 잡는 원칙은 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하나씩 보겠습니다.
첫째, 어떤 문제. 누가, 어떤 상황에서, 무엇에 막히는지입니다.
'사용자 경험을 개선하기 위해' 이런 거 말고요. '처음 입사한 사람이 회식 자리에서 어떻게 앉아야 할지 모른다.' 이렇게 쓰세요.
두 줄 안쪽입니다.
그다음은 어떻게 풀었나입니다. 이 서비스가 그 문제를 어떤 방법으로 더는지, 한 문장으로 씁니다.
세 번째는 핵심 화면입니다. 그 방법이 가장 잘 보이는 화면 한 장이요.
이게 고르기 어려우실 거예요. 기준은 하나입니다. 이 화면 하나만 보여 줬을 때 '아 이렇게 하는 거구나' 하면 그게 핵심 화면입니다.
마지막은 작동 순서입니다. 쓰는 사람이 거치는 넉 장이요. 시작하고, 고르고, 확인하고, 결과를 봅니다.
넉 장이 넘어가면 줄이세요. 여섯 장 깔면 관람자가 안 따라옵니다.
네 칸을 다 못 채우시겠다면, 패널 문제가 아니라 서비스가 덜 정해진 겁니다. 그때는 패널 말고 서비스부터 다시 보셔야 해요.
[운영 메모]
셋째에서 가장 막힌다. '이 한 장만 보여 줬을 때' 기준을 분명히 말할 것. 넷째의 넉 장 상한도 못 박는다 — 안 그러면 여덟 장을 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새로 드리는 과제입니다.
패널에 그리기 전에 글로 먼저 정하는 거예요.
왼쪽이 적을 것입니다.
먼저 네 칸의 내용. 문제, 해결, 핵심 화면, 작동 순서.
그다음은 핵심 화면을 왜 그것으로 골랐는지입니다. 한 줄이면 됩니다. 이걸 못 쓰시면 아직 안 고르신 거예요.
세 번째는 작동 순서 넉 장의 번호입니다. 화면 목록표에 번호 매기셨지요. 그 번호로 적으세요.
마지막은 설명 영역이 패널에서 차지할 위치입니다. 몇 열을 쓰고 위에서 몇 번째 칸인지요.
오른쪽이 형식입니다.
A4 한 장이에요. 글로만 적으세요. 이미지는 넣지 마시고 화면은 번호만.
이미지를 넣기 시작하면 또 디자인을 하게 됩니다. 오늘은 무엇을 말할지만 정하는 거예요.
네 칸은 각각 두 줄을 넘기지 마세요. 두 줄로 안 되면 아직 정리가 안 된 겁니다.
[운영 메모]
'이미지를 넣으면 또 디자인을 하게 된다'를 분명히 말할 것. 글로 정리하는 과제라는 성격을 지켜야 다음 주에 쓸 수 있다. 두 줄 상한도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읽는 순서요. 관람자가 알아서 순서대로 볼 거라고 생각하시면 안 됩니다.
순서는 우리가 만들어 주는 겁니다.
[운영 메모]
30분. 세 가지 수단을 보고 캡션으로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가지로 순서를 만듭니다.
먼저 크기요. 제일 큰 것이 먼저 읽힙니다. 이건 그냥 그렇게 됩니다.
그러니까 한 장에 주인공은 하나여야 해요. 둘이면 눈이 왔다 갔다 합니다.
그다음은 위치입니다. 사람은 왼쪽 위에서 오른쪽 아래로 읽습니다. 중요한 걸 위에 두세요.
아래쪽은 허리를 굽혀야 보입니다. 거기에 중요한 걸 두면 아무도 안 봐요.
마지막은 번호입니다. 섹션에 번호를 답니다.
크기와 위치로 순서가 안 만들어질 때 번호가 대신합니다. 흐름도처럼 여러 개가 나란히 있을 때 특히 그래요.
한 가지 주의하실 게 있습니다. 셋이 서로 어긋나면 안 돼요.
번호는 1, 2, 3인데 크기는 2번이 제일 크고 위치는 3번이 맨 위에 있으면, 관람자는 아무 순서도 못 읽습니다.
[운영 메모]
'셋이 어긋나면 안 된다'가 핵심이다. 학생 패널에서 번호와 크기가 따로 노는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캡션 이야기입니다.
왼쪽이 목업 안에 쓴 것, 오른쪽이 밖에 쓴 것입니다.
첫 줄. 화면 속 UI 글씨로 설명하려고 하시면 안 됩니다. 출력하면 2포인트예요. 돋보기로 봐야 합니다.
오른쪽은 화면 옆에 지시선을 긋고 적었습니다.
둘째 줄. 화면만 덩그러니 두면 관람자는 뭘 봐야 할지 모릅니다. '이 화면에서 무엇을 하는지' 한 줄이면 됩니다.
셋째 줄이 심사에서 갈립니다. 결과만 보여 주면 '그래서 왜 이렇게 했냐'고 물으십니다.
'왜 이렇게 했는지' 한 줄을 덧붙이세요. 그 한 줄이 리서치와 화면을 이어 줍니다.
넷째 줄. 열두 장이 다 비슷해 보이는 문제요. 캡션이 다르면 구별이 됩니다.
캡션 길이는 한 줄입니다. 두 줄 넘어가면 아무도 안 읽어요.
[운영 메모]
셋째 줄을 강조할 것. '왜 이렇게 했는지' 한 줄이 과정을 보여 주는 가장 싼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싣는 것입니다.
한 줄 정의. 무엇을 만들었는지 한 문장이요.
주인공 화면 한 장. 제일 자신 있는 화면을 크게 거세요.
흐름 하나. 시작에서 결과까지 이어지는 것. 다섯 장쯤 됩니다.
규격과 토큰. 한 장으로 요약하세요. 업계에서 오신 분들이 여기를 보십니다.
화면 목록. 전체가 몇 장인지 보이게요. 다 거는 게 아니라 규모만 보이면 됩니다.
오른쪽이 빼는 것입니다.
화면 전부. 열다섯 장을 다 깔지 마세요. 다 보여 주면 한 장도 못 보여 준 겁니다.
작업하는 사진. 밤새운 책상 사진 같은 거요. 안 넣으셔도 됩니다.
긴 글. 읽을 사람이 없습니다.
장식. 패턴, 그림자, 그라데이션. 자리만 먹습니다.
고르실 때는 지금까지 만든 화면 목록표를 여세요. 거기 패널 게재 칸이 있습니다.
[운영 메모]
'다 보여 주면 한 장도 못 보여 준 것'을 그대로 말할 것. 이 한마디가 가장 잘 먹힌다.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30분 실습입니다. 노트북 닫아 주세요.
A4 한 장 드리겠습니다. 세로로 셋으로 나누세요. 한 칸이 한 안입니다.
먼저 패널 틀을 그리세요. 세로로 긴 네모요. 그 안에 마진선 긋고 열을 나누세요.
그다음 큰 덩어리만 네모로 앉히세요. 글은 쓰지 마세요. 자리만 봅니다.
작품명 자리, 주인공 화면 자리, 섹션 자리. 네모 다섯이나 여섯이면 됩니다.
세 안을 다르게 그리세요. 같은 걸 세 번 그리면 비교가 안 됩니다.
예를 들어 하나는 주인공을 위에, 하나는 가운데, 하나는 왼쪽에 크게. 이렇게요.
다 그리시면 셋을 나란히 놓고 보세요. 멀리서요. 팔을 쭉 뻗고 보시면 됩니다.
그중에 주인공이 제일 분명한 걸 고르세요.
손으로 그리라는 게 답답하실 텐데, 피그마를 열면 꼭 화면부터 붙이게 됩니다. 그러면 그리드를 안 세우게 돼요.
[운영 메모]
노트북을 반드시 닫게 할 것. A4와 펜을 미리 준비한다. 순회하면서 '세 안이 똑같다'는 학생을 먼저 잡아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가실 것들입니다.
앞의 넷은 그리드예요. 재단 여백, 마진, 열과 단 간격.
다섯 번째 줄은 한 줄 정의가 들어갈 위치를 잡으셨는지입니다. 문장은 과제로 쓰시고 오늘은 자리만 잡으시면 됩니다.
여섯째, 주인공 화면이 하나인지. 둘이면 줄이세요.
일곱째, 캡션 자리요. 화면 옆에 한 줄 들어갈 자리를 비워 두셨는지.
마지막, 석 장이 같은 그리드를 쓰는지. 이게 제일 많이 깨집니다.
[운영 메모]
셋째 줄(석 장이 같은 그리드)을 마지막에 한 번 더 짚을 것. 각자 한 장씩 따로 만들다가 나중에 안 맞는 경우가 가장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첫째가 오늘 새로 드리는 겁니다.
설명 배치 기획안. A4 한 장이에요.
네 칸을 글로 채우시면 됩니다. 어떤 문제, 어떻게 풀었나, 핵심 화면, 작동 순서.
핵심 화면을 왜 그걸로 골랐는지 한 줄 덧붙이세요. 이걸 못 쓰시면 아직 안 고르신 겁니다.
작동 순서 넉 장은 화면 목록표 번호로 적으세요.
이미지는 넣지 마세요. 넣기 시작하면 또 디자인을 하게 됩니다. 오늘 과제는 무엇을 말할지 정하는 거예요.
두 번째는 패널 레이아웃 시안 한 장입니다. 오늘 고른 안을 A0 비율로 옮기세요.
그리드와 블록 자리까지만 그리시면 됩니다. 내용은 네모로 두시고요. 다만 설명 영역 네 칸이 어디인지는 표시해 주세요.
세 번째는 실을 것 목록과 한 줄 정의입니다. 화면 목록표에 패널 게재 칸이 있지요. 거기 채우시고, 작품명 아래 들어갈 한 문장을 쓰세요.
한 줄 정의가 제일 어려우실 겁니다. 수식을 빼세요. '사용자 중심의 혁신적인' 이런 말 말고 누구를 위한 무슨 앱인지만요.
세 가지 다 다음 주 수업 시작 전까지입니다.
[운영 메모]
기획안을 글로만 쓰게 하는 것이 핵심이다. 이미지를 허용하면 디자인을 먼저 하고 내용을 나중에 맞춘다. 한 줄 정의에서도 많이 막힌다. 수업 중에 한두 명 것을 즉석에서 같이 고쳐 보이면 나머지가 따라온다. '사용자 중심의' 같은 수식어를 빼라고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09</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09  ·  PHASE 3 패널</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패널 레이아웃 — 그리드를 세우고 올린다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그리드를 세우고 블록을 열 단위로 앉힌 다음,</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핵심 서비스 설명을 네 칸으로 나눕니다.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수업일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2026-10-28(수)</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설명 배치 기획안 · 레이아웃 썸네일 세 안 · 실을 것 목록 · 한 줄 정의</a:t>
            </a:r>
            <a:endParaRPr lang="en-US" sz="1200" dirty="0"/>
          </a:p>
        </p:txBody>
      </p:sp>
      <p:sp>
        <p:nvSpPr>
          <p:cNvPr id="20" name="Text 18"/>
          <p:cNvSpPr/>
          <p:nvPr/>
        </p:nvSpPr>
        <p:spPr>
          <a:xfrm>
            <a:off x="640080" y="5797296"/>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작성일</a:t>
            </a:r>
            <a:endParaRPr lang="en-US" sz="950" dirty="0"/>
          </a:p>
        </p:txBody>
      </p:sp>
      <p:sp>
        <p:nvSpPr>
          <p:cNvPr id="21" name="Text 19"/>
          <p:cNvSpPr/>
          <p:nvPr/>
        </p:nvSpPr>
        <p:spPr>
          <a:xfrm>
            <a:off x="1645920" y="5797296"/>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2026-10-23</a:t>
            </a:r>
            <a:endParaRPr lang="en-US" sz="1200" dirty="0"/>
          </a:p>
        </p:txBody>
      </p:sp>
      <p:sp>
        <p:nvSpPr>
          <p:cNvPr id="22" name="Text 20"/>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관람객의 시선을 멈추게 하는 첫 3초</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패널은 두 거리에서 읽힙니다. 2m 떨어진 데서 3초, 그리고 다가온 사람이 1m 앞에서 1분. 3초 안에 무엇을 만들었는지 전해지지 않으면 1분은 오지 않습니다. 작품명만 크게 쓰고 나머지를 같은 크기로 깔면 2m에서는 아무것도 읽히지 않습니다. 크기를 두 벌로 나누는 일이 오늘 할 일의 절반입니다.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761488"/>
            <a:ext cx="7863840" cy="1042416"/>
          </a:xfrm>
          <a:prstGeom prst="rect">
            <a:avLst/>
          </a:prstGeom>
          <a:noFill/>
          <a:ln/>
        </p:spPr>
        <p:txBody>
          <a:bodyPr wrap="square" lIns="0" tIns="0" rIns="0" bIns="0" rtlCol="0" anchor="ctr"/>
          <a:lstStyle/>
          <a:p>
            <a:pPr indent="0" marL="0">
              <a:lnSpc>
                <a:spcPct val="114000"/>
              </a:lnSpc>
              <a:buNone/>
            </a:pPr>
            <a:r>
              <a:rPr lang="en-US" sz="3400" dirty="0">
                <a:solidFill>
                  <a:srgbClr val="FFFFFF"/>
                </a:solidFill>
                <a:latin typeface="Pretendard SemiBold" pitchFamily="34" charset="0"/>
                <a:ea typeface="Pretendard SemiBold" pitchFamily="34" charset="-122"/>
                <a:cs typeface="Pretendard SemiBold" pitchFamily="34" charset="-120"/>
              </a:rPr>
              <a:t>패널을 보는 사람과 필요한 정보</a:t>
            </a:r>
            <a:endParaRPr lang="en-US" sz="34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패널을 보는 사람이 셋이고, 각자 중요하게 보는 정보가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VIEWER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관람자에 따라 중요하게 보는 정보가 다릅니다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사람 모두 3초 안에 무엇인지 파악할 수 있어야 합니다.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심사하는 분</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결과만이 아니라 어떻게 왔는지를 봅니다. 리서치에서 화면까지 이어지는지 확인합니다.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과정이 이어지는 한 줄기</a:t>
            </a:r>
            <a:endParaRPr lang="en-US" sz="1200" dirty="0"/>
          </a:p>
        </p:txBody>
      </p:sp>
      <p:sp>
        <p:nvSpPr>
          <p:cNvPr id="16" name="Shape 14"/>
          <p:cNvSpPr/>
          <p:nvPr/>
        </p:nvSpPr>
        <p:spPr>
          <a:xfrm>
            <a:off x="4399178" y="1737360"/>
            <a:ext cx="3393338" cy="3621024"/>
          </a:xfrm>
          <a:prstGeom prst="rect">
            <a:avLst/>
          </a:prstGeom>
          <a:solidFill>
            <a:srgbClr val="111111"/>
          </a:solidFill>
          <a:ln w="12700">
            <a:solidFill>
              <a:srgbClr val="111111"/>
            </a:solidFill>
            <a:prstDash val="solid"/>
          </a:ln>
        </p:spPr>
      </p:sp>
      <p:sp>
        <p:nvSpPr>
          <p:cNvPr id="17" name="Shape 15"/>
          <p:cNvSpPr/>
          <p:nvPr/>
        </p:nvSpPr>
        <p:spPr>
          <a:xfrm>
            <a:off x="4783226" y="2011680"/>
            <a:ext cx="365760" cy="365760"/>
          </a:xfrm>
          <a:prstGeom prst="ellipse">
            <a:avLst/>
          </a:prstGeom>
          <a:solidFill>
            <a:srgbClr val="111111"/>
          </a:solidFill>
          <a:ln w="12700">
            <a:solidFill>
              <a:srgbClr val="FFFFFF"/>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업계에서 온 분</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같이 일할 수 있는 사람인지 봅니다. 규격을 정할 줄 아는지 확인합니다.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보여야 하는 것</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규격 표와 컴포넌트</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가족과 지나가는 분</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제일 많은데 제일 많이 빠뜨립니다. UX가 무엇인지 모르십니다.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한 줄 정의</a:t>
            </a:r>
            <a:endParaRPr lang="en-US" sz="12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DISTANCE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멀리서도 핵심이 보이는 패널 구성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내용이라도 크기와 위계에 따라 전달되는 정도가 달라집니다.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핵심이 드러나지 않음</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핵심이 드러남</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제목만 큼</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앱 이름만 크게 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제목만 큼</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이름 아래 한 줄 정의를 붙인다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같은 크기</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열두 장을 나란히 깐다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같은 크기</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주인공 한 장만 크게 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글이 목업 안에</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글이 목업 안에</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밖에 한 줄 캡션을 단다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본문이 작음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12pt로 빽빽하게 채운다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본문이 작음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18pt 위로 올리고 글을 줄인다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멀리서 핵심이 인지되어야 관람자가 자세한 내용을 확인하게 됩니다.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761488"/>
            <a:ext cx="7863840" cy="1042416"/>
          </a:xfrm>
          <a:prstGeom prst="rect">
            <a:avLst/>
          </a:prstGeom>
          <a:noFill/>
          <a:ln/>
        </p:spPr>
        <p:txBody>
          <a:bodyPr wrap="square" lIns="0" tIns="0" rIns="0" bIns="0" rtlCol="0" anchor="ctr"/>
          <a:lstStyle/>
          <a:p>
            <a:pPr indent="0" marL="0">
              <a:lnSpc>
                <a:spcPct val="114000"/>
              </a:lnSpc>
              <a:buNone/>
            </a:pPr>
            <a:r>
              <a:rPr lang="en-US" sz="3400" dirty="0">
                <a:solidFill>
                  <a:srgbClr val="FFFFFF"/>
                </a:solidFill>
                <a:latin typeface="Pretendard SemiBold" pitchFamily="34" charset="0"/>
                <a:ea typeface="Pretendard SemiBold" pitchFamily="34" charset="-122"/>
                <a:cs typeface="Pretendard SemiBold" pitchFamily="34" charset="-120"/>
              </a:rPr>
              <a:t>패널 구성의 기준이 되는 그리드</a:t>
            </a:r>
            <a:endParaRPr lang="en-US" sz="34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내용을 배치하기 전에 먼저 정합니다. 초기 구조를 정해 두면 이후 수정 비용이 줄어듭니다.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패널 구성에 필요한 기본 규격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A0 세로 한 장에 들어가는 네 가지와, 1.5m에서 읽히는 글자 크기입니다.</a:t>
            </a:r>
            <a:endParaRPr lang="en-US" sz="1150" dirty="0"/>
          </a:p>
        </p:txBody>
      </p:sp>
      <p:pic>
        <p:nvPicPr>
          <p:cNvPr id="9" name="Image 0" descr="/home/user/MIN.D/assets/panel/grid.png">    </p:cNvPr>
          <p:cNvPicPr>
            <a:picLocks noChangeAspect="1"/>
          </p:cNvPicPr>
          <p:nvPr/>
        </p:nvPicPr>
        <p:blipFill>
          <a:blip r:embed="rId1"/>
          <a:stretch>
            <a:fillRect/>
          </a:stretch>
        </p:blipFill>
        <p:spPr>
          <a:xfrm>
            <a:off x="640080" y="1956208"/>
            <a:ext cx="10911535" cy="3366209"/>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숫자는 A0 기준입니다. 패널 크기가 다르면 비율로 환산해 쓰시면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레이아웃 작업의 진행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네모만 배치한 상태에서 한 번 확인하는 것이 좋습니다.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그리드를 그린다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재단 여백 · 마진 · 열 · 기준선. 내용을 올리기 전에 끝냅니다.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덩어리를 네모로 앉힌다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작품명 · 주인공 화면 · 섹션. 글은 아직 넣지 않습니다. 네모만 봐도 주인공이 보여야 합니다.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글을 넣는다</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줄 정의 · 섹션 제목 · 본문. 열 폭에 맞춰 흘립니다.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캡션을 단다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옆에 지시선을 긋고 한 줄씩. 화면 자리가 정해져야 지시선을 그을 수 있습니다.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초기 구조를 먼저 정하면 이후 수정 비용을 크게 줄일 수 있습니다.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GRID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그리드 적용 전후 비교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그리드 자체는 드러나지 않지만, 맞지 않으면 바로 눈에 띕니다.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그리드 없이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그리드 위에</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끝이 안 맞음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요소마다 왼쪽 끝이 다르다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끝이 안 맞음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모두 같은 선에서 시작한다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여백이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눈대중으로 띄운다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여백이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 하나로 통일한다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수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하나 옮기면 다 어긋난다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수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열 안에서만 옮기면 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장마다 다름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석 장이 따로 논다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장마다 다름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석 장이 같은 그리드를 쓴다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번째 항목이 마감에서 가장 부담이 됩니다. 지금 기준을 세워 두면 그때 수정할 수 있습니다.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761488"/>
            <a:ext cx="7863840" cy="1042416"/>
          </a:xfrm>
          <a:prstGeom prst="rect">
            <a:avLst/>
          </a:prstGeom>
          <a:noFill/>
          <a:ln/>
        </p:spPr>
        <p:txBody>
          <a:bodyPr wrap="square" lIns="0" tIns="0" rIns="0" bIns="0" rtlCol="0" anchor="ctr"/>
          <a:lstStyle/>
          <a:p>
            <a:pPr indent="0" marL="0">
              <a:lnSpc>
                <a:spcPct val="114000"/>
              </a:lnSpc>
              <a:buNone/>
            </a:pPr>
            <a:r>
              <a:rPr lang="en-US" sz="3400" dirty="0">
                <a:solidFill>
                  <a:srgbClr val="FFFFFF"/>
                </a:solidFill>
                <a:latin typeface="Pretendard SemiBold" pitchFamily="34" charset="0"/>
                <a:ea typeface="Pretendard SemiBold" pitchFamily="34" charset="-122"/>
                <a:cs typeface="Pretendard SemiBold" pitchFamily="34" charset="-120"/>
              </a:rPr>
              <a:t>내용 블록을 배치하는 방법</a:t>
            </a:r>
            <a:endParaRPr lang="en-US" sz="34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그리드를 세운 다음, 그 위에 내용 블록을 배치합니다. 열을 기준으로 잡습니다.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BLOCK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블록은 그리드 기준으로 배치한다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블록 하나가 열을 몇 개 쓰는지부터 정하는 것이 좋습니다.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폭은 열 묶음으로</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여섯 열이면 2열 · 3열 · 6열 중에서 고릅니다. 열을 반으로 쪼개지 않습니다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높이는 줄 간격의 배수로</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내용 있는 만큼만 늘리면 블록마다 높이가 달라집니다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블록 사이는 단 간격의 두 배</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안쪽 여백보다 바깥이 넓어야 한 덩어리로 보입니다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글은 왼쪽 끝을 맞춘다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가운데 정렬은 작품명 한 군데면 충분합니다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열을 반으로 나누어 쓰면 그리드를 세운 효과가 줄어듭니다.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 배치 시 확인할 사항</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2mm 차이도 멀리서는 드러납니다.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눈대중으로</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열 단위로</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폭이 제각각</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자리가 남는 만큼 늘린다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폭이 제각각</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2열·3열·6열 중에서 고른다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높이가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있는 만큼만 늘린다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높이가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줄 간격의 배수로 끊는다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간격이 섞임</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블록 사이를 눈으로 띄운다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간격이 섞임</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간격의 두 배로 띄운다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가운데 정렬</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제목과 글을 가운데로 모은다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가운데 정렬</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왼쪽 끝을 하나로 맞춘다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안쪽 여백보다 블록 사이를 넓게 두면 한 덩어리로 묶여 보입니다.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761488"/>
            <a:ext cx="7863840" cy="1042416"/>
          </a:xfrm>
          <a:prstGeom prst="rect">
            <a:avLst/>
          </a:prstGeom>
          <a:noFill/>
          <a:ln/>
        </p:spPr>
        <p:txBody>
          <a:bodyPr wrap="square" lIns="0" tIns="0" rIns="0" bIns="0" rtlCol="0" anchor="ctr"/>
          <a:lstStyle/>
          <a:p>
            <a:pPr indent="0" marL="0">
              <a:lnSpc>
                <a:spcPct val="114000"/>
              </a:lnSpc>
              <a:buNone/>
            </a:pPr>
            <a:r>
              <a:rPr lang="en-US" sz="3400" dirty="0">
                <a:solidFill>
                  <a:srgbClr val="FFFFFF"/>
                </a:solidFill>
                <a:latin typeface="Pretendard SemiBold" pitchFamily="34" charset="0"/>
                <a:ea typeface="Pretendard SemiBold" pitchFamily="34" charset="-122"/>
                <a:cs typeface="Pretendard SemiBold" pitchFamily="34" charset="-120"/>
              </a:rPr>
              <a:t>핵심 서비스 내용을 배치하는 방법</a:t>
            </a:r>
            <a:endParaRPr lang="en-US" sz="34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관람자가 가장 오래 보는 영역입니다. 네 가지 요소로 나누어 구성합니다.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설명 영역을 구조화하는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작품명 바로 아래가 설명 영역입니다. 그 안을 네 칸으로 나눕니다.</a:t>
            </a:r>
            <a:endParaRPr lang="en-US" sz="1150" dirty="0"/>
          </a:p>
        </p:txBody>
      </p:sp>
      <p:pic>
        <p:nvPicPr>
          <p:cNvPr id="9" name="Image 0" descr="/home/user/MIN.D/assets/panel/service-block.png">    </p:cNvPr>
          <p:cNvPicPr>
            <a:picLocks noChangeAspect="1"/>
          </p:cNvPicPr>
          <p:nvPr/>
        </p:nvPicPr>
        <p:blipFill>
          <a:blip r:embed="rId1"/>
          <a:stretch>
            <a:fillRect/>
          </a:stretch>
        </p:blipFill>
        <p:spPr>
          <a:xfrm>
            <a:off x="640080" y="1999854"/>
            <a:ext cx="10911535" cy="3278916"/>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가지 요소를 정리하기 어렵다면 서비스 개념을 한 번 더 점검할 필요가 있습니다.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FOUR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설명 영역에 포함할 핵심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①②는 글로 짧게, ③④는 그림으로 제시합니다.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어떤 문제</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누가, 어떤 상황에서, 무엇에 막히는가. 두 줄 안쪽으로 씁니다.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풀었나</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서비스가 그 문제를 어떤 방법으로 더는가. 한 문장입니다.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화면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한 장만 봐도 '이렇게 하는 거구나' 하는 화면. 패널에서 제일 크게 둡니다.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작동 순서</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쓰는 사람이 거치는 넉 장. 시작 · 고르기 · 확인 · 결과. 넘어가면 줄입니다.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가지 요소를 정리하기 어렵다면 서비스 개념을 한 번 더 점검할 필요가 있습니다.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설명 배치 계획 수립</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패널에 그리기 전에 글로 먼저 정합니다. A4 한 장입니다.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적을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칸의 내용 — 문제 · 해결 · 핵심 화면 · 작동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핵심 화면을 그것으로 고른 이유 — 한 줄</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작동 순서 넉 장의 번호 — 화면 목록표의 번호로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설명 영역이 쓸 자리 — 몇 열, 위에서 몇 번째 칸</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형식</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A4 한 장. 글로만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칸은 각각 두 줄을 넘기지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화면은 번호만 적고 이미지는 넣지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주 수업 시작 전까지 공유 폴더에</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05</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05</a:t>
            </a:r>
            <a:endParaRPr lang="en-US" sz="950" dirty="0"/>
          </a:p>
        </p:txBody>
      </p:sp>
      <p:sp>
        <p:nvSpPr>
          <p:cNvPr id="11" name="Text 9"/>
          <p:cNvSpPr/>
          <p:nvPr/>
        </p:nvSpPr>
        <p:spPr>
          <a:xfrm>
            <a:off x="640080" y="2761488"/>
            <a:ext cx="7863840" cy="1042416"/>
          </a:xfrm>
          <a:prstGeom prst="rect">
            <a:avLst/>
          </a:prstGeom>
          <a:noFill/>
          <a:ln/>
        </p:spPr>
        <p:txBody>
          <a:bodyPr wrap="square" lIns="0" tIns="0" rIns="0" bIns="0" rtlCol="0" anchor="ctr"/>
          <a:lstStyle/>
          <a:p>
            <a:pPr indent="0" marL="0">
              <a:lnSpc>
                <a:spcPct val="114000"/>
              </a:lnSpc>
              <a:buNone/>
            </a:pPr>
            <a:r>
              <a:rPr lang="en-US" sz="3400" dirty="0">
                <a:solidFill>
                  <a:srgbClr val="FFFFFF"/>
                </a:solidFill>
                <a:latin typeface="Pretendard SemiBold" pitchFamily="34" charset="0"/>
                <a:ea typeface="Pretendard SemiBold" pitchFamily="34" charset="-122"/>
                <a:cs typeface="Pretendard SemiBold" pitchFamily="34" charset="-120"/>
              </a:rPr>
              <a:t>관람자의 시선 흐름 설계</a:t>
            </a:r>
            <a:endParaRPr lang="en-US" sz="34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관람자의 시선 흐름은 설계하는 쪽에서 만들어 줍니다.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정보를 읽는 흐름을 유도하는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가지가 서로 어긋나면 시선 흐름이 만들어지지 않습니다.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제일 큰 것이 먼저 읽힙니다. 한 장에 주인공은 하나입니다</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위치</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왼쪽 위에서 오른쪽 아래로 읽습니다. 아래쪽은 허리를 굽혀야 보입니다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번호</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크기와 위치로 안 될 때 번호가 대신합니다</a:t>
            </a:r>
            <a:endParaRPr lang="en-US" sz="110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캡션은 화면 외부에서 설명한다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목업 내부의 글자는 크기를 키워도 읽히지 않습니다.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목업 안에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목업 밖에 쓰면</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출력하면 2pt</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출력하면 2pt</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옆에 지시선을 긋고 적는다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뭘 볼지 모름</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화면만 두고 설명이 없다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뭘 볼지 모름</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 화면에서 무엇을 하는지 한 줄</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왜 그랬는지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결과만 보여 준다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왜 그랬는지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왜 이렇게 했는지 한 줄 덧붙인다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비슷해 보임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열두 장이 구별되지 않는다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비슷해 보임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캡션이 달라 구별이 된다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캡션은 한 줄로 작성합니다. 두 줄을 넘기면 읽히지 않습니다.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포함할 내용과 제외할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지금까지 만든 화면 목록표에서 선별합니다.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싣는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줄 정의 — 무엇을 만들었는지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주인공 화면 — 제일 자신 있는 것 한 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 하나 — 시작에서 결과까지 다섯 장쯤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규격과 토큰 — 한 장으로 요약</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 — 전체 규모가 보이게</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빼는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전부 — 모든 결과물을 나열하기보다 핵심을 선별합니다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작업하는 사진 — 밤새운 책상은 필요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긴 글 — 읽을 사람이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장식 — 패턴과 그림자는 자리만 먹습니다</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레이아웃 썸네일 제작</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35분. 손으로 그립니다. 노트북은 닫아 둡니다.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A4를 셋으로 나눈다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칸이 한 안입니다. 세로로 긴 패널 틀을 그립니다.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마진과 열을 긋는다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내용을 넣기 전에 틀부터 그립니다. 손으로도 순서는 같습니다.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덩어리만 네모로</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글은 쓰지 않습니다. 설명 영역 네 칸은 우선적으로 표시합니다. 세 안을 서로 다르게 그립니다.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팔을 뻗고 셋을 본다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멀리서 봅니다. 주인공이 제일 분명한 것을 고릅니다.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안을 모두 그리기 어렵다면 두 안까지는 작성합니다. 한 안만으로는 비교가 되지 않습니다.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최종 점검 항목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줄을 보고 가십시오.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재단 여백 3mm와 마진 40mm를 그렸다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열 개수와 단 간격을 정했다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석 장이 같은 그리드를 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본문을 18pt 위로 올렸다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작품명 아래 한 줄 정의 자리를 잡았다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주인공 화면이 한 장이다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설명 영역 네 칸의 자리를 잡았다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블록 폭을 열 묶음으로 잡았다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옆에 캡션 들어갈 자리를 비웠다</a:t>
            </a:r>
            <a:endParaRPr lang="en-US" sz="1200" dirty="0"/>
          </a:p>
        </p:txBody>
      </p:sp>
      <p:sp>
        <p:nvSpPr>
          <p:cNvPr id="45" name="Shape 43"/>
          <p:cNvSpPr/>
          <p:nvPr/>
        </p:nvSpPr>
        <p:spPr>
          <a:xfrm>
            <a:off x="6297016" y="4681728"/>
            <a:ext cx="5254600" cy="585216"/>
          </a:xfrm>
          <a:prstGeom prst="rect">
            <a:avLst/>
          </a:prstGeom>
          <a:solidFill>
            <a:srgbClr val="F2F2F2"/>
          </a:solidFill>
          <a:ln w="12700">
            <a:solidFill>
              <a:srgbClr val="F2F2F2"/>
            </a:solidFill>
            <a:prstDash val="solid"/>
          </a:ln>
        </p:spPr>
      </p:sp>
      <p:sp>
        <p:nvSpPr>
          <p:cNvPr id="46" name="Shape 44"/>
          <p:cNvSpPr/>
          <p:nvPr/>
        </p:nvSpPr>
        <p:spPr>
          <a:xfrm>
            <a:off x="6571336" y="48188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목록표에서 실을 것을 골랐다</a:t>
            </a:r>
            <a:endParaRPr lang="en-US" sz="1200" dirty="0"/>
          </a:p>
        </p:txBody>
      </p:sp>
      <p:sp>
        <p:nvSpPr>
          <p:cNvPr id="49" name="Shape 47"/>
          <p:cNvSpPr/>
          <p:nvPr/>
        </p:nvSpPr>
        <p:spPr>
          <a:xfrm>
            <a:off x="640080" y="6291072"/>
            <a:ext cx="10911535" cy="7315"/>
          </a:xfrm>
          <a:prstGeom prst="rect">
            <a:avLst/>
          </a:prstGeom>
          <a:solidFill>
            <a:srgbClr val="DCDCDC"/>
          </a:solidFill>
          <a:ln w="12700">
            <a:solidFill>
              <a:srgbClr val="DCDCDC"/>
            </a:solidFill>
            <a:prstDash val="solid"/>
          </a:ln>
        </p:spPr>
      </p:sp>
      <p:sp>
        <p:nvSpPr>
          <p:cNvPr id="50" name="Text 4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51" name="Text 4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10주차에는 고른 안을 피그마에 옮기고 화면을 앉힙니다.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설명 배치 기획안 — A4 한 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네 칸을 글로 채웁니다. 어떤 문제 · 어떻게 풀었나 · 핵심 화면 · 작동 순서. 핵심 화면을 그것으로 고른 이유와 작동 순서 넉 장의 번호도 적습니다. 이미지는 넣지 않고 화면은 번호만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패널 레이아웃 시안 한 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고른 안을 A0 비율로 옮깁니다. 그리드와 블록 자리까지만 그리고 내용은 네모로 둡니다. 설명 영역 네 칸이 어디인지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실을 것 목록과 한 줄 정의</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화면 목록표의 패널 게재 칸을 채우고, 작품명 아래 들어갈 한 문장을 씁니다. 수식 없이 명사로 끝냅니다.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10주차 수업 시작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10주차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패널에 화면 앉히기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그리드 위에 화면 올리기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주인공 화면 크기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캡션 달고 지시선 긋기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석 장을 한 세트로 묶기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레이아웃 시안 한 장 · 실을 것 목록 · 한 줄 정의</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9주차 패널 레이아웃 — 그리드를 세우고 올린다</dc:title>
  <dc:subject>원광대학교 2026-2 · 학부 3학년 · 주 3시간 × 15주 · 1학기 기획을 졸업 전시 패널 데이터로</dc:subject>
  <dc:creator>MIN.D</dc:creator>
  <cp:lastModifiedBy>MIN.D</cp:lastModifiedBy>
  <cp:revision>1</cp:revision>
  <dcterms:created xsi:type="dcterms:W3CDTF">2026-10-27T08:37:17Z</dcterms:created>
  <dcterms:modified xsi:type="dcterms:W3CDTF">2026-10-27T08:37:17Z</dcterms:modified>
</cp:coreProperties>
</file>