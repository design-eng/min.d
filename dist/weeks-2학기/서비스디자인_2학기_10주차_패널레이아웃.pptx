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서비스디자인 열 번째 시간입니다.
지난주에 중간평가를 했습니다. 오늘부터는 성격이 바뀝니다.
지금까지는 화면을 만들었어요. 오늘부터는 그걸 거는 일을 합니다.
학기 끝에 졸업 전시 패널을 겁니다. 인쇄 데이터를 넘겨야 해요. 그게 이 수업의 결과물입니다.
그런데 패널은 화면을 모아 놓는다고 되는 게 아닙니다. 만든 걸 다 올리면 아무것도 안 보여요.
오늘은 올리기 전에 틀부터 세웁니다. 그리드요.
그리고 무엇을 올리고 무엇을 뺄지 정합니다.
먼저 지난주 평가에서 공통으로 나온 것부터 짚고 시작하겠습니다.
[운영 메모]
중간평가 직후라 지친 상태로 온다. '이제 새로 그리는 일은 거의 없다, 있는 걸 거는 일이다'를 표지에서 말해 주면 분위기가 산다. 앞 20분 평가 정리는 개인 지적이 아니라 공통으로 나온 것만 말할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질문 하나 드리겠습니다.
전시장에서 패널 하나 앞에 몇 초나 서 계셨어요.
저도 그렇고 여러분도 그렇고, 3초입니다. 지나가면서 흘끗 봐요.
그 3초 안에 '아 이게 뭐구나' 하고 알면 멈춰 섭니다. 모르면 그냥 지나갑니다.
그러니까 패널은 두 번 읽히는 겁니다.
먼저 2m 떨어진 데서 3초. 여기서 멈추게 만들어야 해요.
멈춘 사람이 다가와서 1m 앞에서 1분. 여기서 자세히 봅니다.
두 거리에서 각각 읽혀야 합니다. 그래서 글자 크기가 두 벌 필요해요.
지금 여러분 머릿속에 있는 건 1m용뿐일 겁니다. 2m용을 오늘 만듭니다.
[운영 메모]
'3초'를 숫자로 못 박을 것. 학생들은 자기 패널 앞에 사람이 오래 서 있을 거라고 생각한다. 전시장 사진이 있으면 띄워 놓고 말하면 더 빨리 납득한다.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첫 번째입니다.
패널을 누가 보는지. 이걸 먼저 정해야 무엇을 크게 할지 정할 수 있습니다.
[운영 메모]
25분. 셋째(일반 관람객)에 시간을 쓸 것. 학생들이 가장 빠뜨리는 사람이다.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세 사람입니다.
먼저 심사하는 분. 교수님들이죠. 이분들은 과정을 봅니다. 결과만 예쁘면 '어떻게 나왔냐'고 물으세요.
그러니까 리서치에서 화면까지 어떻게 왔는지가 보여야 합니다.
둘째, 업계에서 오신 분. 전시회에 꼭 오십니다. 이분들은 '이 학생을 쓸 수 있나'를 봅니다.
규격을 정할 줄 아는지, 컴포넌트를 만들 줄 아는지. 여러분이 3주차부터 쌓은 게 여기서 값을 합니다.
셋째가 제일 많은데 제일 많이 빠뜨립니다. 가족, 친구, 그냥 지나가는 관람객이요.
이분들은 UX가 뭔지 모르십니다. '무엇을 만들었는가' 하나만 보세요.
그래서 한 줄 정의가 필요한 겁니다. 작품명만 크게 써 놓으면 이분들은 아무것도 모르고 지나갑니다.
셋 다 3초 안에 알아야 합니다.
[운영 메모]
셋째를 강조할 것. 매년 전시장에서 '이게 뭐야?'라는 질문이 가장 많이 나온다. 한 줄 정의 하나로 해결된다.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같은 내용인데 2m에서 보이느냐 안 보이느냐가 갈립니다.
첫 줄. 왼쪽은 앱 이름만 크게 씁니다. 멋있어 보이죠. 그런데 지나가는 분은 그게 앱인지 브랜드인지 모릅니다.
오른쪽은 이름 아래 한 줄을 붙였어요. '사회초년생을 위한 매너 학습 앱.' 이거면 3초 안에 끝납니다.
둘째 줄. 왼쪽은 화면 열두 장을 나란히 깝니다. 열심히 한 걸 다 보여 주고 싶으니까요.
그런데 다 같은 크기면 어디를 봐야 할지 모릅니다. 결국 아무것도 안 봐요.
오른쪽은 주인공 한 장만 크게 뒀습니다. 나머지는 작게 깔고요.
셋째 줄. 왼쪽은 화면 속 글씨로 설명합니다. 출력하면 2pt예요. 아무도 못 읽습니다.
오른쪽은 화면 밖에 캡션을 달았어요.
넷째 줄. 본문을 12pt로 빽빽하게 채우면 1m에서도 힘듭니다. 18pt 위로 올리고 글을 줄이세요.
[운영 메모]
둘째 줄이 가장 고치기 어렵다. 다 보여 주고 싶은 마음을 꺾어야 한다. '열두 장을 다 보여 주면 한 장도 못 보여 준 것'이라고 말할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두 번째입니다. 오늘의 중심이에요.
그리드요. 내용을 올리기 전에 세우는 틀입니다.
이걸 건너뛰고 화면부터 붙이시면 나중에 고칠 수가 없습니다.
[운영 메모]
30분. 여기가 오늘의 핵심이다. 도판을 띄워 놓고 설명한 뒤 자기 파일에 그리드부터 그리게 하면 다음 주가 수월하다.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그림으로 보겠습니다.
왼쪽이 패널 한 장입니다. A0 세로, 841 곱하기 1189밀리예요.
바깥 점선이 재단 여백입니다. 사방 3밀리. 인쇄소에서 자를 때 조금씩 밀리거든요. 배경색은 여기까지 깔아야 흰 테두리가 안 생깁니다.
안쪽 점선이 마진입니다. 사방 40밀리. 글자가 이 선을 넘으면 안 됩니다.
파란 세로줄이 열이에요. 여섯 개로 나눴습니다. 사이 간격은 8밀리.
여섯 개가 정답은 아닙니다. 넷으로 하셔도 되고 열둘로 하셔도 돼요. 다만 한 번 정하면 석 장 다 같은 걸 쓰셔야 합니다.
가운데가 세우는 순서입니다. 재단 여백, 마진, 열, 기준선. 이 넷을 정하고 나서 내용을 올립니다.
오른쪽이 글자 크기예요. 1.5미터에서 읽히는 크기입니다.
작품명 180포인트 위. 한 줄 정의 48에서 60. 섹션 제목 60에서 72. 본문 18에서 24. 캡션 14 위.
본문을 16포인트 아래로 내리지 마세요. 그 밑으로 가면 1미터에서도 안 읽힙니다.
맨 아래 한 줄 보세요. 목업 안의 UI 글씨는 출력하면 2에서 3포인트입니다. 그러니까 읽혀야 하는 말은 화면 밖에 적으셔야 해요.
[운영 메모]
도판은 assets/panel/ 에 있고 scratchpad 의 panelfig/grid.html 로 다시 만든다. '열 개수는 정답이 없지만 석 장이 같아야 한다'를 반드시 말할 것. 본문 16pt 하한도 못 박는다.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순서가 중요합니다.
먼저 그리드를 그립니다. 재단 여백, 마진, 열, 기준선. 내용은 아직 없어요.
다음 큰 덩어리를 앉힙니다. 작품명 자리, 주인공 화면 자리, 섹션 네 개 자리. 네모로만 둡니다. 글은 아직 안 넣어요.
여기서 멈추고 한 번 보세요. 네모만 봐도 어디가 주인공인지 보여야 합니다. 안 보이면 지금 고치세요. 글을 넣고 나면 고치기 어렵습니다.
셋째, 글을 넣습니다. 한 줄 정의, 섹션 제목, 본문. 열 폭에 맞춰 흘리세요.
마지막이 캡션입니다. 화면 옆에 지시선을 긋고 한 줄씩.
캡션을 마지막에 하는 이유가 있어요. 화면 자리가 정해져야 지시선을 어디로 그을지 알 수 있거든요.
[운영 메모]
둘째 단계에서 멈춰 보게 하는 것이 핵심이다. 네모 상태에서 위계가 안 보이면 글을 넣어도 안 보인다.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그리드를 쓰면 뭐가 달라지는지 보겠습니다.
첫 줄. 그리드가 없으면 요소마다 왼쪽 끝이 조금씩 다릅니다. 2밀리, 3밀리씩이요.
멀리서 보면 이게 지저분하게 보입니다. 왜 지저분한지는 모르는데 지저분해요.
오른쪽은 다 같은 선에서 시작합니다.
둘째 줄. 여백을 눈대중으로 띄우면 제각각이 됩니다. 단 간격 하나로 통일하세요.
셋째 줄이 실제로 제일 아픕니다. 그리드가 없으면 하나를 옮길 때 나머지가 다 어긋납니다.
마감 이틀 전에 '이거 좀 옮겨 볼까' 했다가 밤을 새우는 거예요.
그리드가 있으면 열 안에서만 옮기면 됩니다.
넷째 줄. 석 장을 거시잖아요. 그리드가 없으면 석 장이 따로 놉니다. 나란히 걸면 바로 보여요.
[운영 메모]
셋째 줄을 실제 경험으로 말해 줄 것. 마감 직전에 레이아웃을 못 고쳐서 포기하는 학생이 매년 나온다.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세 번째입니다.
읽는 순서요. 관람자가 알아서 순서대로 볼 거라고 생각하시면 안 됩니다.
순서는 우리가 만들어 주는 겁니다.
[운영 메모]
30분. 세 가지 수단을 보고 캡션으로 넘어간다.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세 가지로 순서를 만듭니다.
먼저 크기요. 제일 큰 것이 먼저 읽힙니다. 이건 그냥 그렇게 됩니다.
그러니까 한 장에 주인공은 하나여야 해요. 둘이면 눈이 왔다 갔다 합니다.
둘째, 위치. 사람은 왼쪽 위에서 오른쪽 아래로 읽습니다. 중요한 걸 위에 두세요.
아래쪽은 허리를 굽혀야 보입니다. 거기에 중요한 걸 두면 아무도 안 봐요.
셋째, 번호. 섹션에 번호를 답니다.
크기와 위치로 순서가 안 만들어질 때 번호가 대신합니다. 흐름도처럼 여러 개가 나란히 있을 때 특히 그래요.
한 가지 주의하실 게 있습니다. 셋이 서로 어긋나면 안 돼요.
번호는 1, 2, 3인데 크기는 2번이 제일 크고 위치는 3번이 맨 위에 있으면, 관람자는 아무 순서도 못 읽습니다.
[운영 메모]
'셋이 어긋나면 안 된다'가 핵심이다. 학생 패널에서 번호와 크기가 따로 노는 경우가 많다.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캡션 이야기입니다.
왼쪽이 목업 안에 쓴 것, 오른쪽이 밖에 쓴 것입니다.
첫 줄. 화면 속 UI 글씨로 설명하려고 하시면 안 됩니다. 출력하면 2포인트예요. 돋보기로 봐야 합니다.
오른쪽은 화면 옆에 지시선을 긋고 적었습니다.
둘째 줄. 화면만 덩그러니 두면 관람자는 뭘 봐야 할지 모릅니다. '이 화면에서 무엇을 하는지' 한 줄이면 됩니다.
셋째 줄이 심사에서 갈립니다. 결과만 보여 주면 '그래서 왜 이렇게 했냐'고 물으십니다.
'왜 이렇게 했는지' 한 줄을 덧붙이세요. 그 한 줄이 리서치와 화면을 이어 줍니다.
넷째 줄. 열두 장이 다 비슷해 보이는 문제요. 캡션이 다르면 구별이 됩니다.
캡션 길이는 한 줄입니다. 두 줄 넘어가면 아무도 안 읽어요.
[운영 메모]
셋째 줄을 강조할 것. '왜 이렇게 했는지' 한 줄이 과정을 보여 주는 가장 싼 방법이다.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마지막입니다.
무엇을 올릴지요.
한 가지 먼저 말씀드릴게요. 새로 만드실 게 없습니다. 이미 만든 것 중에서 고르는 일이에요.
[운영 메모]
25분. '새로 만들 것이 없다'를 먼저 말해 부담을 덜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왼쪽이 싣는 것입니다.
한 줄 정의. 무엇을 만들었는지 한 문장이요.
주인공 화면 한 장. 제일 자신 있는 화면을 크게 거세요.
흐름 하나. 시작에서 결과까지 이어지는 것. 다섯 장쯤 됩니다.
규격과 토큰. 한 장으로 요약하세요. 이게 업계에서 오신 분들이 보는 자리입니다.
화면 목록. 전체가 몇 장인지 보이게요. 다 거는 게 아니라 규모만 보이면 됩니다.
오른쪽이 빼는 것입니다.
화면 전부. 열다섯 장을 다 깔지 마세요. 다 보여 주면 한 장도 못 보여 준 겁니다.
작업하는 사진. 밤새운 책상 사진 같은 거요. 안 넣으셔도 됩니다.
긴 글. 읽을 사람이 없습니다.
장식. 패턴, 그림자, 그라데이션. 자리만 먹습니다.
고르실 때는 중간 보고서에 낸 화면 목록표를 여세요. 거기 패널 게재 칸이 있습니다.
[운영 메모]
'다 보여 주면 한 장도 못 보여 준 것'을 그대로 말할 것. 이 한마디가 가장 잘 먹힌다.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30분 실습입니다. 노트북 닫아 주세요.
A4 한 장 드리겠습니다. 세로로 셋으로 나누세요. 한 칸이 한 안입니다.
먼저 패널 틀을 그리세요. 세로로 긴 네모요. 그 안에 마진선 긋고 열을 나누세요.
그다음 큰 덩어리만 네모로 앉히세요. 글은 쓰지 마세요. 자리만 봅니다.
작품명 자리, 주인공 화면 자리, 섹션 자리. 네모 다섯이나 여섯이면 됩니다.
세 안을 다르게 그리세요. 같은 걸 세 번 그리면 비교가 안 됩니다.
예를 들어 하나는 주인공을 위에, 하나는 가운데, 하나는 왼쪽에 크게. 이렇게요.
다 그리시면 셋을 나란히 놓고 보세요. 멀리서요. 팔을 쭉 뻗고 보시면 됩니다.
그중에 주인공이 제일 분명한 걸 고르세요.
손으로 그리라는 게 답답하실 텐데, 피그마를 열면 꼭 화면부터 붙이게 됩니다. 그러면 그리드를 안 세우게 돼요.
[운영 메모]
노트북을 반드시 닫게 할 것. A4와 펜을 미리 준비한다. 순회하면서 '세 안이 똑같다'는 학생을 먼저 잡아 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오늘 확인하고 가실 것들입니다.
앞의 넷은 그리드예요. 재단 여백, 마진, 열과 단 간격.
다섯째, 한 줄 정의 자리를 잡으셨는지. 문장은 과제로 쓰시고 오늘은 자리만 잡으시면 됩니다.
여섯째, 주인공 화면이 하나인지. 둘이면 줄이세요.
일곱째, 캡션 자리요. 화면 옆에 한 줄 들어갈 자리를 비워 두셨는지.
마지막, 석 장이 같은 그리드를 쓰는지. 이게 제일 많이 깨집니다.
[운영 메모]
셋째 줄(석 장이 같은 그리드)을 마지막에 한 번 더 짚을 것. 각자 한 장씩 따로 만들다가 나중에 안 맞는 경우가 가장 많다.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과제 세 가지입니다.
먼저 패널 레이아웃 시안 한 장. 오늘 고른 안을 A0 비율로 옮기세요.
그리드까지만 그리시면 됩니다. 내용은 네모로 두세요. 화면을 붙이는 건 다음 주에 합니다.
둘째, 실을 것 목록. 중간 보고서에 낸 화면 목록표 있지요. 거기에 패널 게재 칸이 있습니다. 거기에 표시만 하시면 돼요.
새로 고르는 일이 아닙니다. 이미 만든 표에 체크하는 겁니다.
셋째, 한 줄 정의. 작품명 아래 들어갈 한 문장이에요.
이게 제일 어려우실 겁니다. 한 학기 동안 만든 걸 한 문장으로 줄이는 일이니까요.
수식을 빼세요. '사용자 중심의 혁신적인' 이런 말 말고요. 누구를 위한 무슨 앱인지만 쓰시면 됩니다.
세 가지 다 다음 주 수업 시작 전까지입니다.
[운영 메모]
한 줄 정의에서 가장 많이 막힌다. 수업 중에 한두 명 것을 즉석에서 같이 고쳐 보이면 나머지가 따라온다. '사용자 중심의' 같은 수식어를 빼라고 분명히 말할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10</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SemiBold" pitchFamily="34" charset="0"/>
                <a:ea typeface="Pretendard SemiBold" pitchFamily="34" charset="-122"/>
                <a:cs typeface="Pretendard SemiBold" pitchFamily="34" charset="-120"/>
              </a:rPr>
              <a:t>10</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10  ·  PHASE 3 패널</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000" dirty="0">
                <a:solidFill>
                  <a:srgbClr val="111111"/>
                </a:solidFill>
                <a:latin typeface="Pretendard SemiBold" pitchFamily="34" charset="0"/>
                <a:ea typeface="Pretendard SemiBold" pitchFamily="34" charset="-122"/>
                <a:cs typeface="Pretendard SemiBold" pitchFamily="34" charset="-120"/>
              </a:rPr>
              <a:t>패널 레이아웃 — 그리드를 세우고 올린다</a:t>
            </a:r>
            <a:endParaRPr lang="en-US" sz="40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패널 한 장의 그리드를 세우고,</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무엇을 어디에 올릴지 썸네일 세 안으로 정합니다.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서비스디자인 · 학부 3학년</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수업일</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2026-11-04(수)</a:t>
            </a:r>
            <a:endParaRPr lang="en-US" sz="1200" dirty="0"/>
          </a:p>
        </p:txBody>
      </p:sp>
      <p:sp>
        <p:nvSpPr>
          <p:cNvPr id="18" name="Text 16"/>
          <p:cNvSpPr/>
          <p:nvPr/>
        </p:nvSpPr>
        <p:spPr>
          <a:xfrm>
            <a:off x="640080" y="5413248"/>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9" name="Text 17"/>
          <p:cNvSpPr/>
          <p:nvPr/>
        </p:nvSpPr>
        <p:spPr>
          <a:xfrm>
            <a:off x="1645920" y="5413248"/>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패널 레이아웃 썸네일 세 안 · 실을 것 목록 · 한 줄 정의</a:t>
            </a:r>
            <a:endParaRPr lang="en-US" sz="1200" dirty="0"/>
          </a:p>
        </p:txBody>
      </p:sp>
      <p:sp>
        <p:nvSpPr>
          <p:cNvPr id="20" name="Text 18"/>
          <p:cNvSpPr/>
          <p:nvPr/>
        </p:nvSpPr>
        <p:spPr>
          <a:xfrm>
            <a:off x="640080" y="5797296"/>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작성일</a:t>
            </a:r>
            <a:endParaRPr lang="en-US" sz="950" dirty="0"/>
          </a:p>
        </p:txBody>
      </p:sp>
      <p:sp>
        <p:nvSpPr>
          <p:cNvPr id="21" name="Text 19"/>
          <p:cNvSpPr/>
          <p:nvPr/>
        </p:nvSpPr>
        <p:spPr>
          <a:xfrm>
            <a:off x="1645920" y="5797296"/>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2026-10-21</a:t>
            </a:r>
            <a:endParaRPr lang="en-US" sz="1200" dirty="0"/>
          </a:p>
        </p:txBody>
      </p:sp>
      <p:sp>
        <p:nvSpPr>
          <p:cNvPr id="22" name="Text 20"/>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23" name="Shape 21"/>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10</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640080" y="2103120"/>
            <a:ext cx="914400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FRAME</a:t>
            </a:r>
            <a:endParaRPr lang="en-US" sz="950" dirty="0"/>
          </a:p>
        </p:txBody>
      </p:sp>
      <p:sp>
        <p:nvSpPr>
          <p:cNvPr id="7" name="Shape 5"/>
          <p:cNvSpPr/>
          <p:nvPr/>
        </p:nvSpPr>
        <p:spPr>
          <a:xfrm>
            <a:off x="640080" y="2395728"/>
            <a:ext cx="2194560" cy="7315"/>
          </a:xfrm>
          <a:prstGeom prst="rect">
            <a:avLst/>
          </a:prstGeom>
          <a:solidFill>
            <a:srgbClr val="FFFFFF"/>
          </a:solidFill>
          <a:ln w="12700">
            <a:solidFill>
              <a:srgbClr val="FFFFFF"/>
            </a:solidFill>
            <a:prstDash val="solid"/>
          </a:ln>
        </p:spPr>
      </p:sp>
      <p:sp>
        <p:nvSpPr>
          <p:cNvPr id="8" name="Text 6"/>
          <p:cNvSpPr/>
          <p:nvPr/>
        </p:nvSpPr>
        <p:spPr>
          <a:xfrm>
            <a:off x="640080" y="2596896"/>
            <a:ext cx="10241280" cy="1371600"/>
          </a:xfrm>
          <a:prstGeom prst="rect">
            <a:avLst/>
          </a:prstGeom>
          <a:noFill/>
          <a:ln/>
        </p:spPr>
        <p:txBody>
          <a:bodyPr wrap="square" lIns="0" tIns="0" rIns="0" bIns="0" rtlCol="0" anchor="t"/>
          <a:lstStyle/>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2m 앞에서 3초.</a:t>
            </a:r>
            <a:endParaRPr lang="en-US" sz="3400" dirty="0"/>
          </a:p>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그 안에 멈추게 해야 합니다.</a:t>
            </a:r>
            <a:endParaRPr lang="en-US" sz="3400" dirty="0"/>
          </a:p>
        </p:txBody>
      </p:sp>
      <p:sp>
        <p:nvSpPr>
          <p:cNvPr id="9" name="Text 7"/>
          <p:cNvSpPr/>
          <p:nvPr/>
        </p:nvSpPr>
        <p:spPr>
          <a:xfrm>
            <a:off x="640080" y="4078224"/>
            <a:ext cx="9509760" cy="914400"/>
          </a:xfrm>
          <a:prstGeom prst="rect">
            <a:avLst/>
          </a:prstGeom>
          <a:noFill/>
          <a:ln/>
        </p:spPr>
        <p:txBody>
          <a:bodyPr wrap="square" lIns="0" tIns="0" rIns="0" bIns="0" rtlCol="0" anchor="t"/>
          <a:lstStyle/>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패널은 두 거리에서 읽힙니다. 2m 떨어진 데서 3초, 그리고 다가온 사람이 1m 앞에서 1분. 3초 안에 무엇을 만들었는지 전해지지 않으면 1분은 오지 않습니다. 작품명만 크게 쓰고 나머지를 같은 크기로 깔면 2m에서는 아무것도 읽히지 않습니다. 크기를 두 벌로 나누는 일이 오늘 할 일의 절반입니다.</a:t>
            </a:r>
            <a:endParaRPr lang="en-US" sz="1400" dirty="0"/>
          </a:p>
        </p:txBody>
      </p:sp>
      <p:sp>
        <p:nvSpPr>
          <p:cNvPr id="10" name="Text 8"/>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서비스디자인 · WEEK 10</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10</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패널은 누가 보나</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세 사람이 같은 패널을 봅니다. 보는 것이 각각 다릅니다.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10</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VIEWER</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세 사람이 같은 패널을 봅니다</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셋 다 3초 안에 무엇인지 알아야 합니다.</a:t>
            </a:r>
            <a:endParaRPr lang="en-US" sz="1150" dirty="0"/>
          </a:p>
        </p:txBody>
      </p:sp>
      <p:sp>
        <p:nvSpPr>
          <p:cNvPr id="9" name="Shape 7"/>
          <p:cNvSpPr/>
          <p:nvPr/>
        </p:nvSpPr>
        <p:spPr>
          <a:xfrm>
            <a:off x="640080" y="1737360"/>
            <a:ext cx="3393338" cy="3621024"/>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1</a:t>
            </a:r>
            <a:endParaRPr lang="en-US" sz="1150" dirty="0"/>
          </a:p>
        </p:txBody>
      </p:sp>
      <p:sp>
        <p:nvSpPr>
          <p:cNvPr id="12" name="Text 10"/>
          <p:cNvSpPr/>
          <p:nvPr/>
        </p:nvSpPr>
        <p:spPr>
          <a:xfrm>
            <a:off x="1024128" y="2505456"/>
            <a:ext cx="2625242" cy="841248"/>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심사하는 분</a:t>
            </a:r>
            <a:endParaRPr lang="en-US" sz="1700" dirty="0"/>
          </a:p>
        </p:txBody>
      </p:sp>
      <p:sp>
        <p:nvSpPr>
          <p:cNvPr id="13" name="Text 11"/>
          <p:cNvSpPr/>
          <p:nvPr/>
        </p:nvSpPr>
        <p:spPr>
          <a:xfrm>
            <a:off x="1024128" y="3401568"/>
            <a:ext cx="2625242" cy="1060704"/>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결과만이 아니라 어떻게 왔는지를 봅니다. 리서치에서 화면까지 이어지는지 확인합니다.</a:t>
            </a:r>
            <a:endParaRPr lang="en-US" sz="1150" dirty="0"/>
          </a:p>
        </p:txBody>
      </p:sp>
      <p:sp>
        <p:nvSpPr>
          <p:cNvPr id="14" name="Text 12"/>
          <p:cNvSpPr/>
          <p:nvPr/>
        </p:nvSpPr>
        <p:spPr>
          <a:xfrm>
            <a:off x="1024128" y="4553712"/>
            <a:ext cx="2625242" cy="219456"/>
          </a:xfrm>
          <a:prstGeom prst="rect">
            <a:avLst/>
          </a:prstGeom>
          <a:noFill/>
          <a:ln/>
        </p:spPr>
        <p:txBody>
          <a:bodyPr wrap="square" lIns="0" tIns="0" rIns="0" bIns="0" rtlCol="0" anchor="ctr"/>
          <a:lstStyle/>
          <a:p>
            <a:pPr indent="0" marL="0">
              <a:buNone/>
            </a:pPr>
            <a:r>
              <a:rPr lang="en-US" sz="850" spc="140" kern="0" dirty="0">
                <a:solidFill>
                  <a:srgbClr val="9B9B9B"/>
                </a:solidFill>
                <a:latin typeface="Pretendard" pitchFamily="34" charset="0"/>
                <a:ea typeface="Pretendard" pitchFamily="34" charset="-122"/>
                <a:cs typeface="Pretendard" pitchFamily="34" charset="-120"/>
              </a:rPr>
              <a:t>보여야 하는 것</a:t>
            </a:r>
            <a:endParaRPr lang="en-US" sz="850" dirty="0"/>
          </a:p>
        </p:txBody>
      </p:sp>
      <p:sp>
        <p:nvSpPr>
          <p:cNvPr id="15" name="Text 13"/>
          <p:cNvSpPr/>
          <p:nvPr/>
        </p:nvSpPr>
        <p:spPr>
          <a:xfrm>
            <a:off x="1024128" y="4773168"/>
            <a:ext cx="2625242" cy="274320"/>
          </a:xfrm>
          <a:prstGeom prst="rect">
            <a:avLst/>
          </a:prstGeom>
          <a:noFill/>
          <a:ln/>
        </p:spPr>
        <p:txBody>
          <a:bodyPr wrap="square" lIns="0" tIns="0" rIns="0" bIns="0" rtlCol="0" anchor="ctr"/>
          <a:lstStyle/>
          <a:p>
            <a:pPr indent="0" marL="0">
              <a:buNone/>
            </a:pPr>
            <a:r>
              <a:rPr lang="en-US" sz="1200" dirty="0">
                <a:solidFill>
                  <a:srgbClr val="111111"/>
                </a:solidFill>
                <a:latin typeface="Pretendard SemiBold" pitchFamily="34" charset="0"/>
                <a:ea typeface="Pretendard SemiBold" pitchFamily="34" charset="-122"/>
                <a:cs typeface="Pretendard SemiBold" pitchFamily="34" charset="-120"/>
              </a:rPr>
              <a:t>과정이 이어지는 한 줄기</a:t>
            </a:r>
            <a:endParaRPr lang="en-US" sz="1200" dirty="0"/>
          </a:p>
        </p:txBody>
      </p:sp>
      <p:sp>
        <p:nvSpPr>
          <p:cNvPr id="16" name="Shape 14"/>
          <p:cNvSpPr/>
          <p:nvPr/>
        </p:nvSpPr>
        <p:spPr>
          <a:xfrm>
            <a:off x="4399178" y="1737360"/>
            <a:ext cx="3393338" cy="3621024"/>
          </a:xfrm>
          <a:prstGeom prst="rect">
            <a:avLst/>
          </a:prstGeom>
          <a:solidFill>
            <a:srgbClr val="111111"/>
          </a:solidFill>
          <a:ln w="12700">
            <a:solidFill>
              <a:srgbClr val="111111"/>
            </a:solidFill>
            <a:prstDash val="solid"/>
          </a:ln>
        </p:spPr>
      </p:sp>
      <p:sp>
        <p:nvSpPr>
          <p:cNvPr id="17" name="Shape 15"/>
          <p:cNvSpPr/>
          <p:nvPr/>
        </p:nvSpPr>
        <p:spPr>
          <a:xfrm>
            <a:off x="4783226" y="2011680"/>
            <a:ext cx="365760" cy="365760"/>
          </a:xfrm>
          <a:prstGeom prst="ellipse">
            <a:avLst/>
          </a:prstGeom>
          <a:solidFill>
            <a:srgbClr val="111111"/>
          </a:solidFill>
          <a:ln w="12700">
            <a:solidFill>
              <a:srgbClr val="FFFFFF"/>
            </a:solidFill>
            <a:prstDash val="solid"/>
          </a:ln>
        </p:spPr>
      </p:sp>
      <p:sp>
        <p:nvSpPr>
          <p:cNvPr id="18" name="Text 16"/>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2</a:t>
            </a:r>
            <a:endParaRPr lang="en-US" sz="1150" dirty="0"/>
          </a:p>
        </p:txBody>
      </p:sp>
      <p:sp>
        <p:nvSpPr>
          <p:cNvPr id="19" name="Text 17"/>
          <p:cNvSpPr/>
          <p:nvPr/>
        </p:nvSpPr>
        <p:spPr>
          <a:xfrm>
            <a:off x="4783226" y="2505456"/>
            <a:ext cx="2625242" cy="841248"/>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SemiBold" pitchFamily="34" charset="0"/>
                <a:ea typeface="Pretendard SemiBold" pitchFamily="34" charset="-122"/>
                <a:cs typeface="Pretendard SemiBold" pitchFamily="34" charset="-120"/>
              </a:rPr>
              <a:t>업계에서 온 분</a:t>
            </a:r>
            <a:endParaRPr lang="en-US" sz="1700" dirty="0"/>
          </a:p>
        </p:txBody>
      </p:sp>
      <p:sp>
        <p:nvSpPr>
          <p:cNvPr id="20" name="Text 18"/>
          <p:cNvSpPr/>
          <p:nvPr/>
        </p:nvSpPr>
        <p:spPr>
          <a:xfrm>
            <a:off x="4783226" y="3401568"/>
            <a:ext cx="2625242" cy="1060704"/>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같이 일할 수 있는 사람인지 봅니다. 규격을 정할 줄 아는지 확인합니다.</a:t>
            </a:r>
            <a:endParaRPr lang="en-US" sz="1150" dirty="0"/>
          </a:p>
        </p:txBody>
      </p:sp>
      <p:sp>
        <p:nvSpPr>
          <p:cNvPr id="21" name="Text 19"/>
          <p:cNvSpPr/>
          <p:nvPr/>
        </p:nvSpPr>
        <p:spPr>
          <a:xfrm>
            <a:off x="4783226" y="4553712"/>
            <a:ext cx="2625242" cy="219456"/>
          </a:xfrm>
          <a:prstGeom prst="rect">
            <a:avLst/>
          </a:prstGeom>
          <a:noFill/>
          <a:ln/>
        </p:spPr>
        <p:txBody>
          <a:bodyPr wrap="square" lIns="0" tIns="0" rIns="0" bIns="0" rtlCol="0" anchor="ctr"/>
          <a:lstStyle/>
          <a:p>
            <a:pPr indent="0" marL="0">
              <a:buNone/>
            </a:pPr>
            <a:r>
              <a:rPr lang="en-US" sz="850" spc="140" kern="0" dirty="0">
                <a:solidFill>
                  <a:srgbClr val="B8B8B8"/>
                </a:solidFill>
                <a:latin typeface="Pretendard" pitchFamily="34" charset="0"/>
                <a:ea typeface="Pretendard" pitchFamily="34" charset="-122"/>
                <a:cs typeface="Pretendard" pitchFamily="34" charset="-120"/>
              </a:rPr>
              <a:t>보여야 하는 것</a:t>
            </a:r>
            <a:endParaRPr lang="en-US" sz="850" dirty="0"/>
          </a:p>
        </p:txBody>
      </p:sp>
      <p:sp>
        <p:nvSpPr>
          <p:cNvPr id="22" name="Text 20"/>
          <p:cNvSpPr/>
          <p:nvPr/>
        </p:nvSpPr>
        <p:spPr>
          <a:xfrm>
            <a:off x="4783226" y="4773168"/>
            <a:ext cx="2625242" cy="274320"/>
          </a:xfrm>
          <a:prstGeom prst="rect">
            <a:avLst/>
          </a:prstGeom>
          <a:noFill/>
          <a:ln/>
        </p:spPr>
        <p:txBody>
          <a:bodyPr wrap="square" lIns="0" tIns="0" rIns="0" bIns="0" rtlCol="0" anchor="ctr"/>
          <a:lstStyle/>
          <a:p>
            <a:pPr indent="0" marL="0">
              <a:buNone/>
            </a:pPr>
            <a:r>
              <a:rPr lang="en-US" sz="1200" dirty="0">
                <a:solidFill>
                  <a:srgbClr val="FFFFFF"/>
                </a:solidFill>
                <a:latin typeface="Pretendard SemiBold" pitchFamily="34" charset="0"/>
                <a:ea typeface="Pretendard SemiBold" pitchFamily="34" charset="-122"/>
                <a:cs typeface="Pretendard SemiBold" pitchFamily="34" charset="-120"/>
              </a:rPr>
              <a:t>규격 표와 컴포넌트</a:t>
            </a:r>
            <a:endParaRPr lang="en-US" sz="1200" dirty="0"/>
          </a:p>
        </p:txBody>
      </p:sp>
      <p:sp>
        <p:nvSpPr>
          <p:cNvPr id="23" name="Shape 21"/>
          <p:cNvSpPr/>
          <p:nvPr/>
        </p:nvSpPr>
        <p:spPr>
          <a:xfrm>
            <a:off x="8158277" y="1737360"/>
            <a:ext cx="3393338" cy="3621024"/>
          </a:xfrm>
          <a:prstGeom prst="rect">
            <a:avLst/>
          </a:prstGeom>
          <a:solidFill>
            <a:srgbClr val="FFFFFF"/>
          </a:solidFill>
          <a:ln w="12700">
            <a:solidFill>
              <a:srgbClr val="DCDCDC"/>
            </a:solidFill>
            <a:prstDash val="solid"/>
          </a:ln>
        </p:spPr>
      </p:sp>
      <p:sp>
        <p:nvSpPr>
          <p:cNvPr id="24" name="Shape 22"/>
          <p:cNvSpPr/>
          <p:nvPr/>
        </p:nvSpPr>
        <p:spPr>
          <a:xfrm>
            <a:off x="8542325" y="2011680"/>
            <a:ext cx="365760" cy="365760"/>
          </a:xfrm>
          <a:prstGeom prst="ellipse">
            <a:avLst/>
          </a:prstGeom>
          <a:solidFill>
            <a:srgbClr val="FFFFFF"/>
          </a:solidFill>
          <a:ln w="12700">
            <a:solidFill>
              <a:srgbClr val="111111"/>
            </a:solidFill>
            <a:prstDash val="solid"/>
          </a:ln>
        </p:spPr>
      </p:sp>
      <p:sp>
        <p:nvSpPr>
          <p:cNvPr id="25" name="Text 23"/>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3</a:t>
            </a:r>
            <a:endParaRPr lang="en-US" sz="1150" dirty="0"/>
          </a:p>
        </p:txBody>
      </p:sp>
      <p:sp>
        <p:nvSpPr>
          <p:cNvPr id="26" name="Text 24"/>
          <p:cNvSpPr/>
          <p:nvPr/>
        </p:nvSpPr>
        <p:spPr>
          <a:xfrm>
            <a:off x="8542325" y="2505456"/>
            <a:ext cx="2625242" cy="841248"/>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가족과 지나가는 분</a:t>
            </a:r>
            <a:endParaRPr lang="en-US" sz="1700" dirty="0"/>
          </a:p>
        </p:txBody>
      </p:sp>
      <p:sp>
        <p:nvSpPr>
          <p:cNvPr id="27" name="Text 25"/>
          <p:cNvSpPr/>
          <p:nvPr/>
        </p:nvSpPr>
        <p:spPr>
          <a:xfrm>
            <a:off x="8542325" y="3401568"/>
            <a:ext cx="2625242" cy="1060704"/>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제일 많은데 제일 많이 빠뜨립니다. UX가 무엇인지 모르십니다.</a:t>
            </a:r>
            <a:endParaRPr lang="en-US" sz="1150" dirty="0"/>
          </a:p>
        </p:txBody>
      </p:sp>
      <p:sp>
        <p:nvSpPr>
          <p:cNvPr id="28" name="Text 26"/>
          <p:cNvSpPr/>
          <p:nvPr/>
        </p:nvSpPr>
        <p:spPr>
          <a:xfrm>
            <a:off x="8542325" y="4553712"/>
            <a:ext cx="2625242" cy="219456"/>
          </a:xfrm>
          <a:prstGeom prst="rect">
            <a:avLst/>
          </a:prstGeom>
          <a:noFill/>
          <a:ln/>
        </p:spPr>
        <p:txBody>
          <a:bodyPr wrap="square" lIns="0" tIns="0" rIns="0" bIns="0" rtlCol="0" anchor="ctr"/>
          <a:lstStyle/>
          <a:p>
            <a:pPr indent="0" marL="0">
              <a:buNone/>
            </a:pPr>
            <a:r>
              <a:rPr lang="en-US" sz="850" spc="140" kern="0" dirty="0">
                <a:solidFill>
                  <a:srgbClr val="9B9B9B"/>
                </a:solidFill>
                <a:latin typeface="Pretendard" pitchFamily="34" charset="0"/>
                <a:ea typeface="Pretendard" pitchFamily="34" charset="-122"/>
                <a:cs typeface="Pretendard" pitchFamily="34" charset="-120"/>
              </a:rPr>
              <a:t>보여야 하는 것</a:t>
            </a:r>
            <a:endParaRPr lang="en-US" sz="850" dirty="0"/>
          </a:p>
        </p:txBody>
      </p:sp>
      <p:sp>
        <p:nvSpPr>
          <p:cNvPr id="29" name="Text 27"/>
          <p:cNvSpPr/>
          <p:nvPr/>
        </p:nvSpPr>
        <p:spPr>
          <a:xfrm>
            <a:off x="8542325" y="4773168"/>
            <a:ext cx="2625242" cy="274320"/>
          </a:xfrm>
          <a:prstGeom prst="rect">
            <a:avLst/>
          </a:prstGeom>
          <a:noFill/>
          <a:ln/>
        </p:spPr>
        <p:txBody>
          <a:bodyPr wrap="square" lIns="0" tIns="0" rIns="0" bIns="0" rtlCol="0" anchor="ctr"/>
          <a:lstStyle/>
          <a:p>
            <a:pPr indent="0" marL="0">
              <a:buNone/>
            </a:pPr>
            <a:r>
              <a:rPr lang="en-US" sz="1200" dirty="0">
                <a:solidFill>
                  <a:srgbClr val="111111"/>
                </a:solidFill>
                <a:latin typeface="Pretendard SemiBold" pitchFamily="34" charset="0"/>
                <a:ea typeface="Pretendard SemiBold" pitchFamily="34" charset="-122"/>
                <a:cs typeface="Pretendard SemiBold" pitchFamily="34" charset="-120"/>
              </a:rPr>
              <a:t>한 줄 정의</a:t>
            </a:r>
            <a:endParaRPr lang="en-US" sz="1200" dirty="0"/>
          </a:p>
        </p:txBody>
      </p:sp>
      <p:sp>
        <p:nvSpPr>
          <p:cNvPr id="30" name="Shape 28"/>
          <p:cNvSpPr/>
          <p:nvPr/>
        </p:nvSpPr>
        <p:spPr>
          <a:xfrm>
            <a:off x="640080" y="6291072"/>
            <a:ext cx="10911535" cy="7315"/>
          </a:xfrm>
          <a:prstGeom prst="rect">
            <a:avLst/>
          </a:prstGeom>
          <a:solidFill>
            <a:srgbClr val="DCDCDC"/>
          </a:solidFill>
          <a:ln w="12700">
            <a:solidFill>
              <a:srgbClr val="DCDCDC"/>
            </a:solidFill>
            <a:prstDash val="solid"/>
          </a:ln>
        </p:spPr>
      </p:sp>
      <p:sp>
        <p:nvSpPr>
          <p:cNvPr id="31" name="Text 29"/>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10주차 패널 레이아웃 — 그리드를 세우고 올린다</a:t>
            </a:r>
            <a:endParaRPr lang="en-US" sz="850" dirty="0"/>
          </a:p>
        </p:txBody>
      </p:sp>
      <p:sp>
        <p:nvSpPr>
          <p:cNvPr id="32" name="Text 30"/>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10</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DISTANCE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2m에서 보이는 패널</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같은 내용인데 크기와 위계로 갈립니다.</a:t>
            </a:r>
            <a:endParaRPr lang="en-US" sz="1150" dirty="0"/>
          </a:p>
        </p:txBody>
      </p:sp>
      <p:sp>
        <p:nvSpPr>
          <p:cNvPr id="9" name="Shape 7"/>
          <p:cNvSpPr/>
          <p:nvPr/>
        </p:nvSpPr>
        <p:spPr>
          <a:xfrm>
            <a:off x="640080" y="1627632"/>
            <a:ext cx="5254600" cy="3127248"/>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2m에서 안 보임</a:t>
            </a:r>
            <a:endParaRPr lang="en-US" sz="1700" dirty="0"/>
          </a:p>
        </p:txBody>
      </p:sp>
      <p:sp>
        <p:nvSpPr>
          <p:cNvPr id="11" name="Shape 9"/>
          <p:cNvSpPr/>
          <p:nvPr/>
        </p:nvSpPr>
        <p:spPr>
          <a:xfrm>
            <a:off x="6297016" y="1627632"/>
            <a:ext cx="5254600" cy="3127248"/>
          </a:xfrm>
          <a:prstGeom prst="rect">
            <a:avLst/>
          </a:prstGeom>
          <a:solidFill>
            <a:srgbClr val="FFFFFF"/>
          </a:solidFill>
          <a:ln w="12700">
            <a:solidFill>
              <a:srgbClr val="111111"/>
            </a:solidFill>
            <a:prstDash val="solid"/>
          </a:ln>
        </p:spPr>
      </p:sp>
      <p:sp>
        <p:nvSpPr>
          <p:cNvPr id="12" name="Shape 10"/>
          <p:cNvSpPr/>
          <p:nvPr/>
        </p:nvSpPr>
        <p:spPr>
          <a:xfrm>
            <a:off x="6297016" y="1627632"/>
            <a:ext cx="5254600" cy="64008"/>
          </a:xfrm>
          <a:prstGeom prst="rect">
            <a:avLst/>
          </a:prstGeom>
          <a:solidFill>
            <a:srgbClr val="111111"/>
          </a:solidFill>
          <a:ln w="12700">
            <a:solidFill>
              <a:srgbClr val="111111"/>
            </a:solidFill>
            <a:prstDash val="solid"/>
          </a:ln>
        </p:spPr>
      </p:sp>
      <p:sp>
        <p:nvSpPr>
          <p:cNvPr id="13" name="Text 11"/>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2m에서 보임</a:t>
            </a:r>
            <a:endParaRPr lang="en-US" sz="1700" dirty="0"/>
          </a:p>
        </p:txBody>
      </p:sp>
      <p:sp>
        <p:nvSpPr>
          <p:cNvPr id="14" name="Text 12"/>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제목만 큼</a:t>
            </a:r>
            <a:endParaRPr lang="en-US" sz="900" dirty="0"/>
          </a:p>
        </p:txBody>
      </p:sp>
      <p:sp>
        <p:nvSpPr>
          <p:cNvPr id="15" name="Text 13"/>
          <p:cNvSpPr/>
          <p:nvPr/>
        </p:nvSpPr>
        <p:spPr>
          <a:xfrm>
            <a:off x="1042416"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앱 이름만 크게 쓴다</a:t>
            </a:r>
            <a:endParaRPr lang="en-US" sz="1150" dirty="0"/>
          </a:p>
        </p:txBody>
      </p:sp>
      <p:sp>
        <p:nvSpPr>
          <p:cNvPr id="16" name="Text 14"/>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제목만 큼</a:t>
            </a:r>
            <a:endParaRPr lang="en-US" sz="900" dirty="0"/>
          </a:p>
        </p:txBody>
      </p:sp>
      <p:sp>
        <p:nvSpPr>
          <p:cNvPr id="17" name="Text 15"/>
          <p:cNvSpPr/>
          <p:nvPr/>
        </p:nvSpPr>
        <p:spPr>
          <a:xfrm>
            <a:off x="6699352" y="2688336"/>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이름 아래 한 줄 정의를 붙인다</a:t>
            </a:r>
            <a:endParaRPr lang="en-US" sz="1150" dirty="0"/>
          </a:p>
        </p:txBody>
      </p:sp>
      <p:sp>
        <p:nvSpPr>
          <p:cNvPr id="18" name="Shape 16"/>
          <p:cNvSpPr/>
          <p:nvPr/>
        </p:nvSpPr>
        <p:spPr>
          <a:xfrm>
            <a:off x="1042416" y="2980944"/>
            <a:ext cx="4449928" cy="7315"/>
          </a:xfrm>
          <a:prstGeom prst="rect">
            <a:avLst/>
          </a:prstGeom>
          <a:solidFill>
            <a:srgbClr val="DCDCDC"/>
          </a:solidFill>
          <a:ln w="12700">
            <a:solidFill>
              <a:srgbClr val="DCDCDC"/>
            </a:solidFill>
            <a:prstDash val="solid"/>
          </a:ln>
        </p:spPr>
      </p:sp>
      <p:sp>
        <p:nvSpPr>
          <p:cNvPr id="19" name="Shape 17"/>
          <p:cNvSpPr/>
          <p:nvPr/>
        </p:nvSpPr>
        <p:spPr>
          <a:xfrm>
            <a:off x="6699352" y="2980944"/>
            <a:ext cx="4449928" cy="7315"/>
          </a:xfrm>
          <a:prstGeom prst="rect">
            <a:avLst/>
          </a:prstGeom>
          <a:solidFill>
            <a:srgbClr val="D2D2D2"/>
          </a:solidFill>
          <a:ln w="12700">
            <a:solidFill>
              <a:srgbClr val="D2D2D2"/>
            </a:solidFill>
            <a:prstDash val="solid"/>
          </a:ln>
        </p:spPr>
      </p:sp>
      <p:sp>
        <p:nvSpPr>
          <p:cNvPr id="20" name="Text 18"/>
          <p:cNvSpPr/>
          <p:nvPr/>
        </p:nvSpPr>
        <p:spPr>
          <a:xfrm>
            <a:off x="1042416" y="303580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다 같은 크기</a:t>
            </a:r>
            <a:endParaRPr lang="en-US" sz="900" dirty="0"/>
          </a:p>
        </p:txBody>
      </p:sp>
      <p:sp>
        <p:nvSpPr>
          <p:cNvPr id="21" name="Text 19"/>
          <p:cNvSpPr/>
          <p:nvPr/>
        </p:nvSpPr>
        <p:spPr>
          <a:xfrm>
            <a:off x="1042416"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화면 열두 장을 나란히 깐다</a:t>
            </a:r>
            <a:endParaRPr lang="en-US" sz="1150" dirty="0"/>
          </a:p>
        </p:txBody>
      </p:sp>
      <p:sp>
        <p:nvSpPr>
          <p:cNvPr id="22" name="Text 20"/>
          <p:cNvSpPr/>
          <p:nvPr/>
        </p:nvSpPr>
        <p:spPr>
          <a:xfrm>
            <a:off x="6699352" y="303580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다 같은 크기</a:t>
            </a:r>
            <a:endParaRPr lang="en-US" sz="900" dirty="0"/>
          </a:p>
        </p:txBody>
      </p:sp>
      <p:sp>
        <p:nvSpPr>
          <p:cNvPr id="23" name="Text 21"/>
          <p:cNvSpPr/>
          <p:nvPr/>
        </p:nvSpPr>
        <p:spPr>
          <a:xfrm>
            <a:off x="6699352" y="3273552"/>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주인공 한 장만 크게 둔다</a:t>
            </a:r>
            <a:endParaRPr lang="en-US" sz="1150" dirty="0"/>
          </a:p>
        </p:txBody>
      </p:sp>
      <p:sp>
        <p:nvSpPr>
          <p:cNvPr id="24" name="Shape 22"/>
          <p:cNvSpPr/>
          <p:nvPr/>
        </p:nvSpPr>
        <p:spPr>
          <a:xfrm>
            <a:off x="1042416" y="3566160"/>
            <a:ext cx="4449928" cy="7315"/>
          </a:xfrm>
          <a:prstGeom prst="rect">
            <a:avLst/>
          </a:prstGeom>
          <a:solidFill>
            <a:srgbClr val="DCDCDC"/>
          </a:solidFill>
          <a:ln w="12700">
            <a:solidFill>
              <a:srgbClr val="DCDCDC"/>
            </a:solidFill>
            <a:prstDash val="solid"/>
          </a:ln>
        </p:spPr>
      </p:sp>
      <p:sp>
        <p:nvSpPr>
          <p:cNvPr id="25" name="Shape 23"/>
          <p:cNvSpPr/>
          <p:nvPr/>
        </p:nvSpPr>
        <p:spPr>
          <a:xfrm>
            <a:off x="6699352" y="3566160"/>
            <a:ext cx="4449928" cy="7315"/>
          </a:xfrm>
          <a:prstGeom prst="rect">
            <a:avLst/>
          </a:prstGeom>
          <a:solidFill>
            <a:srgbClr val="D2D2D2"/>
          </a:solidFill>
          <a:ln w="12700">
            <a:solidFill>
              <a:srgbClr val="D2D2D2"/>
            </a:solidFill>
            <a:prstDash val="solid"/>
          </a:ln>
        </p:spPr>
      </p:sp>
      <p:sp>
        <p:nvSpPr>
          <p:cNvPr id="26" name="Text 24"/>
          <p:cNvSpPr/>
          <p:nvPr/>
        </p:nvSpPr>
        <p:spPr>
          <a:xfrm>
            <a:off x="1042416" y="362102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글이 목업 안에</a:t>
            </a:r>
            <a:endParaRPr lang="en-US" sz="900" dirty="0"/>
          </a:p>
        </p:txBody>
      </p:sp>
      <p:sp>
        <p:nvSpPr>
          <p:cNvPr id="27" name="Text 25"/>
          <p:cNvSpPr/>
          <p:nvPr/>
        </p:nvSpPr>
        <p:spPr>
          <a:xfrm>
            <a:off x="1042416"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화면 속 글씨로 설명한다</a:t>
            </a:r>
            <a:endParaRPr lang="en-US" sz="1150" dirty="0"/>
          </a:p>
        </p:txBody>
      </p:sp>
      <p:sp>
        <p:nvSpPr>
          <p:cNvPr id="28" name="Text 26"/>
          <p:cNvSpPr/>
          <p:nvPr/>
        </p:nvSpPr>
        <p:spPr>
          <a:xfrm>
            <a:off x="6699352" y="362102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글이 목업 안에</a:t>
            </a:r>
            <a:endParaRPr lang="en-US" sz="900" dirty="0"/>
          </a:p>
        </p:txBody>
      </p:sp>
      <p:sp>
        <p:nvSpPr>
          <p:cNvPr id="29" name="Text 27"/>
          <p:cNvSpPr/>
          <p:nvPr/>
        </p:nvSpPr>
        <p:spPr>
          <a:xfrm>
            <a:off x="6699352" y="3858768"/>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화면 밖에 한 줄 캡션을 단다</a:t>
            </a:r>
            <a:endParaRPr lang="en-US" sz="1150" dirty="0"/>
          </a:p>
        </p:txBody>
      </p:sp>
      <p:sp>
        <p:nvSpPr>
          <p:cNvPr id="30" name="Shape 28"/>
          <p:cNvSpPr/>
          <p:nvPr/>
        </p:nvSpPr>
        <p:spPr>
          <a:xfrm>
            <a:off x="1042416" y="4151376"/>
            <a:ext cx="4449928" cy="7315"/>
          </a:xfrm>
          <a:prstGeom prst="rect">
            <a:avLst/>
          </a:prstGeom>
          <a:solidFill>
            <a:srgbClr val="DCDCDC"/>
          </a:solidFill>
          <a:ln w="12700">
            <a:solidFill>
              <a:srgbClr val="DCDCDC"/>
            </a:solidFill>
            <a:prstDash val="solid"/>
          </a:ln>
        </p:spPr>
      </p:sp>
      <p:sp>
        <p:nvSpPr>
          <p:cNvPr id="31" name="Shape 29"/>
          <p:cNvSpPr/>
          <p:nvPr/>
        </p:nvSpPr>
        <p:spPr>
          <a:xfrm>
            <a:off x="6699352" y="4151376"/>
            <a:ext cx="4449928" cy="7315"/>
          </a:xfrm>
          <a:prstGeom prst="rect">
            <a:avLst/>
          </a:prstGeom>
          <a:solidFill>
            <a:srgbClr val="D2D2D2"/>
          </a:solidFill>
          <a:ln w="12700">
            <a:solidFill>
              <a:srgbClr val="D2D2D2"/>
            </a:solidFill>
            <a:prstDash val="solid"/>
          </a:ln>
        </p:spPr>
      </p:sp>
      <p:sp>
        <p:nvSpPr>
          <p:cNvPr id="32" name="Text 30"/>
          <p:cNvSpPr/>
          <p:nvPr/>
        </p:nvSpPr>
        <p:spPr>
          <a:xfrm>
            <a:off x="1042416" y="420624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본문이 작음</a:t>
            </a:r>
            <a:endParaRPr lang="en-US" sz="900" dirty="0"/>
          </a:p>
        </p:txBody>
      </p:sp>
      <p:sp>
        <p:nvSpPr>
          <p:cNvPr id="33" name="Text 31"/>
          <p:cNvSpPr/>
          <p:nvPr/>
        </p:nvSpPr>
        <p:spPr>
          <a:xfrm>
            <a:off x="1042416"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12pt로 빽빽하게 채운다</a:t>
            </a:r>
            <a:endParaRPr lang="en-US" sz="1150" dirty="0"/>
          </a:p>
        </p:txBody>
      </p:sp>
      <p:sp>
        <p:nvSpPr>
          <p:cNvPr id="34" name="Text 32"/>
          <p:cNvSpPr/>
          <p:nvPr/>
        </p:nvSpPr>
        <p:spPr>
          <a:xfrm>
            <a:off x="6699352" y="420624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본문이 작음</a:t>
            </a:r>
            <a:endParaRPr lang="en-US" sz="900" dirty="0"/>
          </a:p>
        </p:txBody>
      </p:sp>
      <p:sp>
        <p:nvSpPr>
          <p:cNvPr id="35" name="Text 33"/>
          <p:cNvSpPr/>
          <p:nvPr/>
        </p:nvSpPr>
        <p:spPr>
          <a:xfrm>
            <a:off x="6699352" y="4443984"/>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18pt 위로 올리고 글을 줄인다</a:t>
            </a:r>
            <a:endParaRPr lang="en-US" sz="1150" dirty="0"/>
          </a:p>
        </p:txBody>
      </p:sp>
      <p:sp>
        <p:nvSpPr>
          <p:cNvPr id="36" name="Shape 34"/>
          <p:cNvSpPr/>
          <p:nvPr/>
        </p:nvSpPr>
        <p:spPr>
          <a:xfrm>
            <a:off x="640080" y="5010912"/>
            <a:ext cx="10911535" cy="7315"/>
          </a:xfrm>
          <a:prstGeom prst="rect">
            <a:avLst/>
          </a:prstGeom>
          <a:solidFill>
            <a:srgbClr val="111111"/>
          </a:solidFill>
          <a:ln w="12700">
            <a:solidFill>
              <a:srgbClr val="111111"/>
            </a:solidFill>
            <a:prstDash val="solid"/>
          </a:ln>
        </p:spPr>
      </p:sp>
      <p:sp>
        <p:nvSpPr>
          <p:cNvPr id="37" name="Text 35"/>
          <p:cNvSpPr/>
          <p:nvPr/>
        </p:nvSpPr>
        <p:spPr>
          <a:xfrm>
            <a:off x="640080" y="5120640"/>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멀리서 안 보이면 가까이 오지 않습니다. 3초가 전부입니다.</a:t>
            </a:r>
            <a:endParaRPr lang="en-US" sz="1300" dirty="0"/>
          </a:p>
        </p:txBody>
      </p:sp>
      <p:sp>
        <p:nvSpPr>
          <p:cNvPr id="38" name="Shape 36"/>
          <p:cNvSpPr/>
          <p:nvPr/>
        </p:nvSpPr>
        <p:spPr>
          <a:xfrm>
            <a:off x="640080" y="6291072"/>
            <a:ext cx="10911535" cy="7315"/>
          </a:xfrm>
          <a:prstGeom prst="rect">
            <a:avLst/>
          </a:prstGeom>
          <a:solidFill>
            <a:srgbClr val="DCDCDC"/>
          </a:solidFill>
          <a:ln w="12700">
            <a:solidFill>
              <a:srgbClr val="DCDCDC"/>
            </a:solidFill>
            <a:prstDash val="solid"/>
          </a:ln>
        </p:spPr>
      </p:sp>
      <p:sp>
        <p:nvSpPr>
          <p:cNvPr id="39" name="Text 3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10주차 패널 레이아웃 — 그리드를 세우고 올린다</a:t>
            </a:r>
            <a:endParaRPr lang="en-US" sz="850" dirty="0"/>
          </a:p>
        </p:txBody>
      </p:sp>
      <p:sp>
        <p:nvSpPr>
          <p:cNvPr id="40" name="Text 3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10</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그리드 세우기</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내용을 올리기 전에 끝냅니다. 순서를 바꾸면 처음부터 다시 합니다.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10</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REFERENCE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그리드와 글자 크기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A0 세로 한 장에 들어가는 네 가지와, 1.5m에서 읽히는 글자 크기입니다.</a:t>
            </a:r>
            <a:endParaRPr lang="en-US" sz="1150" dirty="0"/>
          </a:p>
        </p:txBody>
      </p:sp>
      <p:pic>
        <p:nvPicPr>
          <p:cNvPr id="9" name="Image 0" descr="/home/user/MIN.D/assets/panel/grid.png">    </p:cNvPr>
          <p:cNvPicPr>
            <a:picLocks noChangeAspect="1"/>
          </p:cNvPicPr>
          <p:nvPr/>
        </p:nvPicPr>
        <p:blipFill>
          <a:blip r:embed="rId1"/>
          <a:stretch>
            <a:fillRect/>
          </a:stretch>
        </p:blipFill>
        <p:spPr>
          <a:xfrm>
            <a:off x="640080" y="1956208"/>
            <a:ext cx="10911535" cy="3366209"/>
          </a:xfrm>
          <a:prstGeom prst="rect">
            <a:avLst/>
          </a:prstGeom>
        </p:spPr>
      </p:pic>
      <p:sp>
        <p:nvSpPr>
          <p:cNvPr id="10" name="Shape 7"/>
          <p:cNvSpPr/>
          <p:nvPr/>
        </p:nvSpPr>
        <p:spPr>
          <a:xfrm>
            <a:off x="640080" y="5687568"/>
            <a:ext cx="10911535" cy="7315"/>
          </a:xfrm>
          <a:prstGeom prst="rect">
            <a:avLst/>
          </a:prstGeom>
          <a:solidFill>
            <a:srgbClr val="DCDCDC"/>
          </a:solidFill>
          <a:ln w="12700">
            <a:solidFill>
              <a:srgbClr val="DCDCDC"/>
            </a:solidFill>
            <a:prstDash val="solid"/>
          </a:ln>
        </p:spPr>
      </p:sp>
      <p:sp>
        <p:nvSpPr>
          <p:cNvPr id="11" name="Text 8"/>
          <p:cNvSpPr/>
          <p:nvPr/>
        </p:nvSpPr>
        <p:spPr>
          <a:xfrm>
            <a:off x="640080" y="5760720"/>
            <a:ext cx="10911535" cy="274320"/>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숫자는 A0 기준입니다. 패널 크기가 다르면 비율로 환산해 쓰시면 됩니다.</a:t>
            </a:r>
            <a:endParaRPr lang="en-US" sz="1150" dirty="0"/>
          </a:p>
        </p:txBody>
      </p:sp>
      <p:sp>
        <p:nvSpPr>
          <p:cNvPr id="12" name="Shape 9"/>
          <p:cNvSpPr/>
          <p:nvPr/>
        </p:nvSpPr>
        <p:spPr>
          <a:xfrm>
            <a:off x="640080" y="6291072"/>
            <a:ext cx="10911535" cy="7315"/>
          </a:xfrm>
          <a:prstGeom prst="rect">
            <a:avLst/>
          </a:prstGeom>
          <a:solidFill>
            <a:srgbClr val="DCDCDC"/>
          </a:solidFill>
          <a:ln w="12700">
            <a:solidFill>
              <a:srgbClr val="DCDCDC"/>
            </a:solidFill>
            <a:prstDash val="solid"/>
          </a:ln>
        </p:spPr>
      </p:sp>
      <p:sp>
        <p:nvSpPr>
          <p:cNvPr id="13" name="Text 1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10주차 패널 레이아웃 — 그리드를 세우고 올린다</a:t>
            </a:r>
            <a:endParaRPr lang="en-US" sz="850" dirty="0"/>
          </a:p>
        </p:txBody>
      </p:sp>
      <p:sp>
        <p:nvSpPr>
          <p:cNvPr id="14" name="Text 1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10</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ORDER</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올리는 순서</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네모만 앉힌 상태에서 한 번 멈추고 봅니다.</a:t>
            </a:r>
            <a:endParaRPr lang="en-US" sz="1150" dirty="0"/>
          </a:p>
        </p:txBody>
      </p:sp>
      <p:sp>
        <p:nvSpPr>
          <p:cNvPr id="9" name="Shape 7"/>
          <p:cNvSpPr/>
          <p:nvPr/>
        </p:nvSpPr>
        <p:spPr>
          <a:xfrm>
            <a:off x="640080" y="1719072"/>
            <a:ext cx="10911535" cy="777240"/>
          </a:xfrm>
          <a:prstGeom prst="rect">
            <a:avLst/>
          </a:prstGeom>
          <a:solidFill>
            <a:srgbClr val="FFFFFF"/>
          </a:solidFill>
          <a:ln w="12700">
            <a:solidFill>
              <a:srgbClr val="DCDCDC"/>
            </a:solidFill>
            <a:prstDash val="solid"/>
          </a:ln>
        </p:spPr>
      </p:sp>
      <p:sp>
        <p:nvSpPr>
          <p:cNvPr id="10" name="Text 8"/>
          <p:cNvSpPr/>
          <p:nvPr/>
        </p:nvSpPr>
        <p:spPr>
          <a:xfrm>
            <a:off x="1097280" y="1810512"/>
            <a:ext cx="3291840" cy="59436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그리드를 그린다</a:t>
            </a:r>
            <a:endParaRPr lang="en-US" sz="1450" dirty="0"/>
          </a:p>
        </p:txBody>
      </p:sp>
      <p:sp>
        <p:nvSpPr>
          <p:cNvPr id="11" name="Text 9"/>
          <p:cNvSpPr/>
          <p:nvPr/>
        </p:nvSpPr>
        <p:spPr>
          <a:xfrm>
            <a:off x="4480560" y="1810512"/>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재단 여백 · 마진 · 열 · 기준선. 내용을 올리기 전에 끝냅니다.</a:t>
            </a:r>
            <a:endParaRPr lang="en-US" sz="1150" dirty="0"/>
          </a:p>
        </p:txBody>
      </p:sp>
      <p:sp>
        <p:nvSpPr>
          <p:cNvPr id="12" name="Shape 10"/>
          <p:cNvSpPr/>
          <p:nvPr/>
        </p:nvSpPr>
        <p:spPr>
          <a:xfrm>
            <a:off x="640080" y="2642616"/>
            <a:ext cx="10911535" cy="777240"/>
          </a:xfrm>
          <a:prstGeom prst="rect">
            <a:avLst/>
          </a:prstGeom>
          <a:solidFill>
            <a:srgbClr val="FFFFFF"/>
          </a:solidFill>
          <a:ln w="12700">
            <a:solidFill>
              <a:srgbClr val="DCDCDC"/>
            </a:solidFill>
            <a:prstDash val="solid"/>
          </a:ln>
        </p:spPr>
      </p:sp>
      <p:sp>
        <p:nvSpPr>
          <p:cNvPr id="13" name="Text 11"/>
          <p:cNvSpPr/>
          <p:nvPr/>
        </p:nvSpPr>
        <p:spPr>
          <a:xfrm>
            <a:off x="1097280" y="2734056"/>
            <a:ext cx="3291840" cy="59436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큰 덩어리를 네모로 앉힌다</a:t>
            </a:r>
            <a:endParaRPr lang="en-US" sz="1450" dirty="0"/>
          </a:p>
        </p:txBody>
      </p:sp>
      <p:sp>
        <p:nvSpPr>
          <p:cNvPr id="14" name="Text 12"/>
          <p:cNvSpPr/>
          <p:nvPr/>
        </p:nvSpPr>
        <p:spPr>
          <a:xfrm>
            <a:off x="4480560" y="2734056"/>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작품명 · 주인공 화면 · 섹션. 글은 아직 넣지 않습니다. 네모만 봐도 주인공이 보여야 합니다.</a:t>
            </a:r>
            <a:endParaRPr lang="en-US" sz="1150" dirty="0"/>
          </a:p>
        </p:txBody>
      </p:sp>
      <p:sp>
        <p:nvSpPr>
          <p:cNvPr id="15" name="Shape 13"/>
          <p:cNvSpPr/>
          <p:nvPr/>
        </p:nvSpPr>
        <p:spPr>
          <a:xfrm>
            <a:off x="640080" y="3566160"/>
            <a:ext cx="10911535" cy="777240"/>
          </a:xfrm>
          <a:prstGeom prst="rect">
            <a:avLst/>
          </a:prstGeom>
          <a:solidFill>
            <a:srgbClr val="FFFFFF"/>
          </a:solidFill>
          <a:ln w="12700">
            <a:solidFill>
              <a:srgbClr val="DCDCDC"/>
            </a:solidFill>
            <a:prstDash val="solid"/>
          </a:ln>
        </p:spPr>
      </p:sp>
      <p:sp>
        <p:nvSpPr>
          <p:cNvPr id="16" name="Text 14"/>
          <p:cNvSpPr/>
          <p:nvPr/>
        </p:nvSpPr>
        <p:spPr>
          <a:xfrm>
            <a:off x="1097280" y="3657600"/>
            <a:ext cx="3291840" cy="59436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글을 넣는다</a:t>
            </a:r>
            <a:endParaRPr lang="en-US" sz="1450" dirty="0"/>
          </a:p>
        </p:txBody>
      </p:sp>
      <p:sp>
        <p:nvSpPr>
          <p:cNvPr id="17" name="Text 15"/>
          <p:cNvSpPr/>
          <p:nvPr/>
        </p:nvSpPr>
        <p:spPr>
          <a:xfrm>
            <a:off x="4480560" y="3657600"/>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한 줄 정의 · 섹션 제목 · 본문. 열 폭에 맞춰 흘립니다.</a:t>
            </a:r>
            <a:endParaRPr lang="en-US" sz="1150" dirty="0"/>
          </a:p>
        </p:txBody>
      </p:sp>
      <p:sp>
        <p:nvSpPr>
          <p:cNvPr id="18" name="Shape 16"/>
          <p:cNvSpPr/>
          <p:nvPr/>
        </p:nvSpPr>
        <p:spPr>
          <a:xfrm>
            <a:off x="640080" y="4489704"/>
            <a:ext cx="10911535" cy="777240"/>
          </a:xfrm>
          <a:prstGeom prst="rect">
            <a:avLst/>
          </a:prstGeom>
          <a:solidFill>
            <a:srgbClr val="111111"/>
          </a:solidFill>
          <a:ln w="12700">
            <a:solidFill>
              <a:srgbClr val="111111"/>
            </a:solidFill>
            <a:prstDash val="solid"/>
          </a:ln>
        </p:spPr>
      </p:sp>
      <p:sp>
        <p:nvSpPr>
          <p:cNvPr id="19" name="Text 17"/>
          <p:cNvSpPr/>
          <p:nvPr/>
        </p:nvSpPr>
        <p:spPr>
          <a:xfrm>
            <a:off x="1097280" y="4581144"/>
            <a:ext cx="3291840" cy="594360"/>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캡션을 단다</a:t>
            </a:r>
            <a:endParaRPr lang="en-US" sz="1450" dirty="0"/>
          </a:p>
        </p:txBody>
      </p:sp>
      <p:sp>
        <p:nvSpPr>
          <p:cNvPr id="20" name="Text 18"/>
          <p:cNvSpPr/>
          <p:nvPr/>
        </p:nvSpPr>
        <p:spPr>
          <a:xfrm>
            <a:off x="4480560" y="4581144"/>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화면 옆에 지시선을 긋고 한 줄씩. 화면 자리가 정해져야 지시선을 그을 수 있습니다.</a:t>
            </a:r>
            <a:endParaRPr lang="en-US" sz="1150" dirty="0"/>
          </a:p>
        </p:txBody>
      </p:sp>
      <p:sp>
        <p:nvSpPr>
          <p:cNvPr id="21" name="Shape 19"/>
          <p:cNvSpPr/>
          <p:nvPr/>
        </p:nvSpPr>
        <p:spPr>
          <a:xfrm>
            <a:off x="640080" y="5577840"/>
            <a:ext cx="10911535" cy="7315"/>
          </a:xfrm>
          <a:prstGeom prst="rect">
            <a:avLst/>
          </a:prstGeom>
          <a:solidFill>
            <a:srgbClr val="111111"/>
          </a:solidFill>
          <a:ln w="12700">
            <a:solidFill>
              <a:srgbClr val="111111"/>
            </a:solidFill>
            <a:prstDash val="solid"/>
          </a:ln>
        </p:spPr>
      </p:sp>
      <p:sp>
        <p:nvSpPr>
          <p:cNvPr id="22" name="Text 20"/>
          <p:cNvSpPr/>
          <p:nvPr/>
        </p:nvSpPr>
        <p:spPr>
          <a:xfrm>
            <a:off x="640080" y="5687568"/>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순서를 바꾸면 처음부터 다시 합니다. 그리드 없이 올린 것은 고칠 수가 없습니다.</a:t>
            </a:r>
            <a:endParaRPr lang="en-US" sz="1300" dirty="0"/>
          </a:p>
        </p:txBody>
      </p:sp>
      <p:sp>
        <p:nvSpPr>
          <p:cNvPr id="23" name="Shape 21"/>
          <p:cNvSpPr/>
          <p:nvPr/>
        </p:nvSpPr>
        <p:spPr>
          <a:xfrm>
            <a:off x="640080" y="6291072"/>
            <a:ext cx="10911535" cy="7315"/>
          </a:xfrm>
          <a:prstGeom prst="rect">
            <a:avLst/>
          </a:prstGeom>
          <a:solidFill>
            <a:srgbClr val="DCDCDC"/>
          </a:solidFill>
          <a:ln w="12700">
            <a:solidFill>
              <a:srgbClr val="DCDCDC"/>
            </a:solidFill>
            <a:prstDash val="solid"/>
          </a:ln>
        </p:spPr>
      </p:sp>
      <p:sp>
        <p:nvSpPr>
          <p:cNvPr id="24" name="Text 2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10주차 패널 레이아웃 — 그리드를 세우고 올린다</a:t>
            </a:r>
            <a:endParaRPr lang="en-US" sz="850" dirty="0"/>
          </a:p>
        </p:txBody>
      </p:sp>
      <p:sp>
        <p:nvSpPr>
          <p:cNvPr id="25" name="Text 2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10</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GRID</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그리드 없이와 그리드 위에</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그리드는 보이지 않습니다. 그런데 안 맞으면 바로 보입니다.</a:t>
            </a:r>
            <a:endParaRPr lang="en-US" sz="1150" dirty="0"/>
          </a:p>
        </p:txBody>
      </p:sp>
      <p:sp>
        <p:nvSpPr>
          <p:cNvPr id="9" name="Shape 7"/>
          <p:cNvSpPr/>
          <p:nvPr/>
        </p:nvSpPr>
        <p:spPr>
          <a:xfrm>
            <a:off x="640080" y="1627632"/>
            <a:ext cx="5254600" cy="3127248"/>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그리드 없이</a:t>
            </a:r>
            <a:endParaRPr lang="en-US" sz="1700" dirty="0"/>
          </a:p>
        </p:txBody>
      </p:sp>
      <p:sp>
        <p:nvSpPr>
          <p:cNvPr id="11" name="Shape 9"/>
          <p:cNvSpPr/>
          <p:nvPr/>
        </p:nvSpPr>
        <p:spPr>
          <a:xfrm>
            <a:off x="6297016" y="1627632"/>
            <a:ext cx="5254600" cy="3127248"/>
          </a:xfrm>
          <a:prstGeom prst="rect">
            <a:avLst/>
          </a:prstGeom>
          <a:solidFill>
            <a:srgbClr val="FFFFFF"/>
          </a:solidFill>
          <a:ln w="12700">
            <a:solidFill>
              <a:srgbClr val="111111"/>
            </a:solidFill>
            <a:prstDash val="solid"/>
          </a:ln>
        </p:spPr>
      </p:sp>
      <p:sp>
        <p:nvSpPr>
          <p:cNvPr id="12" name="Shape 10"/>
          <p:cNvSpPr/>
          <p:nvPr/>
        </p:nvSpPr>
        <p:spPr>
          <a:xfrm>
            <a:off x="6297016" y="1627632"/>
            <a:ext cx="5254600" cy="64008"/>
          </a:xfrm>
          <a:prstGeom prst="rect">
            <a:avLst/>
          </a:prstGeom>
          <a:solidFill>
            <a:srgbClr val="111111"/>
          </a:solidFill>
          <a:ln w="12700">
            <a:solidFill>
              <a:srgbClr val="111111"/>
            </a:solidFill>
            <a:prstDash val="solid"/>
          </a:ln>
        </p:spPr>
      </p:sp>
      <p:sp>
        <p:nvSpPr>
          <p:cNvPr id="13" name="Text 11"/>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그리드 위에</a:t>
            </a:r>
            <a:endParaRPr lang="en-US" sz="1700" dirty="0"/>
          </a:p>
        </p:txBody>
      </p:sp>
      <p:sp>
        <p:nvSpPr>
          <p:cNvPr id="14" name="Text 12"/>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끝이 안 맞음</a:t>
            </a:r>
            <a:endParaRPr lang="en-US" sz="900" dirty="0"/>
          </a:p>
        </p:txBody>
      </p:sp>
      <p:sp>
        <p:nvSpPr>
          <p:cNvPr id="15" name="Text 13"/>
          <p:cNvSpPr/>
          <p:nvPr/>
        </p:nvSpPr>
        <p:spPr>
          <a:xfrm>
            <a:off x="1042416"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요소마다 왼쪽 끝이 다르다</a:t>
            </a:r>
            <a:endParaRPr lang="en-US" sz="1150" dirty="0"/>
          </a:p>
        </p:txBody>
      </p:sp>
      <p:sp>
        <p:nvSpPr>
          <p:cNvPr id="16" name="Text 14"/>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끝이 안 맞음</a:t>
            </a:r>
            <a:endParaRPr lang="en-US" sz="900" dirty="0"/>
          </a:p>
        </p:txBody>
      </p:sp>
      <p:sp>
        <p:nvSpPr>
          <p:cNvPr id="17" name="Text 15"/>
          <p:cNvSpPr/>
          <p:nvPr/>
        </p:nvSpPr>
        <p:spPr>
          <a:xfrm>
            <a:off x="6699352" y="2688336"/>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모두 같은 선에서 시작한다</a:t>
            </a:r>
            <a:endParaRPr lang="en-US" sz="1150" dirty="0"/>
          </a:p>
        </p:txBody>
      </p:sp>
      <p:sp>
        <p:nvSpPr>
          <p:cNvPr id="18" name="Shape 16"/>
          <p:cNvSpPr/>
          <p:nvPr/>
        </p:nvSpPr>
        <p:spPr>
          <a:xfrm>
            <a:off x="1042416" y="2980944"/>
            <a:ext cx="4449928" cy="7315"/>
          </a:xfrm>
          <a:prstGeom prst="rect">
            <a:avLst/>
          </a:prstGeom>
          <a:solidFill>
            <a:srgbClr val="DCDCDC"/>
          </a:solidFill>
          <a:ln w="12700">
            <a:solidFill>
              <a:srgbClr val="DCDCDC"/>
            </a:solidFill>
            <a:prstDash val="solid"/>
          </a:ln>
        </p:spPr>
      </p:sp>
      <p:sp>
        <p:nvSpPr>
          <p:cNvPr id="19" name="Shape 17"/>
          <p:cNvSpPr/>
          <p:nvPr/>
        </p:nvSpPr>
        <p:spPr>
          <a:xfrm>
            <a:off x="6699352" y="2980944"/>
            <a:ext cx="4449928" cy="7315"/>
          </a:xfrm>
          <a:prstGeom prst="rect">
            <a:avLst/>
          </a:prstGeom>
          <a:solidFill>
            <a:srgbClr val="D2D2D2"/>
          </a:solidFill>
          <a:ln w="12700">
            <a:solidFill>
              <a:srgbClr val="D2D2D2"/>
            </a:solidFill>
            <a:prstDash val="solid"/>
          </a:ln>
        </p:spPr>
      </p:sp>
      <p:sp>
        <p:nvSpPr>
          <p:cNvPr id="20" name="Text 18"/>
          <p:cNvSpPr/>
          <p:nvPr/>
        </p:nvSpPr>
        <p:spPr>
          <a:xfrm>
            <a:off x="1042416" y="303580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여백이 제각각</a:t>
            </a:r>
            <a:endParaRPr lang="en-US" sz="900" dirty="0"/>
          </a:p>
        </p:txBody>
      </p:sp>
      <p:sp>
        <p:nvSpPr>
          <p:cNvPr id="21" name="Text 19"/>
          <p:cNvSpPr/>
          <p:nvPr/>
        </p:nvSpPr>
        <p:spPr>
          <a:xfrm>
            <a:off x="1042416"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눈대중으로 띄운다</a:t>
            </a:r>
            <a:endParaRPr lang="en-US" sz="1150" dirty="0"/>
          </a:p>
        </p:txBody>
      </p:sp>
      <p:sp>
        <p:nvSpPr>
          <p:cNvPr id="22" name="Text 20"/>
          <p:cNvSpPr/>
          <p:nvPr/>
        </p:nvSpPr>
        <p:spPr>
          <a:xfrm>
            <a:off x="6699352" y="303580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여백이 제각각</a:t>
            </a:r>
            <a:endParaRPr lang="en-US" sz="900" dirty="0"/>
          </a:p>
        </p:txBody>
      </p:sp>
      <p:sp>
        <p:nvSpPr>
          <p:cNvPr id="23" name="Text 21"/>
          <p:cNvSpPr/>
          <p:nvPr/>
        </p:nvSpPr>
        <p:spPr>
          <a:xfrm>
            <a:off x="6699352" y="3273552"/>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단 간격 하나로 통일한다</a:t>
            </a:r>
            <a:endParaRPr lang="en-US" sz="1150" dirty="0"/>
          </a:p>
        </p:txBody>
      </p:sp>
      <p:sp>
        <p:nvSpPr>
          <p:cNvPr id="24" name="Shape 22"/>
          <p:cNvSpPr/>
          <p:nvPr/>
        </p:nvSpPr>
        <p:spPr>
          <a:xfrm>
            <a:off x="1042416" y="3566160"/>
            <a:ext cx="4449928" cy="7315"/>
          </a:xfrm>
          <a:prstGeom prst="rect">
            <a:avLst/>
          </a:prstGeom>
          <a:solidFill>
            <a:srgbClr val="DCDCDC"/>
          </a:solidFill>
          <a:ln w="12700">
            <a:solidFill>
              <a:srgbClr val="DCDCDC"/>
            </a:solidFill>
            <a:prstDash val="solid"/>
          </a:ln>
        </p:spPr>
      </p:sp>
      <p:sp>
        <p:nvSpPr>
          <p:cNvPr id="25" name="Shape 23"/>
          <p:cNvSpPr/>
          <p:nvPr/>
        </p:nvSpPr>
        <p:spPr>
          <a:xfrm>
            <a:off x="6699352" y="3566160"/>
            <a:ext cx="4449928" cy="7315"/>
          </a:xfrm>
          <a:prstGeom prst="rect">
            <a:avLst/>
          </a:prstGeom>
          <a:solidFill>
            <a:srgbClr val="D2D2D2"/>
          </a:solidFill>
          <a:ln w="12700">
            <a:solidFill>
              <a:srgbClr val="D2D2D2"/>
            </a:solidFill>
            <a:prstDash val="solid"/>
          </a:ln>
        </p:spPr>
      </p:sp>
      <p:sp>
        <p:nvSpPr>
          <p:cNvPr id="26" name="Text 24"/>
          <p:cNvSpPr/>
          <p:nvPr/>
        </p:nvSpPr>
        <p:spPr>
          <a:xfrm>
            <a:off x="1042416" y="362102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고칠 수 없음</a:t>
            </a:r>
            <a:endParaRPr lang="en-US" sz="900" dirty="0"/>
          </a:p>
        </p:txBody>
      </p:sp>
      <p:sp>
        <p:nvSpPr>
          <p:cNvPr id="27" name="Text 25"/>
          <p:cNvSpPr/>
          <p:nvPr/>
        </p:nvSpPr>
        <p:spPr>
          <a:xfrm>
            <a:off x="1042416"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하나 옮기면 다 어긋난다</a:t>
            </a:r>
            <a:endParaRPr lang="en-US" sz="1150" dirty="0"/>
          </a:p>
        </p:txBody>
      </p:sp>
      <p:sp>
        <p:nvSpPr>
          <p:cNvPr id="28" name="Text 26"/>
          <p:cNvSpPr/>
          <p:nvPr/>
        </p:nvSpPr>
        <p:spPr>
          <a:xfrm>
            <a:off x="6699352" y="362102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고칠 수 없음</a:t>
            </a:r>
            <a:endParaRPr lang="en-US" sz="900" dirty="0"/>
          </a:p>
        </p:txBody>
      </p:sp>
      <p:sp>
        <p:nvSpPr>
          <p:cNvPr id="29" name="Text 27"/>
          <p:cNvSpPr/>
          <p:nvPr/>
        </p:nvSpPr>
        <p:spPr>
          <a:xfrm>
            <a:off x="6699352" y="3858768"/>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열 안에서만 옮기면 된다</a:t>
            </a:r>
            <a:endParaRPr lang="en-US" sz="1150" dirty="0"/>
          </a:p>
        </p:txBody>
      </p:sp>
      <p:sp>
        <p:nvSpPr>
          <p:cNvPr id="30" name="Shape 28"/>
          <p:cNvSpPr/>
          <p:nvPr/>
        </p:nvSpPr>
        <p:spPr>
          <a:xfrm>
            <a:off x="1042416" y="4151376"/>
            <a:ext cx="4449928" cy="7315"/>
          </a:xfrm>
          <a:prstGeom prst="rect">
            <a:avLst/>
          </a:prstGeom>
          <a:solidFill>
            <a:srgbClr val="DCDCDC"/>
          </a:solidFill>
          <a:ln w="12700">
            <a:solidFill>
              <a:srgbClr val="DCDCDC"/>
            </a:solidFill>
            <a:prstDash val="solid"/>
          </a:ln>
        </p:spPr>
      </p:sp>
      <p:sp>
        <p:nvSpPr>
          <p:cNvPr id="31" name="Shape 29"/>
          <p:cNvSpPr/>
          <p:nvPr/>
        </p:nvSpPr>
        <p:spPr>
          <a:xfrm>
            <a:off x="6699352" y="4151376"/>
            <a:ext cx="4449928" cy="7315"/>
          </a:xfrm>
          <a:prstGeom prst="rect">
            <a:avLst/>
          </a:prstGeom>
          <a:solidFill>
            <a:srgbClr val="D2D2D2"/>
          </a:solidFill>
          <a:ln w="12700">
            <a:solidFill>
              <a:srgbClr val="D2D2D2"/>
            </a:solidFill>
            <a:prstDash val="solid"/>
          </a:ln>
        </p:spPr>
      </p:sp>
      <p:sp>
        <p:nvSpPr>
          <p:cNvPr id="32" name="Text 30"/>
          <p:cNvSpPr/>
          <p:nvPr/>
        </p:nvSpPr>
        <p:spPr>
          <a:xfrm>
            <a:off x="1042416" y="420624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장마다 다름</a:t>
            </a:r>
            <a:endParaRPr lang="en-US" sz="900" dirty="0"/>
          </a:p>
        </p:txBody>
      </p:sp>
      <p:sp>
        <p:nvSpPr>
          <p:cNvPr id="33" name="Text 31"/>
          <p:cNvSpPr/>
          <p:nvPr/>
        </p:nvSpPr>
        <p:spPr>
          <a:xfrm>
            <a:off x="1042416"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석 장이 따로 논다</a:t>
            </a:r>
            <a:endParaRPr lang="en-US" sz="1150" dirty="0"/>
          </a:p>
        </p:txBody>
      </p:sp>
      <p:sp>
        <p:nvSpPr>
          <p:cNvPr id="34" name="Text 32"/>
          <p:cNvSpPr/>
          <p:nvPr/>
        </p:nvSpPr>
        <p:spPr>
          <a:xfrm>
            <a:off x="6699352" y="420624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장마다 다름</a:t>
            </a:r>
            <a:endParaRPr lang="en-US" sz="900" dirty="0"/>
          </a:p>
        </p:txBody>
      </p:sp>
      <p:sp>
        <p:nvSpPr>
          <p:cNvPr id="35" name="Text 33"/>
          <p:cNvSpPr/>
          <p:nvPr/>
        </p:nvSpPr>
        <p:spPr>
          <a:xfrm>
            <a:off x="6699352" y="4443984"/>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석 장이 같은 그리드를 쓴다</a:t>
            </a:r>
            <a:endParaRPr lang="en-US" sz="1150" dirty="0"/>
          </a:p>
        </p:txBody>
      </p:sp>
      <p:sp>
        <p:nvSpPr>
          <p:cNvPr id="36" name="Shape 34"/>
          <p:cNvSpPr/>
          <p:nvPr/>
        </p:nvSpPr>
        <p:spPr>
          <a:xfrm>
            <a:off x="640080" y="5010912"/>
            <a:ext cx="10911535" cy="7315"/>
          </a:xfrm>
          <a:prstGeom prst="rect">
            <a:avLst/>
          </a:prstGeom>
          <a:solidFill>
            <a:srgbClr val="111111"/>
          </a:solidFill>
          <a:ln w="12700">
            <a:solidFill>
              <a:srgbClr val="111111"/>
            </a:solidFill>
            <a:prstDash val="solid"/>
          </a:ln>
        </p:spPr>
      </p:sp>
      <p:sp>
        <p:nvSpPr>
          <p:cNvPr id="37" name="Text 35"/>
          <p:cNvSpPr/>
          <p:nvPr/>
        </p:nvSpPr>
        <p:spPr>
          <a:xfrm>
            <a:off x="640080" y="5120640"/>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셋째 줄이 마감 때 제일 아픕니다. 지금 세워 두면 그때 고칠 수 있습니다.</a:t>
            </a:r>
            <a:endParaRPr lang="en-US" sz="1300" dirty="0"/>
          </a:p>
        </p:txBody>
      </p:sp>
      <p:sp>
        <p:nvSpPr>
          <p:cNvPr id="38" name="Shape 36"/>
          <p:cNvSpPr/>
          <p:nvPr/>
        </p:nvSpPr>
        <p:spPr>
          <a:xfrm>
            <a:off x="640080" y="6291072"/>
            <a:ext cx="10911535" cy="7315"/>
          </a:xfrm>
          <a:prstGeom prst="rect">
            <a:avLst/>
          </a:prstGeom>
          <a:solidFill>
            <a:srgbClr val="DCDCDC"/>
          </a:solidFill>
          <a:ln w="12700">
            <a:solidFill>
              <a:srgbClr val="DCDCDC"/>
            </a:solidFill>
            <a:prstDash val="solid"/>
          </a:ln>
        </p:spPr>
      </p:sp>
      <p:sp>
        <p:nvSpPr>
          <p:cNvPr id="39" name="Text 3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10주차 패널 레이아웃 — 그리드를 세우고 올린다</a:t>
            </a:r>
            <a:endParaRPr lang="en-US" sz="850" dirty="0"/>
          </a:p>
        </p:txBody>
      </p:sp>
      <p:sp>
        <p:nvSpPr>
          <p:cNvPr id="40" name="Text 3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10</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03</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03</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읽는 순서 만들기</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어디부터 볼지 관람자가 정하지 않습니다. 우리가 정합니다.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10</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FLOW</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순서를 만드는 세 가지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셋이 서로 어긋나면 아무 순서도 생기지 않습니다.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크기</a:t>
            </a:r>
            <a:endParaRPr lang="en-US" sz="1450" dirty="0"/>
          </a:p>
        </p:txBody>
      </p:sp>
      <p:sp>
        <p:nvSpPr>
          <p:cNvPr id="13" name="Text 11"/>
          <p:cNvSpPr/>
          <p:nvPr/>
        </p:nvSpPr>
        <p:spPr>
          <a:xfrm>
            <a:off x="1188720" y="2029968"/>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제일 큰 것이 먼저 읽힙니다. 한 장에 주인공은 하나입니다</a:t>
            </a:r>
            <a:endParaRPr lang="en-US" sz="1100" dirty="0"/>
          </a:p>
        </p:txBody>
      </p:sp>
      <p:sp>
        <p:nvSpPr>
          <p:cNvPr id="14" name="Shape 12"/>
          <p:cNvSpPr/>
          <p:nvPr/>
        </p:nvSpPr>
        <p:spPr>
          <a:xfrm>
            <a:off x="640080" y="2670048"/>
            <a:ext cx="10911535" cy="7315"/>
          </a:xfrm>
          <a:prstGeom prst="rect">
            <a:avLst/>
          </a:prstGeom>
          <a:solidFill>
            <a:srgbClr val="DCDCDC"/>
          </a:solidFill>
          <a:ln w="12700">
            <a:solidFill>
              <a:srgbClr val="DCDCDC"/>
            </a:solidFill>
            <a:prstDash val="solid"/>
          </a:ln>
        </p:spPr>
      </p:sp>
      <p:sp>
        <p:nvSpPr>
          <p:cNvPr id="15" name="Shape 13"/>
          <p:cNvSpPr/>
          <p:nvPr/>
        </p:nvSpPr>
        <p:spPr>
          <a:xfrm>
            <a:off x="640080" y="2834640"/>
            <a:ext cx="310896" cy="310896"/>
          </a:xfrm>
          <a:prstGeom prst="ellipse">
            <a:avLst/>
          </a:prstGeom>
          <a:solidFill>
            <a:srgbClr val="FFFFFF"/>
          </a:solidFill>
          <a:ln w="12700">
            <a:solidFill>
              <a:srgbClr val="111111"/>
            </a:solidFill>
            <a:prstDash val="solid"/>
          </a:ln>
        </p:spPr>
      </p:sp>
      <p:sp>
        <p:nvSpPr>
          <p:cNvPr id="16" name="Text 14"/>
          <p:cNvSpPr/>
          <p:nvPr/>
        </p:nvSpPr>
        <p:spPr>
          <a:xfrm>
            <a:off x="640080" y="28346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7" name="Text 15"/>
          <p:cNvSpPr/>
          <p:nvPr/>
        </p:nvSpPr>
        <p:spPr>
          <a:xfrm>
            <a:off x="1188720" y="2743200"/>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위치</a:t>
            </a:r>
            <a:endParaRPr lang="en-US" sz="1450" dirty="0"/>
          </a:p>
        </p:txBody>
      </p:sp>
      <p:sp>
        <p:nvSpPr>
          <p:cNvPr id="18" name="Text 16"/>
          <p:cNvSpPr/>
          <p:nvPr/>
        </p:nvSpPr>
        <p:spPr>
          <a:xfrm>
            <a:off x="1188720" y="3054096"/>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왼쪽 위에서 오른쪽 아래로 읽습니다. 아래쪽은 허리를 굽혀야 보입니다</a:t>
            </a:r>
            <a:endParaRPr lang="en-US" sz="1100" dirty="0"/>
          </a:p>
        </p:txBody>
      </p:sp>
      <p:sp>
        <p:nvSpPr>
          <p:cNvPr id="19" name="Shape 17"/>
          <p:cNvSpPr/>
          <p:nvPr/>
        </p:nvSpPr>
        <p:spPr>
          <a:xfrm>
            <a:off x="640080" y="3694176"/>
            <a:ext cx="10911535" cy="7315"/>
          </a:xfrm>
          <a:prstGeom prst="rect">
            <a:avLst/>
          </a:prstGeom>
          <a:solidFill>
            <a:srgbClr val="DCDCDC"/>
          </a:solidFill>
          <a:ln w="12700">
            <a:solidFill>
              <a:srgbClr val="DCDCDC"/>
            </a:solidFill>
            <a:prstDash val="solid"/>
          </a:ln>
        </p:spPr>
      </p:sp>
      <p:sp>
        <p:nvSpPr>
          <p:cNvPr id="20" name="Shape 18"/>
          <p:cNvSpPr/>
          <p:nvPr/>
        </p:nvSpPr>
        <p:spPr>
          <a:xfrm>
            <a:off x="640080" y="3858768"/>
            <a:ext cx="310896" cy="310896"/>
          </a:xfrm>
          <a:prstGeom prst="ellipse">
            <a:avLst/>
          </a:prstGeom>
          <a:solidFill>
            <a:srgbClr val="FFFFFF"/>
          </a:solidFill>
          <a:ln w="12700">
            <a:solidFill>
              <a:srgbClr val="111111"/>
            </a:solidFill>
            <a:prstDash val="solid"/>
          </a:ln>
        </p:spPr>
      </p:sp>
      <p:sp>
        <p:nvSpPr>
          <p:cNvPr id="21" name="Text 19"/>
          <p:cNvSpPr/>
          <p:nvPr/>
        </p:nvSpPr>
        <p:spPr>
          <a:xfrm>
            <a:off x="640080" y="385876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2" name="Text 20"/>
          <p:cNvSpPr/>
          <p:nvPr/>
        </p:nvSpPr>
        <p:spPr>
          <a:xfrm>
            <a:off x="1188720" y="3767328"/>
            <a:ext cx="987552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번호</a:t>
            </a:r>
            <a:endParaRPr lang="en-US" sz="1450" dirty="0"/>
          </a:p>
        </p:txBody>
      </p:sp>
      <p:sp>
        <p:nvSpPr>
          <p:cNvPr id="23" name="Text 21"/>
          <p:cNvSpPr/>
          <p:nvPr/>
        </p:nvSpPr>
        <p:spPr>
          <a:xfrm>
            <a:off x="1188720" y="4078224"/>
            <a:ext cx="987552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크기와 위치로 안 될 때 번호가 대신합니다</a:t>
            </a:r>
            <a:endParaRPr lang="en-US" sz="1100" dirty="0"/>
          </a:p>
        </p:txBody>
      </p:sp>
      <p:sp>
        <p:nvSpPr>
          <p:cNvPr id="24" name="Shape 22"/>
          <p:cNvSpPr/>
          <p:nvPr/>
        </p:nvSpPr>
        <p:spPr>
          <a:xfrm>
            <a:off x="640080" y="6291072"/>
            <a:ext cx="10911535" cy="7315"/>
          </a:xfrm>
          <a:prstGeom prst="rect">
            <a:avLst/>
          </a:prstGeom>
          <a:solidFill>
            <a:srgbClr val="DCDCDC"/>
          </a:solidFill>
          <a:ln w="12700">
            <a:solidFill>
              <a:srgbClr val="DCDCDC"/>
            </a:solidFill>
            <a:prstDash val="solid"/>
          </a:ln>
        </p:spPr>
      </p:sp>
      <p:sp>
        <p:nvSpPr>
          <p:cNvPr id="25" name="Text 23"/>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10주차 패널 레이아웃 — 그리드를 세우고 올린다</a:t>
            </a:r>
            <a:endParaRPr lang="en-US" sz="850" dirty="0"/>
          </a:p>
        </p:txBody>
      </p:sp>
      <p:sp>
        <p:nvSpPr>
          <p:cNvPr id="26" name="Text 24"/>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10</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CAPTION</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캡션은 화면 밖에</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목업 안 글씨는 아무리 키워도 안 읽힙니다.</a:t>
            </a:r>
            <a:endParaRPr lang="en-US" sz="1150" dirty="0"/>
          </a:p>
        </p:txBody>
      </p:sp>
      <p:sp>
        <p:nvSpPr>
          <p:cNvPr id="9" name="Shape 7"/>
          <p:cNvSpPr/>
          <p:nvPr/>
        </p:nvSpPr>
        <p:spPr>
          <a:xfrm>
            <a:off x="640080" y="1627632"/>
            <a:ext cx="5254600" cy="3127248"/>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목업 안에 쓰면</a:t>
            </a:r>
            <a:endParaRPr lang="en-US" sz="1700" dirty="0"/>
          </a:p>
        </p:txBody>
      </p:sp>
      <p:sp>
        <p:nvSpPr>
          <p:cNvPr id="11" name="Shape 9"/>
          <p:cNvSpPr/>
          <p:nvPr/>
        </p:nvSpPr>
        <p:spPr>
          <a:xfrm>
            <a:off x="6297016" y="1627632"/>
            <a:ext cx="5254600" cy="3127248"/>
          </a:xfrm>
          <a:prstGeom prst="rect">
            <a:avLst/>
          </a:prstGeom>
          <a:solidFill>
            <a:srgbClr val="FFFFFF"/>
          </a:solidFill>
          <a:ln w="12700">
            <a:solidFill>
              <a:srgbClr val="111111"/>
            </a:solidFill>
            <a:prstDash val="solid"/>
          </a:ln>
        </p:spPr>
      </p:sp>
      <p:sp>
        <p:nvSpPr>
          <p:cNvPr id="12" name="Shape 10"/>
          <p:cNvSpPr/>
          <p:nvPr/>
        </p:nvSpPr>
        <p:spPr>
          <a:xfrm>
            <a:off x="6297016" y="1627632"/>
            <a:ext cx="5254600" cy="64008"/>
          </a:xfrm>
          <a:prstGeom prst="rect">
            <a:avLst/>
          </a:prstGeom>
          <a:solidFill>
            <a:srgbClr val="111111"/>
          </a:solidFill>
          <a:ln w="12700">
            <a:solidFill>
              <a:srgbClr val="111111"/>
            </a:solidFill>
            <a:prstDash val="solid"/>
          </a:ln>
        </p:spPr>
      </p:sp>
      <p:sp>
        <p:nvSpPr>
          <p:cNvPr id="13" name="Text 11"/>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목업 밖에 쓰면</a:t>
            </a:r>
            <a:endParaRPr lang="en-US" sz="1700" dirty="0"/>
          </a:p>
        </p:txBody>
      </p:sp>
      <p:sp>
        <p:nvSpPr>
          <p:cNvPr id="14" name="Text 12"/>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출력하면 2pt</a:t>
            </a:r>
            <a:endParaRPr lang="en-US" sz="900" dirty="0"/>
          </a:p>
        </p:txBody>
      </p:sp>
      <p:sp>
        <p:nvSpPr>
          <p:cNvPr id="15" name="Text 13"/>
          <p:cNvSpPr/>
          <p:nvPr/>
        </p:nvSpPr>
        <p:spPr>
          <a:xfrm>
            <a:off x="1042416"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화면 속 글씨로 설명한다</a:t>
            </a:r>
            <a:endParaRPr lang="en-US" sz="1150" dirty="0"/>
          </a:p>
        </p:txBody>
      </p:sp>
      <p:sp>
        <p:nvSpPr>
          <p:cNvPr id="16" name="Text 14"/>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출력하면 2pt</a:t>
            </a:r>
            <a:endParaRPr lang="en-US" sz="900" dirty="0"/>
          </a:p>
        </p:txBody>
      </p:sp>
      <p:sp>
        <p:nvSpPr>
          <p:cNvPr id="17" name="Text 15"/>
          <p:cNvSpPr/>
          <p:nvPr/>
        </p:nvSpPr>
        <p:spPr>
          <a:xfrm>
            <a:off x="6699352" y="2688336"/>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화면 옆에 지시선을 긋고 적는다</a:t>
            </a:r>
            <a:endParaRPr lang="en-US" sz="1150" dirty="0"/>
          </a:p>
        </p:txBody>
      </p:sp>
      <p:sp>
        <p:nvSpPr>
          <p:cNvPr id="18" name="Shape 16"/>
          <p:cNvSpPr/>
          <p:nvPr/>
        </p:nvSpPr>
        <p:spPr>
          <a:xfrm>
            <a:off x="1042416" y="2980944"/>
            <a:ext cx="4449928" cy="7315"/>
          </a:xfrm>
          <a:prstGeom prst="rect">
            <a:avLst/>
          </a:prstGeom>
          <a:solidFill>
            <a:srgbClr val="DCDCDC"/>
          </a:solidFill>
          <a:ln w="12700">
            <a:solidFill>
              <a:srgbClr val="DCDCDC"/>
            </a:solidFill>
            <a:prstDash val="solid"/>
          </a:ln>
        </p:spPr>
      </p:sp>
      <p:sp>
        <p:nvSpPr>
          <p:cNvPr id="19" name="Shape 17"/>
          <p:cNvSpPr/>
          <p:nvPr/>
        </p:nvSpPr>
        <p:spPr>
          <a:xfrm>
            <a:off x="6699352" y="2980944"/>
            <a:ext cx="4449928" cy="7315"/>
          </a:xfrm>
          <a:prstGeom prst="rect">
            <a:avLst/>
          </a:prstGeom>
          <a:solidFill>
            <a:srgbClr val="D2D2D2"/>
          </a:solidFill>
          <a:ln w="12700">
            <a:solidFill>
              <a:srgbClr val="D2D2D2"/>
            </a:solidFill>
            <a:prstDash val="solid"/>
          </a:ln>
        </p:spPr>
      </p:sp>
      <p:sp>
        <p:nvSpPr>
          <p:cNvPr id="20" name="Text 18"/>
          <p:cNvSpPr/>
          <p:nvPr/>
        </p:nvSpPr>
        <p:spPr>
          <a:xfrm>
            <a:off x="1042416" y="303580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뭘 볼지 모름</a:t>
            </a:r>
            <a:endParaRPr lang="en-US" sz="900" dirty="0"/>
          </a:p>
        </p:txBody>
      </p:sp>
      <p:sp>
        <p:nvSpPr>
          <p:cNvPr id="21" name="Text 19"/>
          <p:cNvSpPr/>
          <p:nvPr/>
        </p:nvSpPr>
        <p:spPr>
          <a:xfrm>
            <a:off x="1042416"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화면만 두고 설명이 없다</a:t>
            </a:r>
            <a:endParaRPr lang="en-US" sz="1150" dirty="0"/>
          </a:p>
        </p:txBody>
      </p:sp>
      <p:sp>
        <p:nvSpPr>
          <p:cNvPr id="22" name="Text 20"/>
          <p:cNvSpPr/>
          <p:nvPr/>
        </p:nvSpPr>
        <p:spPr>
          <a:xfrm>
            <a:off x="6699352" y="303580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뭘 볼지 모름</a:t>
            </a:r>
            <a:endParaRPr lang="en-US" sz="900" dirty="0"/>
          </a:p>
        </p:txBody>
      </p:sp>
      <p:sp>
        <p:nvSpPr>
          <p:cNvPr id="23" name="Text 21"/>
          <p:cNvSpPr/>
          <p:nvPr/>
        </p:nvSpPr>
        <p:spPr>
          <a:xfrm>
            <a:off x="6699352" y="3273552"/>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이 화면에서 무엇을 하는지 한 줄</a:t>
            </a:r>
            <a:endParaRPr lang="en-US" sz="1150" dirty="0"/>
          </a:p>
        </p:txBody>
      </p:sp>
      <p:sp>
        <p:nvSpPr>
          <p:cNvPr id="24" name="Shape 22"/>
          <p:cNvSpPr/>
          <p:nvPr/>
        </p:nvSpPr>
        <p:spPr>
          <a:xfrm>
            <a:off x="1042416" y="3566160"/>
            <a:ext cx="4449928" cy="7315"/>
          </a:xfrm>
          <a:prstGeom prst="rect">
            <a:avLst/>
          </a:prstGeom>
          <a:solidFill>
            <a:srgbClr val="DCDCDC"/>
          </a:solidFill>
          <a:ln w="12700">
            <a:solidFill>
              <a:srgbClr val="DCDCDC"/>
            </a:solidFill>
            <a:prstDash val="solid"/>
          </a:ln>
        </p:spPr>
      </p:sp>
      <p:sp>
        <p:nvSpPr>
          <p:cNvPr id="25" name="Shape 23"/>
          <p:cNvSpPr/>
          <p:nvPr/>
        </p:nvSpPr>
        <p:spPr>
          <a:xfrm>
            <a:off x="6699352" y="3566160"/>
            <a:ext cx="4449928" cy="7315"/>
          </a:xfrm>
          <a:prstGeom prst="rect">
            <a:avLst/>
          </a:prstGeom>
          <a:solidFill>
            <a:srgbClr val="D2D2D2"/>
          </a:solidFill>
          <a:ln w="12700">
            <a:solidFill>
              <a:srgbClr val="D2D2D2"/>
            </a:solidFill>
            <a:prstDash val="solid"/>
          </a:ln>
        </p:spPr>
      </p:sp>
      <p:sp>
        <p:nvSpPr>
          <p:cNvPr id="26" name="Text 24"/>
          <p:cNvSpPr/>
          <p:nvPr/>
        </p:nvSpPr>
        <p:spPr>
          <a:xfrm>
            <a:off x="1042416" y="362102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왜 그랬는지 없음</a:t>
            </a:r>
            <a:endParaRPr lang="en-US" sz="900" dirty="0"/>
          </a:p>
        </p:txBody>
      </p:sp>
      <p:sp>
        <p:nvSpPr>
          <p:cNvPr id="27" name="Text 25"/>
          <p:cNvSpPr/>
          <p:nvPr/>
        </p:nvSpPr>
        <p:spPr>
          <a:xfrm>
            <a:off x="1042416"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결과만 보여 준다</a:t>
            </a:r>
            <a:endParaRPr lang="en-US" sz="1150" dirty="0"/>
          </a:p>
        </p:txBody>
      </p:sp>
      <p:sp>
        <p:nvSpPr>
          <p:cNvPr id="28" name="Text 26"/>
          <p:cNvSpPr/>
          <p:nvPr/>
        </p:nvSpPr>
        <p:spPr>
          <a:xfrm>
            <a:off x="6699352" y="362102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왜 그랬는지 없음</a:t>
            </a:r>
            <a:endParaRPr lang="en-US" sz="900" dirty="0"/>
          </a:p>
        </p:txBody>
      </p:sp>
      <p:sp>
        <p:nvSpPr>
          <p:cNvPr id="29" name="Text 27"/>
          <p:cNvSpPr/>
          <p:nvPr/>
        </p:nvSpPr>
        <p:spPr>
          <a:xfrm>
            <a:off x="6699352" y="3858768"/>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왜 이렇게 했는지 한 줄 덧붙인다</a:t>
            </a:r>
            <a:endParaRPr lang="en-US" sz="1150" dirty="0"/>
          </a:p>
        </p:txBody>
      </p:sp>
      <p:sp>
        <p:nvSpPr>
          <p:cNvPr id="30" name="Shape 28"/>
          <p:cNvSpPr/>
          <p:nvPr/>
        </p:nvSpPr>
        <p:spPr>
          <a:xfrm>
            <a:off x="1042416" y="4151376"/>
            <a:ext cx="4449928" cy="7315"/>
          </a:xfrm>
          <a:prstGeom prst="rect">
            <a:avLst/>
          </a:prstGeom>
          <a:solidFill>
            <a:srgbClr val="DCDCDC"/>
          </a:solidFill>
          <a:ln w="12700">
            <a:solidFill>
              <a:srgbClr val="DCDCDC"/>
            </a:solidFill>
            <a:prstDash val="solid"/>
          </a:ln>
        </p:spPr>
      </p:sp>
      <p:sp>
        <p:nvSpPr>
          <p:cNvPr id="31" name="Shape 29"/>
          <p:cNvSpPr/>
          <p:nvPr/>
        </p:nvSpPr>
        <p:spPr>
          <a:xfrm>
            <a:off x="6699352" y="4151376"/>
            <a:ext cx="4449928" cy="7315"/>
          </a:xfrm>
          <a:prstGeom prst="rect">
            <a:avLst/>
          </a:prstGeom>
          <a:solidFill>
            <a:srgbClr val="D2D2D2"/>
          </a:solidFill>
          <a:ln w="12700">
            <a:solidFill>
              <a:srgbClr val="D2D2D2"/>
            </a:solidFill>
            <a:prstDash val="solid"/>
          </a:ln>
        </p:spPr>
      </p:sp>
      <p:sp>
        <p:nvSpPr>
          <p:cNvPr id="32" name="Text 30"/>
          <p:cNvSpPr/>
          <p:nvPr/>
        </p:nvSpPr>
        <p:spPr>
          <a:xfrm>
            <a:off x="1042416" y="420624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다 비슷해 보임</a:t>
            </a:r>
            <a:endParaRPr lang="en-US" sz="900" dirty="0"/>
          </a:p>
        </p:txBody>
      </p:sp>
      <p:sp>
        <p:nvSpPr>
          <p:cNvPr id="33" name="Text 31"/>
          <p:cNvSpPr/>
          <p:nvPr/>
        </p:nvSpPr>
        <p:spPr>
          <a:xfrm>
            <a:off x="1042416"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열두 장이 구별되지 않는다</a:t>
            </a:r>
            <a:endParaRPr lang="en-US" sz="1150" dirty="0"/>
          </a:p>
        </p:txBody>
      </p:sp>
      <p:sp>
        <p:nvSpPr>
          <p:cNvPr id="34" name="Text 32"/>
          <p:cNvSpPr/>
          <p:nvPr/>
        </p:nvSpPr>
        <p:spPr>
          <a:xfrm>
            <a:off x="6699352" y="420624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다 비슷해 보임</a:t>
            </a:r>
            <a:endParaRPr lang="en-US" sz="900" dirty="0"/>
          </a:p>
        </p:txBody>
      </p:sp>
      <p:sp>
        <p:nvSpPr>
          <p:cNvPr id="35" name="Text 33"/>
          <p:cNvSpPr/>
          <p:nvPr/>
        </p:nvSpPr>
        <p:spPr>
          <a:xfrm>
            <a:off x="6699352" y="4443984"/>
            <a:ext cx="4449928" cy="329184"/>
          </a:xfrm>
          <a:prstGeom prst="rect">
            <a:avLst/>
          </a:prstGeom>
          <a:noFill/>
          <a:ln/>
        </p:spPr>
        <p:txBody>
          <a:bodyPr wrap="square" lIns="0" tIns="0" rIns="0" bIns="0" rtlCol="0" anchor="t"/>
          <a:lstStyle/>
          <a:p>
            <a:pPr indent="0" marL="0">
              <a:lnSpc>
                <a:spcPct val="120000"/>
              </a:lnSpc>
              <a:buNone/>
            </a:pPr>
            <a:r>
              <a:rPr lang="en-US" sz="1150" b="1" dirty="0">
                <a:solidFill>
                  <a:srgbClr val="1F1F1F"/>
                </a:solidFill>
                <a:latin typeface="Pretendard" pitchFamily="34" charset="0"/>
                <a:ea typeface="Pretendard" pitchFamily="34" charset="-122"/>
                <a:cs typeface="Pretendard" pitchFamily="34" charset="-120"/>
              </a:rPr>
              <a:t>캡션이 달라 구별이 된다</a:t>
            </a:r>
            <a:endParaRPr lang="en-US" sz="1150" dirty="0"/>
          </a:p>
        </p:txBody>
      </p:sp>
      <p:sp>
        <p:nvSpPr>
          <p:cNvPr id="36" name="Shape 34"/>
          <p:cNvSpPr/>
          <p:nvPr/>
        </p:nvSpPr>
        <p:spPr>
          <a:xfrm>
            <a:off x="640080" y="5010912"/>
            <a:ext cx="10911535" cy="7315"/>
          </a:xfrm>
          <a:prstGeom prst="rect">
            <a:avLst/>
          </a:prstGeom>
          <a:solidFill>
            <a:srgbClr val="111111"/>
          </a:solidFill>
          <a:ln w="12700">
            <a:solidFill>
              <a:srgbClr val="111111"/>
            </a:solidFill>
            <a:prstDash val="solid"/>
          </a:ln>
        </p:spPr>
      </p:sp>
      <p:sp>
        <p:nvSpPr>
          <p:cNvPr id="37" name="Text 35"/>
          <p:cNvSpPr/>
          <p:nvPr/>
        </p:nvSpPr>
        <p:spPr>
          <a:xfrm>
            <a:off x="640080" y="5120640"/>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캡션은 한 줄입니다. 두 줄이 넘어가면 아무도 읽지 않습니다.</a:t>
            </a:r>
            <a:endParaRPr lang="en-US" sz="1300" dirty="0"/>
          </a:p>
        </p:txBody>
      </p:sp>
      <p:sp>
        <p:nvSpPr>
          <p:cNvPr id="38" name="Shape 36"/>
          <p:cNvSpPr/>
          <p:nvPr/>
        </p:nvSpPr>
        <p:spPr>
          <a:xfrm>
            <a:off x="640080" y="6291072"/>
            <a:ext cx="10911535" cy="7315"/>
          </a:xfrm>
          <a:prstGeom prst="rect">
            <a:avLst/>
          </a:prstGeom>
          <a:solidFill>
            <a:srgbClr val="DCDCDC"/>
          </a:solidFill>
          <a:ln w="12700">
            <a:solidFill>
              <a:srgbClr val="DCDCDC"/>
            </a:solidFill>
            <a:prstDash val="solid"/>
          </a:ln>
        </p:spPr>
      </p:sp>
      <p:sp>
        <p:nvSpPr>
          <p:cNvPr id="39" name="Text 3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10주차 패널 레이아웃 — 그리드를 세우고 올린다</a:t>
            </a:r>
            <a:endParaRPr lang="en-US" sz="850" dirty="0"/>
          </a:p>
        </p:txBody>
      </p:sp>
      <p:sp>
        <p:nvSpPr>
          <p:cNvPr id="40" name="Text 3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10</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04</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04</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무엇을 싣고 무엇을 빼나</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중간 보고서의 화면 목록표에서 고릅니다. 새로 만들지 않습니다.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10</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PICK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싣는 것과 빼는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중간 보고서의 화면 목록표를 열고 고릅니다.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싣는 것</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한 줄 정의 — 무엇을 만들었는지 한 문장</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주인공 화면 — 제일 자신 있는 것 한 장</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흐름 하나 — 시작에서 결과까지 다섯 장쯤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규격과 토큰 — 한 장으로 요약</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화면 목록 — 전체 규모가 보이게</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빼는 것</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화면 전부 — 다 깔면 한 장도 안 보입니다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작업하는 사진 — 밤새운 책상은 필요 없습니다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긴 글 — 읽을 사람이 없습니다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장식 — 패턴과 그림자는 자리만 먹습니다</a:t>
            </a:r>
            <a:endParaRPr lang="en-US" sz="1200" dirty="0"/>
          </a:p>
        </p:txBody>
      </p:sp>
      <p:sp>
        <p:nvSpPr>
          <p:cNvPr id="17" name="Shape 15"/>
          <p:cNvSpPr/>
          <p:nvPr/>
        </p:nvSpPr>
        <p:spPr>
          <a:xfrm>
            <a:off x="640080" y="6291072"/>
            <a:ext cx="10911535" cy="7315"/>
          </a:xfrm>
          <a:prstGeom prst="rect">
            <a:avLst/>
          </a:prstGeom>
          <a:solidFill>
            <a:srgbClr val="DCDCDC"/>
          </a:solidFill>
          <a:ln w="12700">
            <a:solidFill>
              <a:srgbClr val="DCDCDC"/>
            </a:solidFill>
            <a:prstDash val="solid"/>
          </a:ln>
        </p:spPr>
      </p:sp>
      <p:sp>
        <p:nvSpPr>
          <p:cNvPr id="18" name="Text 16"/>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10주차 패널 레이아웃 — 그리드를 세우고 올린다</a:t>
            </a:r>
            <a:endParaRPr lang="en-US" sz="850" dirty="0"/>
          </a:p>
        </p:txBody>
      </p:sp>
      <p:sp>
        <p:nvSpPr>
          <p:cNvPr id="19" name="Text 17"/>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10</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WORKSHOP</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실습 · 썸네일 세 안</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30분. 손으로 그립니다. 노트북은 닫습니다.</a:t>
            </a:r>
            <a:endParaRPr lang="en-US" sz="1150" dirty="0"/>
          </a:p>
        </p:txBody>
      </p:sp>
      <p:sp>
        <p:nvSpPr>
          <p:cNvPr id="9" name="Shape 7"/>
          <p:cNvSpPr/>
          <p:nvPr/>
        </p:nvSpPr>
        <p:spPr>
          <a:xfrm>
            <a:off x="640080" y="1719072"/>
            <a:ext cx="10911535" cy="777240"/>
          </a:xfrm>
          <a:prstGeom prst="rect">
            <a:avLst/>
          </a:prstGeom>
          <a:solidFill>
            <a:srgbClr val="FFFFFF"/>
          </a:solidFill>
          <a:ln w="12700">
            <a:solidFill>
              <a:srgbClr val="DCDCDC"/>
            </a:solidFill>
            <a:prstDash val="solid"/>
          </a:ln>
        </p:spPr>
      </p:sp>
      <p:sp>
        <p:nvSpPr>
          <p:cNvPr id="10" name="Text 8"/>
          <p:cNvSpPr/>
          <p:nvPr/>
        </p:nvSpPr>
        <p:spPr>
          <a:xfrm>
            <a:off x="1097280" y="1810512"/>
            <a:ext cx="3291840" cy="59436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A4를 셋으로 나눈다</a:t>
            </a:r>
            <a:endParaRPr lang="en-US" sz="1450" dirty="0"/>
          </a:p>
        </p:txBody>
      </p:sp>
      <p:sp>
        <p:nvSpPr>
          <p:cNvPr id="11" name="Text 9"/>
          <p:cNvSpPr/>
          <p:nvPr/>
        </p:nvSpPr>
        <p:spPr>
          <a:xfrm>
            <a:off x="4480560" y="1810512"/>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한 칸이 한 안입니다. 세로로 긴 패널 틀을 그립니다.</a:t>
            </a:r>
            <a:endParaRPr lang="en-US" sz="1150" dirty="0"/>
          </a:p>
        </p:txBody>
      </p:sp>
      <p:sp>
        <p:nvSpPr>
          <p:cNvPr id="12" name="Shape 10"/>
          <p:cNvSpPr/>
          <p:nvPr/>
        </p:nvSpPr>
        <p:spPr>
          <a:xfrm>
            <a:off x="640080" y="2642616"/>
            <a:ext cx="10911535" cy="777240"/>
          </a:xfrm>
          <a:prstGeom prst="rect">
            <a:avLst/>
          </a:prstGeom>
          <a:solidFill>
            <a:srgbClr val="FFFFFF"/>
          </a:solidFill>
          <a:ln w="12700">
            <a:solidFill>
              <a:srgbClr val="DCDCDC"/>
            </a:solidFill>
            <a:prstDash val="solid"/>
          </a:ln>
        </p:spPr>
      </p:sp>
      <p:sp>
        <p:nvSpPr>
          <p:cNvPr id="13" name="Text 11"/>
          <p:cNvSpPr/>
          <p:nvPr/>
        </p:nvSpPr>
        <p:spPr>
          <a:xfrm>
            <a:off x="1097280" y="2734056"/>
            <a:ext cx="3291840" cy="59436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마진과 열을 긋는다</a:t>
            </a:r>
            <a:endParaRPr lang="en-US" sz="1450" dirty="0"/>
          </a:p>
        </p:txBody>
      </p:sp>
      <p:sp>
        <p:nvSpPr>
          <p:cNvPr id="14" name="Text 12"/>
          <p:cNvSpPr/>
          <p:nvPr/>
        </p:nvSpPr>
        <p:spPr>
          <a:xfrm>
            <a:off x="4480560" y="2734056"/>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내용을 넣기 전에 틀부터 그립니다. 손으로도 순서는 같습니다.</a:t>
            </a:r>
            <a:endParaRPr lang="en-US" sz="1150" dirty="0"/>
          </a:p>
        </p:txBody>
      </p:sp>
      <p:sp>
        <p:nvSpPr>
          <p:cNvPr id="15" name="Shape 13"/>
          <p:cNvSpPr/>
          <p:nvPr/>
        </p:nvSpPr>
        <p:spPr>
          <a:xfrm>
            <a:off x="640080" y="3566160"/>
            <a:ext cx="10911535" cy="777240"/>
          </a:xfrm>
          <a:prstGeom prst="rect">
            <a:avLst/>
          </a:prstGeom>
          <a:solidFill>
            <a:srgbClr val="FFFFFF"/>
          </a:solidFill>
          <a:ln w="12700">
            <a:solidFill>
              <a:srgbClr val="DCDCDC"/>
            </a:solidFill>
            <a:prstDash val="solid"/>
          </a:ln>
        </p:spPr>
      </p:sp>
      <p:sp>
        <p:nvSpPr>
          <p:cNvPr id="16" name="Text 14"/>
          <p:cNvSpPr/>
          <p:nvPr/>
        </p:nvSpPr>
        <p:spPr>
          <a:xfrm>
            <a:off x="1097280" y="3657600"/>
            <a:ext cx="3291840" cy="594360"/>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큰 덩어리만 네모로</a:t>
            </a:r>
            <a:endParaRPr lang="en-US" sz="1450" dirty="0"/>
          </a:p>
        </p:txBody>
      </p:sp>
      <p:sp>
        <p:nvSpPr>
          <p:cNvPr id="17" name="Text 15"/>
          <p:cNvSpPr/>
          <p:nvPr/>
        </p:nvSpPr>
        <p:spPr>
          <a:xfrm>
            <a:off x="4480560" y="3657600"/>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글은 쓰지 않습니다. 네모 다섯이나 여섯이면 됩니다. 세 안을 서로 다르게 그립니다.</a:t>
            </a:r>
            <a:endParaRPr lang="en-US" sz="1150" dirty="0"/>
          </a:p>
        </p:txBody>
      </p:sp>
      <p:sp>
        <p:nvSpPr>
          <p:cNvPr id="18" name="Shape 16"/>
          <p:cNvSpPr/>
          <p:nvPr/>
        </p:nvSpPr>
        <p:spPr>
          <a:xfrm>
            <a:off x="640080" y="4489704"/>
            <a:ext cx="10911535" cy="777240"/>
          </a:xfrm>
          <a:prstGeom prst="rect">
            <a:avLst/>
          </a:prstGeom>
          <a:solidFill>
            <a:srgbClr val="111111"/>
          </a:solidFill>
          <a:ln w="12700">
            <a:solidFill>
              <a:srgbClr val="111111"/>
            </a:solidFill>
            <a:prstDash val="solid"/>
          </a:ln>
        </p:spPr>
      </p:sp>
      <p:sp>
        <p:nvSpPr>
          <p:cNvPr id="19" name="Text 17"/>
          <p:cNvSpPr/>
          <p:nvPr/>
        </p:nvSpPr>
        <p:spPr>
          <a:xfrm>
            <a:off x="1097280" y="4581144"/>
            <a:ext cx="3291840" cy="594360"/>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팔을 뻗고 셋을 본다</a:t>
            </a:r>
            <a:endParaRPr lang="en-US" sz="1450" dirty="0"/>
          </a:p>
        </p:txBody>
      </p:sp>
      <p:sp>
        <p:nvSpPr>
          <p:cNvPr id="20" name="Text 18"/>
          <p:cNvSpPr/>
          <p:nvPr/>
        </p:nvSpPr>
        <p:spPr>
          <a:xfrm>
            <a:off x="4480560" y="4581144"/>
            <a:ext cx="6705295" cy="594360"/>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멀리서 봅니다. 주인공이 제일 분명한 것을 고릅니다.</a:t>
            </a:r>
            <a:endParaRPr lang="en-US" sz="1150" dirty="0"/>
          </a:p>
        </p:txBody>
      </p:sp>
      <p:sp>
        <p:nvSpPr>
          <p:cNvPr id="21" name="Shape 19"/>
          <p:cNvSpPr/>
          <p:nvPr/>
        </p:nvSpPr>
        <p:spPr>
          <a:xfrm>
            <a:off x="640080" y="5577840"/>
            <a:ext cx="10911535" cy="7315"/>
          </a:xfrm>
          <a:prstGeom prst="rect">
            <a:avLst/>
          </a:prstGeom>
          <a:solidFill>
            <a:srgbClr val="111111"/>
          </a:solidFill>
          <a:ln w="12700">
            <a:solidFill>
              <a:srgbClr val="111111"/>
            </a:solidFill>
            <a:prstDash val="solid"/>
          </a:ln>
        </p:spPr>
      </p:sp>
      <p:sp>
        <p:nvSpPr>
          <p:cNvPr id="22" name="Text 20"/>
          <p:cNvSpPr/>
          <p:nvPr/>
        </p:nvSpPr>
        <p:spPr>
          <a:xfrm>
            <a:off x="640080" y="5687568"/>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세 안을 다 못 그려도 두 안까지는 그립니다. 하나만 그리면 고를 수가 없습니다.</a:t>
            </a:r>
            <a:endParaRPr lang="en-US" sz="1300" dirty="0"/>
          </a:p>
        </p:txBody>
      </p:sp>
      <p:sp>
        <p:nvSpPr>
          <p:cNvPr id="23" name="Shape 21"/>
          <p:cNvSpPr/>
          <p:nvPr/>
        </p:nvSpPr>
        <p:spPr>
          <a:xfrm>
            <a:off x="640080" y="6291072"/>
            <a:ext cx="10911535" cy="7315"/>
          </a:xfrm>
          <a:prstGeom prst="rect">
            <a:avLst/>
          </a:prstGeom>
          <a:solidFill>
            <a:srgbClr val="DCDCDC"/>
          </a:solidFill>
          <a:ln w="12700">
            <a:solidFill>
              <a:srgbClr val="DCDCDC"/>
            </a:solidFill>
            <a:prstDash val="solid"/>
          </a:ln>
        </p:spPr>
      </p:sp>
      <p:sp>
        <p:nvSpPr>
          <p:cNvPr id="24" name="Text 22"/>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10주차 패널 레이아웃 — 그리드를 세우고 올린다</a:t>
            </a:r>
            <a:endParaRPr lang="en-US" sz="850" dirty="0"/>
          </a:p>
        </p:txBody>
      </p:sp>
      <p:sp>
        <p:nvSpPr>
          <p:cNvPr id="25" name="Text 23"/>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10</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CHECK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오늘 확인하고 가는 것</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여덟 줄을 보고 가십시오.</a:t>
            </a:r>
            <a:endParaRPr lang="en-US" sz="1150" dirty="0"/>
          </a:p>
        </p:txBody>
      </p:sp>
      <p:sp>
        <p:nvSpPr>
          <p:cNvPr id="9" name="Shape 7"/>
          <p:cNvSpPr/>
          <p:nvPr/>
        </p:nvSpPr>
        <p:spPr>
          <a:xfrm>
            <a:off x="640080" y="1755648"/>
            <a:ext cx="5254600" cy="585216"/>
          </a:xfrm>
          <a:prstGeom prst="rect">
            <a:avLst/>
          </a:prstGeom>
          <a:solidFill>
            <a:srgbClr val="F2F2F2"/>
          </a:solidFill>
          <a:ln w="12700">
            <a:solidFill>
              <a:srgbClr val="F2F2F2"/>
            </a:solidFill>
            <a:prstDash val="solid"/>
          </a:ln>
        </p:spPr>
      </p:sp>
      <p:sp>
        <p:nvSpPr>
          <p:cNvPr id="10" name="Shape 8"/>
          <p:cNvSpPr/>
          <p:nvPr/>
        </p:nvSpPr>
        <p:spPr>
          <a:xfrm>
            <a:off x="914400" y="1892808"/>
            <a:ext cx="310896" cy="310896"/>
          </a:xfrm>
          <a:prstGeom prst="ellipse">
            <a:avLst/>
          </a:prstGeom>
          <a:solidFill>
            <a:srgbClr val="F2F2F2"/>
          </a:solidFill>
          <a:ln w="12700">
            <a:solidFill>
              <a:srgbClr val="111111"/>
            </a:solidFill>
            <a:prstDash val="solid"/>
          </a:ln>
        </p:spPr>
      </p:sp>
      <p:sp>
        <p:nvSpPr>
          <p:cNvPr id="11" name="Text 9"/>
          <p:cNvSpPr/>
          <p:nvPr/>
        </p:nvSpPr>
        <p:spPr>
          <a:xfrm>
            <a:off x="914400"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01</a:t>
            </a:r>
            <a:endParaRPr lang="en-US" sz="900" dirty="0"/>
          </a:p>
        </p:txBody>
      </p:sp>
      <p:sp>
        <p:nvSpPr>
          <p:cNvPr id="12" name="Text 10"/>
          <p:cNvSpPr/>
          <p:nvPr/>
        </p:nvSpPr>
        <p:spPr>
          <a:xfrm>
            <a:off x="1353312"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재단 여백 3mm와 마진 40mm를 그렸다</a:t>
            </a:r>
            <a:endParaRPr lang="en-US" sz="1200" dirty="0"/>
          </a:p>
        </p:txBody>
      </p:sp>
      <p:sp>
        <p:nvSpPr>
          <p:cNvPr id="13" name="Shape 11"/>
          <p:cNvSpPr/>
          <p:nvPr/>
        </p:nvSpPr>
        <p:spPr>
          <a:xfrm>
            <a:off x="640080" y="2487168"/>
            <a:ext cx="5254600" cy="585216"/>
          </a:xfrm>
          <a:prstGeom prst="rect">
            <a:avLst/>
          </a:prstGeom>
          <a:solidFill>
            <a:srgbClr val="F2F2F2"/>
          </a:solidFill>
          <a:ln w="12700">
            <a:solidFill>
              <a:srgbClr val="F2F2F2"/>
            </a:solidFill>
            <a:prstDash val="solid"/>
          </a:ln>
        </p:spPr>
      </p:sp>
      <p:sp>
        <p:nvSpPr>
          <p:cNvPr id="14" name="Shape 12"/>
          <p:cNvSpPr/>
          <p:nvPr/>
        </p:nvSpPr>
        <p:spPr>
          <a:xfrm>
            <a:off x="914400" y="2624328"/>
            <a:ext cx="310896" cy="310896"/>
          </a:xfrm>
          <a:prstGeom prst="ellipse">
            <a:avLst/>
          </a:prstGeom>
          <a:solidFill>
            <a:srgbClr val="F2F2F2"/>
          </a:solidFill>
          <a:ln w="12700">
            <a:solidFill>
              <a:srgbClr val="111111"/>
            </a:solidFill>
            <a:prstDash val="solid"/>
          </a:ln>
        </p:spPr>
      </p:sp>
      <p:sp>
        <p:nvSpPr>
          <p:cNvPr id="15" name="Text 13"/>
          <p:cNvSpPr/>
          <p:nvPr/>
        </p:nvSpPr>
        <p:spPr>
          <a:xfrm>
            <a:off x="914400"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02</a:t>
            </a:r>
            <a:endParaRPr lang="en-US" sz="900" dirty="0"/>
          </a:p>
        </p:txBody>
      </p:sp>
      <p:sp>
        <p:nvSpPr>
          <p:cNvPr id="16" name="Text 14"/>
          <p:cNvSpPr/>
          <p:nvPr/>
        </p:nvSpPr>
        <p:spPr>
          <a:xfrm>
            <a:off x="1353312"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열 개수와 단 간격을 정했다</a:t>
            </a:r>
            <a:endParaRPr lang="en-US" sz="1200" dirty="0"/>
          </a:p>
        </p:txBody>
      </p:sp>
      <p:sp>
        <p:nvSpPr>
          <p:cNvPr id="17" name="Shape 15"/>
          <p:cNvSpPr/>
          <p:nvPr/>
        </p:nvSpPr>
        <p:spPr>
          <a:xfrm>
            <a:off x="640080" y="3218688"/>
            <a:ext cx="5254600" cy="585216"/>
          </a:xfrm>
          <a:prstGeom prst="rect">
            <a:avLst/>
          </a:prstGeom>
          <a:solidFill>
            <a:srgbClr val="F2F2F2"/>
          </a:solidFill>
          <a:ln w="12700">
            <a:solidFill>
              <a:srgbClr val="F2F2F2"/>
            </a:solidFill>
            <a:prstDash val="solid"/>
          </a:ln>
        </p:spPr>
      </p:sp>
      <p:sp>
        <p:nvSpPr>
          <p:cNvPr id="18" name="Shape 16"/>
          <p:cNvSpPr/>
          <p:nvPr/>
        </p:nvSpPr>
        <p:spPr>
          <a:xfrm>
            <a:off x="914400" y="3355848"/>
            <a:ext cx="310896" cy="310896"/>
          </a:xfrm>
          <a:prstGeom prst="ellipse">
            <a:avLst/>
          </a:prstGeom>
          <a:solidFill>
            <a:srgbClr val="F2F2F2"/>
          </a:solidFill>
          <a:ln w="12700">
            <a:solidFill>
              <a:srgbClr val="111111"/>
            </a:solidFill>
            <a:prstDash val="solid"/>
          </a:ln>
        </p:spPr>
      </p:sp>
      <p:sp>
        <p:nvSpPr>
          <p:cNvPr id="19" name="Text 17"/>
          <p:cNvSpPr/>
          <p:nvPr/>
        </p:nvSpPr>
        <p:spPr>
          <a:xfrm>
            <a:off x="914400"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03</a:t>
            </a:r>
            <a:endParaRPr lang="en-US" sz="900" dirty="0"/>
          </a:p>
        </p:txBody>
      </p:sp>
      <p:sp>
        <p:nvSpPr>
          <p:cNvPr id="20" name="Text 18"/>
          <p:cNvSpPr/>
          <p:nvPr/>
        </p:nvSpPr>
        <p:spPr>
          <a:xfrm>
            <a:off x="1353312"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석 장이 같은 그리드를 쓴다</a:t>
            </a:r>
            <a:endParaRPr lang="en-US" sz="1200" dirty="0"/>
          </a:p>
        </p:txBody>
      </p:sp>
      <p:sp>
        <p:nvSpPr>
          <p:cNvPr id="21" name="Shape 19"/>
          <p:cNvSpPr/>
          <p:nvPr/>
        </p:nvSpPr>
        <p:spPr>
          <a:xfrm>
            <a:off x="640080" y="3950208"/>
            <a:ext cx="5254600" cy="585216"/>
          </a:xfrm>
          <a:prstGeom prst="rect">
            <a:avLst/>
          </a:prstGeom>
          <a:solidFill>
            <a:srgbClr val="F2F2F2"/>
          </a:solidFill>
          <a:ln w="12700">
            <a:solidFill>
              <a:srgbClr val="F2F2F2"/>
            </a:solidFill>
            <a:prstDash val="solid"/>
          </a:ln>
        </p:spPr>
      </p:sp>
      <p:sp>
        <p:nvSpPr>
          <p:cNvPr id="22" name="Shape 20"/>
          <p:cNvSpPr/>
          <p:nvPr/>
        </p:nvSpPr>
        <p:spPr>
          <a:xfrm>
            <a:off x="914400" y="4087368"/>
            <a:ext cx="310896" cy="310896"/>
          </a:xfrm>
          <a:prstGeom prst="ellipse">
            <a:avLst/>
          </a:prstGeom>
          <a:solidFill>
            <a:srgbClr val="F2F2F2"/>
          </a:solidFill>
          <a:ln w="12700">
            <a:solidFill>
              <a:srgbClr val="111111"/>
            </a:solidFill>
            <a:prstDash val="solid"/>
          </a:ln>
        </p:spPr>
      </p:sp>
      <p:sp>
        <p:nvSpPr>
          <p:cNvPr id="23" name="Text 21"/>
          <p:cNvSpPr/>
          <p:nvPr/>
        </p:nvSpPr>
        <p:spPr>
          <a:xfrm>
            <a:off x="914400"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04</a:t>
            </a:r>
            <a:endParaRPr lang="en-US" sz="900" dirty="0"/>
          </a:p>
        </p:txBody>
      </p:sp>
      <p:sp>
        <p:nvSpPr>
          <p:cNvPr id="24" name="Text 22"/>
          <p:cNvSpPr/>
          <p:nvPr/>
        </p:nvSpPr>
        <p:spPr>
          <a:xfrm>
            <a:off x="1353312"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본문을 18pt 위로 올렸다</a:t>
            </a:r>
            <a:endParaRPr lang="en-US" sz="1200" dirty="0"/>
          </a:p>
        </p:txBody>
      </p:sp>
      <p:sp>
        <p:nvSpPr>
          <p:cNvPr id="25" name="Shape 23"/>
          <p:cNvSpPr/>
          <p:nvPr/>
        </p:nvSpPr>
        <p:spPr>
          <a:xfrm>
            <a:off x="6297016" y="1755648"/>
            <a:ext cx="5254600" cy="585216"/>
          </a:xfrm>
          <a:prstGeom prst="rect">
            <a:avLst/>
          </a:prstGeom>
          <a:solidFill>
            <a:srgbClr val="F2F2F2"/>
          </a:solidFill>
          <a:ln w="12700">
            <a:solidFill>
              <a:srgbClr val="F2F2F2"/>
            </a:solidFill>
            <a:prstDash val="solid"/>
          </a:ln>
        </p:spPr>
      </p:sp>
      <p:sp>
        <p:nvSpPr>
          <p:cNvPr id="26" name="Shape 24"/>
          <p:cNvSpPr/>
          <p:nvPr/>
        </p:nvSpPr>
        <p:spPr>
          <a:xfrm>
            <a:off x="6571336" y="1892808"/>
            <a:ext cx="310896" cy="310896"/>
          </a:xfrm>
          <a:prstGeom prst="ellipse">
            <a:avLst/>
          </a:prstGeom>
          <a:solidFill>
            <a:srgbClr val="F2F2F2"/>
          </a:solidFill>
          <a:ln w="12700">
            <a:solidFill>
              <a:srgbClr val="111111"/>
            </a:solidFill>
            <a:prstDash val="solid"/>
          </a:ln>
        </p:spPr>
      </p:sp>
      <p:sp>
        <p:nvSpPr>
          <p:cNvPr id="27" name="Text 25"/>
          <p:cNvSpPr/>
          <p:nvPr/>
        </p:nvSpPr>
        <p:spPr>
          <a:xfrm>
            <a:off x="6571336" y="18928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05</a:t>
            </a:r>
            <a:endParaRPr lang="en-US" sz="900" dirty="0"/>
          </a:p>
        </p:txBody>
      </p:sp>
      <p:sp>
        <p:nvSpPr>
          <p:cNvPr id="28" name="Text 26"/>
          <p:cNvSpPr/>
          <p:nvPr/>
        </p:nvSpPr>
        <p:spPr>
          <a:xfrm>
            <a:off x="7010248" y="175564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작품명 아래 한 줄 정의 자리를 잡았다</a:t>
            </a:r>
            <a:endParaRPr lang="en-US" sz="1200" dirty="0"/>
          </a:p>
        </p:txBody>
      </p:sp>
      <p:sp>
        <p:nvSpPr>
          <p:cNvPr id="29" name="Shape 27"/>
          <p:cNvSpPr/>
          <p:nvPr/>
        </p:nvSpPr>
        <p:spPr>
          <a:xfrm>
            <a:off x="6297016" y="2487168"/>
            <a:ext cx="5254600" cy="585216"/>
          </a:xfrm>
          <a:prstGeom prst="rect">
            <a:avLst/>
          </a:prstGeom>
          <a:solidFill>
            <a:srgbClr val="F2F2F2"/>
          </a:solidFill>
          <a:ln w="12700">
            <a:solidFill>
              <a:srgbClr val="F2F2F2"/>
            </a:solidFill>
            <a:prstDash val="solid"/>
          </a:ln>
        </p:spPr>
      </p:sp>
      <p:sp>
        <p:nvSpPr>
          <p:cNvPr id="30" name="Shape 28"/>
          <p:cNvSpPr/>
          <p:nvPr/>
        </p:nvSpPr>
        <p:spPr>
          <a:xfrm>
            <a:off x="6571336" y="2624328"/>
            <a:ext cx="310896" cy="310896"/>
          </a:xfrm>
          <a:prstGeom prst="ellipse">
            <a:avLst/>
          </a:prstGeom>
          <a:solidFill>
            <a:srgbClr val="F2F2F2"/>
          </a:solidFill>
          <a:ln w="12700">
            <a:solidFill>
              <a:srgbClr val="111111"/>
            </a:solidFill>
            <a:prstDash val="solid"/>
          </a:ln>
        </p:spPr>
      </p:sp>
      <p:sp>
        <p:nvSpPr>
          <p:cNvPr id="31" name="Text 29"/>
          <p:cNvSpPr/>
          <p:nvPr/>
        </p:nvSpPr>
        <p:spPr>
          <a:xfrm>
            <a:off x="6571336" y="26243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06</a:t>
            </a:r>
            <a:endParaRPr lang="en-US" sz="900" dirty="0"/>
          </a:p>
        </p:txBody>
      </p:sp>
      <p:sp>
        <p:nvSpPr>
          <p:cNvPr id="32" name="Text 30"/>
          <p:cNvSpPr/>
          <p:nvPr/>
        </p:nvSpPr>
        <p:spPr>
          <a:xfrm>
            <a:off x="7010248" y="248716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주인공 화면이 한 장이다</a:t>
            </a:r>
            <a:endParaRPr lang="en-US" sz="1200" dirty="0"/>
          </a:p>
        </p:txBody>
      </p:sp>
      <p:sp>
        <p:nvSpPr>
          <p:cNvPr id="33" name="Shape 31"/>
          <p:cNvSpPr/>
          <p:nvPr/>
        </p:nvSpPr>
        <p:spPr>
          <a:xfrm>
            <a:off x="6297016" y="3218688"/>
            <a:ext cx="5254600" cy="585216"/>
          </a:xfrm>
          <a:prstGeom prst="rect">
            <a:avLst/>
          </a:prstGeom>
          <a:solidFill>
            <a:srgbClr val="F2F2F2"/>
          </a:solidFill>
          <a:ln w="12700">
            <a:solidFill>
              <a:srgbClr val="F2F2F2"/>
            </a:solidFill>
            <a:prstDash val="solid"/>
          </a:ln>
        </p:spPr>
      </p:sp>
      <p:sp>
        <p:nvSpPr>
          <p:cNvPr id="34" name="Shape 32"/>
          <p:cNvSpPr/>
          <p:nvPr/>
        </p:nvSpPr>
        <p:spPr>
          <a:xfrm>
            <a:off x="6571336" y="3355848"/>
            <a:ext cx="310896" cy="310896"/>
          </a:xfrm>
          <a:prstGeom prst="ellipse">
            <a:avLst/>
          </a:prstGeom>
          <a:solidFill>
            <a:srgbClr val="F2F2F2"/>
          </a:solidFill>
          <a:ln w="12700">
            <a:solidFill>
              <a:srgbClr val="111111"/>
            </a:solidFill>
            <a:prstDash val="solid"/>
          </a:ln>
        </p:spPr>
      </p:sp>
      <p:sp>
        <p:nvSpPr>
          <p:cNvPr id="35" name="Text 33"/>
          <p:cNvSpPr/>
          <p:nvPr/>
        </p:nvSpPr>
        <p:spPr>
          <a:xfrm>
            <a:off x="6571336" y="33558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07</a:t>
            </a:r>
            <a:endParaRPr lang="en-US" sz="900" dirty="0"/>
          </a:p>
        </p:txBody>
      </p:sp>
      <p:sp>
        <p:nvSpPr>
          <p:cNvPr id="36" name="Text 34"/>
          <p:cNvSpPr/>
          <p:nvPr/>
        </p:nvSpPr>
        <p:spPr>
          <a:xfrm>
            <a:off x="7010248" y="321868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화면 옆에 캡션 들어갈 자리를 비웠다</a:t>
            </a:r>
            <a:endParaRPr lang="en-US" sz="1200" dirty="0"/>
          </a:p>
        </p:txBody>
      </p:sp>
      <p:sp>
        <p:nvSpPr>
          <p:cNvPr id="37" name="Shape 35"/>
          <p:cNvSpPr/>
          <p:nvPr/>
        </p:nvSpPr>
        <p:spPr>
          <a:xfrm>
            <a:off x="6297016" y="3950208"/>
            <a:ext cx="5254600" cy="585216"/>
          </a:xfrm>
          <a:prstGeom prst="rect">
            <a:avLst/>
          </a:prstGeom>
          <a:solidFill>
            <a:srgbClr val="F2F2F2"/>
          </a:solidFill>
          <a:ln w="12700">
            <a:solidFill>
              <a:srgbClr val="F2F2F2"/>
            </a:solidFill>
            <a:prstDash val="solid"/>
          </a:ln>
        </p:spPr>
      </p:sp>
      <p:sp>
        <p:nvSpPr>
          <p:cNvPr id="38" name="Shape 36"/>
          <p:cNvSpPr/>
          <p:nvPr/>
        </p:nvSpPr>
        <p:spPr>
          <a:xfrm>
            <a:off x="6571336" y="4087368"/>
            <a:ext cx="310896" cy="310896"/>
          </a:xfrm>
          <a:prstGeom prst="ellipse">
            <a:avLst/>
          </a:prstGeom>
          <a:solidFill>
            <a:srgbClr val="F2F2F2"/>
          </a:solidFill>
          <a:ln w="12700">
            <a:solidFill>
              <a:srgbClr val="111111"/>
            </a:solidFill>
            <a:prstDash val="solid"/>
          </a:ln>
        </p:spPr>
      </p:sp>
      <p:sp>
        <p:nvSpPr>
          <p:cNvPr id="39" name="Text 37"/>
          <p:cNvSpPr/>
          <p:nvPr/>
        </p:nvSpPr>
        <p:spPr>
          <a:xfrm>
            <a:off x="6571336" y="40873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08</a:t>
            </a:r>
            <a:endParaRPr lang="en-US" sz="900" dirty="0"/>
          </a:p>
        </p:txBody>
      </p:sp>
      <p:sp>
        <p:nvSpPr>
          <p:cNvPr id="40" name="Text 38"/>
          <p:cNvSpPr/>
          <p:nvPr/>
        </p:nvSpPr>
        <p:spPr>
          <a:xfrm>
            <a:off x="7010248" y="3950208"/>
            <a:ext cx="4267048" cy="58521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화면 목록표에서 실을 것을 골랐다</a:t>
            </a:r>
            <a:endParaRPr lang="en-US" sz="1200" dirty="0"/>
          </a:p>
        </p:txBody>
      </p:sp>
      <p:sp>
        <p:nvSpPr>
          <p:cNvPr id="41" name="Shape 39"/>
          <p:cNvSpPr/>
          <p:nvPr/>
        </p:nvSpPr>
        <p:spPr>
          <a:xfrm>
            <a:off x="640080" y="6291072"/>
            <a:ext cx="10911535" cy="7315"/>
          </a:xfrm>
          <a:prstGeom prst="rect">
            <a:avLst/>
          </a:prstGeom>
          <a:solidFill>
            <a:srgbClr val="DCDCDC"/>
          </a:solidFill>
          <a:ln w="12700">
            <a:solidFill>
              <a:srgbClr val="DCDCDC"/>
            </a:solidFill>
            <a:prstDash val="solid"/>
          </a:ln>
        </p:spPr>
      </p:sp>
      <p:sp>
        <p:nvSpPr>
          <p:cNvPr id="42" name="Text 4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10주차 패널 레이아웃 — 그리드를 세우고 올린다</a:t>
            </a:r>
            <a:endParaRPr lang="en-US" sz="850" dirty="0"/>
          </a:p>
        </p:txBody>
      </p:sp>
      <p:sp>
        <p:nvSpPr>
          <p:cNvPr id="43" name="Text 4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P.10</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패널</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10</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11주차에는 고른 안을 피그마에 옮기고 화면을 앉힙니다.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패널 레이아웃 시안 한 장</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오늘 고른 안을 A0 비율로 옮깁니다. 그리드까지만 그리고 내용은 네모로 둡니다. 재단 여백 3mm · 마진 40mm · 열과 단 간격이 보여야 합니다.</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실을 것 목록</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중간 보고서에 낸 화면 목록표에서 패널에 걸 것에 표시합니다. 새로 고르는 것이 아니라 이미 있는 표에 칸 하나를 채우는 일입니다.</a:t>
            </a:r>
            <a:endParaRPr lang="en-US" sz="1100" dirty="0"/>
          </a:p>
        </p:txBody>
      </p:sp>
      <p:sp>
        <p:nvSpPr>
          <p:cNvPr id="19" name="Shape 17"/>
          <p:cNvSpPr/>
          <p:nvPr/>
        </p:nvSpPr>
        <p:spPr>
          <a:xfrm>
            <a:off x="640080" y="3767328"/>
            <a:ext cx="6309360" cy="896112"/>
          </a:xfrm>
          <a:prstGeom prst="rect">
            <a:avLst/>
          </a:prstGeom>
          <a:solidFill>
            <a:srgbClr val="FFFFFF"/>
          </a:solidFill>
          <a:ln w="12700">
            <a:solidFill>
              <a:srgbClr val="DCDCDC"/>
            </a:solidFill>
            <a:prstDash val="solid"/>
          </a:ln>
        </p:spPr>
      </p:sp>
      <p:sp>
        <p:nvSpPr>
          <p:cNvPr id="20" name="Shape 18"/>
          <p:cNvSpPr/>
          <p:nvPr/>
        </p:nvSpPr>
        <p:spPr>
          <a:xfrm>
            <a:off x="969264" y="4041648"/>
            <a:ext cx="329184" cy="329184"/>
          </a:xfrm>
          <a:prstGeom prst="ellipse">
            <a:avLst/>
          </a:prstGeom>
          <a:solidFill>
            <a:srgbClr val="111111"/>
          </a:solidFill>
          <a:ln w="12700">
            <a:solidFill>
              <a:srgbClr val="111111"/>
            </a:solidFill>
            <a:prstDash val="solid"/>
          </a:ln>
        </p:spPr>
      </p:sp>
      <p:sp>
        <p:nvSpPr>
          <p:cNvPr id="21" name="Text 19"/>
          <p:cNvSpPr/>
          <p:nvPr/>
        </p:nvSpPr>
        <p:spPr>
          <a:xfrm>
            <a:off x="969264"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3</a:t>
            </a:r>
            <a:endParaRPr lang="en-US" sz="1100" dirty="0"/>
          </a:p>
        </p:txBody>
      </p:sp>
      <p:sp>
        <p:nvSpPr>
          <p:cNvPr id="22" name="Text 20"/>
          <p:cNvSpPr/>
          <p:nvPr/>
        </p:nvSpPr>
        <p:spPr>
          <a:xfrm>
            <a:off x="1426464" y="3858768"/>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한 줄 정의</a:t>
            </a:r>
            <a:endParaRPr lang="en-US" sz="1400" dirty="0"/>
          </a:p>
        </p:txBody>
      </p:sp>
      <p:sp>
        <p:nvSpPr>
          <p:cNvPr id="23" name="Text 21"/>
          <p:cNvSpPr/>
          <p:nvPr/>
        </p:nvSpPr>
        <p:spPr>
          <a:xfrm>
            <a:off x="1426464" y="4169664"/>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작품명 아래에 들어갈 한 문장입니다. 수식 없이 명사로 끝냅니다. 무엇을 만들었는지만 적습니다.</a:t>
            </a:r>
            <a:endParaRPr lang="en-US" sz="1100" dirty="0"/>
          </a:p>
        </p:txBody>
      </p:sp>
      <p:sp>
        <p:nvSpPr>
          <p:cNvPr id="24" name="Shape 22"/>
          <p:cNvSpPr/>
          <p:nvPr/>
        </p:nvSpPr>
        <p:spPr>
          <a:xfrm>
            <a:off x="640080" y="4809744"/>
            <a:ext cx="6309360" cy="7315"/>
          </a:xfrm>
          <a:prstGeom prst="rect">
            <a:avLst/>
          </a:prstGeom>
          <a:solidFill>
            <a:srgbClr val="111111"/>
          </a:solidFill>
          <a:ln w="12700">
            <a:solidFill>
              <a:srgbClr val="111111"/>
            </a:solidFill>
            <a:prstDash val="solid"/>
          </a:ln>
        </p:spPr>
      </p:sp>
      <p:sp>
        <p:nvSpPr>
          <p:cNvPr id="25" name="Text 23"/>
          <p:cNvSpPr/>
          <p:nvPr/>
        </p:nvSpPr>
        <p:spPr>
          <a:xfrm>
            <a:off x="640080" y="4901184"/>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11주차 수업 시작 전까지 · 공유 폴더 업로드</a:t>
            </a:r>
            <a:endParaRPr lang="en-US" sz="1200" dirty="0"/>
          </a:p>
        </p:txBody>
      </p:sp>
      <p:sp>
        <p:nvSpPr>
          <p:cNvPr id="26" name="Shape 24"/>
          <p:cNvSpPr/>
          <p:nvPr/>
        </p:nvSpPr>
        <p:spPr>
          <a:xfrm>
            <a:off x="7351776" y="1719072"/>
            <a:ext cx="4199839" cy="3803904"/>
          </a:xfrm>
          <a:prstGeom prst="rect">
            <a:avLst/>
          </a:prstGeom>
          <a:solidFill>
            <a:srgbClr val="111111"/>
          </a:solidFill>
          <a:ln w="12700">
            <a:solidFill>
              <a:srgbClr val="111111"/>
            </a:solidFill>
            <a:prstDash val="solid"/>
          </a:ln>
        </p:spPr>
      </p:sp>
      <p:sp>
        <p:nvSpPr>
          <p:cNvPr id="27" name="Text 25"/>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28" name="Text 26"/>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11주차</a:t>
            </a:r>
            <a:endParaRPr lang="en-US" sz="2600" dirty="0"/>
          </a:p>
        </p:txBody>
      </p:sp>
      <p:sp>
        <p:nvSpPr>
          <p:cNvPr id="29" name="Text 27"/>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SemiBold" pitchFamily="34" charset="0"/>
                <a:ea typeface="Pretendard SemiBold" pitchFamily="34" charset="-122"/>
                <a:cs typeface="Pretendard SemiBold" pitchFamily="34" charset="-120"/>
              </a:rPr>
              <a:t>패널에 화면 앉히기</a:t>
            </a:r>
            <a:endParaRPr lang="en-US" sz="1700" dirty="0"/>
          </a:p>
        </p:txBody>
      </p:sp>
      <p:sp>
        <p:nvSpPr>
          <p:cNvPr id="30" name="Shape 28"/>
          <p:cNvSpPr/>
          <p:nvPr/>
        </p:nvSpPr>
        <p:spPr>
          <a:xfrm>
            <a:off x="7735824" y="3346704"/>
            <a:ext cx="3431743" cy="7315"/>
          </a:xfrm>
          <a:prstGeom prst="rect">
            <a:avLst/>
          </a:prstGeom>
          <a:solidFill>
            <a:srgbClr val="333333"/>
          </a:solidFill>
          <a:ln w="12700">
            <a:solidFill>
              <a:srgbClr val="333333"/>
            </a:solidFill>
            <a:prstDash val="solid"/>
          </a:ln>
        </p:spPr>
      </p:sp>
      <p:sp>
        <p:nvSpPr>
          <p:cNvPr id="31" name="Text 29"/>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그리드 위에 화면 올리기</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주인공 화면 크기 정하기</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캡션 달고 지시선 긋기</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석 장을 한 세트로 묶기</a:t>
            </a:r>
            <a:endParaRPr lang="en-US" sz="1150" dirty="0"/>
          </a:p>
        </p:txBody>
      </p:sp>
      <p:sp>
        <p:nvSpPr>
          <p:cNvPr id="32" name="Shape 30"/>
          <p:cNvSpPr/>
          <p:nvPr/>
        </p:nvSpPr>
        <p:spPr>
          <a:xfrm>
            <a:off x="7735824" y="4700016"/>
            <a:ext cx="3431743" cy="7315"/>
          </a:xfrm>
          <a:prstGeom prst="rect">
            <a:avLst/>
          </a:prstGeom>
          <a:solidFill>
            <a:srgbClr val="333333"/>
          </a:solidFill>
          <a:ln w="12700">
            <a:solidFill>
              <a:srgbClr val="333333"/>
            </a:solidFill>
            <a:prstDash val="solid"/>
          </a:ln>
        </p:spPr>
      </p:sp>
      <p:sp>
        <p:nvSpPr>
          <p:cNvPr id="33" name="Text 31"/>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34" name="Text 32"/>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레이아웃 시안 한 장 · 실을 것 목록 · 한 줄 정의</a:t>
            </a:r>
            <a:endParaRPr lang="en-US" sz="110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10주차 패널 레이아웃 — 그리드를 세우고 올린다</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P.11</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서비스디자인 · 10주차 패널 레이아웃 — 그리드를 세우고 올린다</dc:title>
  <dc:subject>원광대학교 2026-2 · 학부 3학년 · 주 3시간 × 15주 · 1학기 기획을 졸업 전시 패널 데이터로</dc:subject>
  <dc:creator>MIN.D</dc:creator>
  <cp:lastModifiedBy>MIN.D</cp:lastModifiedBy>
  <cp:revision>1</cp:revision>
  <dcterms:created xsi:type="dcterms:W3CDTF">2026-10-21T01:18:33Z</dcterms:created>
  <dcterms:modified xsi:type="dcterms:W3CDTF">2026-10-21T01:18:33Z</dcterms:modified>
</cp:coreProperties>
</file>