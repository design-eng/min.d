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서비스디자인 다섯 번째 시간입니다.
지난주에 헤더와 리스트와 카드를 만들고 색과 글자를 토큰으로 묶었습니다. 과제로 디자인 네 장을 받았고요.
오늘 먼저 그 네 장을 함께 봅니다.
그다음은 남은 것들입니다. 아이콘, 입력 요소, 버튼. 그리고 화면이 비어 있을 때와 기다릴 때와 잘못됐을 때 무엇을 보여줄지.
마지막 상태 화면이 오늘의 진짜 주제입니다. 대부분의 학생이 잘 된 경우만 그리고 끝냅니다. 그런데 실제 서비스에서 사용자가 만나는 화면의 상당수가 비어 있거나 기다리거나 잘못된 상태예요. 그걸 안 그려 놓으면 개발 단계에서 아무 말 없이 빈 화면이 나갑니다.
오늘이 끝나면 기준 구간이 끝납니다. 다음 주부터는 이 시스템으로 화면을 늘려 가는 일만 남습니다.
[운영 메모]
상태 화면(빈 화면 · 로딩 · 오류)이 오늘의 중심이다. 학생들은 이것을 '나중에 할 일'로 미루는데, 실제로는 이걸 안 그리면 화면 수가 절반만 나온 것이다. 컨펌 때 지난주 4장에 상태가 하나도 없다는 점을 먼저 짚어 두면 오늘 강의가 잘 들어간다.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남은 요소들입니다. 아이콘, 입력, 버튼.
방식은 지난주와 똑같아요. 근거에서 값을 찾고, 값에 이름을 붙이고, 화면에서는 꺼내 씁니다. 세 번째 반복이니 이제 손에 익으실 겁니다.
[운영 메모]
35분 구간. 같은 방식의 세 번째 반복이므로 말로 하는 설명은 빠르게 넘기고 도판 두 장에서 시간을 쓸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도판을 보시겠습니다.
왼쪽이 입력 요소입니다. 높이 48, 좌우 패딩 16, 모서리 8, 글자 17. 지난주에 정한 값들과 같은 목록에서 나왔습니다.
상태가 다섯입니다. 기본, 포커스, 입력됨, 오류, 비활성.
여기서 중요한 건 이걸 선 굵기로 나눴다는 점이에요. 기본 1, 입력됨 1, 오류 1.5, 포커스 2.
색으로만 나누면 안 됩니다. 색을 구별하지 못하는 사람에게는 다섯 상태가 전부 같은 화면이 됩니다. 남자 스무 명 중 한 명꼴이에요. 여러분 반에도 있을 수 있습니다.
오류일 때 메시지가 아래에 붙습니다. 이것도 자리를 미리 잡아 두세요. 메시지가 나타나면서 아래 요소들이 밀리면 사용자가 누르려던 버튼이 움직입니다.
오른쪽이 버튼입니다. 세 등급이에요. 기본은 면을 채우고, 보조는 선만, 텍스트 버튼은 면도 선도 없습니다.
한 화면에 기본 버튼은 하나입니다. 둘이면 둘 다 기본이 아니게 돼요.
그리고 터치 영역. 눈에 보이는 크기와 별개로 최소 44를 지킵니다. 텍스트 버튼이 특히 위험합니다. 글자만 보이니까 작게 만들기 쉬운데, 누를 수 있는 영역은 44여야 합니다.
[운영 메모]
색각 이상 이야기는 실제 수치(남성 약 5%)와 함께 말하면 학생들이 진지하게 받아들인다. 오류 메시지 자리를 미리 잡는 것은 개발 단계에서 반드시 문제가 되는 지점이다.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아이콘도 네 가지만 정하면 됩니다.
첫째, 크기. 24를 기본으로 잡으세요. 작은 자리에는 20, 큰 자리에는 32. 세 개면 충분합니다.
둘째, 선 굵기. 2로 통일하세요. 아이콘마다 굵기가 다르면 한 벌로 안 보입니다. 무료 아이콘을 여기저기서 가져다 쓰면 반드시 이 문제가 생깁니다.
셋째, 채움이냐 선이냐. 둘을 섞지 마세요. 다만 예외가 하나 있는데, 선택된 상태를 채움으로 표시하는 건 괜찮습니다. 지난주 GNB 탭이 그랬지요.
넷째, 터치 영역. 아이콘이 24여도 누를 수 있는 영역은 44입니다. 아이콘 주위에 투명한 여백을 두는 겁니다.
그리고 아이콘은 직접 그리지 마세요. 시간이 아깝습니다. 무료 아이콘 세트를 하나 골라서 그 안에서만 쓰시면 됩니다. 한 세트 안에서 고르면 굵기와 모양이 자동으로 맞습니다.
[운영 메모]
여기저기서 아이콘을 긁어 오는 학생이 매년 나온다. 세트를 하나 정하게 하고 이름을 규격 표에 적게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다음은 세그먼트 탭입니다. 여러분 화면에 거의 다 들어갈 겁니다.
두 가지가 있어요. 항목 수가 어느 쪽을 쓸지 정합니다.
왼쪽이 채움형입니다. 같은 목록을 다른 기준으로 거를 때 씁니다. 전체, 진행 중, 끝남. 이런 식이지요.
항목은 두세 개, 많아야 네 개입니다. 등분해서 화면 폭을 채웁니다.
수치를 보세요. 바깥 통이 44, 안쪽 칸이 36, 사이 여백이 4입니다. 44는 지난주부터 계속 나오는 값이지요. 터치 최소 크기입니다.
선택된 것만 면을 채웁니다. 나머지는 배경과 같은 색이고요.
다섯 개가 넘으면 채움형을 쓰지 마세요. 칸이 좁아져서 글자가 줄어들고, 결국 무엇이 선택됐는지 안 보입니다.
오른쪽이 밑줄형입니다. 항목이 많을 때 씁니다. 추천, 신상, 인기, 세일. 성격이 같은 목록들이에요.
높이 48, 밑줄 굵기 2. 밑줄은 라벨 폭에 맞춥니다.
항목이 화면을 넘으면 가로로 밀리게 하는데, 한 가지 요령이 있습니다. 다음 항목이 반쯤 보이게 두세요. 딱 맞게 끝나면 사용자는 그게 전부인 줄 압니다.
둘 다 공통점이 있습니다. 화면 안의 내용만 바뀐다는 것. 화면 전체가 바뀌면 그건 탭이 아니라 다른 화면으로 가는 겁니다.
[운영 메모]
학생들이 채움형에 항목을 다섯 개 이상 넣는 일이 매년 있다. '다섯 개 넘으면 밑줄형'을 규칙으로 못 박을 것. 밑줄이 반쯤 보이게 두는 요령은 실제 앱을 열어 보여 주면 바로 이해한다.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여기서 한 번 정리하고 가겠습니다. 하단 GNB 와 세그먼트 탭이 생김새가 비슷해서 섞어 쓰기 쉽습니다.
하는 일이 다릅니다.
GNB 는 서비스의 큰 영역을 오갑니다. 홈에서 검색으로, 검색에서 내 정보로. 화면 전체가 바뀌지요.
세그먼트 탭은 같은 목록을 다른 기준으로 거릅니다. 화면 안의 내용만 바뀝니다.
개수도 다릅니다. GNB 는 3에서 5개고 학기 내내 안 바뀝니다. 세그먼트 탭은 2에서 4개고 화면마다 다를 수 있어요.
자리도 다르죠. GNB 는 맨 아래에 늘 보이고, 세그먼트 탭은 헤더 아래에 그 화면에만 있습니다.
마지막 줄이 중요합니다. 되돌아왔을 때. GNB 로 다른 영역 갔다 오면 아까 보던 상태가 남아 있어야 합니다. 세그먼트 탭은 화면을 떠나면 처음 기준으로 돌아가도 괜찮고요.
세그먼트 탭으로 큰 영역을 오가게 만들면 사용자가 길을 잃습니다. 매년 한두 분이 이렇게 만들어 오세요.
[운영 메모]
3주차 GNB 와 오늘 세그먼트 탭을 이어 주는 장표다. 학생 화면에서 실제로 잘못 쓴 사례가 보이면 컨펌 때 표시해 두었다가 여기서 꺼낼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쉬셨으면 이어가겠습니다.
오늘의 중심입니다.
여러분이 지금까지 그린 화면은 전부 잘 된 경우입니다. 목록에 항목이 열 개 있고, 이미지가 다 불러와져 있고, 아무 문제가 없는 상태요.
실제로는 그렇지 않습니다. 처음 들어온 사용자는 목록이 비어 있고, 네트워크가 느리면 기다려야 하고, 뭔가 잘못되면 오류를 봅니다.
이걸 안 그려 놓으면 어떻게 되느냐. 개발자가 알아서 만듭니다. 대개 흰 화면이 나가요.
[운영 메모]
25분 구간. 학생들 과제 화면에 상태가 하나도 없다는 것을 컨펌 때 확인해 두었다가 여기서 연결할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가지를 만드셔야 합니다.
첫째, 빈 화면. 아직 아무것도 없는 상태예요. 여기에 뭘 넣느냐가 중요합니다. 그냥 비워 두면 사용자는 고장 난 줄 압니다.
세 가지를 넣으세요. 왜 비어 있는지, 무엇을 하면 채워지는지, 그리고 그걸 할 수 있는 버튼. 이 세 개면 됩니다.
둘째, 불러오는 중. 여기서 흔한 실수가 화면 가운데 동그라미 하나 돌리는 겁니다. 그러면 아무것도 안 보이는 시간이 생겨요.
더 나은 방법은 나올 화면의 뼈대를 회색으로 먼저 보여주는 겁니다. 리스트가 나올 자리에 회색 막대들을 놓는 거죠. 기다리는 시간이 짧게 느껴지고, 무엇이 나올지도 미리 보입니다.
셋째, 오류. 여기에 규칙이 있습니다. 세 줄입니다. 무엇이 잘못됐는지, 왜 그런지, 무엇을 하면 되는지.
'오류가 발생했습니다'만 쓰면 사용자는 할 수 있는 게 없습니다. 그리고 오류 코드를 사용자에게 보여주지 마세요. 그건 개발자용입니다.
[운영 메모]
02 의 뼈대 보여주기(스켈레톤)는 실제 앱을 켜서 보여주면 1초에 이해한다. 수업 전에 예시 앱을 두어 개 정해 둘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상태 화면은 그림보다 문장이 중요합니다. 네 가지만 지키세요.
첫째, 사용자가 할 수 있는 것을 씁니다. '네트워크 오류'가 아니라 '연결을 확인하고 다시 시도해 주세요'.
둘째, 사용자를 탓하지 않습니다. '잘못 입력하셨습니다'보다 '이 형식으로 입력해 주세요'가 낫습니다. 같은 말인데 받는 느낌이 다릅니다.
셋째, 짧게 씁니다. 한 줄에 다 안 들어가면 두 줄까지. 세 줄이 되면 아무도 안 읽습니다.
넷째, 전문용어를 쓰지 않습니다. 서버, 세션, 토큰. 이런 말은 사용자의 말이 아닙니다.
이 네 가지는 여러분이 앞으로 어떤 화면을 만들든 그대로 적용됩니다.
[운영 메모]
문장을 디자인의 일부로 다루는 첫 시간이다. 학생들이 '글은 나중에'로 미루는 습관을 여기서 끊어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강의 덩어리입니다.
이제 부품이 다 모였습니다. GNB, 헤더, 리스트, 카드, 아이콘, 입력, 버튼, 그리고 색과 글자 토큰.
이걸로 화면을 어떻게 늘리는지, 그리고 안 맞는 화면을 만나면 어떻게 하는지 보겠습니다.
[운영 메모]
30분 구간. 앞 15분은 시연, 뒤 15분은 예외 처리. 시연에서 실제로 화면 하나를 5분 만에 조립해 보일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같은 화면인데 만드는 방식이 다르면 이렇게 갈립니다.
첫 줄, 시작하는 방법입니다. 조립은 컴포넌트를 꺼내 놓는 것부터 시작합니다. 그리기는 사각형부터 그립니다.
둘째 줄, 걸리는 시간. 조립은 화면당 십 분 안쪽입니다. 그리기는 한 시간씩 걸려요.
셋째 줄, 고칠 때. 조립한 화면은 토큰 하나 바꾸면 전부 바뀝니다. 그린 화면은 한 장씩 열어서 고쳐야 합니다.
넷째 줄, 일관성. 조립하면 저절로 맞습니다. 그리면 매번 어긋나요.
다섯째 줄이 중요합니다. 새 요소가 필요할 때. 조립하는 사람은 컴포넌트를 고치고 다시 조립합니다. 그리는 사람은 그 자리에서 새로 그립니다. 그러면 시스템 밖에 있는 요소가 하나씩 늘어나요.
오른쪽으로 가면 지난 세 주가 없던 일이 됩니다.
[운영 메모]
실습 중에 오른쪽으로 가는 학생이 반드시 나온다. 순회하며 '지금 그리고 계신가요, 조립하고 계신가요'를 물어볼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실습하다 보면 반드시 이런 순간이 옵니다. 만들어 둔 컴포넌트로는 안 되는 화면.
세 가지 방법이 있고, 순서대로 검토하세요.
첫째, 컴포넌트를 고칩니다. 지금 화면만이 아니라 다른 화면에도 필요한 변화라면 이게 맞습니다. 예를 들어 리스트 행에 배지가 필요해졌는데 다른 화면에도 배지가 들어갈 것 같다면, 리스트 행 컴포넌트에 배지 자리를 추가하는 겁니다.
둘째, 배리언트를 추가합니다. 이 경우에만 다르게 보여야 한다면 같은 컴포넌트의 변형으로 담습니다. 컴포넌트가 늘어나지 않으면서 예외를 처리할 수 있어요.
셋째, 일회용으로 둡니다. 정말 이 화면 하나에만 있는 것이면 그냥 그 자리에 만들어 두셔도 됩니다. 다만 규격 표에 '일회용'이라고 적어 두세요. 나중에 또 나오면 그때 컴포넌트로 올리는 겁니다.
셋 중에 제일 나쁜 건 아무 표시 없이 그냥 그려 두는 겁니다. 그러면 나중에 왜 이게 여기 있는지 아무도 모릅니다.
[운영 메모]
01 을 남용하면 컴포넌트가 비대해지고 03 을 남용하면 시스템이 무너진다. 순회하며 판단을 같이 해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실습 45분입니다. 네 단계예요.
처음 8분. 아이콘 세트를 고르세요. 구글에서 무료 아이콘 세트를 찾으시면 됩니다. 고르셨으면 세트 이름을 규격 표에 적고, 크기 세 개와 선 굵기를 정하세요.
여기서 오래 고민하지 마세요. 한 세트 안에 필요한 아이콘이 다 있는지만 보시면 됩니다.
다음 14분. 입력 요소와 버튼과 세그먼트 탭을 만듭니다. 입력은 다섯 상태를 배리언트로, 버튼은 세 등급을 배리언트로, 세그먼트 탭은 선택과 비선택을 배리언트로 담으세요. 색과 글자는 반드시 토큰을 거세요. 직접 지정하면 지난주 한 일이 헛일이 됩니다.
다음 16분이 오늘의 핵심입니다. 상태 화면 세 장. 빈 화면, 불러오는 중, 오류.
문장 쓰실 때 아까 본 네 가지를 지켜 주세요. 특히 두 번째, 사용자를 탓하지 않기.
마지막 7분. 새 화면 하나를 조립해 보세요. 컴포넌트만 꺼내서요. 십 분 안에 끝나면 시스템이 제대로 선 겁니다. 안 끝나면 뭔가 빠진 거예요. 무엇이 빠졌는지 적어 두시고 저한테 말씀해 주세요.
돌아다니겠습니다.
[운영 메모]
마지막 10분이 시스템 완성도를 재는 시험이다. 십 분 안에 못 끝내는 학생은 컴포넌트가 덜 만들어졌거나 토큰이 안 걸려 있다. 무엇이 빠졌는지 함께 찾아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10분입니다. 짝을 지어 서로의 파일을 봅니다.
왼쪽 네 가지를 확인하세요.
첫째가 제일 중요합니다. 새 화면 하나를 십 분 안에 조립할 수 있는가. 서로 시간을 재 보세요.
둘째, 입력 요소의 다섯 상태가 배리언트로 들어 있는가.
셋째, 상태 화면 세 장이 컴포넌트로 조립되었는가. 따로 그렸으면 안 됩니다.
넷째, 규격 표가 이어져 있는가.
오른쪽은 오늘 나오는 문제들입니다. 두 번째를 보세요. 오류 상태를 색으로만 구분한 경우. 아까 말씀드린 그겁니다.
네 가지가 다 되면 기준 구간이 끝난 겁니다. 다음 주부터는 화면을 늘리는 일만 남아요.
[운영 메모]
'십 분 안에 조립' 확인은 서로 시간을 재게 하면 재미있어지고 정확해진다. 못 하는 학생은 다음 주 전에 보완하도록 개별로 잡을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제출 점검표입니다. 다음 수업 전까지 올려 주세요.
열여덟 개인데 뒤 다섯 개를 보세요. 상태 화면과 관련된 것들입니다.
열네 번째, 빈 화면에 다음에 할 일이 있는가. 그림만 있으면 안 됩니다.
열다섯 번째, 오류 메시지가 세 줄 규칙을 지켰는가.
열여섯 번째, 사용자를 탓하는 문장이 없는가. 자기 화면을 소리 내어 읽어 보시면 금방 압니다.
열일곱 번째와 열여덟 번째가 이번 주의 실질입니다. 여덟 장 중 상태 화면이 최소 한 장 들어갔는가, 그리고 직접 그린 요소가 없는가.
[운영 메모]
상태 화면 관련 항목을 뒤에 몰아 두었다. 과제 확인 때 이 다섯 개를 먼저 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가지입니다. 아이콘 · 입력 · 버튼 · 세그먼트 탭 규격, 상태 화면 세 장, 그리고 디자인 여덟 장으로 확장.
두 번째를 꼭 해 오세요. 빈 화면, 불러오는 중, 오류. 세 장입니다.
이걸 안 만들어 두면 다음 주부터 화면을 늘릴 때 계속 잘 된 경우만 그리게 됩니다. 그러면 졸업 전시 패널에 올릴 화면이 절반만 나옵니다.
세 번째, 여덟 장 중 새로 만드는 네 장에 상태 화면이 최소 한 장은 들어가야 합니다.
그리고 매번 같은 조건입니다. 직접 그린 요소가 남으면 안 됩니다. 새로 그려야 할 것이 생기면 컴포넌트를 먼저 고치고 다시 조립하세요.
다음 주부터 화면 구간입니다. 기준을 세우는 일은 오늘로 끝나요. 오늘까지 만든 것이 부실하면 남은 열 주가 계속 힘듭니다.
질문 있으신 분?
[운영 메모]
상태 화면 3종을 반드시 받아야 한다. 이것이 없으면 화면 구간에서 '정상 화면만 20장'이 되고, 졸업 전시 패널에서 서비스로 보이지 않는다. 과제 확인 때 제일 먼저 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05</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05  ·  PHASE 1 기준</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800" dirty="0">
                <a:solidFill>
                  <a:srgbClr val="111111"/>
                </a:solidFill>
                <a:latin typeface="Pretendard SemiBold" pitchFamily="34" charset="0"/>
                <a:ea typeface="Pretendard SemiBold" pitchFamily="34" charset="-122"/>
                <a:cs typeface="Pretendard SemiBold" pitchFamily="34" charset="-120"/>
              </a:rPr>
              <a:t>남은 화면으로 넓히기</a:t>
            </a:r>
            <a:endParaRPr lang="en-US" sz="48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아이콘 · 입력 요소 · 상태 화면까지 규격을 정하고,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만든 시스템만으로 남은 화면을 조립합니다.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서비스디자인 · 학부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아이콘 · 입력 · 버튼 · 세그먼트 탭 규격 · 상태 화면 · 디자인 8장</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아이콘 · 입력 · 버튼 · 세그먼트 탭</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화면마다 반복되는 마지막 요소들입니다. 방식은 지난주와 같습니다.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REFERENCE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입력 요소와 버튼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상태를 색이 아니라 선 굵기로 나눕니다.</a:t>
            </a:r>
            <a:endParaRPr lang="en-US" sz="1150" dirty="0"/>
          </a:p>
        </p:txBody>
      </p:sp>
      <p:pic>
        <p:nvPicPr>
          <p:cNvPr id="9" name="Image 0" descr="/home/user/MIN.D/assets/form/input-button.png">    </p:cNvPr>
          <p:cNvPicPr>
            <a:picLocks noChangeAspect="1"/>
          </p:cNvPicPr>
          <p:nvPr/>
        </p:nvPicPr>
        <p:blipFill>
          <a:blip r:embed="rId1"/>
          <a:stretch>
            <a:fillRect/>
          </a:stretch>
        </p:blipFill>
        <p:spPr>
          <a:xfrm>
            <a:off x="753286" y="1737360"/>
            <a:ext cx="10685124" cy="3803904"/>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입력 요소는 다섯 상태, 버튼은 세 등급. 이 여덟 개가 폼이 있는 모든 화면에서 반복됩니다.</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5주차 남은 화면으로 넓히기</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ICON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아이콘 — 정할 것은 네 가지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직접 그리지 말고 한 세트 안에서만 고릅니다.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크기 — 24 기본</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작은 자리 20, 큰 자리 32. 세 개면 충분합니다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크기</a:t>
            </a:r>
            <a:endParaRPr lang="en-US" sz="1050" dirty="0"/>
          </a:p>
        </p:txBody>
      </p:sp>
      <p:sp>
        <p:nvSpPr>
          <p:cNvPr id="15" name="Shape 13"/>
          <p:cNvSpPr/>
          <p:nvPr/>
        </p:nvSpPr>
        <p:spPr>
          <a:xfrm>
            <a:off x="640080" y="2596896"/>
            <a:ext cx="10911535" cy="7315"/>
          </a:xfrm>
          <a:prstGeom prst="rect">
            <a:avLst/>
          </a:prstGeom>
          <a:solidFill>
            <a:srgbClr val="DCDCDC"/>
          </a:solidFill>
          <a:ln w="12700">
            <a:solidFill>
              <a:srgbClr val="DCDCDC"/>
            </a:solidFill>
            <a:prstDash val="solid"/>
          </a:ln>
        </p:spPr>
      </p:sp>
      <p:sp>
        <p:nvSpPr>
          <p:cNvPr id="16" name="Shape 14"/>
          <p:cNvSpPr/>
          <p:nvPr/>
        </p:nvSpPr>
        <p:spPr>
          <a:xfrm>
            <a:off x="640080" y="2761488"/>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67004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선 굵기 — 2 로 통일</a:t>
            </a:r>
            <a:endParaRPr lang="en-US" sz="1450" dirty="0"/>
          </a:p>
        </p:txBody>
      </p:sp>
      <p:sp>
        <p:nvSpPr>
          <p:cNvPr id="19" name="Text 17"/>
          <p:cNvSpPr/>
          <p:nvPr/>
        </p:nvSpPr>
        <p:spPr>
          <a:xfrm>
            <a:off x="1188720" y="298094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아이콘마다 굵기가 다르면 한 벌로 보이지 않습니다</a:t>
            </a:r>
            <a:endParaRPr lang="en-US" sz="1100" dirty="0"/>
          </a:p>
        </p:txBody>
      </p:sp>
      <p:sp>
        <p:nvSpPr>
          <p:cNvPr id="20" name="Text 18"/>
          <p:cNvSpPr/>
          <p:nvPr/>
        </p:nvSpPr>
        <p:spPr>
          <a:xfrm>
            <a:off x="9357055" y="276148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굵기</a:t>
            </a:r>
            <a:endParaRPr lang="en-US" sz="1050" dirty="0"/>
          </a:p>
        </p:txBody>
      </p:sp>
      <p:sp>
        <p:nvSpPr>
          <p:cNvPr id="21" name="Shape 19"/>
          <p:cNvSpPr/>
          <p:nvPr/>
        </p:nvSpPr>
        <p:spPr>
          <a:xfrm>
            <a:off x="640080" y="354787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71246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채움과 선을 섞지 않는다</a:t>
            </a:r>
            <a:endParaRPr lang="en-US" sz="1450" dirty="0"/>
          </a:p>
        </p:txBody>
      </p:sp>
      <p:sp>
        <p:nvSpPr>
          <p:cNvPr id="25" name="Text 23"/>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예외는 선택된 상태입니다. 지난주 GNB 탭이 그랬습니다</a:t>
            </a:r>
            <a:endParaRPr lang="en-US" sz="1100" dirty="0"/>
          </a:p>
        </p:txBody>
      </p:sp>
      <p:sp>
        <p:nvSpPr>
          <p:cNvPr id="26" name="Text 24"/>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형태</a:t>
            </a:r>
            <a:endParaRPr lang="en-US" sz="1050" dirty="0"/>
          </a:p>
        </p:txBody>
      </p:sp>
      <p:sp>
        <p:nvSpPr>
          <p:cNvPr id="27" name="Shape 25"/>
          <p:cNvSpPr/>
          <p:nvPr/>
        </p:nvSpPr>
        <p:spPr>
          <a:xfrm>
            <a:off x="640080" y="4498848"/>
            <a:ext cx="10911535" cy="7315"/>
          </a:xfrm>
          <a:prstGeom prst="rect">
            <a:avLst/>
          </a:prstGeom>
          <a:solidFill>
            <a:srgbClr val="DCDCDC"/>
          </a:solidFill>
          <a:ln w="12700">
            <a:solidFill>
              <a:srgbClr val="DCDCDC"/>
            </a:solidFill>
            <a:prstDash val="solid"/>
          </a:ln>
        </p:spPr>
      </p:sp>
      <p:sp>
        <p:nvSpPr>
          <p:cNvPr id="28" name="Shape 26"/>
          <p:cNvSpPr/>
          <p:nvPr/>
        </p:nvSpPr>
        <p:spPr>
          <a:xfrm>
            <a:off x="640080" y="4663440"/>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5720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터치 영역은 44</a:t>
            </a:r>
            <a:endParaRPr lang="en-US" sz="1450" dirty="0"/>
          </a:p>
        </p:txBody>
      </p:sp>
      <p:sp>
        <p:nvSpPr>
          <p:cNvPr id="31" name="Text 29"/>
          <p:cNvSpPr/>
          <p:nvPr/>
        </p:nvSpPr>
        <p:spPr>
          <a:xfrm>
            <a:off x="1188720" y="48828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아이콘이 24여도 누를 수 있는 영역은 44입니다</a:t>
            </a:r>
            <a:endParaRPr lang="en-US" sz="1100" dirty="0"/>
          </a:p>
        </p:txBody>
      </p:sp>
      <p:sp>
        <p:nvSpPr>
          <p:cNvPr id="32" name="Text 30"/>
          <p:cNvSpPr/>
          <p:nvPr/>
        </p:nvSpPr>
        <p:spPr>
          <a:xfrm>
            <a:off x="9357055" y="46634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터치</a:t>
            </a:r>
            <a:endParaRPr lang="en-US" sz="1050" dirty="0"/>
          </a:p>
        </p:txBody>
      </p:sp>
      <p:sp>
        <p:nvSpPr>
          <p:cNvPr id="33" name="Shape 31"/>
          <p:cNvSpPr/>
          <p:nvPr/>
        </p:nvSpPr>
        <p:spPr>
          <a:xfrm>
            <a:off x="640080" y="5522976"/>
            <a:ext cx="10911535" cy="7315"/>
          </a:xfrm>
          <a:prstGeom prst="rect">
            <a:avLst/>
          </a:prstGeom>
          <a:solidFill>
            <a:srgbClr val="111111"/>
          </a:solidFill>
          <a:ln w="12700">
            <a:solidFill>
              <a:srgbClr val="111111"/>
            </a:solidFill>
            <a:prstDash val="solid"/>
          </a:ln>
        </p:spPr>
      </p:sp>
      <p:sp>
        <p:nvSpPr>
          <p:cNvPr id="34" name="Text 32"/>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아이콘을 직접 그리지 마세요. 무료 세트를 하나 골라 그 안에서만 쓰면 굵기와 모양이 저절로 맞습니다.</a:t>
            </a:r>
            <a:endParaRPr lang="en-US" sz="12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5주차 남은 화면으로 넓히기</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REFERENCE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세그먼트 탭 두 가지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항목 수가 어느 쪽을 쓸지 정합니다.</a:t>
            </a:r>
            <a:endParaRPr lang="en-US" sz="1150" dirty="0"/>
          </a:p>
        </p:txBody>
      </p:sp>
      <p:pic>
        <p:nvPicPr>
          <p:cNvPr id="9" name="Image 0" descr="/home/user/MIN.D/assets/form/segment-tab.png">    </p:cNvPr>
          <p:cNvPicPr>
            <a:picLocks noChangeAspect="1"/>
          </p:cNvPicPr>
          <p:nvPr/>
        </p:nvPicPr>
        <p:blipFill>
          <a:blip r:embed="rId1"/>
          <a:stretch>
            <a:fillRect/>
          </a:stretch>
        </p:blipFill>
        <p:spPr>
          <a:xfrm>
            <a:off x="753286" y="1737360"/>
            <a:ext cx="10685124" cy="3803904"/>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둘 다 화면 안의 내용만 바꿉니다. 화면 전체가 바뀌면 그것은 탭이 아니라 다른 화면으로 가는 것입니다.</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5주차 남은 화면으로 넓히기</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CONFUSION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하단 GNB · 세그먼트 탭</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생김새가 비슷해 섞어 쓰기 쉽습니다. 하는 일이 다릅니다.</a:t>
            </a:r>
            <a:endParaRPr lang="en-US" sz="1150" dirty="0"/>
          </a:p>
        </p:txBody>
      </p:sp>
      <p:sp>
        <p:nvSpPr>
          <p:cNvPr id="9" name="Shape 7"/>
          <p:cNvSpPr/>
          <p:nvPr/>
        </p:nvSpPr>
        <p:spPr>
          <a:xfrm>
            <a:off x="640080" y="1627632"/>
            <a:ext cx="5254600" cy="4078224"/>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하단 GNB (3주차)</a:t>
            </a:r>
            <a:endParaRPr lang="en-US" sz="1700" dirty="0"/>
          </a:p>
        </p:txBody>
      </p:sp>
      <p:sp>
        <p:nvSpPr>
          <p:cNvPr id="11" name="Shape 9"/>
          <p:cNvSpPr/>
          <p:nvPr/>
        </p:nvSpPr>
        <p:spPr>
          <a:xfrm>
            <a:off x="6297016" y="1627632"/>
            <a:ext cx="5254600" cy="4078224"/>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세그먼트 탭 (오늘)</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하는 일</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서비스의 큰 영역을 오간다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하는 일</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같은 목록을 다른 기준으로 거른다</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바뀌는 것</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화면 전체</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바뀌는 것</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화면 안의 내용만</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개수</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3~5개 · 학기 내내 고정</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개수</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2~4개 · 화면마다 다를 수 있다</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자리</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화면 맨 아래 · 늘 보인다</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자리</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헤더 아래 · 그 화면에만 있다</a:t>
            </a:r>
            <a:endParaRPr lang="en-US" sz="1150" dirty="0"/>
          </a:p>
        </p:txBody>
      </p:sp>
      <p:sp>
        <p:nvSpPr>
          <p:cNvPr id="35" name="Shape 33"/>
          <p:cNvSpPr/>
          <p:nvPr/>
        </p:nvSpPr>
        <p:spPr>
          <a:xfrm>
            <a:off x="1042416" y="5029200"/>
            <a:ext cx="4449928" cy="7315"/>
          </a:xfrm>
          <a:prstGeom prst="rect">
            <a:avLst/>
          </a:prstGeom>
          <a:solidFill>
            <a:srgbClr val="D2D2D2"/>
          </a:solidFill>
          <a:ln w="12700">
            <a:solidFill>
              <a:srgbClr val="D2D2D2"/>
            </a:solidFill>
            <a:prstDash val="solid"/>
          </a:ln>
        </p:spPr>
      </p:sp>
      <p:sp>
        <p:nvSpPr>
          <p:cNvPr id="36" name="Shape 34"/>
          <p:cNvSpPr/>
          <p:nvPr/>
        </p:nvSpPr>
        <p:spPr>
          <a:xfrm>
            <a:off x="6699352" y="5029200"/>
            <a:ext cx="4449928" cy="7315"/>
          </a:xfrm>
          <a:prstGeom prst="rect">
            <a:avLst/>
          </a:prstGeom>
          <a:solidFill>
            <a:srgbClr val="DCDCDC"/>
          </a:solidFill>
          <a:ln w="12700">
            <a:solidFill>
              <a:srgbClr val="DCDCDC"/>
            </a:solidFill>
            <a:prstDash val="solid"/>
          </a:ln>
        </p:spPr>
      </p:sp>
      <p:sp>
        <p:nvSpPr>
          <p:cNvPr id="37" name="Text 35"/>
          <p:cNvSpPr/>
          <p:nvPr/>
        </p:nvSpPr>
        <p:spPr>
          <a:xfrm>
            <a:off x="1042416" y="508406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되돌아오기</a:t>
            </a:r>
            <a:endParaRPr lang="en-US" sz="900" dirty="0"/>
          </a:p>
        </p:txBody>
      </p:sp>
      <p:sp>
        <p:nvSpPr>
          <p:cNvPr id="38" name="Text 36"/>
          <p:cNvSpPr/>
          <p:nvPr/>
        </p:nvSpPr>
        <p:spPr>
          <a:xfrm>
            <a:off x="1042416"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이전 영역의 상태가 남는다</a:t>
            </a:r>
            <a:endParaRPr lang="en-US" sz="1150" dirty="0"/>
          </a:p>
        </p:txBody>
      </p:sp>
      <p:sp>
        <p:nvSpPr>
          <p:cNvPr id="39" name="Text 37"/>
          <p:cNvSpPr/>
          <p:nvPr/>
        </p:nvSpPr>
        <p:spPr>
          <a:xfrm>
            <a:off x="6699352" y="508406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되돌아오기</a:t>
            </a:r>
            <a:endParaRPr lang="en-US" sz="900" dirty="0"/>
          </a:p>
        </p:txBody>
      </p:sp>
      <p:sp>
        <p:nvSpPr>
          <p:cNvPr id="40" name="Text 38"/>
          <p:cNvSpPr/>
          <p:nvPr/>
        </p:nvSpPr>
        <p:spPr>
          <a:xfrm>
            <a:off x="6699352"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화면을 떠나면 처음 기준으로 돌아간다</a:t>
            </a:r>
            <a:endParaRPr lang="en-US" sz="11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5주차 남은 화면으로 넓히기</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비어 있을 때 · 기다릴 때 · 잘못됐을 때</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사용자가 만나는 화면의 절반은 잘 된 경우가 아닙니다.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STATE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 가지 상태 화면</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이 셋을 그려 두지 않으면 개발 단계에서 흰 화면이 나갑니다.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비어 있을 때</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왜 비어 있는지 · 무엇을 하면 채워지는지 · 그것을 할 수 있는 버튼.</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이 세 개가 없으면 사용자는 고장 난 줄 압니다.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기다릴 때</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가운데 동그라미 대신 나올 화면의 뼈대를 회색으로 먼저 보여줍니다.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기다리는 시간이 짧게 느껴지고 무엇이 나올지도 보입니다.</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잘못됐을 때</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세 줄로 씁니다. 무엇이 잘못됐는지 · 왜 그런지 · 무엇을 하면 되는지.</a:t>
            </a:r>
            <a:endParaRPr lang="en-US" sz="1150" dirty="0"/>
          </a:p>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오류 코드는 개발자용입니다. 사용자에게 보여주지 않습니다.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세 화면 모두 오늘 만든 컴포넌트와 토큰으로 조립합니다. 상태 화면이라고 따로 그리면 또 낱개가 됩니다.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5주차 남은 화면으로 넓히기</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WRITING</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상태 화면의 문장</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상태 화면은 그림보다 문장이 일을 합니다.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할 수 있는 것을 쓴다</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'네트워크 오류'가 아니라 '연결을 확인하고 다시 시도해 주세요'</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행동</a:t>
            </a:r>
            <a:endParaRPr lang="en-US" sz="1050" dirty="0"/>
          </a:p>
        </p:txBody>
      </p:sp>
      <p:sp>
        <p:nvSpPr>
          <p:cNvPr id="15" name="Shape 13"/>
          <p:cNvSpPr/>
          <p:nvPr/>
        </p:nvSpPr>
        <p:spPr>
          <a:xfrm>
            <a:off x="640080" y="2596896"/>
            <a:ext cx="10911535" cy="7315"/>
          </a:xfrm>
          <a:prstGeom prst="rect">
            <a:avLst/>
          </a:prstGeom>
          <a:solidFill>
            <a:srgbClr val="DCDCDC"/>
          </a:solidFill>
          <a:ln w="12700">
            <a:solidFill>
              <a:srgbClr val="DCDCDC"/>
            </a:solidFill>
            <a:prstDash val="solid"/>
          </a:ln>
        </p:spPr>
      </p:sp>
      <p:sp>
        <p:nvSpPr>
          <p:cNvPr id="16" name="Shape 14"/>
          <p:cNvSpPr/>
          <p:nvPr/>
        </p:nvSpPr>
        <p:spPr>
          <a:xfrm>
            <a:off x="640080" y="2761488"/>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67004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탓하지 않는다</a:t>
            </a:r>
            <a:endParaRPr lang="en-US" sz="1450" dirty="0"/>
          </a:p>
        </p:txBody>
      </p:sp>
      <p:sp>
        <p:nvSpPr>
          <p:cNvPr id="19" name="Text 17"/>
          <p:cNvSpPr/>
          <p:nvPr/>
        </p:nvSpPr>
        <p:spPr>
          <a:xfrm>
            <a:off x="1188720" y="298094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'잘못 입력하셨습니다'보다 '이 형식으로 입력해 주세요'. 같은 말인데 받는 느낌이 다릅니다</a:t>
            </a:r>
            <a:endParaRPr lang="en-US" sz="1100" dirty="0"/>
          </a:p>
        </p:txBody>
      </p:sp>
      <p:sp>
        <p:nvSpPr>
          <p:cNvPr id="20" name="Text 18"/>
          <p:cNvSpPr/>
          <p:nvPr/>
        </p:nvSpPr>
        <p:spPr>
          <a:xfrm>
            <a:off x="9357055" y="276148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태도</a:t>
            </a:r>
            <a:endParaRPr lang="en-US" sz="1050" dirty="0"/>
          </a:p>
        </p:txBody>
      </p:sp>
      <p:sp>
        <p:nvSpPr>
          <p:cNvPr id="21" name="Shape 19"/>
          <p:cNvSpPr/>
          <p:nvPr/>
        </p:nvSpPr>
        <p:spPr>
          <a:xfrm>
            <a:off x="640080" y="354787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71246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짧게 쓴다</a:t>
            </a:r>
            <a:endParaRPr lang="en-US" sz="1450" dirty="0"/>
          </a:p>
        </p:txBody>
      </p:sp>
      <p:sp>
        <p:nvSpPr>
          <p:cNvPr id="25" name="Text 23"/>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한 줄, 길어도 두 줄. 세 줄이 되면 아무도 읽지 않습니다</a:t>
            </a:r>
            <a:endParaRPr lang="en-US" sz="1100" dirty="0"/>
          </a:p>
        </p:txBody>
      </p:sp>
      <p:sp>
        <p:nvSpPr>
          <p:cNvPr id="26" name="Text 24"/>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길이</a:t>
            </a:r>
            <a:endParaRPr lang="en-US" sz="1050" dirty="0"/>
          </a:p>
        </p:txBody>
      </p:sp>
      <p:sp>
        <p:nvSpPr>
          <p:cNvPr id="27" name="Shape 25"/>
          <p:cNvSpPr/>
          <p:nvPr/>
        </p:nvSpPr>
        <p:spPr>
          <a:xfrm>
            <a:off x="640080" y="4498848"/>
            <a:ext cx="10911535" cy="7315"/>
          </a:xfrm>
          <a:prstGeom prst="rect">
            <a:avLst/>
          </a:prstGeom>
          <a:solidFill>
            <a:srgbClr val="DCDCDC"/>
          </a:solidFill>
          <a:ln w="12700">
            <a:solidFill>
              <a:srgbClr val="DCDCDC"/>
            </a:solidFill>
            <a:prstDash val="solid"/>
          </a:ln>
        </p:spPr>
      </p:sp>
      <p:sp>
        <p:nvSpPr>
          <p:cNvPr id="28" name="Shape 26"/>
          <p:cNvSpPr/>
          <p:nvPr/>
        </p:nvSpPr>
        <p:spPr>
          <a:xfrm>
            <a:off x="640080" y="4663440"/>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5720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전문용어를 쓰지 않는다</a:t>
            </a:r>
            <a:endParaRPr lang="en-US" sz="1450" dirty="0"/>
          </a:p>
        </p:txBody>
      </p:sp>
      <p:sp>
        <p:nvSpPr>
          <p:cNvPr id="31" name="Text 29"/>
          <p:cNvSpPr/>
          <p:nvPr/>
        </p:nvSpPr>
        <p:spPr>
          <a:xfrm>
            <a:off x="1188720" y="48828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서버 · 세션 · 토큰은 사용자의 말이 아닙니다</a:t>
            </a:r>
            <a:endParaRPr lang="en-US" sz="1100" dirty="0"/>
          </a:p>
        </p:txBody>
      </p:sp>
      <p:sp>
        <p:nvSpPr>
          <p:cNvPr id="32" name="Text 30"/>
          <p:cNvSpPr/>
          <p:nvPr/>
        </p:nvSpPr>
        <p:spPr>
          <a:xfrm>
            <a:off x="9357055" y="46634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말</a:t>
            </a:r>
            <a:endParaRPr lang="en-US" sz="1050" dirty="0"/>
          </a:p>
        </p:txBody>
      </p:sp>
      <p:sp>
        <p:nvSpPr>
          <p:cNvPr id="33" name="Shape 31"/>
          <p:cNvSpPr/>
          <p:nvPr/>
        </p:nvSpPr>
        <p:spPr>
          <a:xfrm>
            <a:off x="640080" y="5522976"/>
            <a:ext cx="10911535" cy="7315"/>
          </a:xfrm>
          <a:prstGeom prst="rect">
            <a:avLst/>
          </a:prstGeom>
          <a:solidFill>
            <a:srgbClr val="111111"/>
          </a:solidFill>
          <a:ln w="12700">
            <a:solidFill>
              <a:srgbClr val="111111"/>
            </a:solidFill>
            <a:prstDash val="solid"/>
          </a:ln>
        </p:spPr>
      </p:sp>
      <p:sp>
        <p:nvSpPr>
          <p:cNvPr id="34" name="Text 32"/>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네 가지는 상태 화면만이 아니라 앞으로 만들 모든 화면의 문장에 그대로 적용됩니다.</a:t>
            </a:r>
            <a:endParaRPr lang="en-US" sz="12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5주차 남은 화면으로 넓히기</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시스템으로 화면 늘리기</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지금부터 화면은 그리는 것이 아니라 조립하는 것입니다.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CONTRAST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조립한 화면 · 그린 화면</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지난 세 주를 들여 만든 것이 여기서 값을 합니다.</a:t>
            </a:r>
            <a:endParaRPr lang="en-US" sz="1150" dirty="0"/>
          </a:p>
        </p:txBody>
      </p:sp>
      <p:sp>
        <p:nvSpPr>
          <p:cNvPr id="9" name="Shape 7"/>
          <p:cNvSpPr/>
          <p:nvPr/>
        </p:nvSpPr>
        <p:spPr>
          <a:xfrm>
            <a:off x="640080" y="1627632"/>
            <a:ext cx="5254600" cy="4078224"/>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조립한 화면</a:t>
            </a:r>
            <a:endParaRPr lang="en-US" sz="1700" dirty="0"/>
          </a:p>
        </p:txBody>
      </p:sp>
      <p:sp>
        <p:nvSpPr>
          <p:cNvPr id="11" name="Shape 9"/>
          <p:cNvSpPr/>
          <p:nvPr/>
        </p:nvSpPr>
        <p:spPr>
          <a:xfrm>
            <a:off x="6297016" y="1627632"/>
            <a:ext cx="5254600" cy="4078224"/>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그린 화면</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시작</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컴포넌트를 꺼내 놓는 것부터</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시작</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사각형부터 그린다</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시간</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화면당 십 분 안쪽</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시간</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화면당 한 시간</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고칠 때</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토큰 하나 바꾸면 전부 바뀐다</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고칠 때</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한 장씩 열어서 고친다</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일관성</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저절로 맞는다</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일관성</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매번 어긋난다</a:t>
            </a:r>
            <a:endParaRPr lang="en-US" sz="1150" dirty="0"/>
          </a:p>
        </p:txBody>
      </p:sp>
      <p:sp>
        <p:nvSpPr>
          <p:cNvPr id="35" name="Shape 33"/>
          <p:cNvSpPr/>
          <p:nvPr/>
        </p:nvSpPr>
        <p:spPr>
          <a:xfrm>
            <a:off x="1042416" y="5029200"/>
            <a:ext cx="4449928" cy="7315"/>
          </a:xfrm>
          <a:prstGeom prst="rect">
            <a:avLst/>
          </a:prstGeom>
          <a:solidFill>
            <a:srgbClr val="D2D2D2"/>
          </a:solidFill>
          <a:ln w="12700">
            <a:solidFill>
              <a:srgbClr val="D2D2D2"/>
            </a:solidFill>
            <a:prstDash val="solid"/>
          </a:ln>
        </p:spPr>
      </p:sp>
      <p:sp>
        <p:nvSpPr>
          <p:cNvPr id="36" name="Shape 34"/>
          <p:cNvSpPr/>
          <p:nvPr/>
        </p:nvSpPr>
        <p:spPr>
          <a:xfrm>
            <a:off x="6699352" y="5029200"/>
            <a:ext cx="4449928" cy="7315"/>
          </a:xfrm>
          <a:prstGeom prst="rect">
            <a:avLst/>
          </a:prstGeom>
          <a:solidFill>
            <a:srgbClr val="DCDCDC"/>
          </a:solidFill>
          <a:ln w="12700">
            <a:solidFill>
              <a:srgbClr val="DCDCDC"/>
            </a:solidFill>
            <a:prstDash val="solid"/>
          </a:ln>
        </p:spPr>
      </p:sp>
      <p:sp>
        <p:nvSpPr>
          <p:cNvPr id="37" name="Text 35"/>
          <p:cNvSpPr/>
          <p:nvPr/>
        </p:nvSpPr>
        <p:spPr>
          <a:xfrm>
            <a:off x="1042416" y="508406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새 요소</a:t>
            </a:r>
            <a:endParaRPr lang="en-US" sz="900" dirty="0"/>
          </a:p>
        </p:txBody>
      </p:sp>
      <p:sp>
        <p:nvSpPr>
          <p:cNvPr id="38" name="Text 36"/>
          <p:cNvSpPr/>
          <p:nvPr/>
        </p:nvSpPr>
        <p:spPr>
          <a:xfrm>
            <a:off x="1042416"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컴포넌트를 고치고 다시 조립한다</a:t>
            </a:r>
            <a:endParaRPr lang="en-US" sz="1150" dirty="0"/>
          </a:p>
        </p:txBody>
      </p:sp>
      <p:sp>
        <p:nvSpPr>
          <p:cNvPr id="39" name="Text 37"/>
          <p:cNvSpPr/>
          <p:nvPr/>
        </p:nvSpPr>
        <p:spPr>
          <a:xfrm>
            <a:off x="6699352" y="508406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새 요소</a:t>
            </a:r>
            <a:endParaRPr lang="en-US" sz="900" dirty="0"/>
          </a:p>
        </p:txBody>
      </p:sp>
      <p:sp>
        <p:nvSpPr>
          <p:cNvPr id="40" name="Text 38"/>
          <p:cNvSpPr/>
          <p:nvPr/>
        </p:nvSpPr>
        <p:spPr>
          <a:xfrm>
            <a:off x="6699352"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그 자리에서 새로 그린다</a:t>
            </a:r>
            <a:endParaRPr lang="en-US" sz="11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5주차 남은 화면으로 넓히기</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EXCEPTION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시스템에 안 맞는 화면을 만나면</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반드시 이런 순간이 옵니다. 순서대로 검토하세요.</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컴포넌트를 고친다</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다른 화면에도 필요한 변화라면 이것이 맞습니다.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리스트 행에 배지가 필요해졌고 다른 화면에도 들어갈 것 같다면 컴포넌트에 자리를 만듭니다.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배리언트를 추가한다</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이 경우에만 다르게 보여야 한다면 같은 컴포넌트의 변형으로 담습니다.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컴포넌트 수를 늘리지 않으면서 예외를 처리할 수 있습니다.</a:t>
            </a:r>
            <a:endParaRPr lang="en-US" sz="1150" dirty="0"/>
          </a:p>
        </p:txBody>
      </p:sp>
      <p:sp>
        <p:nvSpPr>
          <p:cNvPr id="19" name="Shape 17"/>
          <p:cNvSpPr/>
          <p:nvPr/>
        </p:nvSpPr>
        <p:spPr>
          <a:xfrm>
            <a:off x="8158277" y="1737360"/>
            <a:ext cx="3393338" cy="3035808"/>
          </a:xfrm>
          <a:prstGeom prst="rect">
            <a:avLst/>
          </a:prstGeom>
          <a:solidFill>
            <a:srgbClr val="FFFFFF"/>
          </a:solidFill>
          <a:ln w="12700">
            <a:solidFill>
              <a:srgbClr val="DCDCDC"/>
            </a:solidFill>
            <a:prstDash val="solid"/>
          </a:ln>
        </p:spPr>
      </p:sp>
      <p:sp>
        <p:nvSpPr>
          <p:cNvPr id="20" name="Shape 18"/>
          <p:cNvSpPr/>
          <p:nvPr/>
        </p:nvSpPr>
        <p:spPr>
          <a:xfrm>
            <a:off x="8542325" y="2011680"/>
            <a:ext cx="365760" cy="365760"/>
          </a:xfrm>
          <a:prstGeom prst="ellipse">
            <a:avLst/>
          </a:prstGeom>
          <a:solidFill>
            <a:srgbClr val="FFFFFF"/>
          </a:solidFill>
          <a:ln w="12700">
            <a:solidFill>
              <a:srgbClr val="111111"/>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일회용으로 둔다</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정말 이 화면에만 있는 것이면 그 자리에 만들어 둡니다.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다만 규격 표에 '일회용'이라고 적습니다. 또 나오면 그때 컴포넌트로 올립니다.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제일 나쁜 것은 아무 표시 없이 그려 두는 것입니다. 나중에 왜 그것이 거기 있는지 아무도 모르게 됩니다.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5주차 남은 화면으로 넓히기</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실습 · 남은 화면 조립</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개인 작업 — 오늘은 그리지 않고 조립합니다.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아이콘 세트 고르고 규격 적기</a:t>
            </a:r>
            <a:endParaRPr lang="en-US" sz="1450" dirty="0"/>
          </a:p>
        </p:txBody>
      </p:sp>
      <p:sp>
        <p:nvSpPr>
          <p:cNvPr id="11" name="Text 9"/>
          <p:cNvSpPr/>
          <p:nvPr/>
        </p:nvSpPr>
        <p:spPr>
          <a:xfrm>
            <a:off x="4480560" y="1810512"/>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무료 세트를 하나 골라 이름을 규격 표에 적습니다. 크기 세 개와 선 굵기를 정합니다.</a:t>
            </a:r>
            <a:endParaRPr lang="en-US" sz="1150" dirty="0"/>
          </a:p>
        </p:txBody>
      </p:sp>
      <p:sp>
        <p:nvSpPr>
          <p:cNvPr id="12" name="Shape 10"/>
          <p:cNvSpPr/>
          <p:nvPr/>
        </p:nvSpPr>
        <p:spPr>
          <a:xfrm>
            <a:off x="640080" y="2688336"/>
            <a:ext cx="10911535" cy="822960"/>
          </a:xfrm>
          <a:prstGeom prst="rect">
            <a:avLst/>
          </a:prstGeom>
          <a:solidFill>
            <a:srgbClr val="FFFFFF"/>
          </a:solidFill>
          <a:ln w="12700">
            <a:solidFill>
              <a:srgbClr val="DCDCDC"/>
            </a:solidFill>
            <a:prstDash val="solid"/>
          </a:ln>
        </p:spPr>
      </p:sp>
      <p:sp>
        <p:nvSpPr>
          <p:cNvPr id="13" name="Text 11"/>
          <p:cNvSpPr/>
          <p:nvPr/>
        </p:nvSpPr>
        <p:spPr>
          <a:xfrm>
            <a:off x="109728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입력 · 버튼 · 세그먼트 탭</a:t>
            </a:r>
            <a:endParaRPr lang="en-US" sz="1450" dirty="0"/>
          </a:p>
        </p:txBody>
      </p:sp>
      <p:sp>
        <p:nvSpPr>
          <p:cNvPr id="14" name="Text 12"/>
          <p:cNvSpPr/>
          <p:nvPr/>
        </p:nvSpPr>
        <p:spPr>
          <a:xfrm>
            <a:off x="4480560" y="2779776"/>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입력은 다섯 상태, 버튼은 세 등급, 세그먼트 탭은 선택·비선택을 배리언트로. 색과 글자는 토큰을 겁니다.</a:t>
            </a:r>
            <a:endParaRPr lang="en-US" sz="1150" dirty="0"/>
          </a:p>
        </p:txBody>
      </p:sp>
      <p:sp>
        <p:nvSpPr>
          <p:cNvPr id="15" name="Shape 13"/>
          <p:cNvSpPr/>
          <p:nvPr/>
        </p:nvSpPr>
        <p:spPr>
          <a:xfrm>
            <a:off x="640080" y="3657600"/>
            <a:ext cx="10911535" cy="822960"/>
          </a:xfrm>
          <a:prstGeom prst="rect">
            <a:avLst/>
          </a:prstGeom>
          <a:solidFill>
            <a:srgbClr val="FFFFFF"/>
          </a:solidFill>
          <a:ln w="12700">
            <a:solidFill>
              <a:srgbClr val="DCDCDC"/>
            </a:solidFill>
            <a:prstDash val="solid"/>
          </a:ln>
        </p:spPr>
      </p:sp>
      <p:sp>
        <p:nvSpPr>
          <p:cNvPr id="16" name="Text 14"/>
          <p:cNvSpPr/>
          <p:nvPr/>
        </p:nvSpPr>
        <p:spPr>
          <a:xfrm>
            <a:off x="109728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상태 화면 세 장</a:t>
            </a:r>
            <a:endParaRPr lang="en-US" sz="1450" dirty="0"/>
          </a:p>
        </p:txBody>
      </p:sp>
      <p:sp>
        <p:nvSpPr>
          <p:cNvPr id="17" name="Text 15"/>
          <p:cNvSpPr/>
          <p:nvPr/>
        </p:nvSpPr>
        <p:spPr>
          <a:xfrm>
            <a:off x="4480560" y="3749040"/>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빈 화면 · 불러오는 중 · 오류. 문장은 네 가지 규칙을 지켜 씁니다.</a:t>
            </a:r>
            <a:endParaRPr lang="en-US" sz="1150" dirty="0"/>
          </a:p>
        </p:txBody>
      </p:sp>
      <p:sp>
        <p:nvSpPr>
          <p:cNvPr id="18" name="Shape 16"/>
          <p:cNvSpPr/>
          <p:nvPr/>
        </p:nvSpPr>
        <p:spPr>
          <a:xfrm>
            <a:off x="640080" y="4626864"/>
            <a:ext cx="10911535" cy="822960"/>
          </a:xfrm>
          <a:prstGeom prst="rect">
            <a:avLst/>
          </a:prstGeom>
          <a:solidFill>
            <a:srgbClr val="111111"/>
          </a:solidFill>
          <a:ln w="12700">
            <a:solidFill>
              <a:srgbClr val="111111"/>
            </a:solidFill>
            <a:prstDash val="solid"/>
          </a:ln>
        </p:spPr>
      </p:sp>
      <p:sp>
        <p:nvSpPr>
          <p:cNvPr id="19" name="Text 17"/>
          <p:cNvSpPr/>
          <p:nvPr/>
        </p:nvSpPr>
        <p:spPr>
          <a:xfrm>
            <a:off x="109728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일반 화면 한 장 조립</a:t>
            </a:r>
            <a:endParaRPr lang="en-US" sz="1450" dirty="0"/>
          </a:p>
        </p:txBody>
      </p:sp>
      <p:sp>
        <p:nvSpPr>
          <p:cNvPr id="20" name="Text 18"/>
          <p:cNvSpPr/>
          <p:nvPr/>
        </p:nvSpPr>
        <p:spPr>
          <a:xfrm>
            <a:off x="4480560" y="4718304"/>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새 화면 하나를 컴포넌트만 꺼내 조립합니다. 십 분 안에 끝나는지 확인합니다.</a:t>
            </a:r>
            <a:endParaRPr lang="en-US" sz="11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
        <p:nvSpPr>
          <p:cNvPr id="22" name="Text 2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5주차 남은 화면으로 넓히기</a:t>
            </a:r>
            <a:endParaRPr lang="en-US" sz="850" dirty="0"/>
          </a:p>
        </p:txBody>
      </p:sp>
      <p:sp>
        <p:nvSpPr>
          <p:cNvPr id="23" name="Text 2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VERIFY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확인 — 기준 구간이 끝났는가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2인 1조로 서로의 파일에서 확인합니다.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이렇게 확인합니다</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새 화면 하나를 십 분 안에 조립할 수 있는지 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입력 요소의 다섯 상태와 세그먼트 탭이 배리언트로 들어 있는지 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상태 화면 세 장이 컴포넌트로 조립되었는지 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규격 표에 아이콘 · 입력 · 버튼 · 세그먼트 탭이 이어 적혀 있는지 봅니다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자주 나오는 문제</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아이콘을 여러 세트에서 가져와 굵기가 제각각인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오류 상태를 색으로만 구분해 선 굵기가 같은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세그먼트 탭에 항목을 다섯 개 이상 넣어 글자가 줄어든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상태 화면을 컴포넌트 없이 따로 그린 경우</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네 가지가 다 되면 기준 구간이 끝난 것입니다. 다음 주부터는 이 시스템으로 화면을 늘리는 일만 남습니다.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5주차 남은 화면으로 넓히기</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디자인 점검표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주부터 이 시스템으로 화면을 늘립니다.</a:t>
            </a:r>
            <a:endParaRPr lang="en-US" sz="1150" dirty="0"/>
          </a:p>
        </p:txBody>
      </p:sp>
      <p:sp>
        <p:nvSpPr>
          <p:cNvPr id="9" name="Shape 7"/>
          <p:cNvSpPr/>
          <p:nvPr/>
        </p:nvSpPr>
        <p:spPr>
          <a:xfrm>
            <a:off x="640080" y="1755648"/>
            <a:ext cx="5254600" cy="270256"/>
          </a:xfrm>
          <a:prstGeom prst="rect">
            <a:avLst/>
          </a:prstGeom>
          <a:solidFill>
            <a:srgbClr val="F2F2F2"/>
          </a:solidFill>
          <a:ln w="12700">
            <a:solidFill>
              <a:srgbClr val="F2F2F2"/>
            </a:solidFill>
            <a:prstDash val="solid"/>
          </a:ln>
        </p:spPr>
      </p:sp>
      <p:sp>
        <p:nvSpPr>
          <p:cNvPr id="10" name="Shape 8"/>
          <p:cNvSpPr/>
          <p:nvPr/>
        </p:nvSpPr>
        <p:spPr>
          <a:xfrm>
            <a:off x="914400" y="1762760"/>
            <a:ext cx="256032" cy="256032"/>
          </a:xfrm>
          <a:prstGeom prst="ellipse">
            <a:avLst/>
          </a:prstGeom>
          <a:solidFill>
            <a:srgbClr val="F2F2F2"/>
          </a:solidFill>
          <a:ln w="12700">
            <a:solidFill>
              <a:srgbClr val="111111"/>
            </a:solidFill>
            <a:prstDash val="solid"/>
          </a:ln>
        </p:spPr>
      </p:sp>
      <p:sp>
        <p:nvSpPr>
          <p:cNvPr id="11" name="Text 9"/>
          <p:cNvSpPr/>
          <p:nvPr/>
        </p:nvSpPr>
        <p:spPr>
          <a:xfrm>
            <a:off x="914400" y="176276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01</a:t>
            </a:r>
            <a:endParaRPr lang="en-US" sz="800" dirty="0"/>
          </a:p>
        </p:txBody>
      </p:sp>
      <p:sp>
        <p:nvSpPr>
          <p:cNvPr id="12" name="Text 10"/>
          <p:cNvSpPr/>
          <p:nvPr/>
        </p:nvSpPr>
        <p:spPr>
          <a:xfrm>
            <a:off x="1298448" y="175564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아이콘 세트 이름이 규격 표에 적혀 있다</a:t>
            </a:r>
            <a:endParaRPr lang="en-US" sz="1050" dirty="0"/>
          </a:p>
        </p:txBody>
      </p:sp>
      <p:sp>
        <p:nvSpPr>
          <p:cNvPr id="13" name="Shape 11"/>
          <p:cNvSpPr/>
          <p:nvPr/>
        </p:nvSpPr>
        <p:spPr>
          <a:xfrm>
            <a:off x="640080" y="2172208"/>
            <a:ext cx="5254600" cy="270256"/>
          </a:xfrm>
          <a:prstGeom prst="rect">
            <a:avLst/>
          </a:prstGeom>
          <a:solidFill>
            <a:srgbClr val="F2F2F2"/>
          </a:solidFill>
          <a:ln w="12700">
            <a:solidFill>
              <a:srgbClr val="F2F2F2"/>
            </a:solidFill>
            <a:prstDash val="solid"/>
          </a:ln>
        </p:spPr>
      </p:sp>
      <p:sp>
        <p:nvSpPr>
          <p:cNvPr id="14" name="Shape 12"/>
          <p:cNvSpPr/>
          <p:nvPr/>
        </p:nvSpPr>
        <p:spPr>
          <a:xfrm>
            <a:off x="914400" y="2179320"/>
            <a:ext cx="256032" cy="256032"/>
          </a:xfrm>
          <a:prstGeom prst="ellipse">
            <a:avLst/>
          </a:prstGeom>
          <a:solidFill>
            <a:srgbClr val="F2F2F2"/>
          </a:solidFill>
          <a:ln w="12700">
            <a:solidFill>
              <a:srgbClr val="111111"/>
            </a:solidFill>
            <a:prstDash val="solid"/>
          </a:ln>
        </p:spPr>
      </p:sp>
      <p:sp>
        <p:nvSpPr>
          <p:cNvPr id="15" name="Text 13"/>
          <p:cNvSpPr/>
          <p:nvPr/>
        </p:nvSpPr>
        <p:spPr>
          <a:xfrm>
            <a:off x="914400" y="217932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02</a:t>
            </a:r>
            <a:endParaRPr lang="en-US" sz="800" dirty="0"/>
          </a:p>
        </p:txBody>
      </p:sp>
      <p:sp>
        <p:nvSpPr>
          <p:cNvPr id="16" name="Text 14"/>
          <p:cNvSpPr/>
          <p:nvPr/>
        </p:nvSpPr>
        <p:spPr>
          <a:xfrm>
            <a:off x="1298448" y="217220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아이콘 크기가 세 개 안에서만 쓰였다</a:t>
            </a:r>
            <a:endParaRPr lang="en-US" sz="1050" dirty="0"/>
          </a:p>
        </p:txBody>
      </p:sp>
      <p:sp>
        <p:nvSpPr>
          <p:cNvPr id="17" name="Shape 15"/>
          <p:cNvSpPr/>
          <p:nvPr/>
        </p:nvSpPr>
        <p:spPr>
          <a:xfrm>
            <a:off x="640080" y="2588768"/>
            <a:ext cx="5254600" cy="270256"/>
          </a:xfrm>
          <a:prstGeom prst="rect">
            <a:avLst/>
          </a:prstGeom>
          <a:solidFill>
            <a:srgbClr val="F2F2F2"/>
          </a:solidFill>
          <a:ln w="12700">
            <a:solidFill>
              <a:srgbClr val="F2F2F2"/>
            </a:solidFill>
            <a:prstDash val="solid"/>
          </a:ln>
        </p:spPr>
      </p:sp>
      <p:sp>
        <p:nvSpPr>
          <p:cNvPr id="18" name="Shape 16"/>
          <p:cNvSpPr/>
          <p:nvPr/>
        </p:nvSpPr>
        <p:spPr>
          <a:xfrm>
            <a:off x="914400" y="2595880"/>
            <a:ext cx="256032" cy="256032"/>
          </a:xfrm>
          <a:prstGeom prst="ellipse">
            <a:avLst/>
          </a:prstGeom>
          <a:solidFill>
            <a:srgbClr val="F2F2F2"/>
          </a:solidFill>
          <a:ln w="12700">
            <a:solidFill>
              <a:srgbClr val="111111"/>
            </a:solidFill>
            <a:prstDash val="solid"/>
          </a:ln>
        </p:spPr>
      </p:sp>
      <p:sp>
        <p:nvSpPr>
          <p:cNvPr id="19" name="Text 17"/>
          <p:cNvSpPr/>
          <p:nvPr/>
        </p:nvSpPr>
        <p:spPr>
          <a:xfrm>
            <a:off x="914400" y="259588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03</a:t>
            </a:r>
            <a:endParaRPr lang="en-US" sz="800" dirty="0"/>
          </a:p>
        </p:txBody>
      </p:sp>
      <p:sp>
        <p:nvSpPr>
          <p:cNvPr id="20" name="Text 18"/>
          <p:cNvSpPr/>
          <p:nvPr/>
        </p:nvSpPr>
        <p:spPr>
          <a:xfrm>
            <a:off x="1298448" y="258876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아이콘 선 굵기가 전부 같다</a:t>
            </a:r>
            <a:endParaRPr lang="en-US" sz="1050" dirty="0"/>
          </a:p>
        </p:txBody>
      </p:sp>
      <p:sp>
        <p:nvSpPr>
          <p:cNvPr id="21" name="Shape 19"/>
          <p:cNvSpPr/>
          <p:nvPr/>
        </p:nvSpPr>
        <p:spPr>
          <a:xfrm>
            <a:off x="640080" y="3005328"/>
            <a:ext cx="5254600" cy="270256"/>
          </a:xfrm>
          <a:prstGeom prst="rect">
            <a:avLst/>
          </a:prstGeom>
          <a:solidFill>
            <a:srgbClr val="F2F2F2"/>
          </a:solidFill>
          <a:ln w="12700">
            <a:solidFill>
              <a:srgbClr val="F2F2F2"/>
            </a:solidFill>
            <a:prstDash val="solid"/>
          </a:ln>
        </p:spPr>
      </p:sp>
      <p:sp>
        <p:nvSpPr>
          <p:cNvPr id="22" name="Shape 20"/>
          <p:cNvSpPr/>
          <p:nvPr/>
        </p:nvSpPr>
        <p:spPr>
          <a:xfrm>
            <a:off x="914400" y="3012440"/>
            <a:ext cx="256032" cy="256032"/>
          </a:xfrm>
          <a:prstGeom prst="ellipse">
            <a:avLst/>
          </a:prstGeom>
          <a:solidFill>
            <a:srgbClr val="F2F2F2"/>
          </a:solidFill>
          <a:ln w="12700">
            <a:solidFill>
              <a:srgbClr val="111111"/>
            </a:solidFill>
            <a:prstDash val="solid"/>
          </a:ln>
        </p:spPr>
      </p:sp>
      <p:sp>
        <p:nvSpPr>
          <p:cNvPr id="23" name="Text 21"/>
          <p:cNvSpPr/>
          <p:nvPr/>
        </p:nvSpPr>
        <p:spPr>
          <a:xfrm>
            <a:off x="914400" y="301244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04</a:t>
            </a:r>
            <a:endParaRPr lang="en-US" sz="800" dirty="0"/>
          </a:p>
        </p:txBody>
      </p:sp>
      <p:sp>
        <p:nvSpPr>
          <p:cNvPr id="24" name="Text 22"/>
          <p:cNvSpPr/>
          <p:nvPr/>
        </p:nvSpPr>
        <p:spPr>
          <a:xfrm>
            <a:off x="1298448" y="300532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아이콘 터치 영역이 44 로 잡혀 있다</a:t>
            </a:r>
            <a:endParaRPr lang="en-US" sz="1050" dirty="0"/>
          </a:p>
        </p:txBody>
      </p:sp>
      <p:sp>
        <p:nvSpPr>
          <p:cNvPr id="25" name="Shape 23"/>
          <p:cNvSpPr/>
          <p:nvPr/>
        </p:nvSpPr>
        <p:spPr>
          <a:xfrm>
            <a:off x="640080" y="3421888"/>
            <a:ext cx="5254600" cy="270256"/>
          </a:xfrm>
          <a:prstGeom prst="rect">
            <a:avLst/>
          </a:prstGeom>
          <a:solidFill>
            <a:srgbClr val="F2F2F2"/>
          </a:solidFill>
          <a:ln w="12700">
            <a:solidFill>
              <a:srgbClr val="F2F2F2"/>
            </a:solidFill>
            <a:prstDash val="solid"/>
          </a:ln>
        </p:spPr>
      </p:sp>
      <p:sp>
        <p:nvSpPr>
          <p:cNvPr id="26" name="Shape 24"/>
          <p:cNvSpPr/>
          <p:nvPr/>
        </p:nvSpPr>
        <p:spPr>
          <a:xfrm>
            <a:off x="914400" y="3429000"/>
            <a:ext cx="256032" cy="256032"/>
          </a:xfrm>
          <a:prstGeom prst="ellipse">
            <a:avLst/>
          </a:prstGeom>
          <a:solidFill>
            <a:srgbClr val="F2F2F2"/>
          </a:solidFill>
          <a:ln w="12700">
            <a:solidFill>
              <a:srgbClr val="111111"/>
            </a:solidFill>
            <a:prstDash val="solid"/>
          </a:ln>
        </p:spPr>
      </p:sp>
      <p:sp>
        <p:nvSpPr>
          <p:cNvPr id="27" name="Text 25"/>
          <p:cNvSpPr/>
          <p:nvPr/>
        </p:nvSpPr>
        <p:spPr>
          <a:xfrm>
            <a:off x="914400" y="342900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05</a:t>
            </a:r>
            <a:endParaRPr lang="en-US" sz="800" dirty="0"/>
          </a:p>
        </p:txBody>
      </p:sp>
      <p:sp>
        <p:nvSpPr>
          <p:cNvPr id="28" name="Text 26"/>
          <p:cNvSpPr/>
          <p:nvPr/>
        </p:nvSpPr>
        <p:spPr>
          <a:xfrm>
            <a:off x="1298448" y="342188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입력 요소의 다섯 상태가 배리언트로 들어 있다</a:t>
            </a:r>
            <a:endParaRPr lang="en-US" sz="1050" dirty="0"/>
          </a:p>
        </p:txBody>
      </p:sp>
      <p:sp>
        <p:nvSpPr>
          <p:cNvPr id="29" name="Shape 27"/>
          <p:cNvSpPr/>
          <p:nvPr/>
        </p:nvSpPr>
        <p:spPr>
          <a:xfrm>
            <a:off x="640080" y="3838448"/>
            <a:ext cx="5254600" cy="270256"/>
          </a:xfrm>
          <a:prstGeom prst="rect">
            <a:avLst/>
          </a:prstGeom>
          <a:solidFill>
            <a:srgbClr val="F2F2F2"/>
          </a:solidFill>
          <a:ln w="12700">
            <a:solidFill>
              <a:srgbClr val="F2F2F2"/>
            </a:solidFill>
            <a:prstDash val="solid"/>
          </a:ln>
        </p:spPr>
      </p:sp>
      <p:sp>
        <p:nvSpPr>
          <p:cNvPr id="30" name="Shape 28"/>
          <p:cNvSpPr/>
          <p:nvPr/>
        </p:nvSpPr>
        <p:spPr>
          <a:xfrm>
            <a:off x="914400" y="3845560"/>
            <a:ext cx="256032" cy="256032"/>
          </a:xfrm>
          <a:prstGeom prst="ellipse">
            <a:avLst/>
          </a:prstGeom>
          <a:solidFill>
            <a:srgbClr val="F2F2F2"/>
          </a:solidFill>
          <a:ln w="12700">
            <a:solidFill>
              <a:srgbClr val="111111"/>
            </a:solidFill>
            <a:prstDash val="solid"/>
          </a:ln>
        </p:spPr>
      </p:sp>
      <p:sp>
        <p:nvSpPr>
          <p:cNvPr id="31" name="Text 29"/>
          <p:cNvSpPr/>
          <p:nvPr/>
        </p:nvSpPr>
        <p:spPr>
          <a:xfrm>
            <a:off x="914400" y="384556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06</a:t>
            </a:r>
            <a:endParaRPr lang="en-US" sz="800" dirty="0"/>
          </a:p>
        </p:txBody>
      </p:sp>
      <p:sp>
        <p:nvSpPr>
          <p:cNvPr id="32" name="Text 30"/>
          <p:cNvSpPr/>
          <p:nvPr/>
        </p:nvSpPr>
        <p:spPr>
          <a:xfrm>
            <a:off x="1298448" y="383844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상태를 색이 아니라 선 굵기로도 구분할 수 있다</a:t>
            </a:r>
            <a:endParaRPr lang="en-US" sz="1050" dirty="0"/>
          </a:p>
        </p:txBody>
      </p:sp>
      <p:sp>
        <p:nvSpPr>
          <p:cNvPr id="33" name="Shape 31"/>
          <p:cNvSpPr/>
          <p:nvPr/>
        </p:nvSpPr>
        <p:spPr>
          <a:xfrm>
            <a:off x="640080" y="4255008"/>
            <a:ext cx="5254600" cy="270256"/>
          </a:xfrm>
          <a:prstGeom prst="rect">
            <a:avLst/>
          </a:prstGeom>
          <a:solidFill>
            <a:srgbClr val="F2F2F2"/>
          </a:solidFill>
          <a:ln w="12700">
            <a:solidFill>
              <a:srgbClr val="F2F2F2"/>
            </a:solidFill>
            <a:prstDash val="solid"/>
          </a:ln>
        </p:spPr>
      </p:sp>
      <p:sp>
        <p:nvSpPr>
          <p:cNvPr id="34" name="Shape 32"/>
          <p:cNvSpPr/>
          <p:nvPr/>
        </p:nvSpPr>
        <p:spPr>
          <a:xfrm>
            <a:off x="914400" y="4262120"/>
            <a:ext cx="256032" cy="256032"/>
          </a:xfrm>
          <a:prstGeom prst="ellipse">
            <a:avLst/>
          </a:prstGeom>
          <a:solidFill>
            <a:srgbClr val="F2F2F2"/>
          </a:solidFill>
          <a:ln w="12700">
            <a:solidFill>
              <a:srgbClr val="111111"/>
            </a:solidFill>
            <a:prstDash val="solid"/>
          </a:ln>
        </p:spPr>
      </p:sp>
      <p:sp>
        <p:nvSpPr>
          <p:cNvPr id="35" name="Text 33"/>
          <p:cNvSpPr/>
          <p:nvPr/>
        </p:nvSpPr>
        <p:spPr>
          <a:xfrm>
            <a:off x="914400" y="426212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07</a:t>
            </a:r>
            <a:endParaRPr lang="en-US" sz="800" dirty="0"/>
          </a:p>
        </p:txBody>
      </p:sp>
      <p:sp>
        <p:nvSpPr>
          <p:cNvPr id="36" name="Text 34"/>
          <p:cNvSpPr/>
          <p:nvPr/>
        </p:nvSpPr>
        <p:spPr>
          <a:xfrm>
            <a:off x="1298448" y="425500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오류 메시지 자리가 미리 잡혀 있어 다른 요소가 밀리지 않는다</a:t>
            </a:r>
            <a:endParaRPr lang="en-US" sz="1050" dirty="0"/>
          </a:p>
        </p:txBody>
      </p:sp>
      <p:sp>
        <p:nvSpPr>
          <p:cNvPr id="37" name="Shape 35"/>
          <p:cNvSpPr/>
          <p:nvPr/>
        </p:nvSpPr>
        <p:spPr>
          <a:xfrm>
            <a:off x="640080" y="4671568"/>
            <a:ext cx="5254600" cy="270256"/>
          </a:xfrm>
          <a:prstGeom prst="rect">
            <a:avLst/>
          </a:prstGeom>
          <a:solidFill>
            <a:srgbClr val="F2F2F2"/>
          </a:solidFill>
          <a:ln w="12700">
            <a:solidFill>
              <a:srgbClr val="F2F2F2"/>
            </a:solidFill>
            <a:prstDash val="solid"/>
          </a:ln>
        </p:spPr>
      </p:sp>
      <p:sp>
        <p:nvSpPr>
          <p:cNvPr id="38" name="Shape 36"/>
          <p:cNvSpPr/>
          <p:nvPr/>
        </p:nvSpPr>
        <p:spPr>
          <a:xfrm>
            <a:off x="914400" y="4678680"/>
            <a:ext cx="256032" cy="256032"/>
          </a:xfrm>
          <a:prstGeom prst="ellipse">
            <a:avLst/>
          </a:prstGeom>
          <a:solidFill>
            <a:srgbClr val="F2F2F2"/>
          </a:solidFill>
          <a:ln w="12700">
            <a:solidFill>
              <a:srgbClr val="111111"/>
            </a:solidFill>
            <a:prstDash val="solid"/>
          </a:ln>
        </p:spPr>
      </p:sp>
      <p:sp>
        <p:nvSpPr>
          <p:cNvPr id="39" name="Text 37"/>
          <p:cNvSpPr/>
          <p:nvPr/>
        </p:nvSpPr>
        <p:spPr>
          <a:xfrm>
            <a:off x="914400" y="467868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08</a:t>
            </a:r>
            <a:endParaRPr lang="en-US" sz="800" dirty="0"/>
          </a:p>
        </p:txBody>
      </p:sp>
      <p:sp>
        <p:nvSpPr>
          <p:cNvPr id="40" name="Text 38"/>
          <p:cNvSpPr/>
          <p:nvPr/>
        </p:nvSpPr>
        <p:spPr>
          <a:xfrm>
            <a:off x="1298448" y="467156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버튼이 세 등급으로 나뉘어 있다</a:t>
            </a:r>
            <a:endParaRPr lang="en-US" sz="1050" dirty="0"/>
          </a:p>
        </p:txBody>
      </p:sp>
      <p:sp>
        <p:nvSpPr>
          <p:cNvPr id="41" name="Shape 39"/>
          <p:cNvSpPr/>
          <p:nvPr/>
        </p:nvSpPr>
        <p:spPr>
          <a:xfrm>
            <a:off x="640080" y="5088128"/>
            <a:ext cx="5254600" cy="270256"/>
          </a:xfrm>
          <a:prstGeom prst="rect">
            <a:avLst/>
          </a:prstGeom>
          <a:solidFill>
            <a:srgbClr val="F2F2F2"/>
          </a:solidFill>
          <a:ln w="12700">
            <a:solidFill>
              <a:srgbClr val="F2F2F2"/>
            </a:solidFill>
            <a:prstDash val="solid"/>
          </a:ln>
        </p:spPr>
      </p:sp>
      <p:sp>
        <p:nvSpPr>
          <p:cNvPr id="42" name="Shape 40"/>
          <p:cNvSpPr/>
          <p:nvPr/>
        </p:nvSpPr>
        <p:spPr>
          <a:xfrm>
            <a:off x="914400" y="5095240"/>
            <a:ext cx="256032" cy="256032"/>
          </a:xfrm>
          <a:prstGeom prst="ellipse">
            <a:avLst/>
          </a:prstGeom>
          <a:solidFill>
            <a:srgbClr val="F2F2F2"/>
          </a:solidFill>
          <a:ln w="12700">
            <a:solidFill>
              <a:srgbClr val="111111"/>
            </a:solidFill>
            <a:prstDash val="solid"/>
          </a:ln>
        </p:spPr>
      </p:sp>
      <p:sp>
        <p:nvSpPr>
          <p:cNvPr id="43" name="Text 41"/>
          <p:cNvSpPr/>
          <p:nvPr/>
        </p:nvSpPr>
        <p:spPr>
          <a:xfrm>
            <a:off x="914400" y="509524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09</a:t>
            </a:r>
            <a:endParaRPr lang="en-US" sz="800" dirty="0"/>
          </a:p>
        </p:txBody>
      </p:sp>
      <p:sp>
        <p:nvSpPr>
          <p:cNvPr id="44" name="Text 42"/>
          <p:cNvSpPr/>
          <p:nvPr/>
        </p:nvSpPr>
        <p:spPr>
          <a:xfrm>
            <a:off x="1298448" y="508812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한 화면에 기본 버튼이 하나뿐이다</a:t>
            </a:r>
            <a:endParaRPr lang="en-US" sz="1050" dirty="0"/>
          </a:p>
        </p:txBody>
      </p:sp>
      <p:sp>
        <p:nvSpPr>
          <p:cNvPr id="45" name="Shape 43"/>
          <p:cNvSpPr/>
          <p:nvPr/>
        </p:nvSpPr>
        <p:spPr>
          <a:xfrm>
            <a:off x="6297016" y="1755648"/>
            <a:ext cx="5254600" cy="270256"/>
          </a:xfrm>
          <a:prstGeom prst="rect">
            <a:avLst/>
          </a:prstGeom>
          <a:solidFill>
            <a:srgbClr val="F2F2F2"/>
          </a:solidFill>
          <a:ln w="12700">
            <a:solidFill>
              <a:srgbClr val="F2F2F2"/>
            </a:solidFill>
            <a:prstDash val="solid"/>
          </a:ln>
        </p:spPr>
      </p:sp>
      <p:sp>
        <p:nvSpPr>
          <p:cNvPr id="46" name="Shape 44"/>
          <p:cNvSpPr/>
          <p:nvPr/>
        </p:nvSpPr>
        <p:spPr>
          <a:xfrm>
            <a:off x="6571336" y="1762760"/>
            <a:ext cx="256032" cy="256032"/>
          </a:xfrm>
          <a:prstGeom prst="ellipse">
            <a:avLst/>
          </a:prstGeom>
          <a:solidFill>
            <a:srgbClr val="F2F2F2"/>
          </a:solidFill>
          <a:ln w="12700">
            <a:solidFill>
              <a:srgbClr val="111111"/>
            </a:solidFill>
            <a:prstDash val="solid"/>
          </a:ln>
        </p:spPr>
      </p:sp>
      <p:sp>
        <p:nvSpPr>
          <p:cNvPr id="47" name="Text 45"/>
          <p:cNvSpPr/>
          <p:nvPr/>
        </p:nvSpPr>
        <p:spPr>
          <a:xfrm>
            <a:off x="6571336" y="176276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10</a:t>
            </a:r>
            <a:endParaRPr lang="en-US" sz="800" dirty="0"/>
          </a:p>
        </p:txBody>
      </p:sp>
      <p:sp>
        <p:nvSpPr>
          <p:cNvPr id="48" name="Text 46"/>
          <p:cNvSpPr/>
          <p:nvPr/>
        </p:nvSpPr>
        <p:spPr>
          <a:xfrm>
            <a:off x="6955384" y="175564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세그먼트 탭이 항목 수에 맞는 형태로 되어 있다</a:t>
            </a:r>
            <a:endParaRPr lang="en-US" sz="1050" dirty="0"/>
          </a:p>
        </p:txBody>
      </p:sp>
      <p:sp>
        <p:nvSpPr>
          <p:cNvPr id="49" name="Shape 47"/>
          <p:cNvSpPr/>
          <p:nvPr/>
        </p:nvSpPr>
        <p:spPr>
          <a:xfrm>
            <a:off x="6297016" y="2172208"/>
            <a:ext cx="5254600" cy="270256"/>
          </a:xfrm>
          <a:prstGeom prst="rect">
            <a:avLst/>
          </a:prstGeom>
          <a:solidFill>
            <a:srgbClr val="F2F2F2"/>
          </a:solidFill>
          <a:ln w="12700">
            <a:solidFill>
              <a:srgbClr val="F2F2F2"/>
            </a:solidFill>
            <a:prstDash val="solid"/>
          </a:ln>
        </p:spPr>
      </p:sp>
      <p:sp>
        <p:nvSpPr>
          <p:cNvPr id="50" name="Shape 48"/>
          <p:cNvSpPr/>
          <p:nvPr/>
        </p:nvSpPr>
        <p:spPr>
          <a:xfrm>
            <a:off x="6571336" y="2179320"/>
            <a:ext cx="256032" cy="256032"/>
          </a:xfrm>
          <a:prstGeom prst="ellipse">
            <a:avLst/>
          </a:prstGeom>
          <a:solidFill>
            <a:srgbClr val="F2F2F2"/>
          </a:solidFill>
          <a:ln w="12700">
            <a:solidFill>
              <a:srgbClr val="111111"/>
            </a:solidFill>
            <a:prstDash val="solid"/>
          </a:ln>
        </p:spPr>
      </p:sp>
      <p:sp>
        <p:nvSpPr>
          <p:cNvPr id="51" name="Text 49"/>
          <p:cNvSpPr/>
          <p:nvPr/>
        </p:nvSpPr>
        <p:spPr>
          <a:xfrm>
            <a:off x="6571336" y="217932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11</a:t>
            </a:r>
            <a:endParaRPr lang="en-US" sz="800" dirty="0"/>
          </a:p>
        </p:txBody>
      </p:sp>
      <p:sp>
        <p:nvSpPr>
          <p:cNvPr id="52" name="Text 50"/>
          <p:cNvSpPr/>
          <p:nvPr/>
        </p:nvSpPr>
        <p:spPr>
          <a:xfrm>
            <a:off x="6955384" y="217220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세그먼트 탭이 화면 안의 내용만 바꾸고 화면 전체를 바꾸지 않는다</a:t>
            </a:r>
            <a:endParaRPr lang="en-US" sz="1050" dirty="0"/>
          </a:p>
        </p:txBody>
      </p:sp>
      <p:sp>
        <p:nvSpPr>
          <p:cNvPr id="53" name="Shape 51"/>
          <p:cNvSpPr/>
          <p:nvPr/>
        </p:nvSpPr>
        <p:spPr>
          <a:xfrm>
            <a:off x="6297016" y="2588768"/>
            <a:ext cx="5254600" cy="270256"/>
          </a:xfrm>
          <a:prstGeom prst="rect">
            <a:avLst/>
          </a:prstGeom>
          <a:solidFill>
            <a:srgbClr val="F2F2F2"/>
          </a:solidFill>
          <a:ln w="12700">
            <a:solidFill>
              <a:srgbClr val="F2F2F2"/>
            </a:solidFill>
            <a:prstDash val="solid"/>
          </a:ln>
        </p:spPr>
      </p:sp>
      <p:sp>
        <p:nvSpPr>
          <p:cNvPr id="54" name="Shape 52"/>
          <p:cNvSpPr/>
          <p:nvPr/>
        </p:nvSpPr>
        <p:spPr>
          <a:xfrm>
            <a:off x="6571336" y="2595880"/>
            <a:ext cx="256032" cy="256032"/>
          </a:xfrm>
          <a:prstGeom prst="ellipse">
            <a:avLst/>
          </a:prstGeom>
          <a:solidFill>
            <a:srgbClr val="F2F2F2"/>
          </a:solidFill>
          <a:ln w="12700">
            <a:solidFill>
              <a:srgbClr val="111111"/>
            </a:solidFill>
            <a:prstDash val="solid"/>
          </a:ln>
        </p:spPr>
      </p:sp>
      <p:sp>
        <p:nvSpPr>
          <p:cNvPr id="55" name="Text 53"/>
          <p:cNvSpPr/>
          <p:nvPr/>
        </p:nvSpPr>
        <p:spPr>
          <a:xfrm>
            <a:off x="6571336" y="259588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12</a:t>
            </a:r>
            <a:endParaRPr lang="en-US" sz="800" dirty="0"/>
          </a:p>
        </p:txBody>
      </p:sp>
      <p:sp>
        <p:nvSpPr>
          <p:cNvPr id="56" name="Text 54"/>
          <p:cNvSpPr/>
          <p:nvPr/>
        </p:nvSpPr>
        <p:spPr>
          <a:xfrm>
            <a:off x="6955384" y="258876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입력 · 버튼의 색과 글자가 토큰으로 걸려 있다</a:t>
            </a:r>
            <a:endParaRPr lang="en-US" sz="1050" dirty="0"/>
          </a:p>
        </p:txBody>
      </p:sp>
      <p:sp>
        <p:nvSpPr>
          <p:cNvPr id="57" name="Shape 55"/>
          <p:cNvSpPr/>
          <p:nvPr/>
        </p:nvSpPr>
        <p:spPr>
          <a:xfrm>
            <a:off x="6297016" y="3005328"/>
            <a:ext cx="5254600" cy="270256"/>
          </a:xfrm>
          <a:prstGeom prst="rect">
            <a:avLst/>
          </a:prstGeom>
          <a:solidFill>
            <a:srgbClr val="F2F2F2"/>
          </a:solidFill>
          <a:ln w="12700">
            <a:solidFill>
              <a:srgbClr val="F2F2F2"/>
            </a:solidFill>
            <a:prstDash val="solid"/>
          </a:ln>
        </p:spPr>
      </p:sp>
      <p:sp>
        <p:nvSpPr>
          <p:cNvPr id="58" name="Shape 56"/>
          <p:cNvSpPr/>
          <p:nvPr/>
        </p:nvSpPr>
        <p:spPr>
          <a:xfrm>
            <a:off x="6571336" y="3012440"/>
            <a:ext cx="256032" cy="256032"/>
          </a:xfrm>
          <a:prstGeom prst="ellipse">
            <a:avLst/>
          </a:prstGeom>
          <a:solidFill>
            <a:srgbClr val="F2F2F2"/>
          </a:solidFill>
          <a:ln w="12700">
            <a:solidFill>
              <a:srgbClr val="111111"/>
            </a:solidFill>
            <a:prstDash val="solid"/>
          </a:ln>
        </p:spPr>
      </p:sp>
      <p:sp>
        <p:nvSpPr>
          <p:cNvPr id="59" name="Text 57"/>
          <p:cNvSpPr/>
          <p:nvPr/>
        </p:nvSpPr>
        <p:spPr>
          <a:xfrm>
            <a:off x="6571336" y="301244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13</a:t>
            </a:r>
            <a:endParaRPr lang="en-US" sz="800" dirty="0"/>
          </a:p>
        </p:txBody>
      </p:sp>
      <p:sp>
        <p:nvSpPr>
          <p:cNvPr id="60" name="Text 58"/>
          <p:cNvSpPr/>
          <p:nvPr/>
        </p:nvSpPr>
        <p:spPr>
          <a:xfrm>
            <a:off x="6955384" y="300532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빈 화면 · 불러오는 중 · 오류 세 장이 있다</a:t>
            </a:r>
            <a:endParaRPr lang="en-US" sz="1050" dirty="0"/>
          </a:p>
        </p:txBody>
      </p:sp>
      <p:sp>
        <p:nvSpPr>
          <p:cNvPr id="61" name="Shape 59"/>
          <p:cNvSpPr/>
          <p:nvPr/>
        </p:nvSpPr>
        <p:spPr>
          <a:xfrm>
            <a:off x="6297016" y="3421888"/>
            <a:ext cx="5254600" cy="270256"/>
          </a:xfrm>
          <a:prstGeom prst="rect">
            <a:avLst/>
          </a:prstGeom>
          <a:solidFill>
            <a:srgbClr val="F2F2F2"/>
          </a:solidFill>
          <a:ln w="12700">
            <a:solidFill>
              <a:srgbClr val="F2F2F2"/>
            </a:solidFill>
            <a:prstDash val="solid"/>
          </a:ln>
        </p:spPr>
      </p:sp>
      <p:sp>
        <p:nvSpPr>
          <p:cNvPr id="62" name="Shape 60"/>
          <p:cNvSpPr/>
          <p:nvPr/>
        </p:nvSpPr>
        <p:spPr>
          <a:xfrm>
            <a:off x="6571336" y="3429000"/>
            <a:ext cx="256032" cy="256032"/>
          </a:xfrm>
          <a:prstGeom prst="ellipse">
            <a:avLst/>
          </a:prstGeom>
          <a:solidFill>
            <a:srgbClr val="F2F2F2"/>
          </a:solidFill>
          <a:ln w="12700">
            <a:solidFill>
              <a:srgbClr val="111111"/>
            </a:solidFill>
            <a:prstDash val="solid"/>
          </a:ln>
        </p:spPr>
      </p:sp>
      <p:sp>
        <p:nvSpPr>
          <p:cNvPr id="63" name="Text 61"/>
          <p:cNvSpPr/>
          <p:nvPr/>
        </p:nvSpPr>
        <p:spPr>
          <a:xfrm>
            <a:off x="6571336" y="342900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14</a:t>
            </a:r>
            <a:endParaRPr lang="en-US" sz="800" dirty="0"/>
          </a:p>
        </p:txBody>
      </p:sp>
      <p:sp>
        <p:nvSpPr>
          <p:cNvPr id="64" name="Text 62"/>
          <p:cNvSpPr/>
          <p:nvPr/>
        </p:nvSpPr>
        <p:spPr>
          <a:xfrm>
            <a:off x="6955384" y="342188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빈 화면에 다음에 할 일과 버튼이 있다</a:t>
            </a:r>
            <a:endParaRPr lang="en-US" sz="1050" dirty="0"/>
          </a:p>
        </p:txBody>
      </p:sp>
      <p:sp>
        <p:nvSpPr>
          <p:cNvPr id="65" name="Shape 63"/>
          <p:cNvSpPr/>
          <p:nvPr/>
        </p:nvSpPr>
        <p:spPr>
          <a:xfrm>
            <a:off x="6297016" y="3838448"/>
            <a:ext cx="5254600" cy="270256"/>
          </a:xfrm>
          <a:prstGeom prst="rect">
            <a:avLst/>
          </a:prstGeom>
          <a:solidFill>
            <a:srgbClr val="F2F2F2"/>
          </a:solidFill>
          <a:ln w="12700">
            <a:solidFill>
              <a:srgbClr val="F2F2F2"/>
            </a:solidFill>
            <a:prstDash val="solid"/>
          </a:ln>
        </p:spPr>
      </p:sp>
      <p:sp>
        <p:nvSpPr>
          <p:cNvPr id="66" name="Shape 64"/>
          <p:cNvSpPr/>
          <p:nvPr/>
        </p:nvSpPr>
        <p:spPr>
          <a:xfrm>
            <a:off x="6571336" y="3845560"/>
            <a:ext cx="256032" cy="256032"/>
          </a:xfrm>
          <a:prstGeom prst="ellipse">
            <a:avLst/>
          </a:prstGeom>
          <a:solidFill>
            <a:srgbClr val="F2F2F2"/>
          </a:solidFill>
          <a:ln w="12700">
            <a:solidFill>
              <a:srgbClr val="111111"/>
            </a:solidFill>
            <a:prstDash val="solid"/>
          </a:ln>
        </p:spPr>
      </p:sp>
      <p:sp>
        <p:nvSpPr>
          <p:cNvPr id="67" name="Text 65"/>
          <p:cNvSpPr/>
          <p:nvPr/>
        </p:nvSpPr>
        <p:spPr>
          <a:xfrm>
            <a:off x="6571336" y="384556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15</a:t>
            </a:r>
            <a:endParaRPr lang="en-US" sz="800" dirty="0"/>
          </a:p>
        </p:txBody>
      </p:sp>
      <p:sp>
        <p:nvSpPr>
          <p:cNvPr id="68" name="Text 66"/>
          <p:cNvSpPr/>
          <p:nvPr/>
        </p:nvSpPr>
        <p:spPr>
          <a:xfrm>
            <a:off x="6955384" y="383844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오류 메시지가 무엇이 · 왜 · 무엇을 하면 되는지 세 줄로 되어 있다</a:t>
            </a:r>
            <a:endParaRPr lang="en-US" sz="1050" dirty="0"/>
          </a:p>
        </p:txBody>
      </p:sp>
      <p:sp>
        <p:nvSpPr>
          <p:cNvPr id="69" name="Shape 67"/>
          <p:cNvSpPr/>
          <p:nvPr/>
        </p:nvSpPr>
        <p:spPr>
          <a:xfrm>
            <a:off x="6297016" y="4255008"/>
            <a:ext cx="5254600" cy="270256"/>
          </a:xfrm>
          <a:prstGeom prst="rect">
            <a:avLst/>
          </a:prstGeom>
          <a:solidFill>
            <a:srgbClr val="F2F2F2"/>
          </a:solidFill>
          <a:ln w="12700">
            <a:solidFill>
              <a:srgbClr val="F2F2F2"/>
            </a:solidFill>
            <a:prstDash val="solid"/>
          </a:ln>
        </p:spPr>
      </p:sp>
      <p:sp>
        <p:nvSpPr>
          <p:cNvPr id="70" name="Shape 68"/>
          <p:cNvSpPr/>
          <p:nvPr/>
        </p:nvSpPr>
        <p:spPr>
          <a:xfrm>
            <a:off x="6571336" y="4262120"/>
            <a:ext cx="256032" cy="256032"/>
          </a:xfrm>
          <a:prstGeom prst="ellipse">
            <a:avLst/>
          </a:prstGeom>
          <a:solidFill>
            <a:srgbClr val="F2F2F2"/>
          </a:solidFill>
          <a:ln w="12700">
            <a:solidFill>
              <a:srgbClr val="111111"/>
            </a:solidFill>
            <a:prstDash val="solid"/>
          </a:ln>
        </p:spPr>
      </p:sp>
      <p:sp>
        <p:nvSpPr>
          <p:cNvPr id="71" name="Text 69"/>
          <p:cNvSpPr/>
          <p:nvPr/>
        </p:nvSpPr>
        <p:spPr>
          <a:xfrm>
            <a:off x="6571336" y="426212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16</a:t>
            </a:r>
            <a:endParaRPr lang="en-US" sz="800" dirty="0"/>
          </a:p>
        </p:txBody>
      </p:sp>
      <p:sp>
        <p:nvSpPr>
          <p:cNvPr id="72" name="Text 70"/>
          <p:cNvSpPr/>
          <p:nvPr/>
        </p:nvSpPr>
        <p:spPr>
          <a:xfrm>
            <a:off x="6955384" y="425500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사용자를 탓하는 문장이 없다</a:t>
            </a:r>
            <a:endParaRPr lang="en-US" sz="1050" dirty="0"/>
          </a:p>
        </p:txBody>
      </p:sp>
      <p:sp>
        <p:nvSpPr>
          <p:cNvPr id="73" name="Shape 71"/>
          <p:cNvSpPr/>
          <p:nvPr/>
        </p:nvSpPr>
        <p:spPr>
          <a:xfrm>
            <a:off x="6297016" y="4671568"/>
            <a:ext cx="5254600" cy="270256"/>
          </a:xfrm>
          <a:prstGeom prst="rect">
            <a:avLst/>
          </a:prstGeom>
          <a:solidFill>
            <a:srgbClr val="F2F2F2"/>
          </a:solidFill>
          <a:ln w="12700">
            <a:solidFill>
              <a:srgbClr val="F2F2F2"/>
            </a:solidFill>
            <a:prstDash val="solid"/>
          </a:ln>
        </p:spPr>
      </p:sp>
      <p:sp>
        <p:nvSpPr>
          <p:cNvPr id="74" name="Shape 72"/>
          <p:cNvSpPr/>
          <p:nvPr/>
        </p:nvSpPr>
        <p:spPr>
          <a:xfrm>
            <a:off x="6571336" y="4678680"/>
            <a:ext cx="256032" cy="256032"/>
          </a:xfrm>
          <a:prstGeom prst="ellipse">
            <a:avLst/>
          </a:prstGeom>
          <a:solidFill>
            <a:srgbClr val="F2F2F2"/>
          </a:solidFill>
          <a:ln w="12700">
            <a:solidFill>
              <a:srgbClr val="111111"/>
            </a:solidFill>
            <a:prstDash val="solid"/>
          </a:ln>
        </p:spPr>
      </p:sp>
      <p:sp>
        <p:nvSpPr>
          <p:cNvPr id="75" name="Text 73"/>
          <p:cNvSpPr/>
          <p:nvPr/>
        </p:nvSpPr>
        <p:spPr>
          <a:xfrm>
            <a:off x="6571336" y="467868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17</a:t>
            </a:r>
            <a:endParaRPr lang="en-US" sz="800" dirty="0"/>
          </a:p>
        </p:txBody>
      </p:sp>
      <p:sp>
        <p:nvSpPr>
          <p:cNvPr id="76" name="Text 74"/>
          <p:cNvSpPr/>
          <p:nvPr/>
        </p:nvSpPr>
        <p:spPr>
          <a:xfrm>
            <a:off x="6955384" y="467156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디자인 여덟 장 중 상태 화면이 최소 한 장 들어 있다</a:t>
            </a:r>
            <a:endParaRPr lang="en-US" sz="1050" dirty="0"/>
          </a:p>
        </p:txBody>
      </p:sp>
      <p:sp>
        <p:nvSpPr>
          <p:cNvPr id="77" name="Shape 75"/>
          <p:cNvSpPr/>
          <p:nvPr/>
        </p:nvSpPr>
        <p:spPr>
          <a:xfrm>
            <a:off x="6297016" y="5088128"/>
            <a:ext cx="5254600" cy="270256"/>
          </a:xfrm>
          <a:prstGeom prst="rect">
            <a:avLst/>
          </a:prstGeom>
          <a:solidFill>
            <a:srgbClr val="F2F2F2"/>
          </a:solidFill>
          <a:ln w="12700">
            <a:solidFill>
              <a:srgbClr val="F2F2F2"/>
            </a:solidFill>
            <a:prstDash val="solid"/>
          </a:ln>
        </p:spPr>
      </p:sp>
      <p:sp>
        <p:nvSpPr>
          <p:cNvPr id="78" name="Shape 76"/>
          <p:cNvSpPr/>
          <p:nvPr/>
        </p:nvSpPr>
        <p:spPr>
          <a:xfrm>
            <a:off x="6571336" y="5095240"/>
            <a:ext cx="256032" cy="256032"/>
          </a:xfrm>
          <a:prstGeom prst="ellipse">
            <a:avLst/>
          </a:prstGeom>
          <a:solidFill>
            <a:srgbClr val="F2F2F2"/>
          </a:solidFill>
          <a:ln w="12700">
            <a:solidFill>
              <a:srgbClr val="111111"/>
            </a:solidFill>
            <a:prstDash val="solid"/>
          </a:ln>
        </p:spPr>
      </p:sp>
      <p:sp>
        <p:nvSpPr>
          <p:cNvPr id="79" name="Text 77"/>
          <p:cNvSpPr/>
          <p:nvPr/>
        </p:nvSpPr>
        <p:spPr>
          <a:xfrm>
            <a:off x="6571336" y="509524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18</a:t>
            </a:r>
            <a:endParaRPr lang="en-US" sz="800" dirty="0"/>
          </a:p>
        </p:txBody>
      </p:sp>
      <p:sp>
        <p:nvSpPr>
          <p:cNvPr id="80" name="Text 78"/>
          <p:cNvSpPr/>
          <p:nvPr/>
        </p:nvSpPr>
        <p:spPr>
          <a:xfrm>
            <a:off x="6955384" y="508812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직접 그린 요소가 한 개도 남아 있지 않다</a:t>
            </a:r>
            <a:endParaRPr lang="en-US" sz="1050" dirty="0"/>
          </a:p>
        </p:txBody>
      </p:sp>
      <p:sp>
        <p:nvSpPr>
          <p:cNvPr id="81" name="Shape 79"/>
          <p:cNvSpPr/>
          <p:nvPr/>
        </p:nvSpPr>
        <p:spPr>
          <a:xfrm>
            <a:off x="640080" y="5559552"/>
            <a:ext cx="10911535" cy="7315"/>
          </a:xfrm>
          <a:prstGeom prst="rect">
            <a:avLst/>
          </a:prstGeom>
          <a:solidFill>
            <a:srgbClr val="111111"/>
          </a:solidFill>
          <a:ln w="12700">
            <a:solidFill>
              <a:srgbClr val="111111"/>
            </a:solidFill>
            <a:prstDash val="solid"/>
          </a:ln>
        </p:spPr>
      </p:sp>
      <p:sp>
        <p:nvSpPr>
          <p:cNvPr id="82" name="Text 80"/>
          <p:cNvSpPr/>
          <p:nvPr/>
        </p:nvSpPr>
        <p:spPr>
          <a:xfrm>
            <a:off x="640080" y="566928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14~18 번이 이번 주의 실질입니다. 상태 화면을 미루면 다음 구간에서 정상 화면만 스무 장이 됩니다.</a:t>
            </a:r>
            <a:endParaRPr lang="en-US" sz="1250" dirty="0"/>
          </a:p>
        </p:txBody>
      </p:sp>
      <p:sp>
        <p:nvSpPr>
          <p:cNvPr id="83" name="Shape 81"/>
          <p:cNvSpPr/>
          <p:nvPr/>
        </p:nvSpPr>
        <p:spPr>
          <a:xfrm>
            <a:off x="640080" y="6291072"/>
            <a:ext cx="10911535" cy="7315"/>
          </a:xfrm>
          <a:prstGeom prst="rect">
            <a:avLst/>
          </a:prstGeom>
          <a:solidFill>
            <a:srgbClr val="DCDCDC"/>
          </a:solidFill>
          <a:ln w="12700">
            <a:solidFill>
              <a:srgbClr val="DCDCDC"/>
            </a:solidFill>
            <a:prstDash val="solid"/>
          </a:ln>
        </p:spPr>
      </p:sp>
      <p:sp>
        <p:nvSpPr>
          <p:cNvPr id="84" name="Text 8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5주차 남은 화면으로 넓히기</a:t>
            </a:r>
            <a:endParaRPr lang="en-US" sz="850" dirty="0"/>
          </a:p>
        </p:txBody>
      </p:sp>
      <p:sp>
        <p:nvSpPr>
          <p:cNvPr id="85" name="Text 8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05</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주부터 화면 구간입니다. 만든 시스템으로 실제 화면을 늘려 갑니다.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아이콘 · 입력 · 버튼 · 세그먼트 탭 규격</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지난주 표에 이어서 적습니다. 아이콘 크기와 선 굵기, 입력 요소의 다섯 상태, 버튼 세 등급, 세그먼트 탭의 두 형태를 값과 근거로 채웁니다.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상태 화면 3종</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빈 화면 · 불러오는 중 · 오류 화면을 각각 한 장씩 만듭니다. 오늘 만든 컴포넌트와 토큰만 씁니다.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디자인 8장으로 확장</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지난주 4장에 4장을 더합니다. 새 4장 중 최소 1장은 상태 화면입니다. 직접 그린 요소가 남지 않게 합니다.</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10월 14일(수) 수업 시작 전까지 · Figma 링크 제출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06주차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화면 늘리기 — 흐름 단위로</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한 화면이 아니라 한 흐름</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화면 사이의 이동과 되돌아오기</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같은 정보를 다른 화면에서</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흐름 단위 컨펌</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규격 표 · 상태 화면 3종 · 디자인 8장</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5주차 남은 화면으로 넓히기</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서비스디자인 · 5주차 남은 화면으로 넓히기</dc:title>
  <dc:subject>원광대학교 2026-2 · 학부 3학년 · 주 3시간 × 15주 · 1학기 기획을 졸업 전시 패널 데이터로</dc:subject>
  <dc:creator>MIN.D</dc:creator>
  <cp:lastModifiedBy>MIN.D</cp:lastModifiedBy>
  <cp:revision>1</cp:revision>
  <dcterms:created xsi:type="dcterms:W3CDTF">2026-09-30T09:44:49Z</dcterms:created>
  <dcterms:modified xsi:type="dcterms:W3CDTF">2026-09-30T09:44:49Z</dcterms:modified>
</cp:coreProperties>
</file>