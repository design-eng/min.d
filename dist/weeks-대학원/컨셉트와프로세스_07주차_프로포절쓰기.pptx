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일곱 번째 시간입니다. 다음이 마지막이에요.
다음 회차에 프로포절을 발표하십니다. 그러니까 오늘은 그걸 쓰는 시간입니다.
먼저 하나 말씀드리고 시작하겠습니다.
프로포절을 처음 쓰시는 분이 대부분일 겁니다. 당연한 겁니다. 박사과정에 들어오기 전에 이런 글을 쓸 일이 없었으니까요.
그런데 아무도 안 가르쳐 줍니다. 다들 쓸 줄 안다고 전제하고 넘어가요. 그러다 보니 남의 논문을 흉내 내서 쓰게 되고, 흉내 낸 글은 심사에서 바로 티가 납니다.
오늘은 처음부터 하겠습니다.
프로포절이 뭔지, 몇 개 절로 되어 있는지, 각 절에 뭘 쓰는지. 그리고 각 절마다 제가 나쁜 문장 하나와 좋은 문장 하나를 보여 드릴 거예요. 그 차이를 보시고 바로 자기 주제로 한 문장씩 써 보시면 됩니다.
오늘 끝나면 여섯 문장이 손에 있을 겁니다. 그게 프로포절의 뼈대예요. 거기에 살을 붙이시면 됩니다.
노트북이나 종이, 쓸 것 준비해 주세요. 오늘은 계속 쓰실 겁니다.
[운영 메모]
참석자들이 논문 쓰기에 익숙하지 않다는 전제에서 다시 짠 회차다(2026-10-06 교수님 지시). '모르는 게 당연하다'를 표지에서 말해 두어야 질문이 나온다. 강의와 작성을 5분씩 번갈아 간다 — 설명만 20분 하면 아무것도 안 남는다.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먼저 이게 무슨 글인지부터 말씀드리겠습니다.
프로포절은 아직 하지 않은 연구를 설명하는 글입니다. 끝난 연구를 보고하는 게 아니에요.
이 차이가 큽니다. 결과가 없으니까요. 결과 없이 '이 연구는 할 만하다'를 설득해야 합니다.
무엇으로 설득하느냐. 세 가지입니다.
문제가 진짜 있다는 것. 남들이 아직 안 풀었다는 것. 그리고 내가 쓸 방법으로 풀 수 있다는 것.
이 셋이 되면 통과합니다.
오른쪽은 처음 쓰시는 분들이 자주 하시는 오해예요.
길게 쓰면 좋은 줄 아십니다. 아닙니다. 짧고 맞물리는 글이 낫습니다.
어려운 말을 써야 하는 줄 아십니다. 아닙니다. 심사위원은 여러분 분야 전문가가 아닐 수도 있어요.
이미 다 알고 써야 하는 줄 아십니다. 아닙니다. 모르는 걸 적는 게 연구 계획입니다.
마지막이 제일 중요해요. 완벽하게 쓰려다 아무것도 못 내는 분이 매년 계십니다. 어설픈 여섯 문장이 백지보다 백 배 낫습니다.
[운영 메모]
오른쪽 네 번째가 가장 중요하다. 완벽주의로 제출을 못 하는 학생이 매년 나온다. 왼쪽 세 가지는 심사 통과 기준이기도 하므로 천천히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여섯 절을 보겠습니다. 절 이름은 학교마다 조금씩 다른데, 하는 일은 같습니다.
첫째 자리는 '무엇이 문제인가'에 답합니다. 보통 연구 배경, 문제 제기라고 부릅니다.
둘째는 '무엇을 묻는가'. 연구 질문이요. 여기가 제일 중요합니다.
셋째는 '무엇을 예상하는가'. 가설입니다. 질문에 대한 내 짐작이에요.
넷째는 '남들은 어디까지 갔는가'. 선행연구, 이론적 배경이라고 부르는 자리입니다.
다섯째는 '나는 무엇을 할 것인가'. 연구 방법이죠.
여섯째는 '그래서 무엇이 남는가'. 예상 기여입니다.
여기서 하나만 기억하세요.
둘째와 다섯째가 맞물려야 합니다. 물은 것을 그 방법으로 답할 수 있어야 해요.
'전통시장이 왜 쇠퇴하는가'를 묻고 '간판 디자인을 만들겠다'고 하면 안 맞습니다. 질문이 크고 방법이 작은 거죠.
반대도 있어요. 방법은 촘촘한데 그걸로 그 질문에 답이 안 되는 경우.
오늘 마지막에 이걸 확인하겠습니다.
[운영 메모]
②와 ⑤가 맞물려야 한다는 것을 여기서 한 번, 마지막 확인에서 또 한 번 말할 것. '질문이 크고 방법이 작다'가 가장 흔한 실패다.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첫째 절입니다. 무엇이 문제인가.
여기서 많이들 막히십니다. 자기가 왜 이 주제를 골랐는지는 아는데, 그걸 글로 쓰려니 '제가 관심이 많아서'밖에 안 나와요.
관심은 문제가 아닙니다. 문제는 남도 겪는 일이어야 해요.
[운영 메모]
15분. 설명 5분, 작성 5분, 공유 3분. '관심'과 '문제'를 가르는 것이 이 구간의 전부다.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실물을 보시죠. 왼쪽이 흔히 쓰는 문장, 오른쪽이 고친 문장입니다.
첫 줄. 왼쪽은 '전통시장이 쇠퇴하고 있다'입니다. 틀린 말은 아닌데 너무 큽니다. 이건 국가 정책 보고서에나 나올 문장이에요.
오른쪽은 '방문객이 시장 안에서 원하는 가게를 못 찾고 되돌아 나온다'입니다. 좁고 구체적이죠. 그리고 이건 관찰할 수 있습니다.
둘째 줄. 왼쪽은 '디자인이 필요하다'. 누구에게 왜 필요한지가 없습니다. 오른쪽은 '간판이 가게마다 크기와 글자가 달라 멀리서는 업종이 구별되지 않는다'. 무엇이 어떻게 안 되는지가 보입니다.
셋째 줄이 중요합니다. 왼쪽은 '본 연구자는 이 주제에 관심이 있다'. 관심은 문제가 아니라고 말씀드렸지요. 오른쪽은 '상인 열 분 중 일곱 분이 같은 불편을 말했다'. 남도 겪는 일이라는 증거입니다.
넷째 줄. 왼쪽은 '아무도 연구하지 않았다'. 이렇게 쓰시면 심사에서 바로 물어봅니다. 정말 아무도 안 했습니까. 찾아보셨습니까.
오른쪽은 '간판 연구는 가독성 중심이고, 업종 구별을 다룬 연구는 찾지 못했다'. 찾아봤다는 게 드러나고, 범위도 좁습니다.
정리하면 이렇습니다. 크게 쓰면 아무도 안 믿고, 좁게 쓰면 확인할 수 있습니다.
[운영 메모]
예시는 전통시장 간판으로 통일했다 — 학생 주제를 직접 쓰면 지목이 되고, 매번 바꾸면 따라가기 어렵다. 오늘 여섯 절 전부 같은 예시로 간다. 셋째 줄에서 '관심은 문제가 아니다'를 반복할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이제 쓰실 차례입니다. 5분 드리겠습니다.
왼쪽 빈칸 세 개를 채우세요. 문장으로 쓰지 마시고 칸만 채우시면 됩니다.
누가 — 어떤 사람이 겪는 일인지.
언제 — 어떤 상황에서 생기는지.
무엇이 안 되는지 — 구체적으로.
세 칸을 채운 다음에 한 문장으로 이으시면 그게 첫 절의 첫 문장입니다.
오른쪽이 예시입니다. 아까 본 전통시장으로 채워 봤어요.
막히시면 손 드세요. 제일 많이 막히는 데가 '무엇이 안 되는지'입니다. 거기서 '잘 안 된다'고 쓰시면 안 돼요. 무엇이 어떻게 안 되는지를 쓰셔야 합니다.
5분 뒤에 두세 분 읽어 주시면 같이 보겠습니다.
[운영 메모]
5분을 지킬 것. 순회하며 '무엇이 안 되는지' 칸을 집중해서 볼 것 — 여기가 추상적이면 뒤의 다섯 절이 전부 흐려진다. 두세 명을 읽게 하고 교수가 그 자리에서 한 군데만 고쳐 보일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둘째와 셋째 절입니다. 연구 질문과 가설이요.
이 둘은 붙어 다닙니다. 질문이 있고, 그 질문에 대한 내 짐작이 가설이에요.
여기가 프로포절에서 제일 중요한 자리입니다. 여기가 흐리면 나머지가 다 흐려집니다.
[운영 메모]
20분. 질문 10분, 가설 10분. 가설을 '맞혀야 하는 것'으로 오해하는 학생이 많으므로 '틀려도 된다'를 반드시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연구 질문입니다.
먼저 형태부터요. 물음표로 끝나야 합니다. 당연해 보이는데 안 지켜집니다.
왼쪽 첫 줄 보세요. '간판 디자인 방안을 연구한다.' 이건 질문이 아니라 할 일이에요. 묻는 게 없으니 답할 것도 없습니다.
오른쪽은 '업종을 색으로 구분한 간판은 글자만 있는 간판보다 멀리서 업종을 빨리 알아보게 하는가?' 물음표로 끝나고, 무엇과 무엇을 비교하는지도 들어 있습니다.
둘째 줄. '전통시장 활성화 방안은 무엇인가?' 물음표는 있는데 너무 큽니다. 이건 박사 논문 하나로 답할 수 있는 질문이 아니에요. 평생 연구해도 안 끝납니다.
셋째 줄. '간판은 중요한가?' 답이 뻔한 질문은 연구가 안 됩니다. 중요하겠죠. 그래서요?
넷째 줄이 미묘합니다. '방문객은 간판을 어떻게 생각하는가?' 물어볼 수는 있는데, 답을 어떻게 확인할지가 안 보입니다. 생각은 재기 어렵거든요.
오른쪽처럼 '몇 초 안에 알아보는가'로 바꾸면 잴 수 있습니다.
정리하면 좋은 연구 질문은 네 가지를 갖춥니다. 물음표로 끝나고, 삼 년 안에 답할 수 있고, 답이 뻔하지 않고, 어떻게 확인할지가 보입니다.
[운영 메모]
넷째 줄(잴 수 없음)이 질적 연구를 하는 학생에게 오해를 줄 수 있다. '숫자로 재라'는 뜻이 아니라 '확인할 방법이 있어야 한다'는 뜻임을 덧붙일 것 — 인터뷰도 확인 방법이다.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가설입니다. 여기서 많이들 어려워하세요.
먼저 오해를 하나 풀겠습니다. 가설은 맞혀야 하는 게 아닙니다. 연구해 보니 틀렸다, 이것도 훌륭한 결과예요. 오히려 더 재미있는 논문이 됩니다.
가설은 '나는 이렇게 될 것 같다'는 짐작을 미리 적어 두는 겁니다. 왜 적느냐. 적어 두지 않으면 나중에 결과를 보고 '내 그럴 줄 알았다'고 말하게 되거든요.
왼쪽을 보시죠.
'간판이 중요할 것이다.' 이건 가설이 아니라 감상입니다. 무엇이 어떻게 되는지가 없어요.
'디자인을 개선하면 좋아질 것이다.' 좋아진다는 게 뭔지 모릅니다.
'관계가 있을 것이다.' 무엇과 무엇이 어떤 방향으로 관계가 있는지가 없습니다.
오른쪽은 다릅니다.
'색으로 업종을 구분한 간판이 글자만 있는 간판보다 업종 판단 시간을 줄일 것이다.' 무엇과 무엇을 비교하고, 어느 쪽이 어떻게 될지가 들어 있습니다.
둘째 줄을 보세요. '다만 가게 이름을 기억하는 데는 글자 쪽이 나을 것이다.' 이게 좋은 가설입니다. 한쪽이 무조건 좋다고 하지 않고 어디서 뒤집히는지를 짐작했어요.
셋째 줄. '상인이 직접 만든 간판은 통일감은 떨어지지만 시장다움을 더 느끼게 할 것이다.' 질적 연구에서도 가설을 세울 수 있습니다. 숫자가 아니어도 돼요.
가설 쓰는 틀을 하나 드리겠습니다. 'A가 B보다 C할 것이다. 왜냐하면 D 때문이다.' 이 틀에 넣어 보세요.
[운영 메모]
'가설은 맞히는 것이 아니다'를 먼저 말할 것. 질적 연구를 하는 학생을 위해 셋째 줄을 꼭 짚을 것 — 숫자가 없어도 가설이 된다. 교수님이 3회차 과제 피드백에서 지적하신 지점이다.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10분 드리겠습니다. 두 개를 쓰실 거예요.
먼저 질문 하나. 왼쪽 틀에 넣어 보세요. 무엇과 무엇을 비교하거나, 무엇이 무엇에 어떻게 작용하는지.
다 쓰시면 네 가지를 확인하세요. 물음표로 끝나는가. 삼 년 안에 답할 수 있는 크기인가. 답이 뻔하지 않은가. 어떻게 확인할지 보이는가.
그다음 가설. 아까 드린 틀에 넣으시면 됩니다. A가 B보다 C할 것이다, 왜냐하면 D 때문이다.
왜냐하면 뒤가 중요해요. 거기가 비면 그냥 찍은 겁니다. 선행연구에서 가져오셔도 되고 본인 관찰에서 가져오셔도 됩니다.
가설이 하나일 필요는 없어요. 둘이나 셋이어도 됩니다. 다만 각각 확인할 수 있어야 합니다.
10분 뒤에 몇 분 읽어 주시고, 제가 그 자리에서 같이 고쳐 보겠습니다.
[운영 메모]
'왜냐하면' 뒤를 반드시 쓰게 할 것. 여기가 비어 있으면 4절(선행연구)과 연결되지 않는다. 읽게 하고 교수가 한 명만 그 자리에서 고쳐 보이면 나머지가 따라 고친다.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넷째 절입니다. 선행연구요.
2회차에 다섯 편 찾으셨지요. 그게 여기로 들어옵니다.
그런데 찾은 걸 그대로 늘어놓으면 안 됩니다. 늘어놓는 것과 쓰는 건 다릅니다.
[운영 메모]
20분. 설명 7분, 작성 8분, 공유 5분. 2회차 정리표를 꺼내 놓고 작업하게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왼쪽이 늘어놓은 것, 오른쪽이 쓴 것입니다.
첫 줄. 왼쪽은 '김○○(2019)은 간판 가독성을 연구했다. 이○○(2021)은 시장 환경을 연구했다.' 이렇게 한 편씩 소개하는 거죠. 제일 많이 보는 형태입니다.
이게 왜 문제냐면, 읽는 사람이 '그래서?'라고 묻게 돼요. 다섯 편을 소개받았는데 그래서 당신은 뭘 한다는 건지가 없습니다.
오른쪽은 묶었습니다. '간판 연구는 대체로 가독성을 다뤘고, 업종 구별은 다루지 않았다.' 다섯 편을 하나의 흐름으로 묶고, 빈 자리를 가리켰어요.
둘째 줄. 왼쪽은 '많은 연구가 있다.' 많다는 게 몇 편인지, 어떤 연구인지가 없습니다. 오른쪽은 '다섯 편 중 네 편이 글자 크기를 다뤘고, 색을 다룬 것은 한 편이다.' 셌습니다.
셋째 줄이 핵심입니다. 왼쪽은 선행연구를 쭉 쓰고 끝냅니다. 오른쪽은 마지막에 '그래서 이 연구는 ~를 본다'로 자기 자리를 찍습니다.
이 한 문장이 없으면 선행연구 절이 떠 있게 됩니다.
넷째 줄. 왼쪽은 선행연구를 쓰고 뒤에서 다시 안 씁니다. 오른쪽은 연구 방법 절에서 '김○○(2019)이 쓴 측정 방법을 따르되 이 부분을 고쳤다'로 다시 꺼냅니다.
2회차에 정리표의 방법 칸을 다섯 가지로 쪼개라고 말씀드렸지요. 그게 여기서 쓰입니다.
[운영 메모]
2회차 정리표의 다섯째 칸(내 연구와의 관계)과 방법 칸이 여기서 값을 한다. 정리표를 안 해 온 학생은 이 절을 못 쓰므로, 지금이라도 세 편만 정리하게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다섯째와 여섯째입니다.
방법은 '누구에게 무엇을 어떻게'를 적는 자리예요. 남이 읽고 그대로 따라 할 수 있을 만큼 적습니다.
기여는 '이 연구가 끝나면 무엇을 알게 되는가'입니다.
[운영 메모]
20분. 방법 12분, 기여 5분. 기여는 짧게 — 연구 질문에 답한 상태를 쓰면 되므로 어렵지 않다.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방법입니다. 기준이 하나예요. 남이 읽고 그대로 해 볼 수 있는가.
첫 줄. 왼쪽은 '인터뷰와 설문을 진행한다.' 누구에게 몇 명에게 언제 어디서 얼마나가 없습니다. 이대로는 아무도 따라 할 수 없어요.
오른쪽은 '시장 방문객 서른 명에게 간판 사진 열두 장을 보여 주고 업종을 말하는 데 걸린 시간을 잰다.' 따라 할 수 있습니다.
둘째 줄. 왼쪽은 '적절한 수의 대상자를 선정한다.' 적절한 수가 몇입니까. 오른쪽은 '서른 명. 처음 온 방문객 열다섯, 단골 열다섯으로 나눈다.' 그리고 왜 나눴는지도 적으시면 좋습니다.
셋째 줄이 많이 빠지는 자리예요. 본 조사 전에 뭘 해 볼 건지. 예비조사요.
왼쪽은 아예 없습니다. 오른쪽은 '다섯 명에게 먼저 해 보고 사진 수와 질문을 고친다.' 이게 들어가면 심사위원이 안심합니다. 준비했다는 게 보이니까요.
넷째 줄. 왼쪽은 '분석한다.' 어떻게요. 오른쪽은 '두 집단의 평균 시간을 비교하고, 틀린 답이 많이 나온 사진을 따로 본다.'
여기서 하나 말씀드릴게요. 질적 연구를 하시는 분도 똑같습니다. 숫자가 없을 뿐이에요.
'인터뷰한다'가 아니라 '방문객 열 명을 한 사람당 40분씩 시장 안에서 걸으며 인터뷰하고, 녹취를 세 번 읽어 반복되는 말을 묶는다.' 이렇게 쓰시면 됩니다.
[운영 메모]
셋째 줄(예비조사)을 강조할 것. 2회차에 '남의 논문에서 예비조사를 보라'고 했던 것이 여기서 자기 글로 돌아온다. 질적 연구 학생이 소외되지 않도록 마지막 줄을 반드시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 작성입니다. 10분이요.
왼쪽 네 칸을 채우세요. 누구에게, 무엇을, 어떻게, 그리고 어떻게 판단하는지.
네 칸을 이으면 다섯째 절의 첫 문장이 됩니다.
그다음 기여는 쉽습니다. 오른쪽 틀 하나면 돼요.
'이 연구가 끝나면 ~를 알게 된다.' 여기에 아까 쓰신 연구 질문의 답 모양을 넣으시면 됩니다.
질문이 '색이 빠른가'였으면 기여는 '색과 글자 중 어느 쪽이 업종을 빨리 알아보게 하는지 알게 된다'가 되는 거죠.
그러니까 기여를 못 쓰시겠다면 질문이 흐린 겁니다. 돌아가서 질문을 고치세요.
그리고 하나 더. 기여를 너무 크게 쓰지 마세요. '전통시장을 살린다'는 안 됩니다. 이 연구 하나로 시장이 살지 않습니다.
[운영 메모]
기여와 질문이 짝이라는 점이 이 장표의 핵심이다. 기여를 못 쓰는 학생은 질문이 흐린 것이므로 질문부터 고치게 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발제로 잠깐 넘어가겠습니다. 오늘이 마지막 발제입니다.
왼쪽이 텍스트예요.
킴벨의 글이 필수입니다. 디자인 씽킹이라는 말이 실무와 연구에서 어떻게 다르게 쓰이는지 다룹니다.
샌더스와 스태퍼스의 공동창작 논문도 필수고요. 사용자를 리서치 대상에서 설계 파트너로 옮기는 전환을 정리한 글입니다.
함께 읽을 것으로 던과 레이비의 스페큘러티브 디자인 서문, 그리고 인공지능 시대의 디자인을 다룬 논문을 넣었습니다.
오늘 강의는 프로포절 쓰기에 다 썼으니, 이 텍스트들은 발제와 토론으로만 보겠습니다.
발제자께 부탁드립니다. 네 편을 다 떠안지 마시고 필수 두 편을 중심에 두세요. 나머지 둘은 '이런 자리도 있다' 정도로 짚어 주시면 됩니다.
그리고 오른쪽 세 번째에 시간을 쓰셨으면 좋겠어요. 이 텍스트가 내 연구에 무엇을 요구하는가. 다음이 프로포절 발표니까요.
[운영 메모]
강의 시간을 프로포절 쓰기에 다 쓰기로 했으므로 네 편 모두 발제로 넘겼다. 발제자가 떠안지 않도록 필수 두 편으로 범위를 좁혀 줄 것. 시간이 밀리면 발제를 10분으로 줄이고 작성 시간을 지킬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마지막입니다. 쓰신 여섯 문장을 나란히 놓고 위에서 아래로 읽어 보세요.
읽다가 걸리는 데가 있으면 거기가 안 맞는 자리입니다.
왼쪽 항목을 보시죠.
첫 번째. 문제와 질문이 같은 것을 가리키는가. 문제는 간판 이야기인데 질문은 상권 이야기면 안 맞는 겁니다.
두 번째. 가설이 질문에 대한 답의 모양인가. 질문이 '어느 쪽이 빠른가'면 가설은 '이쪽이 빠를 것이다'여야 합니다.
세 번째가 제일 중요합니다. 그 방법으로 그 질문에 답할 수 있는가. 아까 말씀드린 거예요. 질문은 큰데 방법이 작은 경우가 가장 흔합니다.
네 번째. 선행연구가 내 질문 쪽을 향하는가.
다섯 번째. 기여가 질문의 답 모양인가.
다섯 개 중에 하나라도 걸리면 그 자리를 적어 두세요. 2주 동안 거기부터 고치시면 됩니다.
다 맞물린다고 느껴지셔도 짝과 바꿔 읽어 보세요. 본인 글은 본인이 제일 못 봅니다.
[운영 메모]
짝과 바꿔 읽게 할 것. 본인 글의 어긋남은 본인이 못 본다. 여섯째 항목에서 걸린 학생에게는 '방법을 키우지 말고 질문을 줄여라'를 분명히 말할 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[말할 내용]
정리하겠습니다.
과제는 두 가지입니다.
첫째, 프로포절 드래프트. 오늘 쓰신 여섯 문장이 각 절의 첫 문장입니다. 그 아래에 설명을 붙이시면 돼요.
한 절에 한두 쪽이면 충분합니다. 길게 쓰는 게 목적이 아닙니다.
대신 한 가지만 확인하세요. 여섯 절이 서로 맞물리는가. 두 번째 절에서 물은 걸 다섯 번째 절에서 답할 수 있는가. 그게 안 맞으면 분량이 아무리 많아도 소용없습니다.
둘째, 동료 드래프트를 읽고 질문을 두 개씩 준비해 오세요. 다음 회차는 상호 리뷰가 절반입니다.
드래프트는 48시간 전까지 올려 주셔야 다른 분들이 읽고 옵니다.
그리고 말씀드리고 싶은 게 있어요.
오늘 쓰신 게 마음에 안 드실 겁니다. 당연합니다. 처음 쓰신 거니까요.
그런데 아무것도 없는 것보다 어설픈 여섯 문장이 훨씬 낫습니다. 고칠 게 있으니까요. 백지는 고칠 수가 없습니다.
2주 있습니다. 이번 주 안에 절반은 써 두세요.
[운영 메모]
'처음이라 못 쓰는 게 당연하다, 어설픈 것이 백지보다 낫다'를 반드시 말할 것. 이 말이 없으면 완벽하게 쓰려다 아무것도 못 내는 학생이 나온다. 분량보다 여섯 절의 정합성을 보겠다고 미리 못 박는다.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7894015" y="713232"/>
            <a:ext cx="3657600" cy="1517904"/>
          </a:xfrm>
          <a:prstGeom prst="rect">
            <a:avLst/>
          </a:prstGeom>
          <a:noFill/>
          <a:ln/>
        </p:spPr>
        <p:txBody>
          <a:bodyPr wrap="square" lIns="0" tIns="0" rIns="0" bIns="0" rtlCol="0" anchor="ctr"/>
          <a:lstStyle/>
          <a:p>
            <a:pPr algn="r" indent="0" marL="0">
              <a:buNone/>
            </a:pPr>
            <a:r>
              <a:rPr lang="en-US" sz="13200" dirty="0">
                <a:solidFill>
                  <a:srgbClr val="111111"/>
                </a:solidFill>
                <a:latin typeface="Pretendard SemiBold" pitchFamily="34" charset="0"/>
                <a:ea typeface="Pretendard SemiBold" pitchFamily="34" charset="-122"/>
                <a:cs typeface="Pretendard SemiBold" pitchFamily="34" charset="-120"/>
              </a:rPr>
              <a:t>07</a:t>
            </a:r>
            <a:endParaRPr lang="en-US" sz="13200" dirty="0"/>
          </a:p>
        </p:txBody>
      </p:sp>
      <p:sp>
        <p:nvSpPr>
          <p:cNvPr id="7" name="Shape 5"/>
          <p:cNvSpPr/>
          <p:nvPr/>
        </p:nvSpPr>
        <p:spPr>
          <a:xfrm>
            <a:off x="941832" y="877824"/>
            <a:ext cx="0" cy="603504"/>
          </a:xfrm>
          <a:prstGeom prst="line">
            <a:avLst/>
          </a:prstGeom>
          <a:noFill/>
          <a:ln w="15875">
            <a:solidFill>
              <a:srgbClr val="111111"/>
            </a:solidFill>
            <a:prstDash val="solid"/>
          </a:ln>
        </p:spPr>
      </p:sp>
      <p:sp>
        <p:nvSpPr>
          <p:cNvPr id="8" name="Shape 6"/>
          <p:cNvSpPr/>
          <p:nvPr/>
        </p:nvSpPr>
        <p:spPr>
          <a:xfrm>
            <a:off x="640080" y="1239926"/>
            <a:ext cx="301752" cy="241402"/>
          </a:xfrm>
          <a:prstGeom prst="line">
            <a:avLst/>
          </a:prstGeom>
          <a:noFill/>
          <a:ln w="15875">
            <a:solidFill>
              <a:srgbClr val="111111"/>
            </a:solidFill>
            <a:prstDash val="solid"/>
          </a:ln>
        </p:spPr>
      </p:sp>
      <p:sp>
        <p:nvSpPr>
          <p:cNvPr id="9" name="Shape 7"/>
          <p:cNvSpPr/>
          <p:nvPr/>
        </p:nvSpPr>
        <p:spPr>
          <a:xfrm flipV="1">
            <a:off x="941832" y="1239926"/>
            <a:ext cx="301752" cy="241402"/>
          </a:xfrm>
          <a:prstGeom prst="line">
            <a:avLst/>
          </a:prstGeom>
          <a:noFill/>
          <a:ln w="15875">
            <a:solidFill>
              <a:srgbClr val="111111"/>
            </a:solidFill>
            <a:prstDash val="solid"/>
          </a:ln>
        </p:spPr>
      </p:sp>
      <p:sp>
        <p:nvSpPr>
          <p:cNvPr id="10" name="Text 8"/>
          <p:cNvSpPr/>
          <p:nvPr/>
        </p:nvSpPr>
        <p:spPr>
          <a:xfrm>
            <a:off x="640080" y="1901952"/>
            <a:ext cx="7498080" cy="237744"/>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WEEK 07  ·  PHASE 3 정립</a:t>
            </a:r>
            <a:endParaRPr lang="en-US" sz="950" dirty="0"/>
          </a:p>
        </p:txBody>
      </p:sp>
      <p:sp>
        <p:nvSpPr>
          <p:cNvPr id="11" name="Text 9"/>
          <p:cNvSpPr/>
          <p:nvPr/>
        </p:nvSpPr>
        <p:spPr>
          <a:xfrm>
            <a:off x="640080" y="2194560"/>
            <a:ext cx="8595360" cy="1225296"/>
          </a:xfrm>
          <a:prstGeom prst="rect">
            <a:avLst/>
          </a:prstGeom>
          <a:noFill/>
          <a:ln/>
        </p:spPr>
        <p:txBody>
          <a:bodyPr wrap="square" lIns="0" tIns="0" rIns="0" bIns="0" rtlCol="0" anchor="t"/>
          <a:lstStyle/>
          <a:p>
            <a:pPr indent="0" marL="0">
              <a:lnSpc>
                <a:spcPct val="112000"/>
              </a:lnSpc>
              <a:buNone/>
            </a:pPr>
            <a:r>
              <a:rPr lang="en-US" sz="4000" dirty="0">
                <a:solidFill>
                  <a:srgbClr val="111111"/>
                </a:solidFill>
                <a:latin typeface="Pretendard SemiBold" pitchFamily="34" charset="0"/>
                <a:ea typeface="Pretendard SemiBold" pitchFamily="34" charset="-122"/>
                <a:cs typeface="Pretendard SemiBold" pitchFamily="34" charset="-120"/>
              </a:rPr>
              <a:t>프로포절 쓰기 — 여섯 절을 채운다</a:t>
            </a:r>
            <a:endParaRPr lang="en-US" sz="4000" dirty="0"/>
          </a:p>
        </p:txBody>
      </p:sp>
      <p:sp>
        <p:nvSpPr>
          <p:cNvPr id="12" name="Text 10"/>
          <p:cNvSpPr/>
          <p:nvPr/>
        </p:nvSpPr>
        <p:spPr>
          <a:xfrm>
            <a:off x="640080" y="3547872"/>
            <a:ext cx="7863840" cy="694944"/>
          </a:xfrm>
          <a:prstGeom prst="rect">
            <a:avLst/>
          </a:prstGeom>
          <a:noFill/>
          <a:ln/>
        </p:spPr>
        <p:txBody>
          <a:bodyPr wrap="square" lIns="0" tIns="0" rIns="0" bIns="0" rtlCol="0" anchor="t"/>
          <a:lstStyle/>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프로포절의 여섯 절이 각각 무엇에 답하는 자리인지 알고,</a:t>
            </a:r>
            <a:endParaRPr lang="en-US" sz="1600" dirty="0"/>
          </a:p>
          <a:p>
            <a:pPr indent="0" marL="0">
              <a:lnSpc>
                <a:spcPct val="130000"/>
              </a:lnSpc>
              <a:buNone/>
            </a:pPr>
            <a:r>
              <a:rPr lang="en-US" sz="1600" dirty="0">
                <a:solidFill>
                  <a:srgbClr val="6E6E6E"/>
                </a:solidFill>
                <a:latin typeface="Pretendard Light" pitchFamily="34" charset="0"/>
                <a:ea typeface="Pretendard Light" pitchFamily="34" charset="-122"/>
                <a:cs typeface="Pretendard Light" pitchFamily="34" charset="-120"/>
              </a:rPr>
              <a:t>내 주제로 한 문장씩 실제로 써 봅니다.</a:t>
            </a:r>
            <a:endParaRPr lang="en-US" sz="1600" dirty="0"/>
          </a:p>
        </p:txBody>
      </p:sp>
      <p:sp>
        <p:nvSpPr>
          <p:cNvPr id="13" name="Shape 11"/>
          <p:cNvSpPr/>
          <p:nvPr/>
        </p:nvSpPr>
        <p:spPr>
          <a:xfrm>
            <a:off x="640080" y="4443984"/>
            <a:ext cx="2743200" cy="7315"/>
          </a:xfrm>
          <a:prstGeom prst="rect">
            <a:avLst/>
          </a:prstGeom>
          <a:solidFill>
            <a:srgbClr val="111111"/>
          </a:solidFill>
          <a:ln w="12700">
            <a:solidFill>
              <a:srgbClr val="111111"/>
            </a:solidFill>
            <a:prstDash val="solid"/>
          </a:ln>
        </p:spPr>
      </p:sp>
      <p:sp>
        <p:nvSpPr>
          <p:cNvPr id="14" name="Text 12"/>
          <p:cNvSpPr/>
          <p:nvPr/>
        </p:nvSpPr>
        <p:spPr>
          <a:xfrm>
            <a:off x="640080" y="4645152"/>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과목</a:t>
            </a:r>
            <a:endParaRPr lang="en-US" sz="950" dirty="0"/>
          </a:p>
        </p:txBody>
      </p:sp>
      <p:sp>
        <p:nvSpPr>
          <p:cNvPr id="15" name="Text 13"/>
          <p:cNvSpPr/>
          <p:nvPr/>
        </p:nvSpPr>
        <p:spPr>
          <a:xfrm>
            <a:off x="1645920" y="4645152"/>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컨셉트와 프로세스 · 대학원 박사과정</a:t>
            </a:r>
            <a:endParaRPr lang="en-US" sz="1200" dirty="0"/>
          </a:p>
        </p:txBody>
      </p:sp>
      <p:sp>
        <p:nvSpPr>
          <p:cNvPr id="16" name="Text 14"/>
          <p:cNvSpPr/>
          <p:nvPr/>
        </p:nvSpPr>
        <p:spPr>
          <a:xfrm>
            <a:off x="640080" y="5029200"/>
            <a:ext cx="914400" cy="292608"/>
          </a:xfrm>
          <a:prstGeom prst="rect">
            <a:avLst/>
          </a:prstGeom>
          <a:noFill/>
          <a:ln/>
        </p:spPr>
        <p:txBody>
          <a:bodyPr wrap="square" lIns="0" tIns="0" rIns="0" bIns="0" rtlCol="0" anchor="ctr"/>
          <a:lstStyle/>
          <a:p>
            <a:pPr indent="0" marL="0">
              <a:buNone/>
            </a:pPr>
            <a:r>
              <a:rPr lang="en-US" sz="950" spc="140" kern="0" dirty="0">
                <a:solidFill>
                  <a:srgbClr val="9B9B9B"/>
                </a:solidFill>
                <a:latin typeface="Pretendard" pitchFamily="34" charset="0"/>
                <a:ea typeface="Pretendard" pitchFamily="34" charset="-122"/>
                <a:cs typeface="Pretendard" pitchFamily="34" charset="-120"/>
              </a:rPr>
              <a:t>제출물</a:t>
            </a:r>
            <a:endParaRPr lang="en-US" sz="950" dirty="0"/>
          </a:p>
        </p:txBody>
      </p:sp>
      <p:sp>
        <p:nvSpPr>
          <p:cNvPr id="17" name="Text 15"/>
          <p:cNvSpPr/>
          <p:nvPr/>
        </p:nvSpPr>
        <p:spPr>
          <a:xfrm>
            <a:off x="1645920" y="5029200"/>
            <a:ext cx="7680960" cy="292608"/>
          </a:xfrm>
          <a:prstGeom prst="rect">
            <a:avLst/>
          </a:prstGeom>
          <a:noFill/>
          <a:ln/>
        </p:spPr>
        <p:txBody>
          <a:bodyPr wrap="square" lIns="0" tIns="0" rIns="0" bIns="0" rtlCol="0" anchor="ctr"/>
          <a:lstStyle/>
          <a:p>
            <a:pPr indent="0" marL="0">
              <a:buNone/>
            </a:pPr>
            <a:r>
              <a:rPr lang="en-US" sz="1200" dirty="0">
                <a:solidFill>
                  <a:srgbClr val="1F1F1F"/>
                </a:solidFill>
                <a:latin typeface="Pretendard" pitchFamily="34" charset="0"/>
                <a:ea typeface="Pretendard" pitchFamily="34" charset="-122"/>
                <a:cs typeface="Pretendard" pitchFamily="34" charset="-120"/>
              </a:rPr>
              <a:t>프로포절 드래프트 — 여섯 절</a:t>
            </a:r>
            <a:endParaRPr lang="en-US" sz="1200" dirty="0"/>
          </a:p>
        </p:txBody>
      </p:sp>
      <p:sp>
        <p:nvSpPr>
          <p:cNvPr id="18" name="Text 16"/>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9B9B9B"/>
                </a:solidFill>
                <a:latin typeface="Pretendard" pitchFamily="34" charset="0"/>
                <a:ea typeface="Pretendard" pitchFamily="34" charset="-122"/>
                <a:cs typeface="Pretendard" pitchFamily="34" charset="-120"/>
              </a:rPr>
              <a:t>WONKWANG UNIV · 2026-2</a:t>
            </a:r>
            <a:endParaRPr lang="en-US" sz="850" dirty="0"/>
          </a:p>
        </p:txBody>
      </p:sp>
      <p:sp>
        <p:nvSpPr>
          <p:cNvPr id="19" name="Shape 17"/>
          <p:cNvSpPr/>
          <p:nvPr/>
        </p:nvSpPr>
        <p:spPr>
          <a:xfrm>
            <a:off x="640080" y="6291072"/>
            <a:ext cx="10911535" cy="7315"/>
          </a:xfrm>
          <a:prstGeom prst="rect">
            <a:avLst/>
          </a:prstGeom>
          <a:solidFill>
            <a:srgbClr val="DCDCDC"/>
          </a:solidFill>
          <a:ln w="12700">
            <a:solidFill>
              <a:srgbClr val="DCDCD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WHAT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프로포절은 어떤 글인가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아직 하지 않은 연구를 설명하는 글입니다. 결과가 없는 채로 설득해야 합니다.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세 가지만 보여 주면 됩니다</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문제가 진짜 있다 — 내가 답답한 것이 아니라 남도 겪는 일이다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남들이 아직 안 풀었다 — 비슷한 연구는 있지만 이 자리는 비어 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내 방법으로 풀 수 있다 — 삼 년 안에 할 수 있는 크기다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처음 쓸 때 하는 오해</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길게 써야 좋다 → 짧고 서로 맞물리는 글이 낫습니다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어려운 말을 써야 한다 → 심사위원이 내 분야 전문가가 아닐 수 있습니다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다 알고 나서 써야 한다 → 모르는 것을 적는 것이 연구 계획입니다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완벽해야 낸다 → 어설픈 여섯 문장이 백지보다 낫습니다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오늘은 완성하는 자리가 아니라 여섯 문장을 꺼내 놓는 자리입니다.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P.01</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SIX</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여섯 절이 답하는 여섯 질문</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절 이름은 학교마다 다릅니다. 하는 일이 같습니다.</a:t>
            </a:r>
            <a:endParaRPr lang="en-US" sz="1150" dirty="0"/>
          </a:p>
        </p:txBody>
      </p:sp>
      <p:sp>
        <p:nvSpPr>
          <p:cNvPr id="9" name="Shape 7"/>
          <p:cNvSpPr/>
          <p:nvPr/>
        </p:nvSpPr>
        <p:spPr>
          <a:xfrm>
            <a:off x="640080" y="1719072"/>
            <a:ext cx="10911535" cy="536448"/>
          </a:xfrm>
          <a:prstGeom prst="rect">
            <a:avLst/>
          </a:prstGeom>
          <a:solidFill>
            <a:srgbClr val="FFFFFF"/>
          </a:solidFill>
          <a:ln w="12700">
            <a:solidFill>
              <a:srgbClr val="DCDCDC"/>
            </a:solidFill>
            <a:prstDash val="solid"/>
          </a:ln>
        </p:spPr>
      </p:sp>
      <p:sp>
        <p:nvSpPr>
          <p:cNvPr id="10" name="Text 8"/>
          <p:cNvSpPr/>
          <p:nvPr/>
        </p:nvSpPr>
        <p:spPr>
          <a:xfrm>
            <a:off x="1097280" y="1810512"/>
            <a:ext cx="3291840" cy="35356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무엇이 문제인가</a:t>
            </a:r>
            <a:endParaRPr lang="en-US" sz="1450" dirty="0"/>
          </a:p>
        </p:txBody>
      </p:sp>
      <p:sp>
        <p:nvSpPr>
          <p:cNvPr id="11" name="Text 9"/>
          <p:cNvSpPr/>
          <p:nvPr/>
        </p:nvSpPr>
        <p:spPr>
          <a:xfrm>
            <a:off x="4480560" y="1810512"/>
            <a:ext cx="6705295" cy="35356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연구 배경 · 문제 제기. 남도 겪는 일임을 보여 줍니다.</a:t>
            </a:r>
            <a:endParaRPr lang="en-US" sz="1150" dirty="0"/>
          </a:p>
        </p:txBody>
      </p:sp>
      <p:sp>
        <p:nvSpPr>
          <p:cNvPr id="12" name="Shape 10"/>
          <p:cNvSpPr/>
          <p:nvPr/>
        </p:nvSpPr>
        <p:spPr>
          <a:xfrm>
            <a:off x="640080" y="2401824"/>
            <a:ext cx="10911535" cy="536448"/>
          </a:xfrm>
          <a:prstGeom prst="rect">
            <a:avLst/>
          </a:prstGeom>
          <a:solidFill>
            <a:srgbClr val="FFFFFF"/>
          </a:solidFill>
          <a:ln w="12700">
            <a:solidFill>
              <a:srgbClr val="DCDCDC"/>
            </a:solidFill>
            <a:prstDash val="solid"/>
          </a:ln>
        </p:spPr>
      </p:sp>
      <p:sp>
        <p:nvSpPr>
          <p:cNvPr id="13" name="Text 11"/>
          <p:cNvSpPr/>
          <p:nvPr/>
        </p:nvSpPr>
        <p:spPr>
          <a:xfrm>
            <a:off x="1097280" y="2493264"/>
            <a:ext cx="3291840" cy="35356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무엇을 묻는가</a:t>
            </a:r>
            <a:endParaRPr lang="en-US" sz="1450" dirty="0"/>
          </a:p>
        </p:txBody>
      </p:sp>
      <p:sp>
        <p:nvSpPr>
          <p:cNvPr id="14" name="Text 12"/>
          <p:cNvSpPr/>
          <p:nvPr/>
        </p:nvSpPr>
        <p:spPr>
          <a:xfrm>
            <a:off x="4480560" y="2493264"/>
            <a:ext cx="6705295" cy="35356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연구 질문. 물음표로 끝나는 한 문장. 여기가 제일 중요합니다.</a:t>
            </a:r>
            <a:endParaRPr lang="en-US" sz="1150" dirty="0"/>
          </a:p>
        </p:txBody>
      </p:sp>
      <p:sp>
        <p:nvSpPr>
          <p:cNvPr id="15" name="Shape 13"/>
          <p:cNvSpPr/>
          <p:nvPr/>
        </p:nvSpPr>
        <p:spPr>
          <a:xfrm>
            <a:off x="640080" y="3084576"/>
            <a:ext cx="10911535" cy="536448"/>
          </a:xfrm>
          <a:prstGeom prst="rect">
            <a:avLst/>
          </a:prstGeom>
          <a:solidFill>
            <a:srgbClr val="FFFFFF"/>
          </a:solidFill>
          <a:ln w="12700">
            <a:solidFill>
              <a:srgbClr val="DCDCDC"/>
            </a:solidFill>
            <a:prstDash val="solid"/>
          </a:ln>
        </p:spPr>
      </p:sp>
      <p:sp>
        <p:nvSpPr>
          <p:cNvPr id="16" name="Text 14"/>
          <p:cNvSpPr/>
          <p:nvPr/>
        </p:nvSpPr>
        <p:spPr>
          <a:xfrm>
            <a:off x="1097280" y="3176016"/>
            <a:ext cx="3291840" cy="35356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무엇을 예상하는가</a:t>
            </a:r>
            <a:endParaRPr lang="en-US" sz="1450" dirty="0"/>
          </a:p>
        </p:txBody>
      </p:sp>
      <p:sp>
        <p:nvSpPr>
          <p:cNvPr id="17" name="Text 15"/>
          <p:cNvSpPr/>
          <p:nvPr/>
        </p:nvSpPr>
        <p:spPr>
          <a:xfrm>
            <a:off x="4480560" y="3176016"/>
            <a:ext cx="6705295" cy="35356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가설. 질문에 대한 내 짐작. 틀려도 됩니다.</a:t>
            </a:r>
            <a:endParaRPr lang="en-US" sz="1150" dirty="0"/>
          </a:p>
        </p:txBody>
      </p:sp>
      <p:sp>
        <p:nvSpPr>
          <p:cNvPr id="18" name="Shape 16"/>
          <p:cNvSpPr/>
          <p:nvPr/>
        </p:nvSpPr>
        <p:spPr>
          <a:xfrm>
            <a:off x="640080" y="3767328"/>
            <a:ext cx="10911535" cy="536448"/>
          </a:xfrm>
          <a:prstGeom prst="rect">
            <a:avLst/>
          </a:prstGeom>
          <a:solidFill>
            <a:srgbClr val="FFFFFF"/>
          </a:solidFill>
          <a:ln w="12700">
            <a:solidFill>
              <a:srgbClr val="DCDCDC"/>
            </a:solidFill>
            <a:prstDash val="solid"/>
          </a:ln>
        </p:spPr>
      </p:sp>
      <p:sp>
        <p:nvSpPr>
          <p:cNvPr id="19" name="Text 17"/>
          <p:cNvSpPr/>
          <p:nvPr/>
        </p:nvSpPr>
        <p:spPr>
          <a:xfrm>
            <a:off x="1097280" y="3858768"/>
            <a:ext cx="3291840" cy="35356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남들은 어디까지 갔는가</a:t>
            </a:r>
            <a:endParaRPr lang="en-US" sz="1450" dirty="0"/>
          </a:p>
        </p:txBody>
      </p:sp>
      <p:sp>
        <p:nvSpPr>
          <p:cNvPr id="20" name="Text 18"/>
          <p:cNvSpPr/>
          <p:nvPr/>
        </p:nvSpPr>
        <p:spPr>
          <a:xfrm>
            <a:off x="4480560" y="3858768"/>
            <a:ext cx="6705295" cy="35356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선행연구 · 이론적 배경. 2회차에 찾은 다섯 편이 여기 들어갑니다.</a:t>
            </a:r>
            <a:endParaRPr lang="en-US" sz="1150" dirty="0"/>
          </a:p>
        </p:txBody>
      </p:sp>
      <p:sp>
        <p:nvSpPr>
          <p:cNvPr id="21" name="Shape 19"/>
          <p:cNvSpPr/>
          <p:nvPr/>
        </p:nvSpPr>
        <p:spPr>
          <a:xfrm>
            <a:off x="640080" y="4450080"/>
            <a:ext cx="10911535" cy="536448"/>
          </a:xfrm>
          <a:prstGeom prst="rect">
            <a:avLst/>
          </a:prstGeom>
          <a:solidFill>
            <a:srgbClr val="FFFFFF"/>
          </a:solidFill>
          <a:ln w="12700">
            <a:solidFill>
              <a:srgbClr val="DCDCDC"/>
            </a:solidFill>
            <a:prstDash val="solid"/>
          </a:ln>
        </p:spPr>
      </p:sp>
      <p:sp>
        <p:nvSpPr>
          <p:cNvPr id="22" name="Text 20"/>
          <p:cNvSpPr/>
          <p:nvPr/>
        </p:nvSpPr>
        <p:spPr>
          <a:xfrm>
            <a:off x="1097280" y="4541520"/>
            <a:ext cx="3291840" cy="353568"/>
          </a:xfrm>
          <a:prstGeom prst="rect">
            <a:avLst/>
          </a:prstGeom>
          <a:noFill/>
          <a:ln/>
        </p:spPr>
        <p:txBody>
          <a:bodyPr wrap="square" lIns="0" tIns="0" rIns="0" bIns="0" rtlCol="0" anchor="ctr"/>
          <a:lstStyle/>
          <a:p>
            <a:pPr indent="0" marL="0">
              <a:buNone/>
            </a:pPr>
            <a:r>
              <a:rPr lang="en-US" sz="1450" dirty="0">
                <a:solidFill>
                  <a:srgbClr val="111111"/>
                </a:solidFill>
                <a:latin typeface="Pretendard SemiBold" pitchFamily="34" charset="0"/>
                <a:ea typeface="Pretendard SemiBold" pitchFamily="34" charset="-122"/>
                <a:cs typeface="Pretendard SemiBold" pitchFamily="34" charset="-120"/>
              </a:rPr>
              <a:t>나는 무엇을 할 것인가</a:t>
            </a:r>
            <a:endParaRPr lang="en-US" sz="1450" dirty="0"/>
          </a:p>
        </p:txBody>
      </p:sp>
      <p:sp>
        <p:nvSpPr>
          <p:cNvPr id="23" name="Text 21"/>
          <p:cNvSpPr/>
          <p:nvPr/>
        </p:nvSpPr>
        <p:spPr>
          <a:xfrm>
            <a:off x="4480560" y="4541520"/>
            <a:ext cx="6705295" cy="353568"/>
          </a:xfrm>
          <a:prstGeom prst="rect">
            <a:avLst/>
          </a:prstGeom>
          <a:noFill/>
          <a:ln/>
        </p:spPr>
        <p:txBody>
          <a:bodyPr wrap="square" lIns="0" tIns="0" rIns="0" bIns="0" rtlCol="0" anchor="ctr"/>
          <a:lstStyle/>
          <a:p>
            <a:pPr indent="0" marL="0">
              <a:lnSpc>
                <a:spcPct val="124000"/>
              </a:lnSpc>
              <a:buNone/>
            </a:pPr>
            <a:r>
              <a:rPr lang="en-US" sz="1150" dirty="0">
                <a:solidFill>
                  <a:srgbClr val="6E6E6E"/>
                </a:solidFill>
                <a:latin typeface="Pretendard" pitchFamily="34" charset="0"/>
                <a:ea typeface="Pretendard" pitchFamily="34" charset="-122"/>
                <a:cs typeface="Pretendard" pitchFamily="34" charset="-120"/>
              </a:rPr>
              <a:t>연구 방법. 누구에게 무엇을 어떻게.</a:t>
            </a:r>
            <a:endParaRPr lang="en-US" sz="1150" dirty="0"/>
          </a:p>
        </p:txBody>
      </p:sp>
      <p:sp>
        <p:nvSpPr>
          <p:cNvPr id="24" name="Shape 22"/>
          <p:cNvSpPr/>
          <p:nvPr/>
        </p:nvSpPr>
        <p:spPr>
          <a:xfrm>
            <a:off x="640080" y="5132832"/>
            <a:ext cx="10911535" cy="536448"/>
          </a:xfrm>
          <a:prstGeom prst="rect">
            <a:avLst/>
          </a:prstGeom>
          <a:solidFill>
            <a:srgbClr val="111111"/>
          </a:solidFill>
          <a:ln w="12700">
            <a:solidFill>
              <a:srgbClr val="111111"/>
            </a:solidFill>
            <a:prstDash val="solid"/>
          </a:ln>
        </p:spPr>
      </p:sp>
      <p:sp>
        <p:nvSpPr>
          <p:cNvPr id="25" name="Text 23"/>
          <p:cNvSpPr/>
          <p:nvPr/>
        </p:nvSpPr>
        <p:spPr>
          <a:xfrm>
            <a:off x="1097280" y="5224272"/>
            <a:ext cx="3291840" cy="353568"/>
          </a:xfrm>
          <a:prstGeom prst="rect">
            <a:avLst/>
          </a:prstGeom>
          <a:noFill/>
          <a:ln/>
        </p:spPr>
        <p:txBody>
          <a:bodyPr wrap="square" lIns="0" tIns="0" rIns="0" bIns="0" rtlCol="0" anchor="ctr"/>
          <a:lstStyle/>
          <a:p>
            <a:pPr indent="0" marL="0">
              <a:buNone/>
            </a:pPr>
            <a:r>
              <a:rPr lang="en-US" sz="1450" dirty="0">
                <a:solidFill>
                  <a:srgbClr val="FFFFFF"/>
                </a:solidFill>
                <a:latin typeface="Pretendard SemiBold" pitchFamily="34" charset="0"/>
                <a:ea typeface="Pretendard SemiBold" pitchFamily="34" charset="-122"/>
                <a:cs typeface="Pretendard SemiBold" pitchFamily="34" charset="-120"/>
              </a:rPr>
              <a:t>그래서 무엇이 남는가</a:t>
            </a:r>
            <a:endParaRPr lang="en-US" sz="1450" dirty="0"/>
          </a:p>
        </p:txBody>
      </p:sp>
      <p:sp>
        <p:nvSpPr>
          <p:cNvPr id="26" name="Text 24"/>
          <p:cNvSpPr/>
          <p:nvPr/>
        </p:nvSpPr>
        <p:spPr>
          <a:xfrm>
            <a:off x="4480560" y="5224272"/>
            <a:ext cx="6705295" cy="353568"/>
          </a:xfrm>
          <a:prstGeom prst="rect">
            <a:avLst/>
          </a:prstGeom>
          <a:noFill/>
          <a:ln/>
        </p:spPr>
        <p:txBody>
          <a:bodyPr wrap="square" lIns="0" tIns="0" rIns="0" bIns="0" rtlCol="0" anchor="ctr"/>
          <a:lstStyle/>
          <a:p>
            <a:pPr indent="0" marL="0">
              <a:lnSpc>
                <a:spcPct val="124000"/>
              </a:lnSpc>
              <a:buNone/>
            </a:pPr>
            <a:r>
              <a:rPr lang="en-US" sz="1150" dirty="0">
                <a:solidFill>
                  <a:srgbClr val="B8B8B8"/>
                </a:solidFill>
                <a:latin typeface="Pretendard" pitchFamily="34" charset="0"/>
                <a:ea typeface="Pretendard" pitchFamily="34" charset="-122"/>
                <a:cs typeface="Pretendard" pitchFamily="34" charset="-120"/>
              </a:rPr>
              <a:t>예상 기여. 이 연구가 끝나면 무엇을 알게 되는가.</a:t>
            </a:r>
            <a:endParaRPr lang="en-US" sz="1150" dirty="0"/>
          </a:p>
        </p:txBody>
      </p:sp>
      <p:sp>
        <p:nvSpPr>
          <p:cNvPr id="27" name="Shape 25"/>
          <p:cNvSpPr/>
          <p:nvPr/>
        </p:nvSpPr>
        <p:spPr>
          <a:xfrm>
            <a:off x="640080" y="6291072"/>
            <a:ext cx="10911535" cy="7315"/>
          </a:xfrm>
          <a:prstGeom prst="rect">
            <a:avLst/>
          </a:prstGeom>
          <a:solidFill>
            <a:srgbClr val="DCDCDC"/>
          </a:solidFill>
          <a:ln w="12700">
            <a:solidFill>
              <a:srgbClr val="DCDCDC"/>
            </a:solidFill>
            <a:prstDash val="solid"/>
          </a:ln>
        </p:spPr>
      </p:sp>
      <p:sp>
        <p:nvSpPr>
          <p:cNvPr id="28" name="Text 2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29" name="Text 2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01</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01</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문제 세우기</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첫째 절입니다. 무엇이 문제인가. 내가 답답한 것과 연구 문제는 다릅니다.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01</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EX-1</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문제 — 이렇게 쓰면 안 됩니다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크게 쓰면 아무도 믿지 않고, 좁게 쓰면 확인할 수 있습니다.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이렇게 쓰면</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이렇게 씁니다</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너무 큰 문제</a:t>
            </a:r>
            <a:endParaRPr lang="en-US" sz="900" dirty="0"/>
          </a:p>
        </p:txBody>
      </p:sp>
      <p:sp>
        <p:nvSpPr>
          <p:cNvPr id="14" name="Text 12"/>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전통시장이 쇠퇴하고 있다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너무 큰 문제</a:t>
            </a:r>
            <a:endParaRPr lang="en-US" sz="900" dirty="0"/>
          </a:p>
        </p:txBody>
      </p:sp>
      <p:sp>
        <p:nvSpPr>
          <p:cNvPr id="16" name="Text 14"/>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방문객이 원하는 가게를 못 찾고 되돌아 나온다</a:t>
            </a:r>
            <a:endParaRPr lang="en-US" sz="1150" dirty="0"/>
          </a:p>
        </p:txBody>
      </p:sp>
      <p:sp>
        <p:nvSpPr>
          <p:cNvPr id="17" name="Shape 15"/>
          <p:cNvSpPr/>
          <p:nvPr/>
        </p:nvSpPr>
        <p:spPr>
          <a:xfrm>
            <a:off x="1042416" y="2980944"/>
            <a:ext cx="4449928" cy="7315"/>
          </a:xfrm>
          <a:prstGeom prst="rect">
            <a:avLst/>
          </a:prstGeom>
          <a:solidFill>
            <a:srgbClr val="D2D2D2"/>
          </a:solidFill>
          <a:ln w="12700">
            <a:solidFill>
              <a:srgbClr val="D2D2D2"/>
            </a:solidFill>
            <a:prstDash val="solid"/>
          </a:ln>
        </p:spPr>
      </p:sp>
      <p:sp>
        <p:nvSpPr>
          <p:cNvPr id="18" name="Shape 16"/>
          <p:cNvSpPr/>
          <p:nvPr/>
        </p:nvSpPr>
        <p:spPr>
          <a:xfrm>
            <a:off x="6699352" y="2980944"/>
            <a:ext cx="4449928" cy="7315"/>
          </a:xfrm>
          <a:prstGeom prst="rect">
            <a:avLst/>
          </a:prstGeom>
          <a:solidFill>
            <a:srgbClr val="DCDCDC"/>
          </a:solidFill>
          <a:ln w="12700">
            <a:solidFill>
              <a:srgbClr val="DCDCDC"/>
            </a:solidFill>
            <a:prstDash val="solid"/>
          </a:ln>
        </p:spPr>
      </p:sp>
      <p:sp>
        <p:nvSpPr>
          <p:cNvPr id="19" name="Text 17"/>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막연한 필요</a:t>
            </a:r>
            <a:endParaRPr lang="en-US" sz="900" dirty="0"/>
          </a:p>
        </p:txBody>
      </p:sp>
      <p:sp>
        <p:nvSpPr>
          <p:cNvPr id="20" name="Text 18"/>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디자인이 필요하다</a:t>
            </a:r>
            <a:endParaRPr lang="en-US" sz="1150" dirty="0"/>
          </a:p>
        </p:txBody>
      </p:sp>
      <p:sp>
        <p:nvSpPr>
          <p:cNvPr id="21" name="Text 19"/>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막연한 필요</a:t>
            </a:r>
            <a:endParaRPr lang="en-US" sz="900" dirty="0"/>
          </a:p>
        </p:txBody>
      </p:sp>
      <p:sp>
        <p:nvSpPr>
          <p:cNvPr id="22" name="Text 20"/>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간판 크기와 글자가 제각각이라 멀리서 업종이 구별되지 않는다</a:t>
            </a:r>
            <a:endParaRPr lang="en-US" sz="1150" dirty="0"/>
          </a:p>
        </p:txBody>
      </p:sp>
      <p:sp>
        <p:nvSpPr>
          <p:cNvPr id="23" name="Shape 21"/>
          <p:cNvSpPr/>
          <p:nvPr/>
        </p:nvSpPr>
        <p:spPr>
          <a:xfrm>
            <a:off x="1042416" y="3566160"/>
            <a:ext cx="4449928" cy="7315"/>
          </a:xfrm>
          <a:prstGeom prst="rect">
            <a:avLst/>
          </a:prstGeom>
          <a:solidFill>
            <a:srgbClr val="D2D2D2"/>
          </a:solidFill>
          <a:ln w="12700">
            <a:solidFill>
              <a:srgbClr val="D2D2D2"/>
            </a:solidFill>
            <a:prstDash val="solid"/>
          </a:ln>
        </p:spPr>
      </p:sp>
      <p:sp>
        <p:nvSpPr>
          <p:cNvPr id="24" name="Shape 22"/>
          <p:cNvSpPr/>
          <p:nvPr/>
        </p:nvSpPr>
        <p:spPr>
          <a:xfrm>
            <a:off x="6699352" y="3566160"/>
            <a:ext cx="4449928" cy="7315"/>
          </a:xfrm>
          <a:prstGeom prst="rect">
            <a:avLst/>
          </a:prstGeom>
          <a:solidFill>
            <a:srgbClr val="DCDCDC"/>
          </a:solidFill>
          <a:ln w="12700">
            <a:solidFill>
              <a:srgbClr val="DCDCDC"/>
            </a:solidFill>
            <a:prstDash val="solid"/>
          </a:ln>
        </p:spPr>
      </p:sp>
      <p:sp>
        <p:nvSpPr>
          <p:cNvPr id="25" name="Text 23"/>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내 관심</a:t>
            </a:r>
            <a:endParaRPr lang="en-US" sz="900" dirty="0"/>
          </a:p>
        </p:txBody>
      </p:sp>
      <p:sp>
        <p:nvSpPr>
          <p:cNvPr id="26" name="Text 24"/>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본 연구자는 이 주제에 관심이 있다</a:t>
            </a:r>
            <a:endParaRPr lang="en-US" sz="1150" dirty="0"/>
          </a:p>
        </p:txBody>
      </p:sp>
      <p:sp>
        <p:nvSpPr>
          <p:cNvPr id="27" name="Text 25"/>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내 관심</a:t>
            </a:r>
            <a:endParaRPr lang="en-US" sz="900" dirty="0"/>
          </a:p>
        </p:txBody>
      </p:sp>
      <p:sp>
        <p:nvSpPr>
          <p:cNvPr id="28" name="Text 26"/>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상인 10분 중 7분이 같은 불편을 말했다</a:t>
            </a:r>
            <a:endParaRPr lang="en-US" sz="1150" dirty="0"/>
          </a:p>
        </p:txBody>
      </p:sp>
      <p:sp>
        <p:nvSpPr>
          <p:cNvPr id="29" name="Shape 27"/>
          <p:cNvSpPr/>
          <p:nvPr/>
        </p:nvSpPr>
        <p:spPr>
          <a:xfrm>
            <a:off x="1042416" y="4151376"/>
            <a:ext cx="4449928" cy="7315"/>
          </a:xfrm>
          <a:prstGeom prst="rect">
            <a:avLst/>
          </a:prstGeom>
          <a:solidFill>
            <a:srgbClr val="D2D2D2"/>
          </a:solidFill>
          <a:ln w="12700">
            <a:solidFill>
              <a:srgbClr val="D2D2D2"/>
            </a:solidFill>
            <a:prstDash val="solid"/>
          </a:ln>
        </p:spPr>
      </p:sp>
      <p:sp>
        <p:nvSpPr>
          <p:cNvPr id="30" name="Shape 28"/>
          <p:cNvSpPr/>
          <p:nvPr/>
        </p:nvSpPr>
        <p:spPr>
          <a:xfrm>
            <a:off x="6699352" y="4151376"/>
            <a:ext cx="4449928" cy="7315"/>
          </a:xfrm>
          <a:prstGeom prst="rect">
            <a:avLst/>
          </a:prstGeom>
          <a:solidFill>
            <a:srgbClr val="DCDCDC"/>
          </a:solidFill>
          <a:ln w="12700">
            <a:solidFill>
              <a:srgbClr val="DCDCDC"/>
            </a:solidFill>
            <a:prstDash val="solid"/>
          </a:ln>
        </p:spPr>
      </p:sp>
      <p:sp>
        <p:nvSpPr>
          <p:cNvPr id="31" name="Text 29"/>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근거 없는 단정</a:t>
            </a:r>
            <a:endParaRPr lang="en-US" sz="900" dirty="0"/>
          </a:p>
        </p:txBody>
      </p:sp>
      <p:sp>
        <p:nvSpPr>
          <p:cNvPr id="32" name="Text 30"/>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아무도 연구하지 않았다</a:t>
            </a:r>
            <a:endParaRPr lang="en-US" sz="1150" dirty="0"/>
          </a:p>
        </p:txBody>
      </p:sp>
      <p:sp>
        <p:nvSpPr>
          <p:cNvPr id="33" name="Text 31"/>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근거 없는 단정</a:t>
            </a:r>
            <a:endParaRPr lang="en-US" sz="900" dirty="0"/>
          </a:p>
        </p:txBody>
      </p:sp>
      <p:sp>
        <p:nvSpPr>
          <p:cNvPr id="34" name="Text 32"/>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간판 연구는 가독성 중심이고 업종 구별은 찾지 못했다</a:t>
            </a:r>
            <a:endParaRPr lang="en-US" sz="1150" dirty="0"/>
          </a:p>
        </p:txBody>
      </p:sp>
      <p:sp>
        <p:nvSpPr>
          <p:cNvPr id="35" name="Shape 33"/>
          <p:cNvSpPr/>
          <p:nvPr/>
        </p:nvSpPr>
        <p:spPr>
          <a:xfrm>
            <a:off x="640080" y="5010912"/>
            <a:ext cx="10911535" cy="7315"/>
          </a:xfrm>
          <a:prstGeom prst="rect">
            <a:avLst/>
          </a:prstGeom>
          <a:solidFill>
            <a:srgbClr val="111111"/>
          </a:solidFill>
          <a:ln w="12700">
            <a:solidFill>
              <a:srgbClr val="111111"/>
            </a:solidFill>
            <a:prstDash val="solid"/>
          </a:ln>
        </p:spPr>
      </p:sp>
      <p:sp>
        <p:nvSpPr>
          <p:cNvPr id="36" name="Text 34"/>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네 줄 다 같은 이야기입니다. 내 머릿속 말고 밖에서 확인할 수 있는 것을 쓰십시오.</a:t>
            </a:r>
            <a:endParaRPr lang="en-US" sz="1300" dirty="0"/>
          </a:p>
        </p:txBody>
      </p:sp>
      <p:sp>
        <p:nvSpPr>
          <p:cNvPr id="37" name="Shape 35"/>
          <p:cNvSpPr/>
          <p:nvPr/>
        </p:nvSpPr>
        <p:spPr>
          <a:xfrm>
            <a:off x="640080" y="6291072"/>
            <a:ext cx="10911535" cy="7315"/>
          </a:xfrm>
          <a:prstGeom prst="rect">
            <a:avLst/>
          </a:prstGeom>
          <a:solidFill>
            <a:srgbClr val="DCDCDC"/>
          </a:solidFill>
          <a:ln w="12700">
            <a:solidFill>
              <a:srgbClr val="DCDCDC"/>
            </a:solidFill>
            <a:prstDash val="solid"/>
          </a:ln>
        </p:spPr>
      </p:sp>
      <p:sp>
        <p:nvSpPr>
          <p:cNvPr id="38" name="Text 3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39" name="Text 3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WRITE-1</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직접 써 보기 ① — 문제</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5분. 칸을 채우고 한 문장으로 잇습니다.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채울 칸</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누가 — 어떤 사람이 겪습니까</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언제 — 어떤 상황에서 생깁니까</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무엇이 안 됩니까 — '잘 안 된다'는 답이 아닙니다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 세 칸을 한 문장으로 이으면 첫 절의 첫 문장입니다</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예시 — 전통시장</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누가 — 시장을 처음 찾은 방문객이</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언제 — 입구에서 안쪽으로 걸어 들어가며</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무엇이 — 간판만 보고는 어느 가게가 무엇을 파는지 알 수 없다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 처음 찾은 방문객은 간판만으로 업종을 구별하지 못해 원하는 가게를 지나친다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다 쓰신 분은 소리 내어 한 번 읽어 보세요. 읽다가 어색한 곳이 고칠 곳입니다.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02</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02</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연구 질문과 가설</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둘째 절과 셋째 절입니다. 무엇을 묻고 무엇을 예상하는가. 둘은 짝입니다.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EX-2</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연구 질문 — 물음표로 끝나야 합니다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물음표로 끝나고 · 답할 수 있고 · 뻔하지 않고 · 확인할 방법이 보여야 합니다.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질문이 아닌 것</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질문인 것</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할 일을 적음</a:t>
            </a:r>
            <a:endParaRPr lang="en-US" sz="900" dirty="0"/>
          </a:p>
        </p:txBody>
      </p:sp>
      <p:sp>
        <p:nvSpPr>
          <p:cNvPr id="14" name="Text 12"/>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간판 디자인 방안을 연구한다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할 일을 적음</a:t>
            </a:r>
            <a:endParaRPr lang="en-US" sz="900" dirty="0"/>
          </a:p>
        </p:txBody>
      </p:sp>
      <p:sp>
        <p:nvSpPr>
          <p:cNvPr id="16" name="Text 14"/>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색 간판은 글자 간판보다 업종을 빨리 알게 하는가?</a:t>
            </a:r>
            <a:endParaRPr lang="en-US" sz="1150" dirty="0"/>
          </a:p>
        </p:txBody>
      </p:sp>
      <p:sp>
        <p:nvSpPr>
          <p:cNvPr id="17" name="Shape 15"/>
          <p:cNvSpPr/>
          <p:nvPr/>
        </p:nvSpPr>
        <p:spPr>
          <a:xfrm>
            <a:off x="1042416" y="2980944"/>
            <a:ext cx="4449928" cy="7315"/>
          </a:xfrm>
          <a:prstGeom prst="rect">
            <a:avLst/>
          </a:prstGeom>
          <a:solidFill>
            <a:srgbClr val="D2D2D2"/>
          </a:solidFill>
          <a:ln w="12700">
            <a:solidFill>
              <a:srgbClr val="D2D2D2"/>
            </a:solidFill>
            <a:prstDash val="solid"/>
          </a:ln>
        </p:spPr>
      </p:sp>
      <p:sp>
        <p:nvSpPr>
          <p:cNvPr id="18" name="Shape 16"/>
          <p:cNvSpPr/>
          <p:nvPr/>
        </p:nvSpPr>
        <p:spPr>
          <a:xfrm>
            <a:off x="6699352" y="2980944"/>
            <a:ext cx="4449928" cy="7315"/>
          </a:xfrm>
          <a:prstGeom prst="rect">
            <a:avLst/>
          </a:prstGeom>
          <a:solidFill>
            <a:srgbClr val="DCDCDC"/>
          </a:solidFill>
          <a:ln w="12700">
            <a:solidFill>
              <a:srgbClr val="DCDCDC"/>
            </a:solidFill>
            <a:prstDash val="solid"/>
          </a:ln>
        </p:spPr>
      </p:sp>
      <p:sp>
        <p:nvSpPr>
          <p:cNvPr id="19" name="Text 17"/>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너무 큼</a:t>
            </a:r>
            <a:endParaRPr lang="en-US" sz="900" dirty="0"/>
          </a:p>
        </p:txBody>
      </p:sp>
      <p:sp>
        <p:nvSpPr>
          <p:cNvPr id="20" name="Text 18"/>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전통시장 활성화 방안은 무엇인가?</a:t>
            </a:r>
            <a:endParaRPr lang="en-US" sz="1150" dirty="0"/>
          </a:p>
        </p:txBody>
      </p:sp>
      <p:sp>
        <p:nvSpPr>
          <p:cNvPr id="21" name="Text 19"/>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너무 큼</a:t>
            </a:r>
            <a:endParaRPr lang="en-US" sz="900" dirty="0"/>
          </a:p>
        </p:txBody>
      </p:sp>
      <p:sp>
        <p:nvSpPr>
          <p:cNvPr id="22" name="Text 20"/>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처음 온 방문객은 간판의 무엇을 보고 업종을 판단하는가?</a:t>
            </a:r>
            <a:endParaRPr lang="en-US" sz="1150" dirty="0"/>
          </a:p>
        </p:txBody>
      </p:sp>
      <p:sp>
        <p:nvSpPr>
          <p:cNvPr id="23" name="Shape 21"/>
          <p:cNvSpPr/>
          <p:nvPr/>
        </p:nvSpPr>
        <p:spPr>
          <a:xfrm>
            <a:off x="1042416" y="3566160"/>
            <a:ext cx="4449928" cy="7315"/>
          </a:xfrm>
          <a:prstGeom prst="rect">
            <a:avLst/>
          </a:prstGeom>
          <a:solidFill>
            <a:srgbClr val="D2D2D2"/>
          </a:solidFill>
          <a:ln w="12700">
            <a:solidFill>
              <a:srgbClr val="D2D2D2"/>
            </a:solidFill>
            <a:prstDash val="solid"/>
          </a:ln>
        </p:spPr>
      </p:sp>
      <p:sp>
        <p:nvSpPr>
          <p:cNvPr id="24" name="Shape 22"/>
          <p:cNvSpPr/>
          <p:nvPr/>
        </p:nvSpPr>
        <p:spPr>
          <a:xfrm>
            <a:off x="6699352" y="3566160"/>
            <a:ext cx="4449928" cy="7315"/>
          </a:xfrm>
          <a:prstGeom prst="rect">
            <a:avLst/>
          </a:prstGeom>
          <a:solidFill>
            <a:srgbClr val="DCDCDC"/>
          </a:solidFill>
          <a:ln w="12700">
            <a:solidFill>
              <a:srgbClr val="DCDCDC"/>
            </a:solidFill>
            <a:prstDash val="solid"/>
          </a:ln>
        </p:spPr>
      </p:sp>
      <p:sp>
        <p:nvSpPr>
          <p:cNvPr id="25" name="Text 23"/>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답이 뻔함</a:t>
            </a:r>
            <a:endParaRPr lang="en-US" sz="900" dirty="0"/>
          </a:p>
        </p:txBody>
      </p:sp>
      <p:sp>
        <p:nvSpPr>
          <p:cNvPr id="26" name="Text 24"/>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간판은 중요한가?</a:t>
            </a:r>
            <a:endParaRPr lang="en-US" sz="1150" dirty="0"/>
          </a:p>
        </p:txBody>
      </p:sp>
      <p:sp>
        <p:nvSpPr>
          <p:cNvPr id="27" name="Text 25"/>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답이 뻔함</a:t>
            </a:r>
            <a:endParaRPr lang="en-US" sz="900" dirty="0"/>
          </a:p>
        </p:txBody>
      </p:sp>
      <p:sp>
        <p:nvSpPr>
          <p:cNvPr id="28" name="Text 26"/>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업종 표시를 색과 글자 중 어느 쪽으로 할 때 더 빨리 찾는가?</a:t>
            </a:r>
            <a:endParaRPr lang="en-US" sz="1150" dirty="0"/>
          </a:p>
        </p:txBody>
      </p:sp>
      <p:sp>
        <p:nvSpPr>
          <p:cNvPr id="29" name="Shape 27"/>
          <p:cNvSpPr/>
          <p:nvPr/>
        </p:nvSpPr>
        <p:spPr>
          <a:xfrm>
            <a:off x="1042416" y="4151376"/>
            <a:ext cx="4449928" cy="7315"/>
          </a:xfrm>
          <a:prstGeom prst="rect">
            <a:avLst/>
          </a:prstGeom>
          <a:solidFill>
            <a:srgbClr val="D2D2D2"/>
          </a:solidFill>
          <a:ln w="12700">
            <a:solidFill>
              <a:srgbClr val="D2D2D2"/>
            </a:solidFill>
            <a:prstDash val="solid"/>
          </a:ln>
        </p:spPr>
      </p:sp>
      <p:sp>
        <p:nvSpPr>
          <p:cNvPr id="30" name="Shape 28"/>
          <p:cNvSpPr/>
          <p:nvPr/>
        </p:nvSpPr>
        <p:spPr>
          <a:xfrm>
            <a:off x="6699352" y="4151376"/>
            <a:ext cx="4449928" cy="7315"/>
          </a:xfrm>
          <a:prstGeom prst="rect">
            <a:avLst/>
          </a:prstGeom>
          <a:solidFill>
            <a:srgbClr val="DCDCDC"/>
          </a:solidFill>
          <a:ln w="12700">
            <a:solidFill>
              <a:srgbClr val="DCDCDC"/>
            </a:solidFill>
            <a:prstDash val="solid"/>
          </a:ln>
        </p:spPr>
      </p:sp>
      <p:sp>
        <p:nvSpPr>
          <p:cNvPr id="31" name="Text 29"/>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잴 수 없음</a:t>
            </a:r>
            <a:endParaRPr lang="en-US" sz="900" dirty="0"/>
          </a:p>
        </p:txBody>
      </p:sp>
      <p:sp>
        <p:nvSpPr>
          <p:cNvPr id="32" name="Text 30"/>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방문객은 간판을 어떻게 생각하는가?</a:t>
            </a:r>
            <a:endParaRPr lang="en-US" sz="1150" dirty="0"/>
          </a:p>
        </p:txBody>
      </p:sp>
      <p:sp>
        <p:nvSpPr>
          <p:cNvPr id="33" name="Text 31"/>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잴 수 없음</a:t>
            </a:r>
            <a:endParaRPr lang="en-US" sz="900" dirty="0"/>
          </a:p>
        </p:txBody>
      </p:sp>
      <p:sp>
        <p:nvSpPr>
          <p:cNvPr id="34" name="Text 32"/>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간판으로 업종을 판단하는 데 몇 초가 걸리는가?</a:t>
            </a:r>
            <a:endParaRPr lang="en-US" sz="1150" dirty="0"/>
          </a:p>
        </p:txBody>
      </p:sp>
      <p:sp>
        <p:nvSpPr>
          <p:cNvPr id="35" name="Shape 33"/>
          <p:cNvSpPr/>
          <p:nvPr/>
        </p:nvSpPr>
        <p:spPr>
          <a:xfrm>
            <a:off x="640080" y="5010912"/>
            <a:ext cx="10911535" cy="7315"/>
          </a:xfrm>
          <a:prstGeom prst="rect">
            <a:avLst/>
          </a:prstGeom>
          <a:solidFill>
            <a:srgbClr val="111111"/>
          </a:solidFill>
          <a:ln w="12700">
            <a:solidFill>
              <a:srgbClr val="111111"/>
            </a:solidFill>
            <a:prstDash val="solid"/>
          </a:ln>
        </p:spPr>
      </p:sp>
      <p:sp>
        <p:nvSpPr>
          <p:cNvPr id="36" name="Text 34"/>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자기 질문을 소리 내어 읽고 '그래서 어떻게 확인하지?'를 물어보세요. 답이 안 나오면 아직 질문이 아닙니다.</a:t>
            </a:r>
            <a:endParaRPr lang="en-US" sz="1300" dirty="0"/>
          </a:p>
        </p:txBody>
      </p:sp>
      <p:sp>
        <p:nvSpPr>
          <p:cNvPr id="37" name="Shape 35"/>
          <p:cNvSpPr/>
          <p:nvPr/>
        </p:nvSpPr>
        <p:spPr>
          <a:xfrm>
            <a:off x="640080" y="6291072"/>
            <a:ext cx="10911535" cy="7315"/>
          </a:xfrm>
          <a:prstGeom prst="rect">
            <a:avLst/>
          </a:prstGeom>
          <a:solidFill>
            <a:srgbClr val="DCDCDC"/>
          </a:solidFill>
          <a:ln w="12700">
            <a:solidFill>
              <a:srgbClr val="DCDCDC"/>
            </a:solidFill>
            <a:prstDash val="solid"/>
          </a:ln>
        </p:spPr>
      </p:sp>
      <p:sp>
        <p:nvSpPr>
          <p:cNvPr id="38" name="Text 3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39" name="Text 3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P.05</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EX-3</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가설 — 틀려도 되는 짐작입니다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맞히는 것이 아닙니다. 틀렸다는 것도 결과입니다.</a:t>
            </a:r>
            <a:endParaRPr lang="en-US" sz="1150" dirty="0"/>
          </a:p>
        </p:txBody>
      </p:sp>
      <p:sp>
        <p:nvSpPr>
          <p:cNvPr id="9" name="Shape 7"/>
          <p:cNvSpPr/>
          <p:nvPr/>
        </p:nvSpPr>
        <p:spPr>
          <a:xfrm>
            <a:off x="640080" y="1627632"/>
            <a:ext cx="5254600" cy="2542032"/>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가설이 아닌 것</a:t>
            </a:r>
            <a:endParaRPr lang="en-US" sz="1700" dirty="0"/>
          </a:p>
        </p:txBody>
      </p:sp>
      <p:sp>
        <p:nvSpPr>
          <p:cNvPr id="11" name="Shape 9"/>
          <p:cNvSpPr/>
          <p:nvPr/>
        </p:nvSpPr>
        <p:spPr>
          <a:xfrm>
            <a:off x="6297016" y="1627632"/>
            <a:ext cx="5254600" cy="2542032"/>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가설인 것</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감상</a:t>
            </a:r>
            <a:endParaRPr lang="en-US" sz="900" dirty="0"/>
          </a:p>
        </p:txBody>
      </p:sp>
      <p:sp>
        <p:nvSpPr>
          <p:cNvPr id="14" name="Text 12"/>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간판이 중요할 것이다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감상</a:t>
            </a:r>
            <a:endParaRPr lang="en-US" sz="900" dirty="0"/>
          </a:p>
        </p:txBody>
      </p:sp>
      <p:sp>
        <p:nvSpPr>
          <p:cNvPr id="16" name="Text 14"/>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색 간판이 글자 간판보다 업종 판단 시간을 줄일 것이다</a:t>
            </a:r>
            <a:endParaRPr lang="en-US" sz="1150" dirty="0"/>
          </a:p>
        </p:txBody>
      </p:sp>
      <p:sp>
        <p:nvSpPr>
          <p:cNvPr id="17" name="Shape 15"/>
          <p:cNvSpPr/>
          <p:nvPr/>
        </p:nvSpPr>
        <p:spPr>
          <a:xfrm>
            <a:off x="1042416" y="2980944"/>
            <a:ext cx="4449928" cy="7315"/>
          </a:xfrm>
          <a:prstGeom prst="rect">
            <a:avLst/>
          </a:prstGeom>
          <a:solidFill>
            <a:srgbClr val="D2D2D2"/>
          </a:solidFill>
          <a:ln w="12700">
            <a:solidFill>
              <a:srgbClr val="D2D2D2"/>
            </a:solidFill>
            <a:prstDash val="solid"/>
          </a:ln>
        </p:spPr>
      </p:sp>
      <p:sp>
        <p:nvSpPr>
          <p:cNvPr id="18" name="Shape 16"/>
          <p:cNvSpPr/>
          <p:nvPr/>
        </p:nvSpPr>
        <p:spPr>
          <a:xfrm>
            <a:off x="6699352" y="2980944"/>
            <a:ext cx="4449928" cy="7315"/>
          </a:xfrm>
          <a:prstGeom prst="rect">
            <a:avLst/>
          </a:prstGeom>
          <a:solidFill>
            <a:srgbClr val="DCDCDC"/>
          </a:solidFill>
          <a:ln w="12700">
            <a:solidFill>
              <a:srgbClr val="DCDCDC"/>
            </a:solidFill>
            <a:prstDash val="solid"/>
          </a:ln>
        </p:spPr>
      </p:sp>
      <p:sp>
        <p:nvSpPr>
          <p:cNvPr id="19" name="Text 17"/>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방향이 없음</a:t>
            </a:r>
            <a:endParaRPr lang="en-US" sz="900" dirty="0"/>
          </a:p>
        </p:txBody>
      </p:sp>
      <p:sp>
        <p:nvSpPr>
          <p:cNvPr id="20" name="Text 18"/>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디자인을 개선하면 좋아질 것이다</a:t>
            </a:r>
            <a:endParaRPr lang="en-US" sz="1150" dirty="0"/>
          </a:p>
        </p:txBody>
      </p:sp>
      <p:sp>
        <p:nvSpPr>
          <p:cNvPr id="21" name="Text 19"/>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방향이 없음</a:t>
            </a:r>
            <a:endParaRPr lang="en-US" sz="900" dirty="0"/>
          </a:p>
        </p:txBody>
      </p:sp>
      <p:sp>
        <p:nvSpPr>
          <p:cNvPr id="22" name="Text 20"/>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다만 이름을 기억하는 데는 글자 쪽이 나을 것이다</a:t>
            </a:r>
            <a:endParaRPr lang="en-US" sz="1150" dirty="0"/>
          </a:p>
        </p:txBody>
      </p:sp>
      <p:sp>
        <p:nvSpPr>
          <p:cNvPr id="23" name="Shape 21"/>
          <p:cNvSpPr/>
          <p:nvPr/>
        </p:nvSpPr>
        <p:spPr>
          <a:xfrm>
            <a:off x="1042416" y="3566160"/>
            <a:ext cx="4449928" cy="7315"/>
          </a:xfrm>
          <a:prstGeom prst="rect">
            <a:avLst/>
          </a:prstGeom>
          <a:solidFill>
            <a:srgbClr val="D2D2D2"/>
          </a:solidFill>
          <a:ln w="12700">
            <a:solidFill>
              <a:srgbClr val="D2D2D2"/>
            </a:solidFill>
            <a:prstDash val="solid"/>
          </a:ln>
        </p:spPr>
      </p:sp>
      <p:sp>
        <p:nvSpPr>
          <p:cNvPr id="24" name="Shape 22"/>
          <p:cNvSpPr/>
          <p:nvPr/>
        </p:nvSpPr>
        <p:spPr>
          <a:xfrm>
            <a:off x="6699352" y="3566160"/>
            <a:ext cx="4449928" cy="7315"/>
          </a:xfrm>
          <a:prstGeom prst="rect">
            <a:avLst/>
          </a:prstGeom>
          <a:solidFill>
            <a:srgbClr val="DCDCDC"/>
          </a:solidFill>
          <a:ln w="12700">
            <a:solidFill>
              <a:srgbClr val="DCDCDC"/>
            </a:solidFill>
            <a:prstDash val="solid"/>
          </a:ln>
        </p:spPr>
      </p:sp>
      <p:sp>
        <p:nvSpPr>
          <p:cNvPr id="25" name="Text 23"/>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무엇과 무엇인지 없음</a:t>
            </a:r>
            <a:endParaRPr lang="en-US" sz="900" dirty="0"/>
          </a:p>
        </p:txBody>
      </p:sp>
      <p:sp>
        <p:nvSpPr>
          <p:cNvPr id="26" name="Text 24"/>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관계가 있을 것이다</a:t>
            </a:r>
            <a:endParaRPr lang="en-US" sz="1150" dirty="0"/>
          </a:p>
        </p:txBody>
      </p:sp>
      <p:sp>
        <p:nvSpPr>
          <p:cNvPr id="27" name="Text 25"/>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무엇과 무엇인지 없음</a:t>
            </a:r>
            <a:endParaRPr lang="en-US" sz="900" dirty="0"/>
          </a:p>
        </p:txBody>
      </p:sp>
      <p:sp>
        <p:nvSpPr>
          <p:cNvPr id="28" name="Text 26"/>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상인이 만든 간판은 통일감은 낮아도 시장다움을 더 줄 것이다</a:t>
            </a:r>
            <a:endParaRPr lang="en-US" sz="1150" dirty="0"/>
          </a:p>
        </p:txBody>
      </p:sp>
      <p:sp>
        <p:nvSpPr>
          <p:cNvPr id="29" name="Shape 27"/>
          <p:cNvSpPr/>
          <p:nvPr/>
        </p:nvSpPr>
        <p:spPr>
          <a:xfrm>
            <a:off x="640080" y="4425696"/>
            <a:ext cx="10911535" cy="7315"/>
          </a:xfrm>
          <a:prstGeom prst="rect">
            <a:avLst/>
          </a:prstGeom>
          <a:solidFill>
            <a:srgbClr val="111111"/>
          </a:solidFill>
          <a:ln w="12700">
            <a:solidFill>
              <a:srgbClr val="111111"/>
            </a:solidFill>
            <a:prstDash val="solid"/>
          </a:ln>
        </p:spPr>
      </p:sp>
      <p:sp>
        <p:nvSpPr>
          <p:cNvPr id="30" name="Text 28"/>
          <p:cNvSpPr/>
          <p:nvPr/>
        </p:nvSpPr>
        <p:spPr>
          <a:xfrm>
            <a:off x="640080" y="4535424"/>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틀 하나를 드립니다 — 'A가 B보다 C할 것이다. 왜냐하면 D 때문이다.' 여기에 넣어 보세요.</a:t>
            </a:r>
            <a:endParaRPr lang="en-US" sz="1300" dirty="0"/>
          </a:p>
        </p:txBody>
      </p:sp>
      <p:sp>
        <p:nvSpPr>
          <p:cNvPr id="31" name="Shape 29"/>
          <p:cNvSpPr/>
          <p:nvPr/>
        </p:nvSpPr>
        <p:spPr>
          <a:xfrm>
            <a:off x="640080" y="6291072"/>
            <a:ext cx="10911535" cy="7315"/>
          </a:xfrm>
          <a:prstGeom prst="rect">
            <a:avLst/>
          </a:prstGeom>
          <a:solidFill>
            <a:srgbClr val="DCDCDC"/>
          </a:solidFill>
          <a:ln w="12700">
            <a:solidFill>
              <a:srgbClr val="DCDCDC"/>
            </a:solidFill>
            <a:prstDash val="solid"/>
          </a:ln>
        </p:spPr>
      </p:sp>
      <p:sp>
        <p:nvSpPr>
          <p:cNvPr id="32" name="Text 30"/>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33" name="Text 31"/>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WRITE-2</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직접 써 보기 ② — 질문과 가설</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10분. 질문 하나와 가설 하나.</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연구 질문 틀</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A는 B보다 C한가?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또는 — A가 B에 어떻게 작용하는가?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확인 — 물음표로 끝나는가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확인 — 삼 년 안에 답할 크기인가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확인 — 답이 뻔하지 않은가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확인 — 어떻게 알아볼지 보이는가</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가설 틀</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A가 B보다 C할 것이다. 왜냐하면 D 때문이다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'왜냐하면' 뒤가 비면 찍은 것입니다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근거는 선행연구에서 가져와도 되고 내 관찰이어도 됩니다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가설이 둘셋이어도 됩니다 — 각각 확인할 수 있으면</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질문과 가설을 나란히 놓고 읽어 보세요. 가설이 질문에 대한 답의 모양이어야 합니다.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03</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03</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선행연구 쓰기</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넷째 절입니다. 남들은 어디까지 갔는가. 2회차에 찾은 다섯 편이 여기로 들어옵니다.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EX-4</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선행연구 — 늘어놓기와 쓰기</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다섯 편을 소개하는 것이 아니라 하나의 흐름으로 묶고 빈 자리를 가리킵니다.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늘어놓기</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쓰기</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한 편씩 소개</a:t>
            </a:r>
            <a:endParaRPr lang="en-US" sz="900" dirty="0"/>
          </a:p>
        </p:txBody>
      </p:sp>
      <p:sp>
        <p:nvSpPr>
          <p:cNvPr id="14" name="Text 12"/>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김○○(2019)은 가독성을, 이○○(2021)은 시장 환경을 다뤘다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한 편씩 소개</a:t>
            </a:r>
            <a:endParaRPr lang="en-US" sz="900" dirty="0"/>
          </a:p>
        </p:txBody>
      </p:sp>
      <p:sp>
        <p:nvSpPr>
          <p:cNvPr id="16" name="Text 14"/>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간판 연구는 가독성에 몰려 있고 업종 구별은 비어 있다</a:t>
            </a:r>
            <a:endParaRPr lang="en-US" sz="1150" dirty="0"/>
          </a:p>
        </p:txBody>
      </p:sp>
      <p:sp>
        <p:nvSpPr>
          <p:cNvPr id="17" name="Shape 15"/>
          <p:cNvSpPr/>
          <p:nvPr/>
        </p:nvSpPr>
        <p:spPr>
          <a:xfrm>
            <a:off x="1042416" y="2980944"/>
            <a:ext cx="4449928" cy="7315"/>
          </a:xfrm>
          <a:prstGeom prst="rect">
            <a:avLst/>
          </a:prstGeom>
          <a:solidFill>
            <a:srgbClr val="D2D2D2"/>
          </a:solidFill>
          <a:ln w="12700">
            <a:solidFill>
              <a:srgbClr val="D2D2D2"/>
            </a:solidFill>
            <a:prstDash val="solid"/>
          </a:ln>
        </p:spPr>
      </p:sp>
      <p:sp>
        <p:nvSpPr>
          <p:cNvPr id="18" name="Shape 16"/>
          <p:cNvSpPr/>
          <p:nvPr/>
        </p:nvSpPr>
        <p:spPr>
          <a:xfrm>
            <a:off x="6699352" y="2980944"/>
            <a:ext cx="4449928" cy="7315"/>
          </a:xfrm>
          <a:prstGeom prst="rect">
            <a:avLst/>
          </a:prstGeom>
          <a:solidFill>
            <a:srgbClr val="DCDCDC"/>
          </a:solidFill>
          <a:ln w="12700">
            <a:solidFill>
              <a:srgbClr val="DCDCDC"/>
            </a:solidFill>
            <a:prstDash val="solid"/>
          </a:ln>
        </p:spPr>
      </p:sp>
      <p:sp>
        <p:nvSpPr>
          <p:cNvPr id="19" name="Text 17"/>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세지 않음</a:t>
            </a:r>
            <a:endParaRPr lang="en-US" sz="900" dirty="0"/>
          </a:p>
        </p:txBody>
      </p:sp>
      <p:sp>
        <p:nvSpPr>
          <p:cNvPr id="20" name="Text 18"/>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많은 연구가 있다</a:t>
            </a:r>
            <a:endParaRPr lang="en-US" sz="1150" dirty="0"/>
          </a:p>
        </p:txBody>
      </p:sp>
      <p:sp>
        <p:nvSpPr>
          <p:cNvPr id="21" name="Text 19"/>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세지 않음</a:t>
            </a:r>
            <a:endParaRPr lang="en-US" sz="900" dirty="0"/>
          </a:p>
        </p:txBody>
      </p:sp>
      <p:sp>
        <p:nvSpPr>
          <p:cNvPr id="22" name="Text 20"/>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다섯 편 중 넷이 글자 크기를, 하나가 색을 다뤘다</a:t>
            </a:r>
            <a:endParaRPr lang="en-US" sz="1150" dirty="0"/>
          </a:p>
        </p:txBody>
      </p:sp>
      <p:sp>
        <p:nvSpPr>
          <p:cNvPr id="23" name="Shape 21"/>
          <p:cNvSpPr/>
          <p:nvPr/>
        </p:nvSpPr>
        <p:spPr>
          <a:xfrm>
            <a:off x="1042416" y="3566160"/>
            <a:ext cx="4449928" cy="7315"/>
          </a:xfrm>
          <a:prstGeom prst="rect">
            <a:avLst/>
          </a:prstGeom>
          <a:solidFill>
            <a:srgbClr val="D2D2D2"/>
          </a:solidFill>
          <a:ln w="12700">
            <a:solidFill>
              <a:srgbClr val="D2D2D2"/>
            </a:solidFill>
            <a:prstDash val="solid"/>
          </a:ln>
        </p:spPr>
      </p:sp>
      <p:sp>
        <p:nvSpPr>
          <p:cNvPr id="24" name="Shape 22"/>
          <p:cNvSpPr/>
          <p:nvPr/>
        </p:nvSpPr>
        <p:spPr>
          <a:xfrm>
            <a:off x="6699352" y="3566160"/>
            <a:ext cx="4449928" cy="7315"/>
          </a:xfrm>
          <a:prstGeom prst="rect">
            <a:avLst/>
          </a:prstGeom>
          <a:solidFill>
            <a:srgbClr val="DCDCDC"/>
          </a:solidFill>
          <a:ln w="12700">
            <a:solidFill>
              <a:srgbClr val="DCDCDC"/>
            </a:solidFill>
            <a:prstDash val="solid"/>
          </a:ln>
        </p:spPr>
      </p:sp>
      <p:sp>
        <p:nvSpPr>
          <p:cNvPr id="25" name="Text 23"/>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내 자리가 없음</a:t>
            </a:r>
            <a:endParaRPr lang="en-US" sz="900" dirty="0"/>
          </a:p>
        </p:txBody>
      </p:sp>
      <p:sp>
        <p:nvSpPr>
          <p:cNvPr id="26" name="Text 24"/>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(선행연구를 쓰고 끝)</a:t>
            </a:r>
            <a:endParaRPr lang="en-US" sz="1150" dirty="0"/>
          </a:p>
        </p:txBody>
      </p:sp>
      <p:sp>
        <p:nvSpPr>
          <p:cNvPr id="27" name="Text 25"/>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내 자리가 없음</a:t>
            </a:r>
            <a:endParaRPr lang="en-US" sz="900" dirty="0"/>
          </a:p>
        </p:txBody>
      </p:sp>
      <p:sp>
        <p:nvSpPr>
          <p:cNvPr id="28" name="Text 26"/>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그래서 이 연구는 색으로 업종을 구분하는 경우를 본다</a:t>
            </a:r>
            <a:endParaRPr lang="en-US" sz="1150" dirty="0"/>
          </a:p>
        </p:txBody>
      </p:sp>
      <p:sp>
        <p:nvSpPr>
          <p:cNvPr id="29" name="Shape 27"/>
          <p:cNvSpPr/>
          <p:nvPr/>
        </p:nvSpPr>
        <p:spPr>
          <a:xfrm>
            <a:off x="1042416" y="4151376"/>
            <a:ext cx="4449928" cy="7315"/>
          </a:xfrm>
          <a:prstGeom prst="rect">
            <a:avLst/>
          </a:prstGeom>
          <a:solidFill>
            <a:srgbClr val="D2D2D2"/>
          </a:solidFill>
          <a:ln w="12700">
            <a:solidFill>
              <a:srgbClr val="D2D2D2"/>
            </a:solidFill>
            <a:prstDash val="solid"/>
          </a:ln>
        </p:spPr>
      </p:sp>
      <p:sp>
        <p:nvSpPr>
          <p:cNvPr id="30" name="Shape 28"/>
          <p:cNvSpPr/>
          <p:nvPr/>
        </p:nvSpPr>
        <p:spPr>
          <a:xfrm>
            <a:off x="6699352" y="4151376"/>
            <a:ext cx="4449928" cy="7315"/>
          </a:xfrm>
          <a:prstGeom prst="rect">
            <a:avLst/>
          </a:prstGeom>
          <a:solidFill>
            <a:srgbClr val="DCDCDC"/>
          </a:solidFill>
          <a:ln w="12700">
            <a:solidFill>
              <a:srgbClr val="DCDCDC"/>
            </a:solidFill>
            <a:prstDash val="solid"/>
          </a:ln>
        </p:spPr>
      </p:sp>
      <p:sp>
        <p:nvSpPr>
          <p:cNvPr id="31" name="Text 29"/>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뒤에서 안 씀</a:t>
            </a:r>
            <a:endParaRPr lang="en-US" sz="900" dirty="0"/>
          </a:p>
        </p:txBody>
      </p:sp>
      <p:sp>
        <p:nvSpPr>
          <p:cNvPr id="32" name="Text 30"/>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(다시 언급 없음)</a:t>
            </a:r>
            <a:endParaRPr lang="en-US" sz="1150" dirty="0"/>
          </a:p>
        </p:txBody>
      </p:sp>
      <p:sp>
        <p:nvSpPr>
          <p:cNvPr id="33" name="Text 31"/>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뒤에서 안 씀</a:t>
            </a:r>
            <a:endParaRPr lang="en-US" sz="900" dirty="0"/>
          </a:p>
        </p:txBody>
      </p:sp>
      <p:sp>
        <p:nvSpPr>
          <p:cNvPr id="34" name="Text 32"/>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방법 절에서 '김○○(2019)의 측정을 고쳐 썼다'로 다시 꺼냄</a:t>
            </a:r>
            <a:endParaRPr lang="en-US" sz="1150" dirty="0"/>
          </a:p>
        </p:txBody>
      </p:sp>
      <p:sp>
        <p:nvSpPr>
          <p:cNvPr id="35" name="Shape 33"/>
          <p:cNvSpPr/>
          <p:nvPr/>
        </p:nvSpPr>
        <p:spPr>
          <a:xfrm>
            <a:off x="640080" y="5010912"/>
            <a:ext cx="10911535" cy="7315"/>
          </a:xfrm>
          <a:prstGeom prst="rect">
            <a:avLst/>
          </a:prstGeom>
          <a:solidFill>
            <a:srgbClr val="111111"/>
          </a:solidFill>
          <a:ln w="12700">
            <a:solidFill>
              <a:srgbClr val="111111"/>
            </a:solidFill>
            <a:prstDash val="solid"/>
          </a:ln>
        </p:spPr>
      </p:sp>
      <p:sp>
        <p:nvSpPr>
          <p:cNvPr id="36" name="Text 34"/>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셋째 줄이 없으면 선행연구 절이 떠 있게 됩니다. '그래서 이 연구는'으로 끝내십시오.</a:t>
            </a:r>
            <a:endParaRPr lang="en-US" sz="1300" dirty="0"/>
          </a:p>
        </p:txBody>
      </p:sp>
      <p:sp>
        <p:nvSpPr>
          <p:cNvPr id="37" name="Shape 35"/>
          <p:cNvSpPr/>
          <p:nvPr/>
        </p:nvSpPr>
        <p:spPr>
          <a:xfrm>
            <a:off x="640080" y="6291072"/>
            <a:ext cx="10911535" cy="7315"/>
          </a:xfrm>
          <a:prstGeom prst="rect">
            <a:avLst/>
          </a:prstGeom>
          <a:solidFill>
            <a:srgbClr val="DCDCDC"/>
          </a:solidFill>
          <a:ln w="12700">
            <a:solidFill>
              <a:srgbClr val="DCDCDC"/>
            </a:solidFill>
            <a:prstDash val="solid"/>
          </a:ln>
        </p:spPr>
      </p:sp>
      <p:sp>
        <p:nvSpPr>
          <p:cNvPr id="38" name="Text 3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39" name="Text 3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11111"/>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9A9A9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9A9A9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9A9A9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333333"/>
          </a:solidFill>
          <a:ln w="12700">
            <a:solidFill>
              <a:srgbClr val="333333"/>
            </a:solidFill>
            <a:prstDash val="solid"/>
          </a:ln>
        </p:spPr>
      </p:sp>
      <p:sp>
        <p:nvSpPr>
          <p:cNvPr id="6" name="Text 4"/>
          <p:cNvSpPr/>
          <p:nvPr/>
        </p:nvSpPr>
        <p:spPr>
          <a:xfrm>
            <a:off x="7345375" y="1737360"/>
            <a:ext cx="4206240" cy="3291840"/>
          </a:xfrm>
          <a:prstGeom prst="rect">
            <a:avLst/>
          </a:prstGeom>
          <a:noFill/>
          <a:ln/>
        </p:spPr>
        <p:txBody>
          <a:bodyPr wrap="square" lIns="0" tIns="0" rIns="0" bIns="0" rtlCol="0" anchor="ctr"/>
          <a:lstStyle/>
          <a:p>
            <a:pPr algn="r" indent="0" marL="0">
              <a:buNone/>
            </a:pPr>
            <a:r>
              <a:rPr lang="en-US" sz="20000" dirty="0">
                <a:solidFill>
                  <a:srgbClr val="1B1B1B"/>
                </a:solidFill>
                <a:latin typeface="Pretendard SemiBold" pitchFamily="34" charset="0"/>
                <a:ea typeface="Pretendard SemiBold" pitchFamily="34" charset="-122"/>
                <a:cs typeface="Pretendard SemiBold" pitchFamily="34" charset="-120"/>
              </a:rPr>
              <a:t>04</a:t>
            </a:r>
            <a:endParaRPr lang="en-US" sz="20000" dirty="0"/>
          </a:p>
        </p:txBody>
      </p:sp>
      <p:sp>
        <p:nvSpPr>
          <p:cNvPr id="7" name="Shape 5"/>
          <p:cNvSpPr/>
          <p:nvPr/>
        </p:nvSpPr>
        <p:spPr>
          <a:xfrm>
            <a:off x="941832" y="1371600"/>
            <a:ext cx="0" cy="603504"/>
          </a:xfrm>
          <a:prstGeom prst="line">
            <a:avLst/>
          </a:prstGeom>
          <a:noFill/>
          <a:ln w="15875">
            <a:solidFill>
              <a:srgbClr val="FFFFFF"/>
            </a:solidFill>
            <a:prstDash val="solid"/>
          </a:ln>
        </p:spPr>
      </p:sp>
      <p:sp>
        <p:nvSpPr>
          <p:cNvPr id="8" name="Shape 6"/>
          <p:cNvSpPr/>
          <p:nvPr/>
        </p:nvSpPr>
        <p:spPr>
          <a:xfrm>
            <a:off x="640080" y="1733702"/>
            <a:ext cx="301752" cy="241402"/>
          </a:xfrm>
          <a:prstGeom prst="line">
            <a:avLst/>
          </a:prstGeom>
          <a:noFill/>
          <a:ln w="15875">
            <a:solidFill>
              <a:srgbClr val="FFFFFF"/>
            </a:solidFill>
            <a:prstDash val="solid"/>
          </a:ln>
        </p:spPr>
      </p:sp>
      <p:sp>
        <p:nvSpPr>
          <p:cNvPr id="9" name="Shape 7"/>
          <p:cNvSpPr/>
          <p:nvPr/>
        </p:nvSpPr>
        <p:spPr>
          <a:xfrm flipV="1">
            <a:off x="941832" y="1733702"/>
            <a:ext cx="301752" cy="241402"/>
          </a:xfrm>
          <a:prstGeom prst="line">
            <a:avLst/>
          </a:prstGeom>
          <a:noFill/>
          <a:ln w="15875">
            <a:solidFill>
              <a:srgbClr val="FFFFFF"/>
            </a:solidFill>
            <a:prstDash val="solid"/>
          </a:ln>
        </p:spPr>
      </p:sp>
      <p:sp>
        <p:nvSpPr>
          <p:cNvPr id="10" name="Text 8"/>
          <p:cNvSpPr/>
          <p:nvPr/>
        </p:nvSpPr>
        <p:spPr>
          <a:xfrm>
            <a:off x="640080" y="2615184"/>
            <a:ext cx="7863840" cy="256032"/>
          </a:xfrm>
          <a:prstGeom prst="rect">
            <a:avLst/>
          </a:prstGeom>
          <a:noFill/>
          <a:ln/>
        </p:spPr>
        <p:txBody>
          <a:bodyPr wrap="square" lIns="0" tIns="0" rIns="0" bIns="0" rtlCol="0" anchor="ctr"/>
          <a:lstStyle/>
          <a:p>
            <a:pPr indent="0" marL="0">
              <a:buNone/>
            </a:pPr>
            <a:r>
              <a:rPr lang="en-US" sz="950" spc="280" kern="0" dirty="0">
                <a:solidFill>
                  <a:srgbClr val="9A9A9A"/>
                </a:solidFill>
                <a:latin typeface="Pretendard" pitchFamily="34" charset="0"/>
                <a:ea typeface="Pretendard" pitchFamily="34" charset="-122"/>
                <a:cs typeface="Pretendard" pitchFamily="34" charset="-120"/>
              </a:rPr>
              <a:t>PART 04</a:t>
            </a:r>
            <a:endParaRPr lang="en-US" sz="950" dirty="0"/>
          </a:p>
        </p:txBody>
      </p:sp>
      <p:sp>
        <p:nvSpPr>
          <p:cNvPr id="11" name="Text 9"/>
          <p:cNvSpPr/>
          <p:nvPr/>
        </p:nvSpPr>
        <p:spPr>
          <a:xfrm>
            <a:off x="640080" y="2889504"/>
            <a:ext cx="7863840" cy="786384"/>
          </a:xfrm>
          <a:prstGeom prst="rect">
            <a:avLst/>
          </a:prstGeom>
          <a:noFill/>
          <a:ln/>
        </p:spPr>
        <p:txBody>
          <a:bodyPr wrap="square" lIns="0" tIns="0" rIns="0" bIns="0" rtlCol="0" anchor="ctr"/>
          <a:lstStyle/>
          <a:p>
            <a:pPr indent="0" marL="0">
              <a:buNone/>
            </a:pPr>
            <a:r>
              <a:rPr lang="en-US" sz="4600" dirty="0">
                <a:solidFill>
                  <a:srgbClr val="FFFFFF"/>
                </a:solidFill>
                <a:latin typeface="Pretendard SemiBold" pitchFamily="34" charset="0"/>
                <a:ea typeface="Pretendard SemiBold" pitchFamily="34" charset="-122"/>
                <a:cs typeface="Pretendard SemiBold" pitchFamily="34" charset="-120"/>
              </a:rPr>
              <a:t>연구 방법과 기여</a:t>
            </a:r>
            <a:endParaRPr lang="en-US" sz="4600" dirty="0"/>
          </a:p>
        </p:txBody>
      </p:sp>
      <p:sp>
        <p:nvSpPr>
          <p:cNvPr id="12" name="Shape 10"/>
          <p:cNvSpPr/>
          <p:nvPr/>
        </p:nvSpPr>
        <p:spPr>
          <a:xfrm>
            <a:off x="640080" y="3803904"/>
            <a:ext cx="2194560" cy="7315"/>
          </a:xfrm>
          <a:prstGeom prst="rect">
            <a:avLst/>
          </a:prstGeom>
          <a:solidFill>
            <a:srgbClr val="FFFFFF"/>
          </a:solidFill>
          <a:ln w="12700">
            <a:solidFill>
              <a:srgbClr val="FFFFFF"/>
            </a:solidFill>
            <a:prstDash val="solid"/>
          </a:ln>
        </p:spPr>
      </p:sp>
      <p:sp>
        <p:nvSpPr>
          <p:cNvPr id="13" name="Text 11"/>
          <p:cNvSpPr/>
          <p:nvPr/>
        </p:nvSpPr>
        <p:spPr>
          <a:xfrm>
            <a:off x="640080" y="4005072"/>
            <a:ext cx="6949440" cy="731520"/>
          </a:xfrm>
          <a:prstGeom prst="rect">
            <a:avLst/>
          </a:prstGeom>
          <a:noFill/>
          <a:ln/>
        </p:spPr>
        <p:txBody>
          <a:bodyPr wrap="square" lIns="0" tIns="0" rIns="0" bIns="0" rtlCol="0" anchor="t"/>
          <a:lstStyle/>
          <a:p>
            <a:pPr indent="0" marL="0">
              <a:lnSpc>
                <a:spcPct val="134000"/>
              </a:lnSpc>
              <a:buNone/>
            </a:pPr>
            <a:r>
              <a:rPr lang="en-US" sz="1350" dirty="0">
                <a:solidFill>
                  <a:srgbClr val="B8B8B8"/>
                </a:solidFill>
                <a:latin typeface="Pretendard Light" pitchFamily="34" charset="0"/>
                <a:ea typeface="Pretendard Light" pitchFamily="34" charset="-122"/>
                <a:cs typeface="Pretendard Light" pitchFamily="34" charset="-120"/>
              </a:rPr>
              <a:t>다섯째 절과 여섯째 절입니다. 여기까지 쓰면 여섯 문장이 다 나옵니다.</a:t>
            </a:r>
            <a:endParaRPr lang="en-US" sz="1350" dirty="0"/>
          </a:p>
        </p:txBody>
      </p:sp>
      <p:sp>
        <p:nvSpPr>
          <p:cNvPr id="14" name="Text 12"/>
          <p:cNvSpPr/>
          <p:nvPr/>
        </p:nvSpPr>
        <p:spPr>
          <a:xfrm rot="16200000">
            <a:off x="10436047" y="3291840"/>
            <a:ext cx="2743200" cy="274320"/>
          </a:xfrm>
          <a:prstGeom prst="rect">
            <a:avLst/>
          </a:prstGeom>
          <a:noFill/>
          <a:ln/>
        </p:spPr>
        <p:txBody>
          <a:bodyPr wrap="square" lIns="0" tIns="0" rIns="0" bIns="0" rtlCol="0" anchor="ctr"/>
          <a:lstStyle/>
          <a:p>
            <a:pPr algn="ctr" indent="0" marL="0">
              <a:buNone/>
            </a:pPr>
            <a:r>
              <a:rPr lang="en-US" sz="850" spc="260" kern="0" dirty="0">
                <a:solidFill>
                  <a:srgbClr val="7A7A7A"/>
                </a:solidFill>
                <a:latin typeface="Pretendard" pitchFamily="34" charset="0"/>
                <a:ea typeface="Pretendard" pitchFamily="34" charset="-122"/>
                <a:cs typeface="Pretendard" pitchFamily="34" charset="-120"/>
              </a:rPr>
              <a:t>SECTION 04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EX-5</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연구 방법 — 따라 할 수 있을 만큼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남이 읽고 그대로 해 볼 수 있으면 됩니다.</a:t>
            </a:r>
            <a:endParaRPr lang="en-US" sz="1150" dirty="0"/>
          </a:p>
        </p:txBody>
      </p:sp>
      <p:sp>
        <p:nvSpPr>
          <p:cNvPr id="9" name="Shape 7"/>
          <p:cNvSpPr/>
          <p:nvPr/>
        </p:nvSpPr>
        <p:spPr>
          <a:xfrm>
            <a:off x="640080" y="1627632"/>
            <a:ext cx="5254600" cy="3127248"/>
          </a:xfrm>
          <a:prstGeom prst="rect">
            <a:avLst/>
          </a:prstGeom>
          <a:solidFill>
            <a:srgbClr val="F2F2F2"/>
          </a:solidFill>
          <a:ln w="12700">
            <a:solidFill>
              <a:srgbClr val="DCDCDC"/>
            </a:solidFill>
            <a:prstDash val="solid"/>
          </a:ln>
        </p:spPr>
      </p:sp>
      <p:sp>
        <p:nvSpPr>
          <p:cNvPr id="10" name="Text 8"/>
          <p:cNvSpPr/>
          <p:nvPr/>
        </p:nvSpPr>
        <p:spPr>
          <a:xfrm>
            <a:off x="1042416" y="1901952"/>
            <a:ext cx="4449928"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이렇게 쓰면</a:t>
            </a:r>
            <a:endParaRPr lang="en-US" sz="1700" dirty="0"/>
          </a:p>
        </p:txBody>
      </p:sp>
      <p:sp>
        <p:nvSpPr>
          <p:cNvPr id="11" name="Shape 9"/>
          <p:cNvSpPr/>
          <p:nvPr/>
        </p:nvSpPr>
        <p:spPr>
          <a:xfrm>
            <a:off x="6297016" y="1627632"/>
            <a:ext cx="5254600" cy="3127248"/>
          </a:xfrm>
          <a:prstGeom prst="rect">
            <a:avLst/>
          </a:prstGeom>
          <a:solidFill>
            <a:srgbClr val="FFFFFF"/>
          </a:solidFill>
          <a:ln w="12700">
            <a:solidFill>
              <a:srgbClr val="DCDCDC"/>
            </a:solidFill>
            <a:prstDash val="solid"/>
          </a:ln>
        </p:spPr>
      </p:sp>
      <p:sp>
        <p:nvSpPr>
          <p:cNvPr id="12" name="Text 10"/>
          <p:cNvSpPr/>
          <p:nvPr/>
        </p:nvSpPr>
        <p:spPr>
          <a:xfrm>
            <a:off x="6699352" y="1901952"/>
            <a:ext cx="4449928" cy="365760"/>
          </a:xfrm>
          <a:prstGeom prst="rect">
            <a:avLst/>
          </a:prstGeom>
          <a:noFill/>
          <a:ln/>
        </p:spPr>
        <p:txBody>
          <a:bodyPr wrap="square" lIns="0" tIns="0" rIns="0" bIns="0" rtlCol="0" anchor="ctr"/>
          <a:lstStyle/>
          <a:p>
            <a:pPr indent="0" marL="0">
              <a:buNone/>
            </a:pPr>
            <a:r>
              <a:rPr lang="en-US" sz="1700" dirty="0">
                <a:solidFill>
                  <a:srgbClr val="9B9B9B"/>
                </a:solidFill>
                <a:latin typeface="Pretendard SemiBold" pitchFamily="34" charset="0"/>
                <a:ea typeface="Pretendard SemiBold" pitchFamily="34" charset="-122"/>
                <a:cs typeface="Pretendard SemiBold" pitchFamily="34" charset="-120"/>
              </a:rPr>
              <a:t>이렇게 씁니다</a:t>
            </a:r>
            <a:endParaRPr lang="en-US" sz="1700" dirty="0"/>
          </a:p>
        </p:txBody>
      </p:sp>
      <p:sp>
        <p:nvSpPr>
          <p:cNvPr id="13" name="Text 11"/>
          <p:cNvSpPr/>
          <p:nvPr/>
        </p:nvSpPr>
        <p:spPr>
          <a:xfrm>
            <a:off x="1042416" y="2450592"/>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무엇을 하는지만</a:t>
            </a:r>
            <a:endParaRPr lang="en-US" sz="900" dirty="0"/>
          </a:p>
        </p:txBody>
      </p:sp>
      <p:sp>
        <p:nvSpPr>
          <p:cNvPr id="14" name="Text 12"/>
          <p:cNvSpPr/>
          <p:nvPr/>
        </p:nvSpPr>
        <p:spPr>
          <a:xfrm>
            <a:off x="1042416"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인터뷰와 설문을 진행한다</a:t>
            </a:r>
            <a:endParaRPr lang="en-US" sz="1150" dirty="0"/>
          </a:p>
        </p:txBody>
      </p:sp>
      <p:sp>
        <p:nvSpPr>
          <p:cNvPr id="15" name="Text 13"/>
          <p:cNvSpPr/>
          <p:nvPr/>
        </p:nvSpPr>
        <p:spPr>
          <a:xfrm>
            <a:off x="6699352" y="2450592"/>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무엇을 하는지만</a:t>
            </a:r>
            <a:endParaRPr lang="en-US" sz="900" dirty="0"/>
          </a:p>
        </p:txBody>
      </p:sp>
      <p:sp>
        <p:nvSpPr>
          <p:cNvPr id="16" name="Text 14"/>
          <p:cNvSpPr/>
          <p:nvPr/>
        </p:nvSpPr>
        <p:spPr>
          <a:xfrm>
            <a:off x="6699352" y="2688336"/>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방문객 30명에게 간판 사진 12장을 보여 주고 시간을 잰다</a:t>
            </a:r>
            <a:endParaRPr lang="en-US" sz="1150" dirty="0"/>
          </a:p>
        </p:txBody>
      </p:sp>
      <p:sp>
        <p:nvSpPr>
          <p:cNvPr id="17" name="Shape 15"/>
          <p:cNvSpPr/>
          <p:nvPr/>
        </p:nvSpPr>
        <p:spPr>
          <a:xfrm>
            <a:off x="1042416" y="2980944"/>
            <a:ext cx="4449928" cy="7315"/>
          </a:xfrm>
          <a:prstGeom prst="rect">
            <a:avLst/>
          </a:prstGeom>
          <a:solidFill>
            <a:srgbClr val="D2D2D2"/>
          </a:solidFill>
          <a:ln w="12700">
            <a:solidFill>
              <a:srgbClr val="D2D2D2"/>
            </a:solidFill>
            <a:prstDash val="solid"/>
          </a:ln>
        </p:spPr>
      </p:sp>
      <p:sp>
        <p:nvSpPr>
          <p:cNvPr id="18" name="Shape 16"/>
          <p:cNvSpPr/>
          <p:nvPr/>
        </p:nvSpPr>
        <p:spPr>
          <a:xfrm>
            <a:off x="6699352" y="2980944"/>
            <a:ext cx="4449928" cy="7315"/>
          </a:xfrm>
          <a:prstGeom prst="rect">
            <a:avLst/>
          </a:prstGeom>
          <a:solidFill>
            <a:srgbClr val="DCDCDC"/>
          </a:solidFill>
          <a:ln w="12700">
            <a:solidFill>
              <a:srgbClr val="DCDCDC"/>
            </a:solidFill>
            <a:prstDash val="solid"/>
          </a:ln>
        </p:spPr>
      </p:sp>
      <p:sp>
        <p:nvSpPr>
          <p:cNvPr id="19" name="Text 17"/>
          <p:cNvSpPr/>
          <p:nvPr/>
        </p:nvSpPr>
        <p:spPr>
          <a:xfrm>
            <a:off x="1042416" y="3035808"/>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대상이 흐림</a:t>
            </a:r>
            <a:endParaRPr lang="en-US" sz="900" dirty="0"/>
          </a:p>
        </p:txBody>
      </p:sp>
      <p:sp>
        <p:nvSpPr>
          <p:cNvPr id="20" name="Text 18"/>
          <p:cNvSpPr/>
          <p:nvPr/>
        </p:nvSpPr>
        <p:spPr>
          <a:xfrm>
            <a:off x="1042416"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적절한 수의 대상자를 선정한다</a:t>
            </a:r>
            <a:endParaRPr lang="en-US" sz="1150" dirty="0"/>
          </a:p>
        </p:txBody>
      </p:sp>
      <p:sp>
        <p:nvSpPr>
          <p:cNvPr id="21" name="Text 19"/>
          <p:cNvSpPr/>
          <p:nvPr/>
        </p:nvSpPr>
        <p:spPr>
          <a:xfrm>
            <a:off x="6699352" y="3035808"/>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대상이 흐림</a:t>
            </a:r>
            <a:endParaRPr lang="en-US" sz="900" dirty="0"/>
          </a:p>
        </p:txBody>
      </p:sp>
      <p:sp>
        <p:nvSpPr>
          <p:cNvPr id="22" name="Text 20"/>
          <p:cNvSpPr/>
          <p:nvPr/>
        </p:nvSpPr>
        <p:spPr>
          <a:xfrm>
            <a:off x="6699352" y="3273552"/>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30명 — 처음 온 방문객 15, 단골 15</a:t>
            </a:r>
            <a:endParaRPr lang="en-US" sz="1150" dirty="0"/>
          </a:p>
        </p:txBody>
      </p:sp>
      <p:sp>
        <p:nvSpPr>
          <p:cNvPr id="23" name="Shape 21"/>
          <p:cNvSpPr/>
          <p:nvPr/>
        </p:nvSpPr>
        <p:spPr>
          <a:xfrm>
            <a:off x="1042416" y="3566160"/>
            <a:ext cx="4449928" cy="7315"/>
          </a:xfrm>
          <a:prstGeom prst="rect">
            <a:avLst/>
          </a:prstGeom>
          <a:solidFill>
            <a:srgbClr val="D2D2D2"/>
          </a:solidFill>
          <a:ln w="12700">
            <a:solidFill>
              <a:srgbClr val="D2D2D2"/>
            </a:solidFill>
            <a:prstDash val="solid"/>
          </a:ln>
        </p:spPr>
      </p:sp>
      <p:sp>
        <p:nvSpPr>
          <p:cNvPr id="24" name="Shape 22"/>
          <p:cNvSpPr/>
          <p:nvPr/>
        </p:nvSpPr>
        <p:spPr>
          <a:xfrm>
            <a:off x="6699352" y="3566160"/>
            <a:ext cx="4449928" cy="7315"/>
          </a:xfrm>
          <a:prstGeom prst="rect">
            <a:avLst/>
          </a:prstGeom>
          <a:solidFill>
            <a:srgbClr val="DCDCDC"/>
          </a:solidFill>
          <a:ln w="12700">
            <a:solidFill>
              <a:srgbClr val="DCDCDC"/>
            </a:solidFill>
            <a:prstDash val="solid"/>
          </a:ln>
        </p:spPr>
      </p:sp>
      <p:sp>
        <p:nvSpPr>
          <p:cNvPr id="25" name="Text 23"/>
          <p:cNvSpPr/>
          <p:nvPr/>
        </p:nvSpPr>
        <p:spPr>
          <a:xfrm>
            <a:off x="1042416" y="3621024"/>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예비조사 없음</a:t>
            </a:r>
            <a:endParaRPr lang="en-US" sz="900" dirty="0"/>
          </a:p>
        </p:txBody>
      </p:sp>
      <p:sp>
        <p:nvSpPr>
          <p:cNvPr id="26" name="Text 24"/>
          <p:cNvSpPr/>
          <p:nvPr/>
        </p:nvSpPr>
        <p:spPr>
          <a:xfrm>
            <a:off x="1042416"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(없음)</a:t>
            </a:r>
            <a:endParaRPr lang="en-US" sz="1150" dirty="0"/>
          </a:p>
        </p:txBody>
      </p:sp>
      <p:sp>
        <p:nvSpPr>
          <p:cNvPr id="27" name="Text 25"/>
          <p:cNvSpPr/>
          <p:nvPr/>
        </p:nvSpPr>
        <p:spPr>
          <a:xfrm>
            <a:off x="6699352" y="3621024"/>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예비조사 없음</a:t>
            </a:r>
            <a:endParaRPr lang="en-US" sz="900" dirty="0"/>
          </a:p>
        </p:txBody>
      </p:sp>
      <p:sp>
        <p:nvSpPr>
          <p:cNvPr id="28" name="Text 26"/>
          <p:cNvSpPr/>
          <p:nvPr/>
        </p:nvSpPr>
        <p:spPr>
          <a:xfrm>
            <a:off x="6699352" y="3858768"/>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먼저 5명에게 해 보고 사진 수와 질문을 고친다</a:t>
            </a:r>
            <a:endParaRPr lang="en-US" sz="1150" dirty="0"/>
          </a:p>
        </p:txBody>
      </p:sp>
      <p:sp>
        <p:nvSpPr>
          <p:cNvPr id="29" name="Shape 27"/>
          <p:cNvSpPr/>
          <p:nvPr/>
        </p:nvSpPr>
        <p:spPr>
          <a:xfrm>
            <a:off x="1042416" y="4151376"/>
            <a:ext cx="4449928" cy="7315"/>
          </a:xfrm>
          <a:prstGeom prst="rect">
            <a:avLst/>
          </a:prstGeom>
          <a:solidFill>
            <a:srgbClr val="D2D2D2"/>
          </a:solidFill>
          <a:ln w="12700">
            <a:solidFill>
              <a:srgbClr val="D2D2D2"/>
            </a:solidFill>
            <a:prstDash val="solid"/>
          </a:ln>
        </p:spPr>
      </p:sp>
      <p:sp>
        <p:nvSpPr>
          <p:cNvPr id="30" name="Shape 28"/>
          <p:cNvSpPr/>
          <p:nvPr/>
        </p:nvSpPr>
        <p:spPr>
          <a:xfrm>
            <a:off x="6699352" y="4151376"/>
            <a:ext cx="4449928" cy="7315"/>
          </a:xfrm>
          <a:prstGeom prst="rect">
            <a:avLst/>
          </a:prstGeom>
          <a:solidFill>
            <a:srgbClr val="DCDCDC"/>
          </a:solidFill>
          <a:ln w="12700">
            <a:solidFill>
              <a:srgbClr val="DCDCDC"/>
            </a:solidFill>
            <a:prstDash val="solid"/>
          </a:ln>
        </p:spPr>
      </p:sp>
      <p:sp>
        <p:nvSpPr>
          <p:cNvPr id="31" name="Text 29"/>
          <p:cNvSpPr/>
          <p:nvPr/>
        </p:nvSpPr>
        <p:spPr>
          <a:xfrm>
            <a:off x="1042416" y="4206240"/>
            <a:ext cx="2011680" cy="274320"/>
          </a:xfrm>
          <a:prstGeom prst="rect">
            <a:avLst/>
          </a:prstGeom>
          <a:noFill/>
          <a:ln/>
        </p:spPr>
        <p:txBody>
          <a:bodyPr wrap="square" lIns="0" tIns="0" rIns="0" bIns="0" rtlCol="0" anchor="ctr"/>
          <a:lstStyle/>
          <a:p>
            <a:pPr indent="0" marL="0">
              <a:buNone/>
            </a:pPr>
            <a:r>
              <a:rPr lang="en-US" sz="900" b="1" spc="160" kern="0" dirty="0">
                <a:solidFill>
                  <a:srgbClr val="111111"/>
                </a:solidFill>
                <a:latin typeface="Pretendard" pitchFamily="34" charset="0"/>
                <a:ea typeface="Pretendard" pitchFamily="34" charset="-122"/>
                <a:cs typeface="Pretendard" pitchFamily="34" charset="-120"/>
              </a:rPr>
              <a:t>분석이 흐림</a:t>
            </a:r>
            <a:endParaRPr lang="en-US" sz="900" dirty="0"/>
          </a:p>
        </p:txBody>
      </p:sp>
      <p:sp>
        <p:nvSpPr>
          <p:cNvPr id="32" name="Text 30"/>
          <p:cNvSpPr/>
          <p:nvPr/>
        </p:nvSpPr>
        <p:spPr>
          <a:xfrm>
            <a:off x="1042416"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1F1F1F"/>
                </a:solidFill>
                <a:latin typeface="Pretendard" pitchFamily="34" charset="0"/>
                <a:ea typeface="Pretendard" pitchFamily="34" charset="-122"/>
                <a:cs typeface="Pretendard" pitchFamily="34" charset="-120"/>
              </a:rPr>
              <a:t>수집된 자료를 분석한다</a:t>
            </a:r>
            <a:endParaRPr lang="en-US" sz="1150" dirty="0"/>
          </a:p>
        </p:txBody>
      </p:sp>
      <p:sp>
        <p:nvSpPr>
          <p:cNvPr id="33" name="Text 31"/>
          <p:cNvSpPr/>
          <p:nvPr/>
        </p:nvSpPr>
        <p:spPr>
          <a:xfrm>
            <a:off x="6699352" y="4206240"/>
            <a:ext cx="2011680" cy="274320"/>
          </a:xfrm>
          <a:prstGeom prst="rect">
            <a:avLst/>
          </a:prstGeom>
          <a:noFill/>
          <a:ln/>
        </p:spPr>
        <p:txBody>
          <a:bodyPr wrap="square" lIns="0" tIns="0" rIns="0" bIns="0" rtlCol="0" anchor="ctr"/>
          <a:lstStyle/>
          <a:p>
            <a:pPr indent="0" marL="0">
              <a:buNone/>
            </a:pPr>
            <a:r>
              <a:rPr lang="en-US" sz="900" b="1" spc="160" kern="0" dirty="0">
                <a:solidFill>
                  <a:srgbClr val="9B9B9B"/>
                </a:solidFill>
                <a:latin typeface="Pretendard" pitchFamily="34" charset="0"/>
                <a:ea typeface="Pretendard" pitchFamily="34" charset="-122"/>
                <a:cs typeface="Pretendard" pitchFamily="34" charset="-120"/>
              </a:rPr>
              <a:t>분석이 흐림</a:t>
            </a:r>
            <a:endParaRPr lang="en-US" sz="900" dirty="0"/>
          </a:p>
        </p:txBody>
      </p:sp>
      <p:sp>
        <p:nvSpPr>
          <p:cNvPr id="34" name="Text 32"/>
          <p:cNvSpPr/>
          <p:nvPr/>
        </p:nvSpPr>
        <p:spPr>
          <a:xfrm>
            <a:off x="6699352" y="4443984"/>
            <a:ext cx="4449928" cy="329184"/>
          </a:xfrm>
          <a:prstGeom prst="rect">
            <a:avLst/>
          </a:prstGeom>
          <a:noFill/>
          <a:ln/>
        </p:spPr>
        <p:txBody>
          <a:bodyPr wrap="square" lIns="0" tIns="0" rIns="0" bIns="0" rtlCol="0" anchor="t"/>
          <a:lstStyle/>
          <a:p>
            <a:pPr indent="0" marL="0">
              <a:lnSpc>
                <a:spcPct val="120000"/>
              </a:lnSpc>
              <a:buNone/>
            </a:pPr>
            <a:r>
              <a:rPr lang="en-US" sz="1150" dirty="0">
                <a:solidFill>
                  <a:srgbClr val="6E6E6E"/>
                </a:solidFill>
                <a:latin typeface="Pretendard" pitchFamily="34" charset="0"/>
                <a:ea typeface="Pretendard" pitchFamily="34" charset="-122"/>
                <a:cs typeface="Pretendard" pitchFamily="34" charset="-120"/>
              </a:rPr>
              <a:t>두 집단 평균 시간을 비교하고 틀린 답이 많은 사진을 본다</a:t>
            </a:r>
            <a:endParaRPr lang="en-US" sz="1150" dirty="0"/>
          </a:p>
        </p:txBody>
      </p:sp>
      <p:sp>
        <p:nvSpPr>
          <p:cNvPr id="35" name="Shape 33"/>
          <p:cNvSpPr/>
          <p:nvPr/>
        </p:nvSpPr>
        <p:spPr>
          <a:xfrm>
            <a:off x="640080" y="5010912"/>
            <a:ext cx="10911535" cy="7315"/>
          </a:xfrm>
          <a:prstGeom prst="rect">
            <a:avLst/>
          </a:prstGeom>
          <a:solidFill>
            <a:srgbClr val="111111"/>
          </a:solidFill>
          <a:ln w="12700">
            <a:solidFill>
              <a:srgbClr val="111111"/>
            </a:solidFill>
            <a:prstDash val="solid"/>
          </a:ln>
        </p:spPr>
      </p:sp>
      <p:sp>
        <p:nvSpPr>
          <p:cNvPr id="36" name="Text 34"/>
          <p:cNvSpPr/>
          <p:nvPr/>
        </p:nvSpPr>
        <p:spPr>
          <a:xfrm>
            <a:off x="640080" y="5120640"/>
            <a:ext cx="10911535" cy="402336"/>
          </a:xfrm>
          <a:prstGeom prst="rect">
            <a:avLst/>
          </a:prstGeom>
          <a:noFill/>
          <a:ln/>
        </p:spPr>
        <p:txBody>
          <a:bodyPr wrap="square" lIns="0" tIns="0" rIns="0" bIns="0" rtlCol="0" anchor="t"/>
          <a:lstStyle/>
          <a:p>
            <a:pPr indent="0" marL="0">
              <a:lnSpc>
                <a:spcPct val="120000"/>
              </a:lnSpc>
              <a:buNone/>
            </a:pPr>
            <a:r>
              <a:rPr lang="en-US" sz="1300" b="1" dirty="0">
                <a:solidFill>
                  <a:srgbClr val="111111"/>
                </a:solidFill>
                <a:latin typeface="Pretendard" pitchFamily="34" charset="0"/>
                <a:ea typeface="Pretendard" pitchFamily="34" charset="-122"/>
                <a:cs typeface="Pretendard" pitchFamily="34" charset="-120"/>
              </a:rPr>
              <a:t>질적 연구도 같습니다 — '인터뷰한다'가 아니라 '열 명을 한 사람당 40분씩, 녹취를 세 번 읽어 반복되는 말을 묶는다'.</a:t>
            </a:r>
            <a:endParaRPr lang="en-US" sz="1300" dirty="0"/>
          </a:p>
        </p:txBody>
      </p:sp>
      <p:sp>
        <p:nvSpPr>
          <p:cNvPr id="37" name="Shape 35"/>
          <p:cNvSpPr/>
          <p:nvPr/>
        </p:nvSpPr>
        <p:spPr>
          <a:xfrm>
            <a:off x="640080" y="6291072"/>
            <a:ext cx="10911535" cy="7315"/>
          </a:xfrm>
          <a:prstGeom prst="rect">
            <a:avLst/>
          </a:prstGeom>
          <a:solidFill>
            <a:srgbClr val="DCDCDC"/>
          </a:solidFill>
          <a:ln w="12700">
            <a:solidFill>
              <a:srgbClr val="DCDCDC"/>
            </a:solidFill>
            <a:prstDash val="solid"/>
          </a:ln>
        </p:spPr>
      </p:sp>
      <p:sp>
        <p:nvSpPr>
          <p:cNvPr id="38" name="Text 36"/>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39" name="Text 37"/>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P.09</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WRITE-3</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직접 써 보기 ③ — 방법과 기여</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10분. 방법 네 칸을 채우고 기여 한 문장.</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방법 — 채울 네 칸</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누구에게 — 몇 명, 어떤 사람</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무엇을 — 무엇을 보여 주거나 묻는가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어떻게 — 어디서 얼마 동안, 몇 번</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어떻게 판단하는가 — 무엇을 비교하고 무엇을 세는가</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기여 — 한 문장</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이 연구가 끝나면 ~를 알게 된다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연구 질문의 답 모양을 넣으면 됩니다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기여를 못 쓰겠으면 질문이 흐린 것입니다</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크게 쓰지 마십시오 — '전통시장을 살린다'는 안 됩니다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기여가 안 써지면 질문으로 돌아가십시오. 둘은 같은 것을 앞뒤로 말한 것입니다.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P.10</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PRESENT</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발제 · 오늘의 텍스트</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필수 두 편을 중심에 둡니다. 나머지 둘은 토론에서 받습니다.</a:t>
            </a:r>
            <a:endParaRPr lang="en-US" sz="1150" dirty="0"/>
          </a:p>
        </p:txBody>
      </p:sp>
      <p:sp>
        <p:nvSpPr>
          <p:cNvPr id="9" name="Shape 7"/>
          <p:cNvSpPr/>
          <p:nvPr/>
        </p:nvSpPr>
        <p:spPr>
          <a:xfrm>
            <a:off x="640080" y="1664208"/>
            <a:ext cx="5254600" cy="3749040"/>
          </a:xfrm>
          <a:prstGeom prst="rect">
            <a:avLst/>
          </a:prstGeom>
          <a:solidFill>
            <a:srgbClr val="FFFFFF"/>
          </a:solidFill>
          <a:ln w="12700">
            <a:solidFill>
              <a:srgbClr val="DCDCDC"/>
            </a:solidFill>
            <a:prstDash val="solid"/>
          </a:ln>
        </p:spPr>
      </p:sp>
      <p:sp>
        <p:nvSpPr>
          <p:cNvPr id="10" name="Text 8"/>
          <p:cNvSpPr/>
          <p:nvPr/>
        </p:nvSpPr>
        <p:spPr>
          <a:xfrm>
            <a:off x="1060704"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오늘의 텍스트</a:t>
            </a:r>
            <a:endParaRPr lang="en-US" sz="1700" dirty="0"/>
          </a:p>
        </p:txBody>
      </p:sp>
      <p:sp>
        <p:nvSpPr>
          <p:cNvPr id="11" name="Shape 9"/>
          <p:cNvSpPr/>
          <p:nvPr/>
        </p:nvSpPr>
        <p:spPr>
          <a:xfrm>
            <a:off x="1060704" y="2414016"/>
            <a:ext cx="4413352" cy="7315"/>
          </a:xfrm>
          <a:prstGeom prst="rect">
            <a:avLst/>
          </a:prstGeom>
          <a:solidFill>
            <a:srgbClr val="111111"/>
          </a:solidFill>
          <a:ln w="12700">
            <a:solidFill>
              <a:srgbClr val="111111"/>
            </a:solidFill>
            <a:prstDash val="solid"/>
          </a:ln>
        </p:spPr>
      </p:sp>
      <p:sp>
        <p:nvSpPr>
          <p:cNvPr id="12" name="Text 10"/>
          <p:cNvSpPr/>
          <p:nvPr/>
        </p:nvSpPr>
        <p:spPr>
          <a:xfrm>
            <a:off x="1060704"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필수 — Kimbell, Rethinking Design Thinking: Part II (2012)</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필수 — Sanders &amp; Stappers, Co-creation and the new landscapes of design (2008)</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함께 — Dunne &amp; Raby, Speculative Everything (2013) 서문</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함께 — Verganti, Vendraminelli &amp; Iansiti, Innovation and Design in the Age of AI (2020)</a:t>
            </a:r>
            <a:endParaRPr lang="en-US" sz="1200" dirty="0"/>
          </a:p>
        </p:txBody>
      </p:sp>
      <p:sp>
        <p:nvSpPr>
          <p:cNvPr id="13" name="Shape 11"/>
          <p:cNvSpPr/>
          <p:nvPr/>
        </p:nvSpPr>
        <p:spPr>
          <a:xfrm>
            <a:off x="6297016" y="1664208"/>
            <a:ext cx="5254600" cy="3749040"/>
          </a:xfrm>
          <a:prstGeom prst="rect">
            <a:avLst/>
          </a:prstGeom>
          <a:solidFill>
            <a:srgbClr val="F2F2F2"/>
          </a:solidFill>
          <a:ln w="12700">
            <a:solidFill>
              <a:srgbClr val="DCDCDC"/>
            </a:solidFill>
            <a:prstDash val="solid"/>
          </a:ln>
        </p:spPr>
      </p:sp>
      <p:sp>
        <p:nvSpPr>
          <p:cNvPr id="14" name="Text 12"/>
          <p:cNvSpPr/>
          <p:nvPr/>
        </p:nvSpPr>
        <p:spPr>
          <a:xfrm>
            <a:off x="6717640" y="1993392"/>
            <a:ext cx="4413352" cy="365760"/>
          </a:xfrm>
          <a:prstGeom prst="rect">
            <a:avLst/>
          </a:prstGeom>
          <a:noFill/>
          <a:ln/>
        </p:spPr>
        <p:txBody>
          <a:bodyPr wrap="square" lIns="0" tIns="0" rIns="0" bIns="0" rtlCol="0" anchor="ctr"/>
          <a:lstStyle/>
          <a:p>
            <a:pPr indent="0" marL="0">
              <a:buNone/>
            </a:pPr>
            <a:r>
              <a:rPr lang="en-US" sz="1700" dirty="0">
                <a:solidFill>
                  <a:srgbClr val="111111"/>
                </a:solidFill>
                <a:latin typeface="Pretendard SemiBold" pitchFamily="34" charset="0"/>
                <a:ea typeface="Pretendard SemiBold" pitchFamily="34" charset="-122"/>
                <a:cs typeface="Pretendard SemiBold" pitchFamily="34" charset="-120"/>
              </a:rPr>
              <a:t>발제에서 다룰 세 가지</a:t>
            </a:r>
            <a:endParaRPr lang="en-US" sz="1700" dirty="0"/>
          </a:p>
        </p:txBody>
      </p:sp>
      <p:sp>
        <p:nvSpPr>
          <p:cNvPr id="15" name="Shape 13"/>
          <p:cNvSpPr/>
          <p:nvPr/>
        </p:nvSpPr>
        <p:spPr>
          <a:xfrm>
            <a:off x="6717640" y="2414016"/>
            <a:ext cx="4413352" cy="7315"/>
          </a:xfrm>
          <a:prstGeom prst="rect">
            <a:avLst/>
          </a:prstGeom>
          <a:solidFill>
            <a:srgbClr val="111111"/>
          </a:solidFill>
          <a:ln w="12700">
            <a:solidFill>
              <a:srgbClr val="111111"/>
            </a:solidFill>
            <a:prstDash val="solid"/>
          </a:ln>
        </p:spPr>
      </p:sp>
      <p:sp>
        <p:nvSpPr>
          <p:cNvPr id="16" name="Text 14"/>
          <p:cNvSpPr/>
          <p:nvPr/>
        </p:nvSpPr>
        <p:spPr>
          <a:xfrm>
            <a:off x="6717640" y="2523744"/>
            <a:ext cx="4413352" cy="2706624"/>
          </a:xfrm>
          <a:prstGeom prst="rect">
            <a:avLst/>
          </a:prstGeom>
          <a:noFill/>
          <a:ln/>
        </p:spPr>
        <p:txBody>
          <a:bodyPr wrap="square" lIns="0" tIns="0" rIns="0" bIns="0" rtlCol="0" anchor="t"/>
          <a:lstStyle/>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논점 추출 — 저자가 무엇을 주장하고 무엇을 근거로 삼는가</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비판적 재구성 — 동의하지 않는 지점과 그 이유</a:t>
            </a:r>
            <a:endParaRPr lang="en-US" sz="1200" dirty="0"/>
          </a:p>
          <a:p>
            <a:pPr marL="177800" indent="-177800">
              <a:lnSpc>
                <a:spcPct val="120000"/>
              </a:lnSpc>
              <a:spcAft>
                <a:spcPts val="1100"/>
              </a:spcAft>
              <a:buSzPct val="100000"/>
              <a:buChar char="•"/>
            </a:pPr>
            <a:r>
              <a:rPr lang="en-US" sz="1200" dirty="0">
                <a:solidFill>
                  <a:srgbClr val="1F1F1F"/>
                </a:solidFill>
                <a:latin typeface="Pretendard" pitchFamily="34" charset="0"/>
                <a:ea typeface="Pretendard" pitchFamily="34" charset="-122"/>
                <a:cs typeface="Pretendard" pitchFamily="34" charset="-120"/>
              </a:rPr>
              <a:t>내 연구로 가져오기 — 오늘은 여기에 시간을 더 씁니다</a:t>
            </a:r>
            <a:endParaRPr lang="en-US" sz="1200" dirty="0"/>
          </a:p>
        </p:txBody>
      </p:sp>
      <p:sp>
        <p:nvSpPr>
          <p:cNvPr id="17" name="Text 15"/>
          <p:cNvSpPr/>
          <p:nvPr/>
        </p:nvSpPr>
        <p:spPr>
          <a:xfrm>
            <a:off x="640080" y="5541264"/>
            <a:ext cx="10911535" cy="402336"/>
          </a:xfrm>
          <a:prstGeom prst="rect">
            <a:avLst/>
          </a:prstGeom>
          <a:noFill/>
          <a:ln/>
        </p:spPr>
        <p:txBody>
          <a:bodyPr wrap="square" lIns="0" tIns="0" rIns="0" bIns="0" rtlCol="0" anchor="ctr"/>
          <a:lstStyle/>
          <a:p>
            <a:pPr indent="0" marL="0">
              <a:buNone/>
            </a:pPr>
            <a:r>
              <a:rPr lang="en-US" sz="1200" dirty="0">
                <a:solidFill>
                  <a:srgbClr val="6E6E6E"/>
                </a:solidFill>
                <a:latin typeface="Pretendard" pitchFamily="34" charset="0"/>
                <a:ea typeface="Pretendard" pitchFamily="34" charset="-122"/>
                <a:cs typeface="Pretendard" pitchFamily="34" charset="-120"/>
              </a:rPr>
              <a:t>오늘이 마지막 발제입니다. 다음은 각자의 프로포절을 들고 오시는 자리입니다.</a:t>
            </a:r>
            <a:endParaRPr lang="en-US" sz="1200" dirty="0"/>
          </a:p>
        </p:txBody>
      </p:sp>
      <p:sp>
        <p:nvSpPr>
          <p:cNvPr id="18" name="Shape 16"/>
          <p:cNvSpPr/>
          <p:nvPr/>
        </p:nvSpPr>
        <p:spPr>
          <a:xfrm>
            <a:off x="640080" y="6291072"/>
            <a:ext cx="10911535" cy="7315"/>
          </a:xfrm>
          <a:prstGeom prst="rect">
            <a:avLst/>
          </a:prstGeom>
          <a:solidFill>
            <a:srgbClr val="DCDCDC"/>
          </a:solidFill>
          <a:ln w="12700">
            <a:solidFill>
              <a:srgbClr val="DCDCDC"/>
            </a:solidFill>
            <a:prstDash val="solid"/>
          </a:ln>
        </p:spPr>
      </p:sp>
      <p:sp>
        <p:nvSpPr>
          <p:cNvPr id="19" name="Text 17"/>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20" name="Text 18"/>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P.11</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VERIFY</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여섯 문장이 맞물리는가</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여섯 문장을 나란히 놓고 위에서 아래로 읽어 보세요.</a:t>
            </a:r>
            <a:endParaRPr lang="en-US" sz="1150" dirty="0"/>
          </a:p>
        </p:txBody>
      </p:sp>
      <p:sp>
        <p:nvSpPr>
          <p:cNvPr id="9" name="Shape 7"/>
          <p:cNvSpPr/>
          <p:nvPr/>
        </p:nvSpPr>
        <p:spPr>
          <a:xfrm>
            <a:off x="640080" y="1755648"/>
            <a:ext cx="5254600" cy="478536"/>
          </a:xfrm>
          <a:prstGeom prst="rect">
            <a:avLst/>
          </a:prstGeom>
          <a:solidFill>
            <a:srgbClr val="F2F2F2"/>
          </a:solidFill>
          <a:ln w="12700">
            <a:solidFill>
              <a:srgbClr val="F2F2F2"/>
            </a:solidFill>
            <a:prstDash val="solid"/>
          </a:ln>
        </p:spPr>
      </p:sp>
      <p:sp>
        <p:nvSpPr>
          <p:cNvPr id="10" name="Shape 8"/>
          <p:cNvSpPr/>
          <p:nvPr/>
        </p:nvSpPr>
        <p:spPr>
          <a:xfrm>
            <a:off x="914400" y="1839468"/>
            <a:ext cx="310896" cy="310896"/>
          </a:xfrm>
          <a:prstGeom prst="ellipse">
            <a:avLst/>
          </a:prstGeom>
          <a:solidFill>
            <a:srgbClr val="F2F2F2"/>
          </a:solidFill>
          <a:ln w="12700">
            <a:solidFill>
              <a:srgbClr val="111111"/>
            </a:solidFill>
            <a:prstDash val="solid"/>
          </a:ln>
        </p:spPr>
      </p:sp>
      <p:sp>
        <p:nvSpPr>
          <p:cNvPr id="11" name="Text 9"/>
          <p:cNvSpPr/>
          <p:nvPr/>
        </p:nvSpPr>
        <p:spPr>
          <a:xfrm>
            <a:off x="914400" y="18394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01</a:t>
            </a:r>
            <a:endParaRPr lang="en-US" sz="900" dirty="0"/>
          </a:p>
        </p:txBody>
      </p:sp>
      <p:sp>
        <p:nvSpPr>
          <p:cNvPr id="12" name="Text 10"/>
          <p:cNvSpPr/>
          <p:nvPr/>
        </p:nvSpPr>
        <p:spPr>
          <a:xfrm>
            <a:off x="1353312" y="175564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문제와 질문이 같은 것을 가리킨다</a:t>
            </a:r>
            <a:endParaRPr lang="en-US" sz="1200" dirty="0"/>
          </a:p>
        </p:txBody>
      </p:sp>
      <p:sp>
        <p:nvSpPr>
          <p:cNvPr id="13" name="Shape 11"/>
          <p:cNvSpPr/>
          <p:nvPr/>
        </p:nvSpPr>
        <p:spPr>
          <a:xfrm>
            <a:off x="640080" y="2380488"/>
            <a:ext cx="5254600" cy="478536"/>
          </a:xfrm>
          <a:prstGeom prst="rect">
            <a:avLst/>
          </a:prstGeom>
          <a:solidFill>
            <a:srgbClr val="F2F2F2"/>
          </a:solidFill>
          <a:ln w="12700">
            <a:solidFill>
              <a:srgbClr val="F2F2F2"/>
            </a:solidFill>
            <a:prstDash val="solid"/>
          </a:ln>
        </p:spPr>
      </p:sp>
      <p:sp>
        <p:nvSpPr>
          <p:cNvPr id="14" name="Shape 12"/>
          <p:cNvSpPr/>
          <p:nvPr/>
        </p:nvSpPr>
        <p:spPr>
          <a:xfrm>
            <a:off x="914400" y="2464308"/>
            <a:ext cx="310896" cy="310896"/>
          </a:xfrm>
          <a:prstGeom prst="ellipse">
            <a:avLst/>
          </a:prstGeom>
          <a:solidFill>
            <a:srgbClr val="F2F2F2"/>
          </a:solidFill>
          <a:ln w="12700">
            <a:solidFill>
              <a:srgbClr val="111111"/>
            </a:solidFill>
            <a:prstDash val="solid"/>
          </a:ln>
        </p:spPr>
      </p:sp>
      <p:sp>
        <p:nvSpPr>
          <p:cNvPr id="15" name="Text 13"/>
          <p:cNvSpPr/>
          <p:nvPr/>
        </p:nvSpPr>
        <p:spPr>
          <a:xfrm>
            <a:off x="914400" y="24643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02</a:t>
            </a:r>
            <a:endParaRPr lang="en-US" sz="900" dirty="0"/>
          </a:p>
        </p:txBody>
      </p:sp>
      <p:sp>
        <p:nvSpPr>
          <p:cNvPr id="16" name="Text 14"/>
          <p:cNvSpPr/>
          <p:nvPr/>
        </p:nvSpPr>
        <p:spPr>
          <a:xfrm>
            <a:off x="1353312" y="238048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질문이 물음표로 끝난다</a:t>
            </a:r>
            <a:endParaRPr lang="en-US" sz="1200" dirty="0"/>
          </a:p>
        </p:txBody>
      </p:sp>
      <p:sp>
        <p:nvSpPr>
          <p:cNvPr id="17" name="Shape 15"/>
          <p:cNvSpPr/>
          <p:nvPr/>
        </p:nvSpPr>
        <p:spPr>
          <a:xfrm>
            <a:off x="640080" y="3005328"/>
            <a:ext cx="5254600" cy="478536"/>
          </a:xfrm>
          <a:prstGeom prst="rect">
            <a:avLst/>
          </a:prstGeom>
          <a:solidFill>
            <a:srgbClr val="F2F2F2"/>
          </a:solidFill>
          <a:ln w="12700">
            <a:solidFill>
              <a:srgbClr val="F2F2F2"/>
            </a:solidFill>
            <a:prstDash val="solid"/>
          </a:ln>
        </p:spPr>
      </p:sp>
      <p:sp>
        <p:nvSpPr>
          <p:cNvPr id="18" name="Shape 16"/>
          <p:cNvSpPr/>
          <p:nvPr/>
        </p:nvSpPr>
        <p:spPr>
          <a:xfrm>
            <a:off x="914400" y="3089148"/>
            <a:ext cx="310896" cy="310896"/>
          </a:xfrm>
          <a:prstGeom prst="ellipse">
            <a:avLst/>
          </a:prstGeom>
          <a:solidFill>
            <a:srgbClr val="F2F2F2"/>
          </a:solidFill>
          <a:ln w="12700">
            <a:solidFill>
              <a:srgbClr val="111111"/>
            </a:solidFill>
            <a:prstDash val="solid"/>
          </a:ln>
        </p:spPr>
      </p:sp>
      <p:sp>
        <p:nvSpPr>
          <p:cNvPr id="19" name="Text 17"/>
          <p:cNvSpPr/>
          <p:nvPr/>
        </p:nvSpPr>
        <p:spPr>
          <a:xfrm>
            <a:off x="914400" y="30891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03</a:t>
            </a:r>
            <a:endParaRPr lang="en-US" sz="900" dirty="0"/>
          </a:p>
        </p:txBody>
      </p:sp>
      <p:sp>
        <p:nvSpPr>
          <p:cNvPr id="20" name="Text 18"/>
          <p:cNvSpPr/>
          <p:nvPr/>
        </p:nvSpPr>
        <p:spPr>
          <a:xfrm>
            <a:off x="1353312" y="300532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질문이 삼 년 안에 답할 수 있는 크기다</a:t>
            </a:r>
            <a:endParaRPr lang="en-US" sz="1200" dirty="0"/>
          </a:p>
        </p:txBody>
      </p:sp>
      <p:sp>
        <p:nvSpPr>
          <p:cNvPr id="21" name="Shape 19"/>
          <p:cNvSpPr/>
          <p:nvPr/>
        </p:nvSpPr>
        <p:spPr>
          <a:xfrm>
            <a:off x="640080" y="3630168"/>
            <a:ext cx="5254600" cy="478536"/>
          </a:xfrm>
          <a:prstGeom prst="rect">
            <a:avLst/>
          </a:prstGeom>
          <a:solidFill>
            <a:srgbClr val="F2F2F2"/>
          </a:solidFill>
          <a:ln w="12700">
            <a:solidFill>
              <a:srgbClr val="F2F2F2"/>
            </a:solidFill>
            <a:prstDash val="solid"/>
          </a:ln>
        </p:spPr>
      </p:sp>
      <p:sp>
        <p:nvSpPr>
          <p:cNvPr id="22" name="Shape 20"/>
          <p:cNvSpPr/>
          <p:nvPr/>
        </p:nvSpPr>
        <p:spPr>
          <a:xfrm>
            <a:off x="914400" y="3713988"/>
            <a:ext cx="310896" cy="310896"/>
          </a:xfrm>
          <a:prstGeom prst="ellipse">
            <a:avLst/>
          </a:prstGeom>
          <a:solidFill>
            <a:srgbClr val="F2F2F2"/>
          </a:solidFill>
          <a:ln w="12700">
            <a:solidFill>
              <a:srgbClr val="111111"/>
            </a:solidFill>
            <a:prstDash val="solid"/>
          </a:ln>
        </p:spPr>
      </p:sp>
      <p:sp>
        <p:nvSpPr>
          <p:cNvPr id="23" name="Text 21"/>
          <p:cNvSpPr/>
          <p:nvPr/>
        </p:nvSpPr>
        <p:spPr>
          <a:xfrm>
            <a:off x="914400" y="371398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04</a:t>
            </a:r>
            <a:endParaRPr lang="en-US" sz="900" dirty="0"/>
          </a:p>
        </p:txBody>
      </p:sp>
      <p:sp>
        <p:nvSpPr>
          <p:cNvPr id="24" name="Text 22"/>
          <p:cNvSpPr/>
          <p:nvPr/>
        </p:nvSpPr>
        <p:spPr>
          <a:xfrm>
            <a:off x="1353312" y="363016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가설이 질문에 대한 답의 모양이다</a:t>
            </a:r>
            <a:endParaRPr lang="en-US" sz="1200" dirty="0"/>
          </a:p>
        </p:txBody>
      </p:sp>
      <p:sp>
        <p:nvSpPr>
          <p:cNvPr id="25" name="Shape 23"/>
          <p:cNvSpPr/>
          <p:nvPr/>
        </p:nvSpPr>
        <p:spPr>
          <a:xfrm>
            <a:off x="640080" y="4255008"/>
            <a:ext cx="5254600" cy="478536"/>
          </a:xfrm>
          <a:prstGeom prst="rect">
            <a:avLst/>
          </a:prstGeom>
          <a:solidFill>
            <a:srgbClr val="F2F2F2"/>
          </a:solidFill>
          <a:ln w="12700">
            <a:solidFill>
              <a:srgbClr val="F2F2F2"/>
            </a:solidFill>
            <a:prstDash val="solid"/>
          </a:ln>
        </p:spPr>
      </p:sp>
      <p:sp>
        <p:nvSpPr>
          <p:cNvPr id="26" name="Shape 24"/>
          <p:cNvSpPr/>
          <p:nvPr/>
        </p:nvSpPr>
        <p:spPr>
          <a:xfrm>
            <a:off x="914400" y="4338828"/>
            <a:ext cx="310896" cy="310896"/>
          </a:xfrm>
          <a:prstGeom prst="ellipse">
            <a:avLst/>
          </a:prstGeom>
          <a:solidFill>
            <a:srgbClr val="F2F2F2"/>
          </a:solidFill>
          <a:ln w="12700">
            <a:solidFill>
              <a:srgbClr val="111111"/>
            </a:solidFill>
            <a:prstDash val="solid"/>
          </a:ln>
        </p:spPr>
      </p:sp>
      <p:sp>
        <p:nvSpPr>
          <p:cNvPr id="27" name="Text 25"/>
          <p:cNvSpPr/>
          <p:nvPr/>
        </p:nvSpPr>
        <p:spPr>
          <a:xfrm>
            <a:off x="914400" y="43388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05</a:t>
            </a:r>
            <a:endParaRPr lang="en-US" sz="900" dirty="0"/>
          </a:p>
        </p:txBody>
      </p:sp>
      <p:sp>
        <p:nvSpPr>
          <p:cNvPr id="28" name="Text 26"/>
          <p:cNvSpPr/>
          <p:nvPr/>
        </p:nvSpPr>
        <p:spPr>
          <a:xfrm>
            <a:off x="1353312" y="425500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가설에 '왜냐하면'이 붙어 있다</a:t>
            </a:r>
            <a:endParaRPr lang="en-US" sz="1200" dirty="0"/>
          </a:p>
        </p:txBody>
      </p:sp>
      <p:sp>
        <p:nvSpPr>
          <p:cNvPr id="29" name="Shape 27"/>
          <p:cNvSpPr/>
          <p:nvPr/>
        </p:nvSpPr>
        <p:spPr>
          <a:xfrm>
            <a:off x="640080" y="4879848"/>
            <a:ext cx="5254600" cy="478536"/>
          </a:xfrm>
          <a:prstGeom prst="rect">
            <a:avLst/>
          </a:prstGeom>
          <a:solidFill>
            <a:srgbClr val="F2F2F2"/>
          </a:solidFill>
          <a:ln w="12700">
            <a:solidFill>
              <a:srgbClr val="F2F2F2"/>
            </a:solidFill>
            <a:prstDash val="solid"/>
          </a:ln>
        </p:spPr>
      </p:sp>
      <p:sp>
        <p:nvSpPr>
          <p:cNvPr id="30" name="Shape 28"/>
          <p:cNvSpPr/>
          <p:nvPr/>
        </p:nvSpPr>
        <p:spPr>
          <a:xfrm>
            <a:off x="914400" y="4963668"/>
            <a:ext cx="310896" cy="310896"/>
          </a:xfrm>
          <a:prstGeom prst="ellipse">
            <a:avLst/>
          </a:prstGeom>
          <a:solidFill>
            <a:srgbClr val="F2F2F2"/>
          </a:solidFill>
          <a:ln w="12700">
            <a:solidFill>
              <a:srgbClr val="111111"/>
            </a:solidFill>
            <a:prstDash val="solid"/>
          </a:ln>
        </p:spPr>
      </p:sp>
      <p:sp>
        <p:nvSpPr>
          <p:cNvPr id="31" name="Text 29"/>
          <p:cNvSpPr/>
          <p:nvPr/>
        </p:nvSpPr>
        <p:spPr>
          <a:xfrm>
            <a:off x="914400" y="49636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06</a:t>
            </a:r>
            <a:endParaRPr lang="en-US" sz="900" dirty="0"/>
          </a:p>
        </p:txBody>
      </p:sp>
      <p:sp>
        <p:nvSpPr>
          <p:cNvPr id="32" name="Text 30"/>
          <p:cNvSpPr/>
          <p:nvPr/>
        </p:nvSpPr>
        <p:spPr>
          <a:xfrm>
            <a:off x="1353312" y="487984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그 방법으로 그 질문에 답할 수 있다 — 질문만 크지 않다</a:t>
            </a:r>
            <a:endParaRPr lang="en-US" sz="1200" dirty="0"/>
          </a:p>
        </p:txBody>
      </p:sp>
      <p:sp>
        <p:nvSpPr>
          <p:cNvPr id="33" name="Shape 31"/>
          <p:cNvSpPr/>
          <p:nvPr/>
        </p:nvSpPr>
        <p:spPr>
          <a:xfrm>
            <a:off x="6297016" y="1755648"/>
            <a:ext cx="5254600" cy="478536"/>
          </a:xfrm>
          <a:prstGeom prst="rect">
            <a:avLst/>
          </a:prstGeom>
          <a:solidFill>
            <a:srgbClr val="F2F2F2"/>
          </a:solidFill>
          <a:ln w="12700">
            <a:solidFill>
              <a:srgbClr val="F2F2F2"/>
            </a:solidFill>
            <a:prstDash val="solid"/>
          </a:ln>
        </p:spPr>
      </p:sp>
      <p:sp>
        <p:nvSpPr>
          <p:cNvPr id="34" name="Shape 32"/>
          <p:cNvSpPr/>
          <p:nvPr/>
        </p:nvSpPr>
        <p:spPr>
          <a:xfrm>
            <a:off x="6571336" y="1839468"/>
            <a:ext cx="310896" cy="310896"/>
          </a:xfrm>
          <a:prstGeom prst="ellipse">
            <a:avLst/>
          </a:prstGeom>
          <a:solidFill>
            <a:srgbClr val="F2F2F2"/>
          </a:solidFill>
          <a:ln w="12700">
            <a:solidFill>
              <a:srgbClr val="111111"/>
            </a:solidFill>
            <a:prstDash val="solid"/>
          </a:ln>
        </p:spPr>
      </p:sp>
      <p:sp>
        <p:nvSpPr>
          <p:cNvPr id="35" name="Text 33"/>
          <p:cNvSpPr/>
          <p:nvPr/>
        </p:nvSpPr>
        <p:spPr>
          <a:xfrm>
            <a:off x="6571336" y="18394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07</a:t>
            </a:r>
            <a:endParaRPr lang="en-US" sz="900" dirty="0"/>
          </a:p>
        </p:txBody>
      </p:sp>
      <p:sp>
        <p:nvSpPr>
          <p:cNvPr id="36" name="Text 34"/>
          <p:cNvSpPr/>
          <p:nvPr/>
        </p:nvSpPr>
        <p:spPr>
          <a:xfrm>
            <a:off x="7010248" y="175564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방법에 누구에게 · 무엇을 · 어떻게 · 어떻게 판단하는가가 다 있다</a:t>
            </a:r>
            <a:endParaRPr lang="en-US" sz="1200" dirty="0"/>
          </a:p>
        </p:txBody>
      </p:sp>
      <p:sp>
        <p:nvSpPr>
          <p:cNvPr id="37" name="Shape 35"/>
          <p:cNvSpPr/>
          <p:nvPr/>
        </p:nvSpPr>
        <p:spPr>
          <a:xfrm>
            <a:off x="6297016" y="2380488"/>
            <a:ext cx="5254600" cy="478536"/>
          </a:xfrm>
          <a:prstGeom prst="rect">
            <a:avLst/>
          </a:prstGeom>
          <a:solidFill>
            <a:srgbClr val="F2F2F2"/>
          </a:solidFill>
          <a:ln w="12700">
            <a:solidFill>
              <a:srgbClr val="F2F2F2"/>
            </a:solidFill>
            <a:prstDash val="solid"/>
          </a:ln>
        </p:spPr>
      </p:sp>
      <p:sp>
        <p:nvSpPr>
          <p:cNvPr id="38" name="Shape 36"/>
          <p:cNvSpPr/>
          <p:nvPr/>
        </p:nvSpPr>
        <p:spPr>
          <a:xfrm>
            <a:off x="6571336" y="2464308"/>
            <a:ext cx="310896" cy="310896"/>
          </a:xfrm>
          <a:prstGeom prst="ellipse">
            <a:avLst/>
          </a:prstGeom>
          <a:solidFill>
            <a:srgbClr val="F2F2F2"/>
          </a:solidFill>
          <a:ln w="12700">
            <a:solidFill>
              <a:srgbClr val="111111"/>
            </a:solidFill>
            <a:prstDash val="solid"/>
          </a:ln>
        </p:spPr>
      </p:sp>
      <p:sp>
        <p:nvSpPr>
          <p:cNvPr id="39" name="Text 37"/>
          <p:cNvSpPr/>
          <p:nvPr/>
        </p:nvSpPr>
        <p:spPr>
          <a:xfrm>
            <a:off x="6571336" y="246430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08</a:t>
            </a:r>
            <a:endParaRPr lang="en-US" sz="900" dirty="0"/>
          </a:p>
        </p:txBody>
      </p:sp>
      <p:sp>
        <p:nvSpPr>
          <p:cNvPr id="40" name="Text 38"/>
          <p:cNvSpPr/>
          <p:nvPr/>
        </p:nvSpPr>
        <p:spPr>
          <a:xfrm>
            <a:off x="7010248" y="238048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본 조사 전에 무엇을 해 볼지 적혀 있다</a:t>
            </a:r>
            <a:endParaRPr lang="en-US" sz="1200" dirty="0"/>
          </a:p>
        </p:txBody>
      </p:sp>
      <p:sp>
        <p:nvSpPr>
          <p:cNvPr id="41" name="Shape 39"/>
          <p:cNvSpPr/>
          <p:nvPr/>
        </p:nvSpPr>
        <p:spPr>
          <a:xfrm>
            <a:off x="6297016" y="3005328"/>
            <a:ext cx="5254600" cy="478536"/>
          </a:xfrm>
          <a:prstGeom prst="rect">
            <a:avLst/>
          </a:prstGeom>
          <a:solidFill>
            <a:srgbClr val="F2F2F2"/>
          </a:solidFill>
          <a:ln w="12700">
            <a:solidFill>
              <a:srgbClr val="F2F2F2"/>
            </a:solidFill>
            <a:prstDash val="solid"/>
          </a:ln>
        </p:spPr>
      </p:sp>
      <p:sp>
        <p:nvSpPr>
          <p:cNvPr id="42" name="Shape 40"/>
          <p:cNvSpPr/>
          <p:nvPr/>
        </p:nvSpPr>
        <p:spPr>
          <a:xfrm>
            <a:off x="6571336" y="3089148"/>
            <a:ext cx="310896" cy="310896"/>
          </a:xfrm>
          <a:prstGeom prst="ellipse">
            <a:avLst/>
          </a:prstGeom>
          <a:solidFill>
            <a:srgbClr val="F2F2F2"/>
          </a:solidFill>
          <a:ln w="12700">
            <a:solidFill>
              <a:srgbClr val="111111"/>
            </a:solidFill>
            <a:prstDash val="solid"/>
          </a:ln>
        </p:spPr>
      </p:sp>
      <p:sp>
        <p:nvSpPr>
          <p:cNvPr id="43" name="Text 41"/>
          <p:cNvSpPr/>
          <p:nvPr/>
        </p:nvSpPr>
        <p:spPr>
          <a:xfrm>
            <a:off x="6571336" y="308914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09</a:t>
            </a:r>
            <a:endParaRPr lang="en-US" sz="900" dirty="0"/>
          </a:p>
        </p:txBody>
      </p:sp>
      <p:sp>
        <p:nvSpPr>
          <p:cNvPr id="44" name="Text 42"/>
          <p:cNvSpPr/>
          <p:nvPr/>
        </p:nvSpPr>
        <p:spPr>
          <a:xfrm>
            <a:off x="7010248" y="300532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선행연구가 내 질문 쪽을 향한다 — 소개로 끝나지 않는다</a:t>
            </a:r>
            <a:endParaRPr lang="en-US" sz="1200" dirty="0"/>
          </a:p>
        </p:txBody>
      </p:sp>
      <p:sp>
        <p:nvSpPr>
          <p:cNvPr id="45" name="Shape 43"/>
          <p:cNvSpPr/>
          <p:nvPr/>
        </p:nvSpPr>
        <p:spPr>
          <a:xfrm>
            <a:off x="6297016" y="3630168"/>
            <a:ext cx="5254600" cy="478536"/>
          </a:xfrm>
          <a:prstGeom prst="rect">
            <a:avLst/>
          </a:prstGeom>
          <a:solidFill>
            <a:srgbClr val="F2F2F2"/>
          </a:solidFill>
          <a:ln w="12700">
            <a:solidFill>
              <a:srgbClr val="F2F2F2"/>
            </a:solidFill>
            <a:prstDash val="solid"/>
          </a:ln>
        </p:spPr>
      </p:sp>
      <p:sp>
        <p:nvSpPr>
          <p:cNvPr id="46" name="Shape 44"/>
          <p:cNvSpPr/>
          <p:nvPr/>
        </p:nvSpPr>
        <p:spPr>
          <a:xfrm>
            <a:off x="6571336" y="3713988"/>
            <a:ext cx="310896" cy="310896"/>
          </a:xfrm>
          <a:prstGeom prst="ellipse">
            <a:avLst/>
          </a:prstGeom>
          <a:solidFill>
            <a:srgbClr val="F2F2F2"/>
          </a:solidFill>
          <a:ln w="12700">
            <a:solidFill>
              <a:srgbClr val="111111"/>
            </a:solidFill>
            <a:prstDash val="solid"/>
          </a:ln>
        </p:spPr>
      </p:sp>
      <p:sp>
        <p:nvSpPr>
          <p:cNvPr id="47" name="Text 45"/>
          <p:cNvSpPr/>
          <p:nvPr/>
        </p:nvSpPr>
        <p:spPr>
          <a:xfrm>
            <a:off x="6571336" y="371398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10</a:t>
            </a:r>
            <a:endParaRPr lang="en-US" sz="900" dirty="0"/>
          </a:p>
        </p:txBody>
      </p:sp>
      <p:sp>
        <p:nvSpPr>
          <p:cNvPr id="48" name="Text 46"/>
          <p:cNvSpPr/>
          <p:nvPr/>
        </p:nvSpPr>
        <p:spPr>
          <a:xfrm>
            <a:off x="7010248" y="363016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선행연구 끝에 '그래서 이 연구는'이 있다</a:t>
            </a:r>
            <a:endParaRPr lang="en-US" sz="1200" dirty="0"/>
          </a:p>
        </p:txBody>
      </p:sp>
      <p:sp>
        <p:nvSpPr>
          <p:cNvPr id="49" name="Shape 47"/>
          <p:cNvSpPr/>
          <p:nvPr/>
        </p:nvSpPr>
        <p:spPr>
          <a:xfrm>
            <a:off x="6297016" y="4255008"/>
            <a:ext cx="5254600" cy="478536"/>
          </a:xfrm>
          <a:prstGeom prst="rect">
            <a:avLst/>
          </a:prstGeom>
          <a:solidFill>
            <a:srgbClr val="F2F2F2"/>
          </a:solidFill>
          <a:ln w="12700">
            <a:solidFill>
              <a:srgbClr val="F2F2F2"/>
            </a:solidFill>
            <a:prstDash val="solid"/>
          </a:ln>
        </p:spPr>
      </p:sp>
      <p:sp>
        <p:nvSpPr>
          <p:cNvPr id="50" name="Shape 48"/>
          <p:cNvSpPr/>
          <p:nvPr/>
        </p:nvSpPr>
        <p:spPr>
          <a:xfrm>
            <a:off x="6571336" y="4338828"/>
            <a:ext cx="310896" cy="310896"/>
          </a:xfrm>
          <a:prstGeom prst="ellipse">
            <a:avLst/>
          </a:prstGeom>
          <a:solidFill>
            <a:srgbClr val="F2F2F2"/>
          </a:solidFill>
          <a:ln w="12700">
            <a:solidFill>
              <a:srgbClr val="111111"/>
            </a:solidFill>
            <a:prstDash val="solid"/>
          </a:ln>
        </p:spPr>
      </p:sp>
      <p:sp>
        <p:nvSpPr>
          <p:cNvPr id="51" name="Text 49"/>
          <p:cNvSpPr/>
          <p:nvPr/>
        </p:nvSpPr>
        <p:spPr>
          <a:xfrm>
            <a:off x="6571336" y="433882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11</a:t>
            </a:r>
            <a:endParaRPr lang="en-US" sz="900" dirty="0"/>
          </a:p>
        </p:txBody>
      </p:sp>
      <p:sp>
        <p:nvSpPr>
          <p:cNvPr id="52" name="Text 50"/>
          <p:cNvSpPr/>
          <p:nvPr/>
        </p:nvSpPr>
        <p:spPr>
          <a:xfrm>
            <a:off x="7010248" y="425500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기여가 질문의 답 모양이다</a:t>
            </a:r>
            <a:endParaRPr lang="en-US" sz="1200" dirty="0"/>
          </a:p>
        </p:txBody>
      </p:sp>
      <p:sp>
        <p:nvSpPr>
          <p:cNvPr id="53" name="Shape 51"/>
          <p:cNvSpPr/>
          <p:nvPr/>
        </p:nvSpPr>
        <p:spPr>
          <a:xfrm>
            <a:off x="6297016" y="4879848"/>
            <a:ext cx="5254600" cy="478536"/>
          </a:xfrm>
          <a:prstGeom prst="rect">
            <a:avLst/>
          </a:prstGeom>
          <a:solidFill>
            <a:srgbClr val="F2F2F2"/>
          </a:solidFill>
          <a:ln w="12700">
            <a:solidFill>
              <a:srgbClr val="F2F2F2"/>
            </a:solidFill>
            <a:prstDash val="solid"/>
          </a:ln>
        </p:spPr>
      </p:sp>
      <p:sp>
        <p:nvSpPr>
          <p:cNvPr id="54" name="Shape 52"/>
          <p:cNvSpPr/>
          <p:nvPr/>
        </p:nvSpPr>
        <p:spPr>
          <a:xfrm>
            <a:off x="6571336" y="4963668"/>
            <a:ext cx="310896" cy="310896"/>
          </a:xfrm>
          <a:prstGeom prst="ellipse">
            <a:avLst/>
          </a:prstGeom>
          <a:solidFill>
            <a:srgbClr val="F2F2F2"/>
          </a:solidFill>
          <a:ln w="12700">
            <a:solidFill>
              <a:srgbClr val="111111"/>
            </a:solidFill>
            <a:prstDash val="solid"/>
          </a:ln>
        </p:spPr>
      </p:sp>
      <p:sp>
        <p:nvSpPr>
          <p:cNvPr id="55" name="Text 53"/>
          <p:cNvSpPr/>
          <p:nvPr/>
        </p:nvSpPr>
        <p:spPr>
          <a:xfrm>
            <a:off x="6571336" y="4963668"/>
            <a:ext cx="310896" cy="310896"/>
          </a:xfrm>
          <a:prstGeom prst="rect">
            <a:avLst/>
          </a:prstGeom>
          <a:noFill/>
          <a:ln/>
        </p:spPr>
        <p:txBody>
          <a:bodyPr wrap="square" lIns="0" tIns="0" rIns="0" bIns="0" rtlCol="0" anchor="ctr"/>
          <a:lstStyle/>
          <a:p>
            <a:pPr algn="ctr" indent="0" marL="0">
              <a:buNone/>
            </a:pPr>
            <a:r>
              <a:rPr lang="en-US" sz="900" b="1" dirty="0">
                <a:solidFill>
                  <a:srgbClr val="111111"/>
                </a:solidFill>
                <a:latin typeface="Pretendard" pitchFamily="34" charset="0"/>
                <a:ea typeface="Pretendard" pitchFamily="34" charset="-122"/>
                <a:cs typeface="Pretendard" pitchFamily="34" charset="-120"/>
              </a:rPr>
              <a:t>12</a:t>
            </a:r>
            <a:endParaRPr lang="en-US" sz="900" dirty="0"/>
          </a:p>
        </p:txBody>
      </p:sp>
      <p:sp>
        <p:nvSpPr>
          <p:cNvPr id="56" name="Text 54"/>
          <p:cNvSpPr/>
          <p:nvPr/>
        </p:nvSpPr>
        <p:spPr>
          <a:xfrm>
            <a:off x="7010248" y="4879848"/>
            <a:ext cx="4267048" cy="478536"/>
          </a:xfrm>
          <a:prstGeom prst="rect">
            <a:avLst/>
          </a:prstGeom>
          <a:noFill/>
          <a:ln/>
        </p:spPr>
        <p:txBody>
          <a:bodyPr wrap="square" lIns="0" tIns="0" rIns="0" bIns="0" rtlCol="0" anchor="ctr"/>
          <a:lstStyle/>
          <a:p>
            <a:pPr indent="0" marL="0">
              <a:buNone/>
            </a:pPr>
            <a:r>
              <a:rPr lang="en-US" sz="1200" dirty="0">
                <a:solidFill>
                  <a:srgbClr val="111111"/>
                </a:solidFill>
                <a:latin typeface="Pretendard" pitchFamily="34" charset="0"/>
                <a:ea typeface="Pretendard" pitchFamily="34" charset="-122"/>
                <a:cs typeface="Pretendard" pitchFamily="34" charset="-120"/>
              </a:rPr>
              <a:t>기여가 이 연구 하나로 할 수 있는 크기다</a:t>
            </a:r>
            <a:endParaRPr lang="en-US" sz="1200" dirty="0"/>
          </a:p>
        </p:txBody>
      </p:sp>
      <p:sp>
        <p:nvSpPr>
          <p:cNvPr id="57" name="Shape 55"/>
          <p:cNvSpPr/>
          <p:nvPr/>
        </p:nvSpPr>
        <p:spPr>
          <a:xfrm>
            <a:off x="640080" y="5559552"/>
            <a:ext cx="10911535" cy="7315"/>
          </a:xfrm>
          <a:prstGeom prst="rect">
            <a:avLst/>
          </a:prstGeom>
          <a:solidFill>
            <a:srgbClr val="111111"/>
          </a:solidFill>
          <a:ln w="12700">
            <a:solidFill>
              <a:srgbClr val="111111"/>
            </a:solidFill>
            <a:prstDash val="solid"/>
          </a:ln>
        </p:spPr>
      </p:sp>
      <p:sp>
        <p:nvSpPr>
          <p:cNvPr id="58" name="Text 56"/>
          <p:cNvSpPr/>
          <p:nvPr/>
        </p:nvSpPr>
        <p:spPr>
          <a:xfrm>
            <a:off x="640080" y="5669280"/>
            <a:ext cx="10911535" cy="402336"/>
          </a:xfrm>
          <a:prstGeom prst="rect">
            <a:avLst/>
          </a:prstGeom>
          <a:noFill/>
          <a:ln/>
        </p:spPr>
        <p:txBody>
          <a:bodyPr wrap="square" lIns="0" tIns="0" rIns="0" bIns="0" rtlCol="0" anchor="ctr"/>
          <a:lstStyle/>
          <a:p>
            <a:pPr indent="0" marL="0">
              <a:buNone/>
            </a:pPr>
            <a:r>
              <a:rPr lang="en-US" sz="1250" b="1" dirty="0">
                <a:solidFill>
                  <a:srgbClr val="111111"/>
                </a:solidFill>
                <a:latin typeface="Pretendard" pitchFamily="34" charset="0"/>
                <a:ea typeface="Pretendard" pitchFamily="34" charset="-122"/>
                <a:cs typeface="Pretendard" pitchFamily="34" charset="-120"/>
              </a:rPr>
              <a:t>여섯째 항목이 가장 자주 걸립니다. 질문이 크고 방법이 작으면 질문을 줄이십시오 — 방법을 키우는 쪽은 삼 년으로 안 됩니다.</a:t>
            </a:r>
            <a:endParaRPr lang="en-US" sz="1250" dirty="0"/>
          </a:p>
        </p:txBody>
      </p:sp>
      <p:sp>
        <p:nvSpPr>
          <p:cNvPr id="59" name="Shape 57"/>
          <p:cNvSpPr/>
          <p:nvPr/>
        </p:nvSpPr>
        <p:spPr>
          <a:xfrm>
            <a:off x="640080" y="6291072"/>
            <a:ext cx="10911535" cy="7315"/>
          </a:xfrm>
          <a:prstGeom prst="rect">
            <a:avLst/>
          </a:prstGeom>
          <a:solidFill>
            <a:srgbClr val="DCDCDC"/>
          </a:solidFill>
          <a:ln w="12700">
            <a:solidFill>
              <a:srgbClr val="DCDCDC"/>
            </a:solidFill>
            <a:prstDash val="solid"/>
          </a:ln>
        </p:spPr>
      </p:sp>
      <p:sp>
        <p:nvSpPr>
          <p:cNvPr id="60" name="Text 58"/>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61" name="Text 59"/>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274320"/>
            <a:ext cx="3657600" cy="219456"/>
          </a:xfrm>
          <a:prstGeom prst="rect">
            <a:avLst/>
          </a:prstGeom>
          <a:noFill/>
          <a:ln/>
        </p:spPr>
        <p:txBody>
          <a:bodyPr wrap="square" lIns="0" tIns="0" rIns="0" bIns="0" rtlCol="0" anchor="ctr"/>
          <a:lstStyle/>
          <a:p>
            <a:pPr indent="0" marL="0">
              <a:buNone/>
            </a:pPr>
            <a:r>
              <a:rPr lang="en-US" sz="900" spc="120" kern="0" dirty="0">
                <a:solidFill>
                  <a:srgbClr val="8A8A8A"/>
                </a:solidFill>
                <a:latin typeface="Pretendard" pitchFamily="34" charset="0"/>
                <a:ea typeface="Pretendard" pitchFamily="34" charset="-122"/>
                <a:cs typeface="Pretendard" pitchFamily="34" charset="-120"/>
              </a:rPr>
              <a:t>컨셉트와 프로세스</a:t>
            </a:r>
            <a:endParaRPr lang="en-US" sz="900" dirty="0"/>
          </a:p>
        </p:txBody>
      </p:sp>
      <p:sp>
        <p:nvSpPr>
          <p:cNvPr id="3" name="Text 1"/>
          <p:cNvSpPr/>
          <p:nvPr/>
        </p:nvSpPr>
        <p:spPr>
          <a:xfrm>
            <a:off x="4480560" y="274320"/>
            <a:ext cx="4572000" cy="219456"/>
          </a:xfrm>
          <a:prstGeom prst="rect">
            <a:avLst/>
          </a:prstGeom>
          <a:noFill/>
          <a:ln/>
        </p:spPr>
        <p:txBody>
          <a:bodyPr wrap="square" lIns="0" tIns="0" rIns="0" bIns="0" rtlCol="0" anchor="ctr"/>
          <a:lstStyle/>
          <a:p>
            <a:pPr algn="ctr" indent="0" marL="0">
              <a:buNone/>
            </a:pPr>
            <a:r>
              <a:rPr lang="en-US" sz="900" spc="120" kern="0" dirty="0">
                <a:solidFill>
                  <a:srgbClr val="8A8A8A"/>
                </a:solidFill>
                <a:latin typeface="Pretendard" pitchFamily="34" charset="0"/>
                <a:ea typeface="Pretendard" pitchFamily="34" charset="-122"/>
                <a:cs typeface="Pretendard" pitchFamily="34" charset="-120"/>
              </a:rPr>
              <a:t>PHASE 3 정립</a:t>
            </a:r>
            <a:endParaRPr lang="en-US" sz="900" dirty="0"/>
          </a:p>
        </p:txBody>
      </p:sp>
      <p:sp>
        <p:nvSpPr>
          <p:cNvPr id="4" name="Text 2"/>
          <p:cNvSpPr/>
          <p:nvPr/>
        </p:nvSpPr>
        <p:spPr>
          <a:xfrm>
            <a:off x="8808415" y="274320"/>
            <a:ext cx="2743200" cy="219456"/>
          </a:xfrm>
          <a:prstGeom prst="rect">
            <a:avLst/>
          </a:prstGeom>
          <a:noFill/>
          <a:ln/>
        </p:spPr>
        <p:txBody>
          <a:bodyPr wrap="square" lIns="0" tIns="0" rIns="0" bIns="0" rtlCol="0" anchor="ctr"/>
          <a:lstStyle/>
          <a:p>
            <a:pPr algn="r" indent="0" marL="0">
              <a:buNone/>
            </a:pPr>
            <a:r>
              <a:rPr lang="en-US" sz="900" spc="200" kern="0" dirty="0">
                <a:solidFill>
                  <a:srgbClr val="8A8A8A"/>
                </a:solidFill>
                <a:latin typeface="Pretendard" pitchFamily="34" charset="0"/>
                <a:ea typeface="Pretendard" pitchFamily="34" charset="-122"/>
                <a:cs typeface="Pretendard" pitchFamily="34" charset="-120"/>
              </a:rPr>
              <a:t>WEEK 07</a:t>
            </a:r>
            <a:endParaRPr lang="en-US" sz="900" dirty="0"/>
          </a:p>
        </p:txBody>
      </p:sp>
      <p:sp>
        <p:nvSpPr>
          <p:cNvPr id="5" name="Shape 3"/>
          <p:cNvSpPr/>
          <p:nvPr/>
        </p:nvSpPr>
        <p:spPr>
          <a:xfrm>
            <a:off x="640080" y="548640"/>
            <a:ext cx="10911535" cy="7315"/>
          </a:xfrm>
          <a:prstGeom prst="rect">
            <a:avLst/>
          </a:prstGeom>
          <a:solidFill>
            <a:srgbClr val="DCDCDC"/>
          </a:solidFill>
          <a:ln w="12700">
            <a:solidFill>
              <a:srgbClr val="DCDCDC"/>
            </a:solidFill>
            <a:prstDash val="solid"/>
          </a:ln>
        </p:spPr>
      </p:sp>
      <p:sp>
        <p:nvSpPr>
          <p:cNvPr id="6" name="Text 4"/>
          <p:cNvSpPr/>
          <p:nvPr/>
        </p:nvSpPr>
        <p:spPr>
          <a:xfrm>
            <a:off x="640080" y="640080"/>
            <a:ext cx="10911535" cy="219456"/>
          </a:xfrm>
          <a:prstGeom prst="rect">
            <a:avLst/>
          </a:prstGeom>
          <a:noFill/>
          <a:ln/>
        </p:spPr>
        <p:txBody>
          <a:bodyPr wrap="square" lIns="0" tIns="0" rIns="0" bIns="0" rtlCol="0" anchor="ctr"/>
          <a:lstStyle/>
          <a:p>
            <a:pPr indent="0" marL="0">
              <a:buNone/>
            </a:pPr>
            <a:r>
              <a:rPr lang="en-US" sz="950" spc="260" kern="0" dirty="0">
                <a:solidFill>
                  <a:srgbClr val="8A8A8A"/>
                </a:solidFill>
                <a:latin typeface="Pretendard" pitchFamily="34" charset="0"/>
                <a:ea typeface="Pretendard" pitchFamily="34" charset="-122"/>
                <a:cs typeface="Pretendard" pitchFamily="34" charset="-120"/>
              </a:rPr>
              <a:t>HOMEWORK</a:t>
            </a:r>
            <a:endParaRPr lang="en-US" sz="950" dirty="0"/>
          </a:p>
        </p:txBody>
      </p:sp>
      <p:sp>
        <p:nvSpPr>
          <p:cNvPr id="7" name="Text 5"/>
          <p:cNvSpPr/>
          <p:nvPr/>
        </p:nvSpPr>
        <p:spPr>
          <a:xfrm>
            <a:off x="640080" y="859536"/>
            <a:ext cx="10911535" cy="475488"/>
          </a:xfrm>
          <a:prstGeom prst="rect">
            <a:avLst/>
          </a:prstGeom>
          <a:noFill/>
          <a:ln/>
        </p:spPr>
        <p:txBody>
          <a:bodyPr wrap="square" lIns="0" tIns="0" rIns="0" bIns="0" rtlCol="0" anchor="ctr"/>
          <a:lstStyle/>
          <a:p>
            <a:pPr indent="0" marL="0">
              <a:buNone/>
            </a:pPr>
            <a:r>
              <a:rPr lang="en-US" sz="3000" dirty="0">
                <a:solidFill>
                  <a:srgbClr val="111111"/>
                </a:solidFill>
                <a:latin typeface="Pretendard SemiBold" pitchFamily="34" charset="0"/>
                <a:ea typeface="Pretendard SemiBold" pitchFamily="34" charset="-122"/>
                <a:cs typeface="Pretendard SemiBold" pitchFamily="34" charset="-120"/>
              </a:rPr>
              <a:t>과제와 다음 주</a:t>
            </a:r>
            <a:endParaRPr lang="en-US" sz="3000" dirty="0"/>
          </a:p>
        </p:txBody>
      </p:sp>
      <p:sp>
        <p:nvSpPr>
          <p:cNvPr id="8" name="Text 6"/>
          <p:cNvSpPr/>
          <p:nvPr/>
        </p:nvSpPr>
        <p:spPr>
          <a:xfrm>
            <a:off x="640080" y="1371600"/>
            <a:ext cx="10911535" cy="219456"/>
          </a:xfrm>
          <a:prstGeom prst="rect">
            <a:avLst/>
          </a:prstGeom>
          <a:noFill/>
          <a:ln/>
        </p:spPr>
        <p:txBody>
          <a:bodyPr wrap="square" lIns="0" tIns="0" rIns="0" bIns="0" rtlCol="0" anchor="ctr"/>
          <a:lstStyle/>
          <a:p>
            <a:pPr indent="0" marL="0">
              <a:buNone/>
            </a:pPr>
            <a:r>
              <a:rPr lang="en-US" sz="1150" dirty="0">
                <a:solidFill>
                  <a:srgbClr val="6E6E6E"/>
                </a:solidFill>
                <a:latin typeface="Pretendard" pitchFamily="34" charset="0"/>
                <a:ea typeface="Pretendard" pitchFamily="34" charset="-122"/>
                <a:cs typeface="Pretendard" pitchFamily="34" charset="-120"/>
              </a:rPr>
              <a:t>다음이 마지막 회차입니다. 오늘 쓴 여섯 문장에 살을 붙이면 됩니다.</a:t>
            </a:r>
            <a:endParaRPr lang="en-US" sz="1150" dirty="0"/>
          </a:p>
        </p:txBody>
      </p:sp>
      <p:sp>
        <p:nvSpPr>
          <p:cNvPr id="9" name="Shape 7"/>
          <p:cNvSpPr/>
          <p:nvPr/>
        </p:nvSpPr>
        <p:spPr>
          <a:xfrm>
            <a:off x="640080" y="1719072"/>
            <a:ext cx="6309360" cy="896112"/>
          </a:xfrm>
          <a:prstGeom prst="rect">
            <a:avLst/>
          </a:prstGeom>
          <a:solidFill>
            <a:srgbClr val="FFFFFF"/>
          </a:solidFill>
          <a:ln w="12700">
            <a:solidFill>
              <a:srgbClr val="DCDCDC"/>
            </a:solidFill>
            <a:prstDash val="solid"/>
          </a:ln>
        </p:spPr>
      </p:sp>
      <p:sp>
        <p:nvSpPr>
          <p:cNvPr id="10" name="Shape 8"/>
          <p:cNvSpPr/>
          <p:nvPr/>
        </p:nvSpPr>
        <p:spPr>
          <a:xfrm>
            <a:off x="969264" y="1993392"/>
            <a:ext cx="329184" cy="329184"/>
          </a:xfrm>
          <a:prstGeom prst="ellipse">
            <a:avLst/>
          </a:prstGeom>
          <a:solidFill>
            <a:srgbClr val="111111"/>
          </a:solidFill>
          <a:ln w="12700">
            <a:solidFill>
              <a:srgbClr val="111111"/>
            </a:solidFill>
            <a:prstDash val="solid"/>
          </a:ln>
        </p:spPr>
      </p:sp>
      <p:sp>
        <p:nvSpPr>
          <p:cNvPr id="11" name="Text 9"/>
          <p:cNvSpPr/>
          <p:nvPr/>
        </p:nvSpPr>
        <p:spPr>
          <a:xfrm>
            <a:off x="969264" y="1993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1</a:t>
            </a:r>
            <a:endParaRPr lang="en-US" sz="1100" dirty="0"/>
          </a:p>
        </p:txBody>
      </p:sp>
      <p:sp>
        <p:nvSpPr>
          <p:cNvPr id="12" name="Text 10"/>
          <p:cNvSpPr/>
          <p:nvPr/>
        </p:nvSpPr>
        <p:spPr>
          <a:xfrm>
            <a:off x="1426464" y="1810512"/>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프로포절 드래프트 — 여섯 절</a:t>
            </a:r>
            <a:endParaRPr lang="en-US" sz="1400" dirty="0"/>
          </a:p>
        </p:txBody>
      </p:sp>
      <p:sp>
        <p:nvSpPr>
          <p:cNvPr id="13" name="Text 11"/>
          <p:cNvSpPr/>
          <p:nvPr/>
        </p:nvSpPr>
        <p:spPr>
          <a:xfrm>
            <a:off x="1426464" y="2121408"/>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오늘 쓴 여섯 문장이 각 절의 첫 문장입니다. 그 아래에 설명을 붙여 절마다 한두 쪽으로 만듭니다. 분량보다 여섯 절이 서로 맞물리는지가 중요합니다.</a:t>
            </a:r>
            <a:endParaRPr lang="en-US" sz="1100" dirty="0"/>
          </a:p>
        </p:txBody>
      </p:sp>
      <p:sp>
        <p:nvSpPr>
          <p:cNvPr id="14" name="Shape 12"/>
          <p:cNvSpPr/>
          <p:nvPr/>
        </p:nvSpPr>
        <p:spPr>
          <a:xfrm>
            <a:off x="640080" y="2743200"/>
            <a:ext cx="6309360" cy="896112"/>
          </a:xfrm>
          <a:prstGeom prst="rect">
            <a:avLst/>
          </a:prstGeom>
          <a:solidFill>
            <a:srgbClr val="FFFFFF"/>
          </a:solidFill>
          <a:ln w="12700">
            <a:solidFill>
              <a:srgbClr val="DCDCDC"/>
            </a:solidFill>
            <a:prstDash val="solid"/>
          </a:ln>
        </p:spPr>
      </p:sp>
      <p:sp>
        <p:nvSpPr>
          <p:cNvPr id="15" name="Shape 13"/>
          <p:cNvSpPr/>
          <p:nvPr/>
        </p:nvSpPr>
        <p:spPr>
          <a:xfrm>
            <a:off x="969264" y="3017520"/>
            <a:ext cx="329184" cy="329184"/>
          </a:xfrm>
          <a:prstGeom prst="ellipse">
            <a:avLst/>
          </a:prstGeom>
          <a:solidFill>
            <a:srgbClr val="111111"/>
          </a:solidFill>
          <a:ln w="12700">
            <a:solidFill>
              <a:srgbClr val="111111"/>
            </a:solidFill>
            <a:prstDash val="solid"/>
          </a:ln>
        </p:spPr>
      </p:sp>
      <p:sp>
        <p:nvSpPr>
          <p:cNvPr id="16" name="Text 14"/>
          <p:cNvSpPr/>
          <p:nvPr/>
        </p:nvSpPr>
        <p:spPr>
          <a:xfrm>
            <a:off x="969264" y="301752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Pretendard" pitchFamily="34" charset="0"/>
                <a:ea typeface="Pretendard" pitchFamily="34" charset="-122"/>
                <a:cs typeface="Pretendard" pitchFamily="34" charset="-120"/>
              </a:rPr>
              <a:t>2</a:t>
            </a:r>
            <a:endParaRPr lang="en-US" sz="1100" dirty="0"/>
          </a:p>
        </p:txBody>
      </p:sp>
      <p:sp>
        <p:nvSpPr>
          <p:cNvPr id="17" name="Text 15"/>
          <p:cNvSpPr/>
          <p:nvPr/>
        </p:nvSpPr>
        <p:spPr>
          <a:xfrm>
            <a:off x="1426464" y="2834640"/>
            <a:ext cx="5175504" cy="329184"/>
          </a:xfrm>
          <a:prstGeom prst="rect">
            <a:avLst/>
          </a:prstGeom>
          <a:noFill/>
          <a:ln/>
        </p:spPr>
        <p:txBody>
          <a:bodyPr wrap="square" lIns="0" tIns="0" rIns="0" bIns="0" rtlCol="0" anchor="ctr"/>
          <a:lstStyle/>
          <a:p>
            <a:pPr indent="0" marL="0">
              <a:buNone/>
            </a:pPr>
            <a:r>
              <a:rPr lang="en-US" sz="1400" dirty="0">
                <a:solidFill>
                  <a:srgbClr val="111111"/>
                </a:solidFill>
                <a:latin typeface="Pretendard SemiBold" pitchFamily="34" charset="0"/>
                <a:ea typeface="Pretendard SemiBold" pitchFamily="34" charset="-122"/>
                <a:cs typeface="Pretendard SemiBold" pitchFamily="34" charset="-120"/>
              </a:rPr>
              <a:t>동료 프로포절 읽고 질문 두 개</a:t>
            </a:r>
            <a:endParaRPr lang="en-US" sz="1400" dirty="0"/>
          </a:p>
        </p:txBody>
      </p:sp>
      <p:sp>
        <p:nvSpPr>
          <p:cNvPr id="18" name="Text 16"/>
          <p:cNvSpPr/>
          <p:nvPr/>
        </p:nvSpPr>
        <p:spPr>
          <a:xfrm>
            <a:off x="1426464" y="3145536"/>
            <a:ext cx="5175504" cy="420624"/>
          </a:xfrm>
          <a:prstGeom prst="rect">
            <a:avLst/>
          </a:prstGeom>
          <a:noFill/>
          <a:ln/>
        </p:spPr>
        <p:txBody>
          <a:bodyPr wrap="square" lIns="0" tIns="0" rIns="0" bIns="0" rtlCol="0" anchor="t"/>
          <a:lstStyle/>
          <a:p>
            <a:pPr indent="0" marL="0">
              <a:lnSpc>
                <a:spcPct val="122000"/>
              </a:lnSpc>
              <a:buNone/>
            </a:pPr>
            <a:r>
              <a:rPr lang="en-US" sz="1100" dirty="0">
                <a:solidFill>
                  <a:srgbClr val="6E6E6E"/>
                </a:solidFill>
                <a:latin typeface="Pretendard" pitchFamily="34" charset="0"/>
                <a:ea typeface="Pretendard" pitchFamily="34" charset="-122"/>
                <a:cs typeface="Pretendard" pitchFamily="34" charset="-120"/>
              </a:rPr>
              <a:t>올라온 드래프트를 읽고 각 사람에게 질문을 두 개씩 준비해 옵니다. 8회차는 상호 리뷰가 절반입니다.</a:t>
            </a:r>
            <a:endParaRPr lang="en-US" sz="1100" dirty="0"/>
          </a:p>
        </p:txBody>
      </p:sp>
      <p:sp>
        <p:nvSpPr>
          <p:cNvPr id="19" name="Shape 17"/>
          <p:cNvSpPr/>
          <p:nvPr/>
        </p:nvSpPr>
        <p:spPr>
          <a:xfrm>
            <a:off x="640080" y="3785616"/>
            <a:ext cx="6309360" cy="7315"/>
          </a:xfrm>
          <a:prstGeom prst="rect">
            <a:avLst/>
          </a:prstGeom>
          <a:solidFill>
            <a:srgbClr val="111111"/>
          </a:solidFill>
          <a:ln w="12700">
            <a:solidFill>
              <a:srgbClr val="111111"/>
            </a:solidFill>
            <a:prstDash val="solid"/>
          </a:ln>
        </p:spPr>
      </p:sp>
      <p:sp>
        <p:nvSpPr>
          <p:cNvPr id="20" name="Text 18"/>
          <p:cNvSpPr/>
          <p:nvPr/>
        </p:nvSpPr>
        <p:spPr>
          <a:xfrm>
            <a:off x="640080" y="3877056"/>
            <a:ext cx="6309360" cy="329184"/>
          </a:xfrm>
          <a:prstGeom prst="rect">
            <a:avLst/>
          </a:prstGeom>
          <a:noFill/>
          <a:ln/>
        </p:spPr>
        <p:txBody>
          <a:bodyPr wrap="square" lIns="0" tIns="0" rIns="0" bIns="0" rtlCol="0" anchor="ctr"/>
          <a:lstStyle/>
          <a:p>
            <a:pPr indent="0" marL="0">
              <a:buNone/>
            </a:pPr>
            <a:r>
              <a:rPr lang="en-US" sz="1200" b="1" dirty="0">
                <a:solidFill>
                  <a:srgbClr val="111111"/>
                </a:solidFill>
                <a:latin typeface="Pretendard" pitchFamily="34" charset="0"/>
                <a:ea typeface="Pretendard" pitchFamily="34" charset="-122"/>
                <a:cs typeface="Pretendard" pitchFamily="34" charset="-120"/>
              </a:rPr>
              <a:t>제출 — 8회차 세션 48시간 전까지 · 공유 폴더 업로드</a:t>
            </a:r>
            <a:endParaRPr lang="en-US" sz="1200" dirty="0"/>
          </a:p>
        </p:txBody>
      </p:sp>
      <p:sp>
        <p:nvSpPr>
          <p:cNvPr id="21" name="Shape 19"/>
          <p:cNvSpPr/>
          <p:nvPr/>
        </p:nvSpPr>
        <p:spPr>
          <a:xfrm>
            <a:off x="7351776" y="1719072"/>
            <a:ext cx="4199839" cy="3803904"/>
          </a:xfrm>
          <a:prstGeom prst="rect">
            <a:avLst/>
          </a:prstGeom>
          <a:solidFill>
            <a:srgbClr val="111111"/>
          </a:solidFill>
          <a:ln w="12700">
            <a:solidFill>
              <a:srgbClr val="111111"/>
            </a:solidFill>
            <a:prstDash val="solid"/>
          </a:ln>
        </p:spPr>
      </p:sp>
      <p:sp>
        <p:nvSpPr>
          <p:cNvPr id="22" name="Text 20"/>
          <p:cNvSpPr/>
          <p:nvPr/>
        </p:nvSpPr>
        <p:spPr>
          <a:xfrm>
            <a:off x="7735824" y="1993392"/>
            <a:ext cx="3431743" cy="256032"/>
          </a:xfrm>
          <a:prstGeom prst="rect">
            <a:avLst/>
          </a:prstGeom>
          <a:noFill/>
          <a:ln/>
        </p:spPr>
        <p:txBody>
          <a:bodyPr wrap="square" lIns="0" tIns="0" rIns="0" bIns="0" rtlCol="0" anchor="ctr"/>
          <a:lstStyle/>
          <a:p>
            <a:pPr indent="0" marL="0">
              <a:buNone/>
            </a:pPr>
            <a:r>
              <a:rPr lang="en-US" sz="950" spc="260" kern="0" dirty="0">
                <a:solidFill>
                  <a:srgbClr val="9A9A9A"/>
                </a:solidFill>
                <a:latin typeface="Pretendard" pitchFamily="34" charset="0"/>
                <a:ea typeface="Pretendard" pitchFamily="34" charset="-122"/>
                <a:cs typeface="Pretendard" pitchFamily="34" charset="-120"/>
              </a:rPr>
              <a:t>NEXT WEEK</a:t>
            </a:r>
            <a:endParaRPr lang="en-US" sz="950" dirty="0"/>
          </a:p>
        </p:txBody>
      </p:sp>
      <p:sp>
        <p:nvSpPr>
          <p:cNvPr id="23" name="Text 21"/>
          <p:cNvSpPr/>
          <p:nvPr/>
        </p:nvSpPr>
        <p:spPr>
          <a:xfrm>
            <a:off x="7735824" y="2286000"/>
            <a:ext cx="3431743" cy="402336"/>
          </a:xfrm>
          <a:prstGeom prst="rect">
            <a:avLst/>
          </a:prstGeom>
          <a:noFill/>
          <a:ln/>
        </p:spPr>
        <p:txBody>
          <a:bodyPr wrap="square" lIns="0" tIns="0" rIns="0" bIns="0" rtlCol="0" anchor="ctr"/>
          <a:lstStyle/>
          <a:p>
            <a:pPr indent="0" marL="0">
              <a:buNone/>
            </a:pPr>
            <a:r>
              <a:rPr lang="en-US" sz="2600" dirty="0">
                <a:solidFill>
                  <a:srgbClr val="FFFFFF"/>
                </a:solidFill>
                <a:latin typeface="Pretendard Light" pitchFamily="34" charset="0"/>
                <a:ea typeface="Pretendard Light" pitchFamily="34" charset="-122"/>
                <a:cs typeface="Pretendard Light" pitchFamily="34" charset="-120"/>
              </a:rPr>
              <a:t>08주차</a:t>
            </a:r>
            <a:endParaRPr lang="en-US" sz="2600" dirty="0"/>
          </a:p>
        </p:txBody>
      </p:sp>
      <p:sp>
        <p:nvSpPr>
          <p:cNvPr id="24" name="Text 22"/>
          <p:cNvSpPr/>
          <p:nvPr/>
        </p:nvSpPr>
        <p:spPr>
          <a:xfrm>
            <a:off x="7735824" y="2743200"/>
            <a:ext cx="3431743" cy="512064"/>
          </a:xfrm>
          <a:prstGeom prst="rect">
            <a:avLst/>
          </a:prstGeom>
          <a:noFill/>
          <a:ln/>
        </p:spPr>
        <p:txBody>
          <a:bodyPr wrap="square" lIns="0" tIns="0" rIns="0" bIns="0" rtlCol="0" anchor="t"/>
          <a:lstStyle/>
          <a:p>
            <a:pPr indent="0" marL="0">
              <a:lnSpc>
                <a:spcPct val="116000"/>
              </a:lnSpc>
              <a:buNone/>
            </a:pPr>
            <a:r>
              <a:rPr lang="en-US" sz="1700" dirty="0">
                <a:solidFill>
                  <a:srgbClr val="FFFFFF"/>
                </a:solidFill>
                <a:latin typeface="Pretendard SemiBold" pitchFamily="34" charset="0"/>
                <a:ea typeface="Pretendard SemiBold" pitchFamily="34" charset="-122"/>
                <a:cs typeface="Pretendard SemiBold" pitchFamily="34" charset="-120"/>
              </a:rPr>
              <a:t>프로포절 발표와 상호 리뷰</a:t>
            </a:r>
            <a:endParaRPr lang="en-US" sz="1700" dirty="0"/>
          </a:p>
        </p:txBody>
      </p:sp>
      <p:sp>
        <p:nvSpPr>
          <p:cNvPr id="25" name="Shape 23"/>
          <p:cNvSpPr/>
          <p:nvPr/>
        </p:nvSpPr>
        <p:spPr>
          <a:xfrm>
            <a:off x="7735824" y="3346704"/>
            <a:ext cx="3431743" cy="7315"/>
          </a:xfrm>
          <a:prstGeom prst="rect">
            <a:avLst/>
          </a:prstGeom>
          <a:solidFill>
            <a:srgbClr val="333333"/>
          </a:solidFill>
          <a:ln w="12700">
            <a:solidFill>
              <a:srgbClr val="333333"/>
            </a:solidFill>
            <a:prstDash val="solid"/>
          </a:ln>
        </p:spPr>
      </p:sp>
      <p:sp>
        <p:nvSpPr>
          <p:cNvPr id="26" name="Text 24"/>
          <p:cNvSpPr/>
          <p:nvPr/>
        </p:nvSpPr>
        <p:spPr>
          <a:xfrm>
            <a:off x="7735824" y="3493008"/>
            <a:ext cx="3431743" cy="1170432"/>
          </a:xfrm>
          <a:prstGeom prst="rect">
            <a:avLst/>
          </a:prstGeom>
          <a:noFill/>
          <a:ln/>
        </p:spPr>
        <p:txBody>
          <a:bodyPr wrap="square" lIns="0" tIns="0" rIns="0" bIns="0" rtlCol="0" anchor="t"/>
          <a:lstStyle/>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1인 발표와 질의</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동료 리뷰 — 질문 두 개씩</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여섯 절이 맞물리는지 함께 보기</a:t>
            </a:r>
            <a:endParaRPr lang="en-US" sz="1150" dirty="0"/>
          </a:p>
          <a:p>
            <a:pPr marL="177800" indent="-177800">
              <a:lnSpc>
                <a:spcPct val="120000"/>
              </a:lnSpc>
              <a:spcAft>
                <a:spcPts val="600"/>
              </a:spcAft>
              <a:buSzPct val="100000"/>
              <a:buChar char="•"/>
            </a:pPr>
            <a:r>
              <a:rPr lang="en-US" sz="1150" dirty="0">
                <a:solidFill>
                  <a:srgbClr val="DDDDDD"/>
                </a:solidFill>
                <a:latin typeface="Pretendard" pitchFamily="34" charset="0"/>
                <a:ea typeface="Pretendard" pitchFamily="34" charset="-122"/>
                <a:cs typeface="Pretendard" pitchFamily="34" charset="-120"/>
              </a:rPr>
              <a:t>학위 일정과 다음 단계</a:t>
            </a:r>
            <a:endParaRPr lang="en-US" sz="1150" dirty="0"/>
          </a:p>
        </p:txBody>
      </p:sp>
      <p:sp>
        <p:nvSpPr>
          <p:cNvPr id="27" name="Shape 25"/>
          <p:cNvSpPr/>
          <p:nvPr/>
        </p:nvSpPr>
        <p:spPr>
          <a:xfrm>
            <a:off x="7735824" y="4700016"/>
            <a:ext cx="3431743" cy="7315"/>
          </a:xfrm>
          <a:prstGeom prst="rect">
            <a:avLst/>
          </a:prstGeom>
          <a:solidFill>
            <a:srgbClr val="333333"/>
          </a:solidFill>
          <a:ln w="12700">
            <a:solidFill>
              <a:srgbClr val="333333"/>
            </a:solidFill>
            <a:prstDash val="solid"/>
          </a:ln>
        </p:spPr>
      </p:sp>
      <p:sp>
        <p:nvSpPr>
          <p:cNvPr id="28" name="Text 26"/>
          <p:cNvSpPr/>
          <p:nvPr/>
        </p:nvSpPr>
        <p:spPr>
          <a:xfrm>
            <a:off x="7735824" y="4809744"/>
            <a:ext cx="3431743" cy="237744"/>
          </a:xfrm>
          <a:prstGeom prst="rect">
            <a:avLst/>
          </a:prstGeom>
          <a:noFill/>
          <a:ln/>
        </p:spPr>
        <p:txBody>
          <a:bodyPr wrap="square" lIns="0" tIns="0" rIns="0" bIns="0" rtlCol="0" anchor="ctr"/>
          <a:lstStyle/>
          <a:p>
            <a:pPr indent="0" marL="0">
              <a:buNone/>
            </a:pPr>
            <a:r>
              <a:rPr lang="en-US" sz="900" spc="160" kern="0" dirty="0">
                <a:solidFill>
                  <a:srgbClr val="9B9B9B"/>
                </a:solidFill>
                <a:latin typeface="Pretendard" pitchFamily="34" charset="0"/>
                <a:ea typeface="Pretendard" pitchFamily="34" charset="-122"/>
                <a:cs typeface="Pretendard" pitchFamily="34" charset="-120"/>
              </a:rPr>
              <a:t>미리 준비할 것</a:t>
            </a:r>
            <a:endParaRPr lang="en-US" sz="900" dirty="0"/>
          </a:p>
        </p:txBody>
      </p:sp>
      <p:sp>
        <p:nvSpPr>
          <p:cNvPr id="29" name="Text 27"/>
          <p:cNvSpPr/>
          <p:nvPr/>
        </p:nvSpPr>
        <p:spPr>
          <a:xfrm>
            <a:off x="7735824" y="5065776"/>
            <a:ext cx="3431743" cy="457200"/>
          </a:xfrm>
          <a:prstGeom prst="rect">
            <a:avLst/>
          </a:prstGeom>
          <a:noFill/>
          <a:ln/>
        </p:spPr>
        <p:txBody>
          <a:bodyPr wrap="square" lIns="0" tIns="0" rIns="0" bIns="0" rtlCol="0" anchor="t"/>
          <a:lstStyle/>
          <a:p>
            <a:pPr indent="0" marL="0">
              <a:lnSpc>
                <a:spcPct val="120000"/>
              </a:lnSpc>
              <a:buNone/>
            </a:pPr>
            <a:r>
              <a:rPr lang="en-US" sz="1100" b="1" dirty="0">
                <a:solidFill>
                  <a:srgbClr val="FFFFFF"/>
                </a:solidFill>
                <a:latin typeface="Pretendard" pitchFamily="34" charset="0"/>
                <a:ea typeface="Pretendard" pitchFamily="34" charset="-122"/>
                <a:cs typeface="Pretendard" pitchFamily="34" charset="-120"/>
              </a:rPr>
              <a:t>프로포절 드래프트 48시간 전 공유 · 동료 질문 두 개씩</a:t>
            </a:r>
            <a:endParaRPr lang="en-US" sz="1100" dirty="0"/>
          </a:p>
        </p:txBody>
      </p:sp>
      <p:sp>
        <p:nvSpPr>
          <p:cNvPr id="30" name="Shape 28"/>
          <p:cNvSpPr/>
          <p:nvPr/>
        </p:nvSpPr>
        <p:spPr>
          <a:xfrm>
            <a:off x="640080" y="6291072"/>
            <a:ext cx="10911535" cy="7315"/>
          </a:xfrm>
          <a:prstGeom prst="rect">
            <a:avLst/>
          </a:prstGeom>
          <a:solidFill>
            <a:srgbClr val="DCDCDC"/>
          </a:solidFill>
          <a:ln w="12700">
            <a:solidFill>
              <a:srgbClr val="DCDCDC"/>
            </a:solidFill>
            <a:prstDash val="solid"/>
          </a:ln>
        </p:spPr>
      </p:sp>
      <p:sp>
        <p:nvSpPr>
          <p:cNvPr id="31" name="Text 29"/>
          <p:cNvSpPr/>
          <p:nvPr/>
        </p:nvSpPr>
        <p:spPr>
          <a:xfrm>
            <a:off x="640080" y="6382512"/>
            <a:ext cx="7772400" cy="237744"/>
          </a:xfrm>
          <a:prstGeom prst="rect">
            <a:avLst/>
          </a:prstGeom>
          <a:noFill/>
          <a:ln/>
        </p:spPr>
        <p:txBody>
          <a:bodyPr wrap="square" lIns="0" tIns="0" rIns="0" bIns="0" rtlCol="0" anchor="ctr"/>
          <a:lstStyle/>
          <a:p>
            <a:pPr indent="0" marL="0">
              <a:buNone/>
            </a:pPr>
            <a:r>
              <a:rPr lang="en-US" sz="850" spc="40" kern="0" dirty="0">
                <a:solidFill>
                  <a:srgbClr val="9B9B9B"/>
                </a:solidFill>
                <a:latin typeface="Pretendard" pitchFamily="34" charset="0"/>
                <a:ea typeface="Pretendard" pitchFamily="34" charset="-122"/>
                <a:cs typeface="Pretendard" pitchFamily="34" charset="-120"/>
              </a:rPr>
              <a:t>컨셉트와 프로세스 · 7주차 프로포절 쓰기 — 여섯 절을 채운다</a:t>
            </a:r>
            <a:endParaRPr lang="en-US" sz="850" dirty="0"/>
          </a:p>
        </p:txBody>
      </p:sp>
      <p:sp>
        <p:nvSpPr>
          <p:cNvPr id="32" name="Text 30"/>
          <p:cNvSpPr/>
          <p:nvPr/>
        </p:nvSpPr>
        <p:spPr>
          <a:xfrm>
            <a:off x="10271455" y="6382512"/>
            <a:ext cx="1280160" cy="237744"/>
          </a:xfrm>
          <a:prstGeom prst="rect">
            <a:avLst/>
          </a:prstGeom>
          <a:noFill/>
          <a:ln/>
        </p:spPr>
        <p:txBody>
          <a:bodyPr wrap="square" lIns="0" tIns="0" rIns="0" bIns="0" rtlCol="0" anchor="ctr"/>
          <a:lstStyle/>
          <a:p>
            <a:pPr algn="r" indent="0" marL="0">
              <a:buNone/>
            </a:pPr>
            <a:r>
              <a:rPr lang="en-US" sz="850" spc="140" kern="0" dirty="0">
                <a:solidFill>
                  <a:srgbClr val="9B9B9B"/>
                </a:solidFill>
                <a:latin typeface="Pretendard" pitchFamily="34" charset="0"/>
                <a:ea typeface="Pretendard" pitchFamily="34" charset="-122"/>
                <a:cs typeface="Pretendard" pitchFamily="34" charset="-120"/>
              </a:rPr>
              <a:t>P.13</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컨셉트와 프로세스 · 7주차 프로포절 쓰기 — 여섯 절을 채운다</dc:title>
  <dc:subject>원광대학교 2026-2 · 대학원 박사과정 · 주 3시간 × 15주 · 세미나형 · 연구 프로포절</dc:subject>
  <dc:creator>MIN.D</dc:creator>
  <cp:lastModifiedBy>MIN.D</cp:lastModifiedBy>
  <cp:revision>1</cp:revision>
  <dcterms:created xsi:type="dcterms:W3CDTF">2026-10-06T11:58:18Z</dcterms:created>
  <dcterms:modified xsi:type="dcterms:W3CDTF">2026-10-06T11:58:18Z</dcterms:modified>
</cp:coreProperties>
</file>