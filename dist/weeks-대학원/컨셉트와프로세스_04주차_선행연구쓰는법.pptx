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번째 시간입니다.
지난 회차에 프로포절 여섯 절을 봤습니다. 그중 네 절이 선행연구에서 나온다고 말씀드렸지요.
오늘은 그 이야기를 이어서 합니다.
먼저 과제를 읽고 느낀 것을 말씀드리겠습니다.
여러분 과제에 이런 문장이 있습니다. '관련 문헌을 근거로 검토한다.' '선행연구를 통해 확인한다.'
그런데 그 문헌이 없습니다. 한 편도 적혀 있지 않아요.
이게 게으름이 아닙니다. 찾는 일과 쓰는 일이 다른 일이기 때문입니다.
2회차에 찾는 법은 했습니다. 다섯 편 찾으셨지요. 그런데 찾은 다음에 그걸 어떻게 글로 옮기는지는 아무도 안 가르쳐 줍니다.
오늘 그걸 합니다.
논문 한 편에서 무엇을 꺼내는지, 꺼낸 것을 어디에 넣는지, 어떻게 인용하는지, 다섯 편을 어떻게 한 문단으로 묶는지.
오늘 끝나면 선행연구 절의 첫 문단을 쓸 수 있게 됩니다.
[운영 메모]
과제가 부실했다고 나무라는 자리로 만들지 말 것. '찾는 일과 쓰는 일은 다른 일이고 쓰는 법은 배운 적이 없다'로 틀을 잡으면 방어가 걷힌다. 과제에서 뽑은 '관련 문헌을 근거로' 같은 문장은 누구 것인지 말하지 않는다 — 두 분 다 썼으므로 지목이 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질문 하나 드리겠습니다.
지난 과제에 이런 문장이 있었습니다. '관련 문헌을 근거로 서술형으로 검토한다.'
좋은 문장이에요. 그런데 그 문헌이 어느 것인지 한 편도 적혀 있지 않았습니다.
다른 과제에는 '관련 연구들을 검토한다'가 있었고, 역시 참고문헌이 없었습니다.
두 분 다 2회차에 논문을 찾으셨어요. 그런데 글에는 안 들어왔습니다.
왜 그럴까요.
찾는 일과 쓰는 일이 다른 일이기 때문입니다. 그리고 쓰는 법은 아무도 안 가르쳐 줍니다.
오늘 그걸 합니다.
[운영 메모]
두 분 다 해당하므로 지목이 되지 않는다. 그래도 이름은 말하지 말 것. '순서를 배운 적이 없는 문제'라는 말을 분명히 해서 방어를 걷어낸다.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선행연구는 세 단계입니다.
찾기, 읽기, 쓰기.
첫 단계에서 멈추면 PDF 폴더만 생깁니다. 제목은 아는데 내용은 모르는 상태예요.
두 번째에서 멈추면 정리표만 생깁니다. 지난번에 만드신 그 표요. 표는 있는데 글은 없는 상태입니다.
지금 두 분이 여기 계십니다.
세 번째까지 가야 논문이 됩니다. 표의 내용이 문장이 되는 거예요.
오늘은 두 번째에서 세 번째로 넘어가는 자리입니다.
[운영 메모]
'지금 두 분이 두 번째에 계십니다'를 말할 것. 비난이 아니라 위치 확인이다. 대부분의 대학원생이 여기서 멈춘다는 사실도 함께 말하면 안심한다.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번째입니다.
논문 한 편을 읽고 나서 무엇을 적으시나요. 대부분 요약을 적으십니다.
요약은 쓸모가 없습니다. 요약은 그 논문의 것이지 내 것이 아니에요.
꺼낼 것이 정해져 있습니다. 네 가지입니다.
[운영 메모]
25분. 네 가지를 먼저 보고 실제 논문 한 편으로 적용해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가지입니다.
먼저 무엇을 물었나. 그 논문의 연구 질문이에요. 초록에 있고 서론 끝에 다시 나옵니다.
다음 무엇으로 쟀나. 측정 도구나 분석 틀입니다. 이게 제일 쓸모 있어요. 내가 빌려 쓸 수 있는 자리거든요.
설문 문항을 그대로 가져다 쓰실 수도 있습니다. 이미 검증된 문항이니까 새로 만드는 것보다 낫습니다.
다음 몇 개를 봤나. 표본 수와 대상이요. 내 연구를 몇 개로 할지 정할 때 근거가 됩니다. '선행연구가 40점을 봤으니 나도 그 정도면 된다' 이렇게 쓸 수 있어요.
마지막이 제일 중요합니다. 무엇이 남았나.
그 논문이 못 한 것입니다. 결론 끝에 보면 '본 연구의 한계는' 하는 문단이 있어요. 거기 적혀 있습니다.
남이 못 한 자리가 내 연구가 설 자리입니다. 이 칸이 비어 있으면 내 연구가 왜 필요한지 쓸 수 없어요.
[운영 메모]
둘째와 넷째에 시간을 쓸 것. 둘째는 '새로 만들지 않아도 된다'는 안도를 주고, 넷째는 연구의 필요성이 나오는 자리다. 한계 문단을 찾는 법을 실제 논문으로 한 번 보여 주면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실제로 해 보겠습니다. 지난 회차와 같은 전통시장 간판입니다.
왼쪽이 논문에 쓰여 있는 것이에요. 제목, 방법, 결과, 한계.
이걸 그대로 옮겨 적으면 소개가 됩니다. 소개는 내 글에 쓸 수 없어요.
오른쪽이 꺼낸 것입니다.
물었나 — 글자 크기가 읽는 속도에 영향을 주는가. 질문 형태로 바꿨습니다.
쟀나 — 사진을 보여 주고 읽기까지 걸린 시간을 초로 쟀습니다. 내 연구에서도 이 방법을 쓸 수 있어요.
봤나 — 방문객 40명. 그런데 사진이 몇 장인지는 안 적혀 있습니다. 이것도 적어 두세요. 없는 것을 아는 것도 정보입니다.
남았나 — 업종 구별을 못 했다고 그 논문이 직접 적어 놨습니다. 여기가 내가 들어갈 자리예요.
같은 논문인데 왼쪽은 남의 것이고 오른쪽은 제 재료가 됐습니다.
[운영 메모]
'사진 장수가 적혀 있지 않다'를 짚을 것. 없는 것을 적어 두는 습관이 나중에 자기 논문을 쓸 때 돌아온다. 오른쪽 넷째 줄에서 '여기가 내 자리'를 분명히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정리표를 채우실 때 두 가지 방식이 있습니다.
왼쪽이 옮겨 적기, 오른쪽이 읽고 적기입니다.
첫 줄. 왼쪽은 논문 문장을 그대로 붙여 넣습니다. 편하죠. 그런데 나중에 이게 내 말인지 남의 말인지 구분이 안 됩니다. 그대로 논문에 들어가면 표절이 돼요.
오른쪽은 내 말로 바꿔 쓰고 출처를 붙입니다.
둘째 줄. 쪽수입니다. 왼쪽은 '김○○(2019) 참조'로 끝냈어요. 오른쪽은 45쪽까지 적었습니다.
쪽수를 지금 안 적으면 나중에 논문 전체를 다시 뒤지셔야 합니다. 이게 정말 고통스러운 일이에요.
셋째 줄. 왼쪽은 '~라고 하였다'로 끝납니다. 남의 말만 있고 내 판단이 없어요. 오른쪽은 '~라고 했으나 업종은 보지 않았다'로 내 판단을 붙였습니다.
넷째 줄. 왼쪽은 요약만 있고 그걸 어디에 쓸지가 없습니다. 오른쪽은 '이 측정 방법을 내 연구에 빌린다'고 적었어요.
이 한 줄이 있으면 나중에 방법 절을 쓸 때 바로 꺼내 쓸 수 있습니다.
[운영 메모]
둘째 줄(쪽수)을 강조할 것. 이 한 칸이 나중에 집필 시간을 가장 많이 줄인다. 넷째 줄은 2회차 정리표의 다섯째 칸과 같은 자리다.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꺼낸 네 가지를 어디에 넣느냐.
많이들 선행연구 절에만 쓴다고 생각하십니다. 아닙니다. 여섯 절 중 네 절에 들어갑니다.
[운영 메모]
20분. 지난 회차 여섯 절을 다시 띄워 놓고 설명하면 연결이 분명해진다.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하나씩 보겠습니다.
'무엇이 남았나'는 문제 세우기로 갑니다. 남이 못 한 자리에서 내 문제가 나오니까요.
'무엇을 물었나'는 연구 질문으로 갑니다. 남의 질문 옆에 내 질문을 놓는 거예요. 그래야 내 질문이 새로운지 보입니다.
꺼낸 것 전부가 선행연구 절로 갑니다. 여기는 뒤에서 따로 보겠습니다.
'무엇으로 쟀나'와 '몇 개를 봤나'는 연구 방법으로 갑니다.
지난 과제에서 표본을 몇 개로 할지, 검증을 누가 할지 정하기 어려우셨지요. 선행연구에 답이 있습니다.
남들이 40점을 봤으면 나도 그 정도면 됩니다. 남들이 전문가 다섯 명에게 물었으면 나도 그렇게 하면 돼요.
혼자 정하려니까 못 정하시는 겁니다. 혼자 정하는 게 아닙니다.
[운영 메모]
넷째 줄이 지난 과제의 막힘을 푸는 자리다. '표본 수를 혼자 정하려니 못 정하는 것'을 분명히 말할 것. 선행연구가 근거가 된다는 것을 알면 과제가 풀린다.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선행연구 절을 쓸 때입니다.
왼쪽이 흔한 방식, 오른쪽이 쓰는 방식입니다.
첫 줄. 왼쪽은 김, 이, 박 순서로 한 편씩 씁니다. 다섯 편이면 다섯 문단이 되겠죠. 읽는 사람은 '그래서?'라고 묻게 됩니다.
오른쪽은 묶었습니다. 무엇을 쟀는가로 두 무리로 나눴어요.
둘째 줄. 왼쪽은 연도순입니다. 2019년부터 2024년까지 차례로. 연도순은 아무것도 설명하지 않아요.
오른쪽은 글자를 본 넷과 색을 본 하나로 나눴습니다. 숫자가 들어갔지요. 셌다는 뜻입니다.
셋째 줄. 왼쪽은 다섯 편을 다 소개하고 끝냅니다. 오른쪽은 '다섯 편 모두 업종은 보지 않았다'로 빈 자리를 가리켰어요.
묶지 않으면 이 문장을 쓸 수가 없습니다. 한 편씩 보면 빈 자리가 안 보이거든요.
넷째 줄이 마지막입니다. '그래서 이 연구는 색과 업종을 본다.'
이 문장이 없으면 선행연구 절이 떠 있게 됩니다.
[운영 메모]
7회차 EX-4 와 같은 자리지만 각도가 다르다. 거기서는 선행연구 절의 모양을, 여기서는 묶는 기준을 다룬다. '연도순은 아무것도 설명하지 않는다'를 분명히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인용이요. 형식 이야기부터 하면 지루하니까 쓰임부터 보겠습니다.
인용은 세 가지 일을 합니다.
그다음에 표절 이야기를 하겠습니다. 모르고 넘는 분들이 계세요.
[운영 메모]
25분. 인용의 쓰임 10분, 표절 경계 15분. 표절은 서두르지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인용은 세 가지 일을 합니다.
첫째, 근거로 씁니다. 내 주장을 받쳐 주는 자리예요. '간판의 글자 크기가 가독성에 영향을 준다고 알려져 있다. 괄호 김, 2019.' 이런 식입니다.
둘째, 빌려서 씁니다. 남의 측정 방법이나 분석 틀을 가져오는 거예요. '이 연구는 김의 측정 방법을 따른다.' 이게 제일 실용적입니다.
셋째, 반대해서 씁니다. 남과 다르게 보는 자리예요. '김은 글자만 보았으나 이 연구는 색을 함께 본다.'
세 번째가 중요합니다. 이게 없으면 내 연구가 왜 필요한지 설명이 안 돼요.
많은 분들이 첫 번째만 씁니다. 근거로만 쓰면 내 글이 남의 말 모음이 됩니다.
[운영 메모]
'근거로만 쓰면 남의 말 모음이 된다'를 말할 것. 세 번째가 비어 있는 것이 두 분 과제의 공통점이다.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표절 이야기입니다.
불편한 주제인데 반드시 하고 넘어가야 합니다. 모르고 넘는 분들이 계세요.
첫 줄. 남의 문장을 출처 없이 쓰면 표절입니다. 문장 끝에 저자와 연도를 붙이면 인용이고요. 이건 다 아실 겁니다.
둘째 줄. 원문 그대로 가져왔는데 따옴표가 없는 경우. 출처는 붙였어도 그대로 가져온 표시가 없으면 문제가 됩니다. 그대로 쓰실 거면 따옴표와 쪽수를 넣으세요.
셋째 줄이 많이 걸리는 자리입니다. 짜깁기요.
여러 논문에서 한 문장씩 가져와 이어 붙이면 한 문단이 되죠. 각각 출처를 붙여도 이건 내 글이 아닙니다. 묶은 다음에 내 문장으로 다시 쓰셔야 합니다.
넷째 줄. 번역입니다.
외국 논문을 번역해서 내 글로 쓰면 표절입니다. 번역했으니 내 문장이라고 생각하시면 안 돼요. 번역이어도 출처를 밝히셔야 합니다.
요즘은 검사 프로그램으로 다 잡힙니다. 번역도 잡혀요.
그런데 겁주려고 드리는 말씀이 아닙니다. 출처만 제대로 붙이면 되는 일이에요. 어려운 일이 아닙니다.
[운영 메모]
넷째 줄(번역)을 반드시 다룰 것. 외국에서 공부하신 분들은 기준이 다를 수 있고, 번역하면 내 문장이 된다고 생각하는 경우가 있다. 마지막에 '겁주려는 것이 아니다'를 꼭 붙여 위축되지 않게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마지막입니다.
지금까지 본 것을 한 문단으로 만들겠습니다.
네 문장이면 됩니다. 길게 쓰는 게 목적이 아니에요.
[운영 메모]
20분. 순서를 보이고 과제 틀로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단계입니다.
먼저 다섯 편을 두세 무리로 나눕니다. 기준은 무엇을 쟀는가예요. 연도가 아닙니다.
다음 무리마다 한 문장을 씁니다. 몇 편이 무엇을 다뤘는지. 숫자를 꼭 넣으세요. '여러 연구가'가 아니라 '네 편이'라고 쓰시는 겁니다.
다음 비어 있는 자리를 한 문장으로 씁니다. 다섯 편 모두 다루지 않은 것이 무엇인지.
이 문장을 쓰려면 아까 말씀드린 '무엇이 남았나' 칸이 채워져 있어야 합니다.
마지막으로 내 연구를 한 문장 붙입니다. '그래서 이 연구는'으로 시작하세요.
네 문장이면 한 문단이 됩니다. 이게 선행연구 절의 첫 문단이에요.
나중에 편수가 늘면 무리가 늘어날 뿐 구조는 같습니다.
[운영 메모]
셋째 단계에서 막히는 학생이 나온다. '무엇이 남았나' 칸이 비어 있기 때문이다. 그 경우 논문의 한계 문단을 다시 보라고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과제입니다.
왼쪽 네 칸을 채우시면 한 문단이 됩니다. 방금 본 순서 그대로예요.
무리 하나, 무리 둘, 빈 자리, 내 자리.
오른쪽은 함께 내실 것입니다.
정리표는 2회차에 만드신 것에 쪽수 칸을 더하세요. 그리고 '무엇이 남았나' 칸을 채우시고요.
인용 문장 다섯 개는 편마다 하나씩입니다. 쪽수를 꼭 붙이세요.
한 가지 말씀드릴게요. 다섯 편이 다 안 모이셨으면 세 편으로 먼저 해 보세요.
세 편으로 한 문단을 써 보시면 나머지 두 편을 왜 찾아야 하는지 알게 됩니다. 아무것도 안 내시는 것보다 낫습니다.
[운영 메모]
오른쪽 마지막 줄을 꼭 읽어 줄 것. 두 차례 연속 미룬 분들이라 완결을 요구하면 또 백지로 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과제 내시기 전에 이 여덟 줄을 보세요.
특히 첫 줄, 쪽수요. 지금 안 적으면 나중에 논문 전체를 다시 뒤지셔야 합니다.
셋째 줄도 보세요. 연도순으로 묶으셨으면 다시 하셔야 합니다.
다섯째 줄, '그래서 이 연구는'이 있는지. 이 문장이 없으면 선행연구를 왜 썼는지 알 수 없습니다.
마지막 줄도 중요합니다. 본문에서 말한 논문이 참고문헌에 다 있는지. 이게 안 맞으면 심사에서 바로 지적받습니다.
[운영 메모]
마지막 줄은 기계적인 확인이지만 심사에서 가장 자주 지적되는 자리다. 다음 회차 시작할 때 이 목록으로 한 번 훑으면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먼저 선행연구 한 문단. 오늘 본 네 칸을 이으시면 됩니다. 무리 하나, 무리 둘, 빈 자리, 내 자리.
열 줄 안쪽이면 충분합니다. 길게 쓰려고 하지 마세요.
둘째, 인용 문장 다섯 개. 편마다 하나씩이고 쪽수를 꼭 붙이세요.
나중에 논문 쓸 때 쪽수를 다시 찾는 일이 제일 고통스럽습니다. 지금 적어 두시면 그 일을 안 하셔도 됩니다.
셋째, 정리표 보완입니다. 2회차에 만드신 표에 쪽수 칸을 더하시고, '무엇이 남았나' 칸을 채우세요.
이 칸을 꼭 채우셔야 합니다. 여기가 비어 있으면 내 연구가 설 자리를 찾을 수 없어요.
한 가지 말씀드릴게요.
다섯 편이 다 안 모이셨어도 세 편으로 먼저 해 보세요. 세 편으로 한 문단을 써 보면 나머지 두 편을 왜 찾아야 하는지 알게 됩니다.
아무것도 안 내시는 것보다 세 편이 낫습니다.
2주 뒤에 뵙겠습니다.
[운영 메모]
'다섯 편이 안 모였으면 세 편으로'를 반드시 말할 것. 두 차례 연속 선행연구를 미룬 분들이라, 완결을 요구하면 또 백지로 온다. 쪽수 칸을 강조할 것 — 이 칸이 나중에 본문 집필 시간을 가장 많이 줄인다.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04</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04  ·  PHASE 3 정립</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선행연구 쓰는 법 — 다섯 편을 한 문단으로</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논문 한 편에서 네 가지를 꺼내고,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다섯 편을 한 문단으로 묶는 데까지 갑니다.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수업일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2026-11-04(수)</a:t>
            </a:r>
            <a:endParaRPr lang="en-US" sz="1200" dirty="0"/>
          </a:p>
        </p:txBody>
      </p:sp>
      <p:sp>
        <p:nvSpPr>
          <p:cNvPr id="18" name="Text 16"/>
          <p:cNvSpPr/>
          <p:nvPr/>
        </p:nvSpPr>
        <p:spPr>
          <a:xfrm>
            <a:off x="640080" y="5413248"/>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9" name="Text 17"/>
          <p:cNvSpPr/>
          <p:nvPr/>
        </p:nvSpPr>
        <p:spPr>
          <a:xfrm>
            <a:off x="1645920" y="5413248"/>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선행연구 한 문단 · 인용 문장 다섯 개 · 정리표 보완본</a:t>
            </a:r>
            <a:endParaRPr lang="en-US" sz="1200" dirty="0"/>
          </a:p>
        </p:txBody>
      </p:sp>
      <p:sp>
        <p:nvSpPr>
          <p:cNvPr id="20" name="Text 18"/>
          <p:cNvSpPr/>
          <p:nvPr/>
        </p:nvSpPr>
        <p:spPr>
          <a:xfrm>
            <a:off x="640080" y="5797296"/>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작성일</a:t>
            </a:r>
            <a:endParaRPr lang="en-US" sz="950" dirty="0"/>
          </a:p>
        </p:txBody>
      </p:sp>
      <p:sp>
        <p:nvSpPr>
          <p:cNvPr id="21" name="Text 19"/>
          <p:cNvSpPr/>
          <p:nvPr/>
        </p:nvSpPr>
        <p:spPr>
          <a:xfrm>
            <a:off x="1645920" y="5797296"/>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2026-10-20</a:t>
            </a:r>
            <a:endParaRPr lang="en-US" sz="1200" dirty="0"/>
          </a:p>
        </p:txBody>
      </p:sp>
      <p:sp>
        <p:nvSpPr>
          <p:cNvPr id="22" name="Text 20"/>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다섯 편을 찾으셨는데</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글에는 왜 한 편도 없습니까.</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과제에 '관련 문헌을 근거로 검토한다'는 문장은 있고, 그 문헌은 없습니다. 찾은 논문이 글로 넘어오지 않은 것입니다. 이것은 성실함의 문제가 아니라 순서를 배운 적이 없는 문제입니다. 찾는 일은 검색으로 끝나지만, 쓰는 일은 한 편에서 무엇을 꺼내 어느 자리에 넣을지 정해야 끝납니다. 오늘 그 순서를 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STAGE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어디서 멈추는가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대부분 두 번째에서 멈춥니다. 표는 논문이 아닙니다.</a:t>
            </a:r>
            <a:endParaRPr lang="en-US" sz="1150" dirty="0"/>
          </a:p>
        </p:txBody>
      </p:sp>
      <p:sp>
        <p:nvSpPr>
          <p:cNvPr id="9" name="Shape 7"/>
          <p:cNvSpPr/>
          <p:nvPr/>
        </p:nvSpPr>
        <p:spPr>
          <a:xfrm>
            <a:off x="640080" y="1737360"/>
            <a:ext cx="3393338" cy="3621024"/>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찾기</a:t>
            </a:r>
            <a:endParaRPr lang="en-US" sz="1700" dirty="0"/>
          </a:p>
        </p:txBody>
      </p:sp>
      <p:sp>
        <p:nvSpPr>
          <p:cNvPr id="13" name="Text 11"/>
          <p:cNvSpPr/>
          <p:nvPr/>
        </p:nvSpPr>
        <p:spPr>
          <a:xfrm>
            <a:off x="1024128"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검색해서 논문을 모읍니다. 2회차에 한 일입니다.</a:t>
            </a:r>
            <a:endParaRPr lang="en-US" sz="1150" dirty="0"/>
          </a:p>
        </p:txBody>
      </p:sp>
      <p:sp>
        <p:nvSpPr>
          <p:cNvPr id="14" name="Text 12"/>
          <p:cNvSpPr/>
          <p:nvPr/>
        </p:nvSpPr>
        <p:spPr>
          <a:xfrm>
            <a:off x="1024128"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여기서 멈추면</a:t>
            </a:r>
            <a:endParaRPr lang="en-US" sz="850" dirty="0"/>
          </a:p>
        </p:txBody>
      </p:sp>
      <p:sp>
        <p:nvSpPr>
          <p:cNvPr id="15" name="Text 13"/>
          <p:cNvSpPr/>
          <p:nvPr/>
        </p:nvSpPr>
        <p:spPr>
          <a:xfrm>
            <a:off x="1024128"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제목만 아는 상태</a:t>
            </a:r>
            <a:endParaRPr lang="en-US" sz="1200" dirty="0"/>
          </a:p>
        </p:txBody>
      </p:sp>
      <p:sp>
        <p:nvSpPr>
          <p:cNvPr id="16" name="Shape 14"/>
          <p:cNvSpPr/>
          <p:nvPr/>
        </p:nvSpPr>
        <p:spPr>
          <a:xfrm>
            <a:off x="4399178" y="1737360"/>
            <a:ext cx="3393338" cy="3621024"/>
          </a:xfrm>
          <a:prstGeom prst="rect">
            <a:avLst/>
          </a:prstGeom>
          <a:solidFill>
            <a:srgbClr val="111111"/>
          </a:solidFill>
          <a:ln w="12700">
            <a:solidFill>
              <a:srgbClr val="111111"/>
            </a:solidFill>
            <a:prstDash val="solid"/>
          </a:ln>
        </p:spPr>
      </p:sp>
      <p:sp>
        <p:nvSpPr>
          <p:cNvPr id="17" name="Shape 15"/>
          <p:cNvSpPr/>
          <p:nvPr/>
        </p:nvSpPr>
        <p:spPr>
          <a:xfrm>
            <a:off x="4783226" y="2011680"/>
            <a:ext cx="365760" cy="365760"/>
          </a:xfrm>
          <a:prstGeom prst="ellipse">
            <a:avLst/>
          </a:prstGeom>
          <a:solidFill>
            <a:srgbClr val="111111"/>
          </a:solidFill>
          <a:ln w="12700">
            <a:solidFill>
              <a:srgbClr val="FFFFFF"/>
            </a:solidFill>
            <a:prstDash val="solid"/>
          </a:ln>
        </p:spPr>
      </p:sp>
      <p:sp>
        <p:nvSpPr>
          <p:cNvPr id="18" name="Text 16"/>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2</a:t>
            </a:r>
            <a:endParaRPr lang="en-US" sz="1150" dirty="0"/>
          </a:p>
        </p:txBody>
      </p:sp>
      <p:sp>
        <p:nvSpPr>
          <p:cNvPr id="19" name="Text 17"/>
          <p:cNvSpPr/>
          <p:nvPr/>
        </p:nvSpPr>
        <p:spPr>
          <a:xfrm>
            <a:off x="4783226"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읽기</a:t>
            </a:r>
            <a:endParaRPr lang="en-US" sz="1700" dirty="0"/>
          </a:p>
        </p:txBody>
      </p:sp>
      <p:sp>
        <p:nvSpPr>
          <p:cNvPr id="20" name="Text 18"/>
          <p:cNvSpPr/>
          <p:nvPr/>
        </p:nvSpPr>
        <p:spPr>
          <a:xfrm>
            <a:off x="4783226"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읽고 정리표를 채웁니다. 서지 · 문제 · 방법 · 결과.</a:t>
            </a:r>
            <a:endParaRPr lang="en-US" sz="1150" dirty="0"/>
          </a:p>
        </p:txBody>
      </p:sp>
      <p:sp>
        <p:nvSpPr>
          <p:cNvPr id="21" name="Text 19"/>
          <p:cNvSpPr/>
          <p:nvPr/>
        </p:nvSpPr>
        <p:spPr>
          <a:xfrm>
            <a:off x="4783226" y="4553712"/>
            <a:ext cx="2625242" cy="219456"/>
          </a:xfrm>
          <a:prstGeom prst="rect">
            <a:avLst/>
          </a:prstGeom>
          <a:noFill/>
          <a:ln/>
        </p:spPr>
        <p:txBody>
          <a:bodyPr wrap="square" lIns="0" tIns="0" rIns="0" bIns="0" rtlCol="0" anchor="ctr"/>
          <a:lstStyle/>
          <a:p>
            <a:pPr indent="0" marL="0">
              <a:buNone/>
            </a:pPr>
            <a:r>
              <a:rPr lang="en-US" sz="850" spc="140" kern="0" dirty="0">
                <a:solidFill>
                  <a:srgbClr val="B8B8B8"/>
                </a:solidFill>
                <a:latin typeface="Pretendard" pitchFamily="34" charset="0"/>
                <a:ea typeface="Pretendard" pitchFamily="34" charset="-122"/>
                <a:cs typeface="Pretendard" pitchFamily="34" charset="-120"/>
              </a:rPr>
              <a:t>여기서 멈추면</a:t>
            </a:r>
            <a:endParaRPr lang="en-US" sz="850" dirty="0"/>
          </a:p>
        </p:txBody>
      </p:sp>
      <p:sp>
        <p:nvSpPr>
          <p:cNvPr id="22" name="Text 20"/>
          <p:cNvSpPr/>
          <p:nvPr/>
        </p:nvSpPr>
        <p:spPr>
          <a:xfrm>
            <a:off x="4783226" y="4773168"/>
            <a:ext cx="2625242" cy="274320"/>
          </a:xfrm>
          <a:prstGeom prst="rect">
            <a:avLst/>
          </a:prstGeom>
          <a:noFill/>
          <a:ln/>
        </p:spPr>
        <p:txBody>
          <a:bodyPr wrap="square" lIns="0" tIns="0" rIns="0" bIns="0" rtlCol="0" anchor="ctr"/>
          <a:lstStyle/>
          <a:p>
            <a:pPr indent="0" marL="0">
              <a:buNone/>
            </a:pPr>
            <a:r>
              <a:rPr lang="en-US" sz="1200" dirty="0">
                <a:solidFill>
                  <a:srgbClr val="FFFFFF"/>
                </a:solidFill>
                <a:latin typeface="Pretendard SemiBold" pitchFamily="34" charset="0"/>
                <a:ea typeface="Pretendard SemiBold" pitchFamily="34" charset="-122"/>
                <a:cs typeface="Pretendard SemiBold" pitchFamily="34" charset="-120"/>
              </a:rPr>
              <a:t>표만 있는 상태</a:t>
            </a:r>
            <a:endParaRPr lang="en-US" sz="1200" dirty="0"/>
          </a:p>
        </p:txBody>
      </p:sp>
      <p:sp>
        <p:nvSpPr>
          <p:cNvPr id="23" name="Shape 21"/>
          <p:cNvSpPr/>
          <p:nvPr/>
        </p:nvSpPr>
        <p:spPr>
          <a:xfrm>
            <a:off x="8158277" y="1737360"/>
            <a:ext cx="3393338" cy="3621024"/>
          </a:xfrm>
          <a:prstGeom prst="rect">
            <a:avLst/>
          </a:prstGeom>
          <a:solidFill>
            <a:srgbClr val="FFFFFF"/>
          </a:solidFill>
          <a:ln w="12700">
            <a:solidFill>
              <a:srgbClr val="DCDCDC"/>
            </a:solidFill>
            <a:prstDash val="solid"/>
          </a:ln>
        </p:spPr>
      </p:sp>
      <p:sp>
        <p:nvSpPr>
          <p:cNvPr id="24" name="Shape 22"/>
          <p:cNvSpPr/>
          <p:nvPr/>
        </p:nvSpPr>
        <p:spPr>
          <a:xfrm>
            <a:off x="8542325" y="2011680"/>
            <a:ext cx="365760" cy="365760"/>
          </a:xfrm>
          <a:prstGeom prst="ellipse">
            <a:avLst/>
          </a:prstGeom>
          <a:solidFill>
            <a:srgbClr val="FFFFFF"/>
          </a:solidFill>
          <a:ln w="12700">
            <a:solidFill>
              <a:srgbClr val="111111"/>
            </a:solidFill>
            <a:prstDash val="solid"/>
          </a:ln>
        </p:spPr>
      </p:sp>
      <p:sp>
        <p:nvSpPr>
          <p:cNvPr id="25" name="Text 23"/>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3</a:t>
            </a:r>
            <a:endParaRPr lang="en-US" sz="1150" dirty="0"/>
          </a:p>
        </p:txBody>
      </p:sp>
      <p:sp>
        <p:nvSpPr>
          <p:cNvPr id="26" name="Text 24"/>
          <p:cNvSpPr/>
          <p:nvPr/>
        </p:nvSpPr>
        <p:spPr>
          <a:xfrm>
            <a:off x="8542325"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쓰기</a:t>
            </a:r>
            <a:endParaRPr lang="en-US" sz="1700" dirty="0"/>
          </a:p>
        </p:txBody>
      </p:sp>
      <p:sp>
        <p:nvSpPr>
          <p:cNvPr id="27" name="Text 25"/>
          <p:cNvSpPr/>
          <p:nvPr/>
        </p:nvSpPr>
        <p:spPr>
          <a:xfrm>
            <a:off x="8542325"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표의 내용이 내 글의 문장이 됩니다. 오늘 하는 일입니다.</a:t>
            </a:r>
            <a:endParaRPr lang="en-US" sz="1150" dirty="0"/>
          </a:p>
        </p:txBody>
      </p:sp>
      <p:sp>
        <p:nvSpPr>
          <p:cNvPr id="28" name="Text 26"/>
          <p:cNvSpPr/>
          <p:nvPr/>
        </p:nvSpPr>
        <p:spPr>
          <a:xfrm>
            <a:off x="8542325"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여기까지 가야</a:t>
            </a:r>
            <a:endParaRPr lang="en-US" sz="850" dirty="0"/>
          </a:p>
        </p:txBody>
      </p:sp>
      <p:sp>
        <p:nvSpPr>
          <p:cNvPr id="29" name="Text 27"/>
          <p:cNvSpPr/>
          <p:nvPr/>
        </p:nvSpPr>
        <p:spPr>
          <a:xfrm>
            <a:off x="8542325"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논문이 됩니다</a:t>
            </a:r>
            <a:endParaRPr lang="en-US" sz="12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한 편에서 무엇을 꺼내는가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요약하지 않습니다. 꺼낼 것이 넷으로 정해져 있습니다.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EXTRACT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논문에서 꺼내는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요약하지 않습니다. 이 넷만 꺼냅니다.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물었나</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그 논문의 연구 질문입니다. 초록에 있고 서론 끝에 다시 나옵니다.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무엇으로 쟀나</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측정 도구나 분석 틀입니다. 내가 빌려 쓸 수 있는 자리입니다. 검증된 설문 문항은 그대로 가져다 쓸 수 있습니다.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몇 개를 봤나</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표본 수와 대상입니다. 내 연구의 규모를 정할 때 근거가 됩니다.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무엇이 남았나</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그 논문이 못 한 것입니다. 결론 끝의 한계 문단에 적혀 있습니다.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넷째가 제일 중요합니다. 남이 못 한 자리가 내 연구가 설 자리입니다.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논문 한 편 뜯어보기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논문인데 왼쪽은 소개이고 오른쪽은 재료입니다.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논문에 쓰여 있는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제목 — 전통시장 간판의 가독성에 관한 연구</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방법 — 방문객 40명에게 간판 사진을 보여 주고 읽는 시간을 측정</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결과 — 글자가 클수록 읽는 시간이 짧았다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한계 — 업종을 구분하는 문제는 다루지 못했다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내가 꺼내는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물었나 — 글자 크기가 읽는 속도에 영향을 주는가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쟀나 — 사진을 보여 준 뒤 읽기까지 걸린 시간(초)</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봤나 — 방문객 40명. 사진 장수는 적혀 있지 않음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남았나 — 업종 구별. 내 연구가 설 자리</a:t>
            </a:r>
            <a:endParaRPr lang="en-US" sz="1200" dirty="0"/>
          </a:p>
        </p:txBody>
      </p:sp>
      <p:sp>
        <p:nvSpPr>
          <p:cNvPr id="17" name="Shape 15"/>
          <p:cNvSpPr/>
          <p:nvPr/>
        </p:nvSpPr>
        <p:spPr>
          <a:xfrm>
            <a:off x="640080" y="6291072"/>
            <a:ext cx="10911535" cy="7315"/>
          </a:xfrm>
          <a:prstGeom prst="rect">
            <a:avLst/>
          </a:prstGeom>
          <a:solidFill>
            <a:srgbClr val="DCDCDC"/>
          </a:solidFill>
          <a:ln w="12700">
            <a:solidFill>
              <a:srgbClr val="DCDCDC"/>
            </a:solidFill>
            <a:prstDash val="solid"/>
          </a:ln>
        </p:spPr>
      </p:sp>
      <p:sp>
        <p:nvSpPr>
          <p:cNvPr id="18" name="Text 1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19" name="Text 1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옮겨 적기와 읽고 적기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정리표를 채울 때 이미 글이 시작됩니다. 옮겨 적으면 나중에 다시 써야 합니다.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옮겨 적기</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읽고 적기</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원문 그대로</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논문 문장을 그대로 붙여 넣음</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원문 그대로</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내 말로 바꿔 쓰고 출처를 붙임</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쪽수 없음</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김○○(2019) 참조</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쪽수 없음</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김○○(2019, 45쪽)</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판단 없음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~라고 하였다 로 끝남</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판단 없음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~라고 했으나 업종은 보지 않았다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쓸 자리 없음</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요약만 있고 쓰임이 없음</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쓸 자리 없음</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이 측정 방법을 내 연구에 빌린다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내 말로 바꿔 쓰고 출처를 붙이면 인용이고, 그대로 붙여 넣고 출처를 빼면 표절입니다.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꺼낸 것이 어느 절로 가는가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선행연구는 선행연구 절에만 쓰는 것이 아닙니다.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MAP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네 가지가 들어가는 자리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선행연구는 여섯 절 중 네 절에 들어갑니다.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무엇이 남았나 → 문제 세우기</a:t>
            </a:r>
            <a:endParaRPr lang="en-US" sz="1450" dirty="0"/>
          </a:p>
        </p:txBody>
      </p:sp>
      <p:sp>
        <p:nvSpPr>
          <p:cNvPr id="13" name="Text 11"/>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남이 못 한 자리에서 내 문제가 나옵니다</a:t>
            </a:r>
            <a:endParaRPr lang="en-US" sz="1100" dirty="0"/>
          </a:p>
        </p:txBody>
      </p:sp>
      <p:sp>
        <p:nvSpPr>
          <p:cNvPr id="14" name="Shape 12"/>
          <p:cNvSpPr/>
          <p:nvPr/>
        </p:nvSpPr>
        <p:spPr>
          <a:xfrm>
            <a:off x="640080" y="2670048"/>
            <a:ext cx="10911535" cy="7315"/>
          </a:xfrm>
          <a:prstGeom prst="rect">
            <a:avLst/>
          </a:prstGeom>
          <a:solidFill>
            <a:srgbClr val="DCDCDC"/>
          </a:solidFill>
          <a:ln w="12700">
            <a:solidFill>
              <a:srgbClr val="DCDCDC"/>
            </a:solidFill>
            <a:prstDash val="solid"/>
          </a:ln>
        </p:spPr>
      </p:sp>
      <p:sp>
        <p:nvSpPr>
          <p:cNvPr id="15" name="Shape 13"/>
          <p:cNvSpPr/>
          <p:nvPr/>
        </p:nvSpPr>
        <p:spPr>
          <a:xfrm>
            <a:off x="640080" y="2834640"/>
            <a:ext cx="310896" cy="310896"/>
          </a:xfrm>
          <a:prstGeom prst="ellipse">
            <a:avLst/>
          </a:prstGeom>
          <a:solidFill>
            <a:srgbClr val="FFFFFF"/>
          </a:solidFill>
          <a:ln w="12700">
            <a:solidFill>
              <a:srgbClr val="111111"/>
            </a:solidFill>
            <a:prstDash val="solid"/>
          </a:ln>
        </p:spPr>
      </p:sp>
      <p:sp>
        <p:nvSpPr>
          <p:cNvPr id="16" name="Text 14"/>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7" name="Text 15"/>
          <p:cNvSpPr/>
          <p:nvPr/>
        </p:nvSpPr>
        <p:spPr>
          <a:xfrm>
            <a:off x="1188720" y="27432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물었나 → 연구 질문</a:t>
            </a:r>
            <a:endParaRPr lang="en-US" sz="1450" dirty="0"/>
          </a:p>
        </p:txBody>
      </p:sp>
      <p:sp>
        <p:nvSpPr>
          <p:cNvPr id="18" name="Text 16"/>
          <p:cNvSpPr/>
          <p:nvPr/>
        </p:nvSpPr>
        <p:spPr>
          <a:xfrm>
            <a:off x="1188720" y="30540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남의 질문 옆에 내 질문을 놓아야 새로운지 보입니다</a:t>
            </a:r>
            <a:endParaRPr lang="en-US" sz="1100" dirty="0"/>
          </a:p>
        </p:txBody>
      </p:sp>
      <p:sp>
        <p:nvSpPr>
          <p:cNvPr id="19" name="Shape 17"/>
          <p:cNvSpPr/>
          <p:nvPr/>
        </p:nvSpPr>
        <p:spPr>
          <a:xfrm>
            <a:off x="640080" y="3694176"/>
            <a:ext cx="10911535" cy="7315"/>
          </a:xfrm>
          <a:prstGeom prst="rect">
            <a:avLst/>
          </a:prstGeom>
          <a:solidFill>
            <a:srgbClr val="DCDCDC"/>
          </a:solidFill>
          <a:ln w="12700">
            <a:solidFill>
              <a:srgbClr val="DCDCDC"/>
            </a:solidFill>
            <a:prstDash val="solid"/>
          </a:ln>
        </p:spPr>
      </p:sp>
      <p:sp>
        <p:nvSpPr>
          <p:cNvPr id="20" name="Shape 18"/>
          <p:cNvSpPr/>
          <p:nvPr/>
        </p:nvSpPr>
        <p:spPr>
          <a:xfrm>
            <a:off x="640080" y="3858768"/>
            <a:ext cx="310896" cy="310896"/>
          </a:xfrm>
          <a:prstGeom prst="ellipse">
            <a:avLst/>
          </a:prstGeom>
          <a:solidFill>
            <a:srgbClr val="FFFFFF"/>
          </a:solidFill>
          <a:ln w="12700">
            <a:solidFill>
              <a:srgbClr val="111111"/>
            </a:solidFill>
            <a:prstDash val="solid"/>
          </a:ln>
        </p:spPr>
      </p:sp>
      <p:sp>
        <p:nvSpPr>
          <p:cNvPr id="21" name="Text 19"/>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2" name="Text 20"/>
          <p:cNvSpPr/>
          <p:nvPr/>
        </p:nvSpPr>
        <p:spPr>
          <a:xfrm>
            <a:off x="1188720" y="376732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꺼낸 것 전부 → 선행연구</a:t>
            </a:r>
            <a:endParaRPr lang="en-US" sz="1450" dirty="0"/>
          </a:p>
        </p:txBody>
      </p:sp>
      <p:sp>
        <p:nvSpPr>
          <p:cNvPr id="23" name="Text 21"/>
          <p:cNvSpPr/>
          <p:nvPr/>
        </p:nvSpPr>
        <p:spPr>
          <a:xfrm>
            <a:off x="1188720" y="407822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다섯 편을 한 문단으로 묶는 자리입니다</a:t>
            </a:r>
            <a:endParaRPr lang="en-US" sz="1100" dirty="0"/>
          </a:p>
        </p:txBody>
      </p:sp>
      <p:sp>
        <p:nvSpPr>
          <p:cNvPr id="24" name="Shape 22"/>
          <p:cNvSpPr/>
          <p:nvPr/>
        </p:nvSpPr>
        <p:spPr>
          <a:xfrm>
            <a:off x="640080" y="4718304"/>
            <a:ext cx="10911535" cy="7315"/>
          </a:xfrm>
          <a:prstGeom prst="rect">
            <a:avLst/>
          </a:prstGeom>
          <a:solidFill>
            <a:srgbClr val="DCDCDC"/>
          </a:solidFill>
          <a:ln w="12700">
            <a:solidFill>
              <a:srgbClr val="DCDCDC"/>
            </a:solidFill>
            <a:prstDash val="solid"/>
          </a:ln>
        </p:spPr>
      </p:sp>
      <p:sp>
        <p:nvSpPr>
          <p:cNvPr id="25" name="Shape 23"/>
          <p:cNvSpPr/>
          <p:nvPr/>
        </p:nvSpPr>
        <p:spPr>
          <a:xfrm>
            <a:off x="640080" y="4882896"/>
            <a:ext cx="310896" cy="310896"/>
          </a:xfrm>
          <a:prstGeom prst="ellipse">
            <a:avLst/>
          </a:prstGeom>
          <a:solidFill>
            <a:srgbClr val="FFFFFF"/>
          </a:solidFill>
          <a:ln w="12700">
            <a:solidFill>
              <a:srgbClr val="111111"/>
            </a:solidFill>
            <a:prstDash val="solid"/>
          </a:ln>
        </p:spPr>
      </p:sp>
      <p:sp>
        <p:nvSpPr>
          <p:cNvPr id="26" name="Text 24"/>
          <p:cNvSpPr/>
          <p:nvPr/>
        </p:nvSpPr>
        <p:spPr>
          <a:xfrm>
            <a:off x="640080" y="48828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7" name="Text 25"/>
          <p:cNvSpPr/>
          <p:nvPr/>
        </p:nvSpPr>
        <p:spPr>
          <a:xfrm>
            <a:off x="1188720" y="4791456"/>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무엇으로 쟀나 · 몇 개를 봤나 → 연구 방법</a:t>
            </a:r>
            <a:endParaRPr lang="en-US" sz="1450" dirty="0"/>
          </a:p>
        </p:txBody>
      </p:sp>
      <p:sp>
        <p:nvSpPr>
          <p:cNvPr id="28" name="Text 26"/>
          <p:cNvSpPr/>
          <p:nvPr/>
        </p:nvSpPr>
        <p:spPr>
          <a:xfrm>
            <a:off x="1188720" y="5102352"/>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측정과 규모를 여기서 빌립니다. 혼자 정하지 않습니다</a:t>
            </a:r>
            <a:endParaRPr lang="en-US" sz="1100" dirty="0"/>
          </a:p>
        </p:txBody>
      </p:sp>
      <p:sp>
        <p:nvSpPr>
          <p:cNvPr id="29" name="Shape 27"/>
          <p:cNvSpPr/>
          <p:nvPr/>
        </p:nvSpPr>
        <p:spPr>
          <a:xfrm>
            <a:off x="640080" y="6291072"/>
            <a:ext cx="10911535" cy="7315"/>
          </a:xfrm>
          <a:prstGeom prst="rect">
            <a:avLst/>
          </a:prstGeom>
          <a:solidFill>
            <a:srgbClr val="DCDCDC"/>
          </a:solidFill>
          <a:ln w="12700">
            <a:solidFill>
              <a:srgbClr val="DCDCDC"/>
            </a:solidFill>
            <a:prstDash val="solid"/>
          </a:ln>
        </p:spPr>
      </p:sp>
      <p:sp>
        <p:nvSpPr>
          <p:cNvPr id="30" name="Text 2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31" name="Text 2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EX-3</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다섯 편을 묶는 법</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묶는 기준은 연도가 아니라 무엇을 쟀는가입니다.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편마다 한 문단</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기준으로 묶기</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묶는 기준 없음</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김, 이, 박 순서로 한 편씩</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묶는 기준 없음</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무엇을 쟀는가로 두 무리로 나눔</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연도순 나열</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2019년부터 2024년까지 차례로</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연도순 나열</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글자를 본 넷과 색을 본 하나로</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빈 자리 안 보임</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편을 다 소개하고 끝</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빈 자리 안 보임</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다섯 편 모두 업종은 보지 않았다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내 연구 없음</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선행연구만 쓰고 넘어감</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내 연구 없음</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그래서 이 연구는 색과 업종을 본다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기준이 있어야 빈 자리가 보입니다. 한 편씩 보면 무엇이 비었는지 알 수 없습니다.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인용하는 법</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어디까지가 남의 말이고 어디부터가 내 말인지 표시합니다.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USE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인용이 하는 세 가지 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번째가 비어 있으면 내 연구가 왜 필요한지 설명되지 않습니다.</a:t>
            </a:r>
            <a:endParaRPr lang="en-US" sz="1150" dirty="0"/>
          </a:p>
        </p:txBody>
      </p:sp>
      <p:sp>
        <p:nvSpPr>
          <p:cNvPr id="9" name="Shape 7"/>
          <p:cNvSpPr/>
          <p:nvPr/>
        </p:nvSpPr>
        <p:spPr>
          <a:xfrm>
            <a:off x="640080" y="1737360"/>
            <a:ext cx="3393338" cy="3621024"/>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근거로</a:t>
            </a:r>
            <a:endParaRPr lang="en-US" sz="1700" dirty="0"/>
          </a:p>
        </p:txBody>
      </p:sp>
      <p:sp>
        <p:nvSpPr>
          <p:cNvPr id="13" name="Text 11"/>
          <p:cNvSpPr/>
          <p:nvPr/>
        </p:nvSpPr>
        <p:spPr>
          <a:xfrm>
            <a:off x="1024128"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내 주장을 받쳐 주는 자리입니다. 이미 알려진 사실을 가져옵니다.</a:t>
            </a:r>
            <a:endParaRPr lang="en-US" sz="1150" dirty="0"/>
          </a:p>
        </p:txBody>
      </p:sp>
      <p:sp>
        <p:nvSpPr>
          <p:cNvPr id="14" name="Text 12"/>
          <p:cNvSpPr/>
          <p:nvPr/>
        </p:nvSpPr>
        <p:spPr>
          <a:xfrm>
            <a:off x="1024128"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쓰는 말</a:t>
            </a:r>
            <a:endParaRPr lang="en-US" sz="850" dirty="0"/>
          </a:p>
        </p:txBody>
      </p:sp>
      <p:sp>
        <p:nvSpPr>
          <p:cNvPr id="15" name="Text 13"/>
          <p:cNvSpPr/>
          <p:nvPr/>
        </p:nvSpPr>
        <p:spPr>
          <a:xfrm>
            <a:off x="1024128"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~로 알려져 있다(김, 2019)</a:t>
            </a:r>
            <a:endParaRPr lang="en-US" sz="1200" dirty="0"/>
          </a:p>
        </p:txBody>
      </p:sp>
      <p:sp>
        <p:nvSpPr>
          <p:cNvPr id="16" name="Shape 14"/>
          <p:cNvSpPr/>
          <p:nvPr/>
        </p:nvSpPr>
        <p:spPr>
          <a:xfrm>
            <a:off x="4399178" y="1737360"/>
            <a:ext cx="3393338" cy="3621024"/>
          </a:xfrm>
          <a:prstGeom prst="rect">
            <a:avLst/>
          </a:prstGeom>
          <a:solidFill>
            <a:srgbClr val="FFFFFF"/>
          </a:solidFill>
          <a:ln w="12700">
            <a:solidFill>
              <a:srgbClr val="DCDCDC"/>
            </a:solidFill>
            <a:prstDash val="solid"/>
          </a:ln>
        </p:spPr>
      </p:sp>
      <p:sp>
        <p:nvSpPr>
          <p:cNvPr id="17" name="Shape 15"/>
          <p:cNvSpPr/>
          <p:nvPr/>
        </p:nvSpPr>
        <p:spPr>
          <a:xfrm>
            <a:off x="4783226" y="2011680"/>
            <a:ext cx="365760" cy="365760"/>
          </a:xfrm>
          <a:prstGeom prst="ellipse">
            <a:avLst/>
          </a:prstGeom>
          <a:solidFill>
            <a:srgbClr val="FFFFFF"/>
          </a:solidFill>
          <a:ln w="12700">
            <a:solidFill>
              <a:srgbClr val="111111"/>
            </a:solidFill>
            <a:prstDash val="solid"/>
          </a:ln>
        </p:spPr>
      </p:sp>
      <p:sp>
        <p:nvSpPr>
          <p:cNvPr id="18" name="Text 16"/>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9" name="Text 17"/>
          <p:cNvSpPr/>
          <p:nvPr/>
        </p:nvSpPr>
        <p:spPr>
          <a:xfrm>
            <a:off x="4783226"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빌려서</a:t>
            </a:r>
            <a:endParaRPr lang="en-US" sz="1700" dirty="0"/>
          </a:p>
        </p:txBody>
      </p:sp>
      <p:sp>
        <p:nvSpPr>
          <p:cNvPr id="20" name="Text 18"/>
          <p:cNvSpPr/>
          <p:nvPr/>
        </p:nvSpPr>
        <p:spPr>
          <a:xfrm>
            <a:off x="4783226"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남의 측정 방법이나 분석 틀을 가져옵니다. 가장 실용적인 쓰임입니다.</a:t>
            </a:r>
            <a:endParaRPr lang="en-US" sz="1150" dirty="0"/>
          </a:p>
        </p:txBody>
      </p:sp>
      <p:sp>
        <p:nvSpPr>
          <p:cNvPr id="21" name="Text 19"/>
          <p:cNvSpPr/>
          <p:nvPr/>
        </p:nvSpPr>
        <p:spPr>
          <a:xfrm>
            <a:off x="4783226"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쓰는 말</a:t>
            </a:r>
            <a:endParaRPr lang="en-US" sz="850" dirty="0"/>
          </a:p>
        </p:txBody>
      </p:sp>
      <p:sp>
        <p:nvSpPr>
          <p:cNvPr id="22" name="Text 20"/>
          <p:cNvSpPr/>
          <p:nvPr/>
        </p:nvSpPr>
        <p:spPr>
          <a:xfrm>
            <a:off x="4783226"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김(2019)의 측정을 따른다</a:t>
            </a:r>
            <a:endParaRPr lang="en-US" sz="1200" dirty="0"/>
          </a:p>
        </p:txBody>
      </p:sp>
      <p:sp>
        <p:nvSpPr>
          <p:cNvPr id="23" name="Shape 21"/>
          <p:cNvSpPr/>
          <p:nvPr/>
        </p:nvSpPr>
        <p:spPr>
          <a:xfrm>
            <a:off x="8158277" y="1737360"/>
            <a:ext cx="3393338" cy="3621024"/>
          </a:xfrm>
          <a:prstGeom prst="rect">
            <a:avLst/>
          </a:prstGeom>
          <a:solidFill>
            <a:srgbClr val="111111"/>
          </a:solidFill>
          <a:ln w="12700">
            <a:solidFill>
              <a:srgbClr val="111111"/>
            </a:solidFill>
            <a:prstDash val="solid"/>
          </a:ln>
        </p:spPr>
      </p:sp>
      <p:sp>
        <p:nvSpPr>
          <p:cNvPr id="24" name="Shape 22"/>
          <p:cNvSpPr/>
          <p:nvPr/>
        </p:nvSpPr>
        <p:spPr>
          <a:xfrm>
            <a:off x="8542325" y="2011680"/>
            <a:ext cx="365760" cy="365760"/>
          </a:xfrm>
          <a:prstGeom prst="ellipse">
            <a:avLst/>
          </a:prstGeom>
          <a:solidFill>
            <a:srgbClr val="111111"/>
          </a:solidFill>
          <a:ln w="12700">
            <a:solidFill>
              <a:srgbClr val="FFFFFF"/>
            </a:solidFill>
            <a:prstDash val="solid"/>
          </a:ln>
        </p:spPr>
      </p:sp>
      <p:sp>
        <p:nvSpPr>
          <p:cNvPr id="25" name="Text 23"/>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6" name="Text 24"/>
          <p:cNvSpPr/>
          <p:nvPr/>
        </p:nvSpPr>
        <p:spPr>
          <a:xfrm>
            <a:off x="8542325"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반대해서</a:t>
            </a:r>
            <a:endParaRPr lang="en-US" sz="1700" dirty="0"/>
          </a:p>
        </p:txBody>
      </p:sp>
      <p:sp>
        <p:nvSpPr>
          <p:cNvPr id="27" name="Text 25"/>
          <p:cNvSpPr/>
          <p:nvPr/>
        </p:nvSpPr>
        <p:spPr>
          <a:xfrm>
            <a:off x="8542325"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남과 다르게 보는 자리입니다. 내 연구의 필요성이 여기서 나옵니다.</a:t>
            </a:r>
            <a:endParaRPr lang="en-US" sz="1150" dirty="0"/>
          </a:p>
        </p:txBody>
      </p:sp>
      <p:sp>
        <p:nvSpPr>
          <p:cNvPr id="28" name="Text 26"/>
          <p:cNvSpPr/>
          <p:nvPr/>
        </p:nvSpPr>
        <p:spPr>
          <a:xfrm>
            <a:off x="8542325" y="4553712"/>
            <a:ext cx="2625242" cy="219456"/>
          </a:xfrm>
          <a:prstGeom prst="rect">
            <a:avLst/>
          </a:prstGeom>
          <a:noFill/>
          <a:ln/>
        </p:spPr>
        <p:txBody>
          <a:bodyPr wrap="square" lIns="0" tIns="0" rIns="0" bIns="0" rtlCol="0" anchor="ctr"/>
          <a:lstStyle/>
          <a:p>
            <a:pPr indent="0" marL="0">
              <a:buNone/>
            </a:pPr>
            <a:r>
              <a:rPr lang="en-US" sz="850" spc="140" kern="0" dirty="0">
                <a:solidFill>
                  <a:srgbClr val="B8B8B8"/>
                </a:solidFill>
                <a:latin typeface="Pretendard" pitchFamily="34" charset="0"/>
                <a:ea typeface="Pretendard" pitchFamily="34" charset="-122"/>
                <a:cs typeface="Pretendard" pitchFamily="34" charset="-120"/>
              </a:rPr>
              <a:t>쓰는 말</a:t>
            </a:r>
            <a:endParaRPr lang="en-US" sz="850" dirty="0"/>
          </a:p>
        </p:txBody>
      </p:sp>
      <p:sp>
        <p:nvSpPr>
          <p:cNvPr id="29" name="Text 27"/>
          <p:cNvSpPr/>
          <p:nvPr/>
        </p:nvSpPr>
        <p:spPr>
          <a:xfrm>
            <a:off x="8542325" y="4773168"/>
            <a:ext cx="2625242" cy="274320"/>
          </a:xfrm>
          <a:prstGeom prst="rect">
            <a:avLst/>
          </a:prstGeom>
          <a:noFill/>
          <a:ln/>
        </p:spPr>
        <p:txBody>
          <a:bodyPr wrap="square" lIns="0" tIns="0" rIns="0" bIns="0" rtlCol="0" anchor="ctr"/>
          <a:lstStyle/>
          <a:p>
            <a:pPr indent="0" marL="0">
              <a:buNone/>
            </a:pPr>
            <a:r>
              <a:rPr lang="en-US" sz="1200" dirty="0">
                <a:solidFill>
                  <a:srgbClr val="FFFFFF"/>
                </a:solidFill>
                <a:latin typeface="Pretendard SemiBold" pitchFamily="34" charset="0"/>
                <a:ea typeface="Pretendard SemiBold" pitchFamily="34" charset="-122"/>
                <a:cs typeface="Pretendard SemiBold" pitchFamily="34" charset="-120"/>
              </a:rPr>
              <a:t>김(2019)은 ~했으나 이 연구는</a:t>
            </a:r>
            <a:endParaRPr lang="en-US" sz="12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EX-4</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인용과 표절의 경계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그대로 쓰면 따옴표와 쪽수, 내 말로 바꾸면 출처만. 둘 다 출처는 들어갑니다.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표절이 됩니다</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인용이 됩니다</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출처 없음</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남의 문장을 출처 없이 씀</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출처 없음</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문장 끝에 (저자, 연도)를 붙임</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따옴표 없음</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원문 그대로인데 표시가 없음</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따옴표 없음</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따옴표와 쪽수를 함께 넣음</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짜깁기</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여러 논문을 이어 붙여 한 문단</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짜깁기</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묶은 뒤 내 문장으로 다시 씀</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번역</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외국 논문을 번역해 내 글로</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번역</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번역이어도 출처를 밝힘</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겁내실 일이 아닙니다. 출처를 붙이면 되는 일입니다.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04</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한 문단으로 쓰기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네 문장이면 선행연구 절의 첫 문단이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WRITE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한 문단 만드는 순서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네 문장이면 한 문단이 됩니다. 길게 쓰지 않습니다.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다섯 편을 두세 무리로 나눈다</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기준은 무엇을 쟀는가입니다. 연도가 아닙니다.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무리마다 한 문장을 쓴다</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몇 편이 무엇을 다뤘는지 숫자를 넣습니다. '여러 연구가'가 아니라 '네 편이'라고 씁니다.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빈 자리를 한 문장으로 쓴다</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다섯 편 모두 다루지 않은 것이 무엇인지 적습니다.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내 연구를 한 문장 붙인다</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'그래서 이 연구는'으로 시작합니다. 이 문장이 없으면 절이 떠 있게 됩니다.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편수가 늘면 무리가 늘어날 뿐 구조는 같습니다. 지금 네 문장을 만들어 두십시오.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TASK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 — 한 문단 채우기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과제로 씁니다. 오늘은 채우는 법만 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채울 네 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무리 1 — 몇 편이 무엇을 다뤘는가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무리 2 — 몇 편이 무엇을 다뤘는가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빈 자리 — 다섯 편 모두 다루지 않은 것</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자리 — 그래서 이 연구는 무엇을 보는가</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함께 내는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정리표 — 2회차 여섯 칸에 쪽수 칸을 더합니다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인용 문장 다섯 개 — 편마다 하나씩, 쪽수를 붙여서</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한 문단 — 왼쪽 네 칸을 이은 것. 열 줄 안쪽</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다섯 편이 안 모였으면 세 편으로 먼저 하십시오</a:t>
            </a:r>
            <a:endParaRPr lang="en-US" sz="1200" dirty="0"/>
          </a:p>
        </p:txBody>
      </p:sp>
      <p:sp>
        <p:nvSpPr>
          <p:cNvPr id="17" name="Shape 15"/>
          <p:cNvSpPr/>
          <p:nvPr/>
        </p:nvSpPr>
        <p:spPr>
          <a:xfrm>
            <a:off x="640080" y="6291072"/>
            <a:ext cx="10911535" cy="7315"/>
          </a:xfrm>
          <a:prstGeom prst="rect">
            <a:avLst/>
          </a:prstGeom>
          <a:solidFill>
            <a:srgbClr val="DCDCDC"/>
          </a:solidFill>
          <a:ln w="12700">
            <a:solidFill>
              <a:srgbClr val="DCDCDC"/>
            </a:solidFill>
            <a:prstDash val="solid"/>
          </a:ln>
        </p:spPr>
      </p:sp>
      <p:sp>
        <p:nvSpPr>
          <p:cNvPr id="18" name="Text 1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19" name="Text 1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CHECK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과제를 내기 전에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여덟 줄을 보고 내십시오.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다섯 편의 서지에 쪽수가 들어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편마다 '무엇이 남았나'를 한 줄로 적었다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다섯 편을 연도가 아니라 '무엇을 쟀는가'로 묶었다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무리마다 몇 편인지 숫자를 넣었다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'그래서 이 연구는'으로 시작하는 문장이 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인용한 문장마다 저자와 연도가 붙어 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그대로 옮긴 문장에는 따옴표와 쪽수가 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본문에서 언급한 논문이 참고문헌 목록에 모두 있다</a:t>
            </a:r>
            <a:endParaRPr lang="en-US" sz="120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5회차에는 각자 쓴 한 문단을 놓고 봅니다.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선행연구 한 문단</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본 네 칸을 이어 한 문단으로 만듭니다. 무리 1 · 무리 2 · 빈 자리 · 내 자리. 열 줄 안쪽이면 됩니다. 길게 쓰는 것이 목적이 아닙니다.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인용 문장 다섯 개</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편마다 하나씩, 쪽수를 붙여서 적습니다. 그대로 옮긴 것은 따옴표를, 내 말로 바꾼 것은 출처만 붙입니다.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정리표 보완</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2회차 여섯 칸에 쪽수 칸을 더합니다. 그리고 '무엇이 남았나' 칸을 편마다 한 줄로 채웁니다. 이 칸이 비어 있으면 빈 자리를 찾을 수 없습니다.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5회차 세션 48시간 전까지 · 공유 폴더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05주차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연구 방법 고르기</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내 질문에 맞는 방법은 무엇인가</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선행연구에서 방법을 빌리는 법</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양적과 질적 — 고르는 기준</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각자 쓴 한 문단 함께 보기</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선행연구 한 문단 · 인용 문장 다섯 개 · 정리표 보완본</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4주차 선행연구 쓰는 법 — 다섯 편을 한 문단으로</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4주차 선행연구 쓰는 법 — 다섯 편을 한 문단으로</dc:title>
  <dc:subject>원광대학교 2026-2 · 대학원 박사과정 · 주 3시간 × 15주 · 세미나형 · 연구 프로포절</dc:subject>
  <dc:creator>MIN.D</dc:creator>
  <cp:lastModifiedBy>MIN.D</cp:lastModifiedBy>
  <cp:revision>1</cp:revision>
  <dcterms:created xsi:type="dcterms:W3CDTF">2026-10-20T10:41:37Z</dcterms:created>
  <dcterms:modified xsi:type="dcterms:W3CDTF">2026-10-20T10:41:37Z</dcterms:modified>
</cp:coreProperties>
</file>