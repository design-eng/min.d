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네 번째 시간입니다.
지난 회차에 프로포절 여섯 절을 봤습니다. 그중 네 절이 선행연구에서 나온다고 말씀드렸지요.
오늘은 그 이야기를 이어서 합니다.
먼저 과제를 읽고 느낀 것을 말씀드리겠습니다.
여러분 과제에 이런 문장이 있습니다. '관련 문헌을 근거로 검토한다.' '선행연구를 통해 확인한다.'
그런데 그 문헌이 없습니다. 한 편도 적혀 있지 않아요.
이게 게으름이 아닙니다. 찾는 일과 쓰는 일이 다른 일이기 때문입니다.
2회차에 찾는 법은 했습니다. 다섯 편 찾으셨지요. 그런데 찾은 다음에 그걸 어떻게 글로 옮기는지는 아무도 안 가르쳐 줍니다.
오늘 그걸 합니다.
논문 한 편에서 무엇을 꺼내는지, 꺼낸 것을 어디에 넣는지, 어떻게 인용하는지, 다섯 편을 어떻게 한 문단으로 묶는지.
오늘 끝나면 선행연구 절의 첫 문단을 쓸 수 있게 됩니다.
[운영 메모]
과제가 부실했다고 나무라는 자리로 만들지 말 것. '찾는 일과 쓰는 일은 다른 일이고 쓰는 법은 배운 적이 없다'로 틀을 잡으면 방어가 걷힌다. 과제에서 뽑은 '관련 문헌을 근거로' 같은 문장은 누구 것인지 말하지 않는다 — 두 분 다 썼으므로 지목이 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질문 하나 드리겠습니다.
지난 과제에 이런 문장이 있었습니다. '관련 문헌을 근거로 서술형으로 검토한다.'
좋은 문장이에요. 그런데 그 문헌이 어느 것인지 한 편도 적혀 있지 않았습니다.
다른 과제에는 '관련 연구들을 검토한다'가 있었고, 역시 참고문헌이 없었습니다.
두 분 다 2회차에 논문을 찾으셨어요. 그런데 글에는 안 들어왔습니다.
왜 그럴까요.
찾는 일과 쓰는 일이 다른 일이기 때문입니다. 그리고 쓰는 법은 아무도 안 가르쳐 줍니다.
오늘 그걸 합니다.
[운영 메모]
두 분 다 해당하므로 지목이 되지 않는다. 그래도 이름은 말하지 말 것. '순서를 배운 적이 없는 문제'라는 말을 분명히 해서 방어를 걷어낸다.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선행연구는 세 단계입니다.
찾기, 읽기, 쓰기.
첫 단계에서 멈추면 PDF 폴더만 생깁니다. 제목은 아는데 내용은 모르는 상태예요.
두 번째에서 멈추면 정리표만 생깁니다. 지난번에 만드신 그 표요. 표는 있는데 글은 없는 상태입니다.
지금 두 분이 여기 계십니다.
세 번째까지 가야 논문이 됩니다. 표의 내용이 문장이 되는 거예요.
오늘은 두 번째에서 세 번째로 넘어가는 시간입니다.
[운영 메모]
'지금 두 분이 두 번째에 계십니다'를 말할 것. 비난이 아니라 위치 확인이다. 대부분의 대학원생이 여기서 멈춘다는 사실도 함께 말하면 안심한다.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첫 번째입니다.
논문 한 편을 읽고 나서 무엇을 적으시나요. 대부분 요약을 적으십니다.
요약은 쓸모가 없습니다. 요약은 그 논문의 것이지 내 것이 아니에요.
꺼낼 것이 정해져 있습니다. 네 가지입니다.
[운영 메모]
25분. 네 가지를 먼저 보고 실제 논문 한 편으로 적용해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네 가지입니다.
먼저 무엇을 물었나. 그 논문의 연구 질문이에요. 초록에 있고 서론 끝에 다시 나옵니다.
다음 무엇으로 쟀나. 그 사람이 어떤 방법으로 쟀는지입니다. 이게 제일 쓸모 있어요. 내가 빌려 쓸 수 있는 자리거든요.
설문 문항을 그대로 가져다 쓰실 수도 있습니다. 여러 연구가 써 온 문항이니까 새로 만드는 것보다 낫습니다.
다음 몇 개를 봤나. 몇 개를 봤고 누구한테 물었는지요. 내 연구를 몇 개로 할지 정할 때 근거가 됩니다. '선행연구가 40점을 봤으니 나도 그 정도면 된다' 이렇게 쓸 수 있어요.
마지막이 제일 중요합니다. 무엇이 남았나.
그 논문이 못 한 것입니다. 결론 끝에 보면 '본 연구의 한계는' 하는 문단이 있어요. 거기 적혀 있습니다.
남이 못 한 것이 내가 할 일입니다. 이 칸이 비어 있으면 내 연구가 왜 필요한지 쓸 수 없어요.
[운영 메모]
둘째와 넷째에 시간을 쓸 것. 둘째는 '새로 만들지 않아도 된다'는 안도를 주고, 넷째는 연구의 필요성이 나오는 자리다. 한계 문단을 찾는 법을 실제 논문으로 한 번 보여 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실제로 해 보겠습니다. 지난 회차와 같은 전통시장 간판입니다.
왼쪽이 논문에 쓰여 있는 것이에요. 제목, 방법, 결과, 한계.
이걸 그대로 옮겨 적으면 소개가 됩니다. 소개는 내 글에 쓸 수 없어요.
오른쪽이 꺼낸 것입니다.
물었나 — 글자가 크면 더 빨리 읽나. 질문 형태로 바꿨습니다.
쟀나 — 사진을 보여 주고 읽기까지 걸린 시간을 초로 쟀습니다. 내 연구에서도 이 방법을 쓸 수 있어요.
봤나 — 방문객 40명. 그런데 사진이 몇 장인지는 안 적혀 있습니다. 이것도 적어 두세요. 없는 것을 아는 것도 정보입니다.
남았나 — 업종 구별을 못 했다고 그 논문이 직접 적어 놨습니다. 여기가 내가 할 일이에요.
같은 논문인데 왼쪽은 남의 것이고 오른쪽은 제 재료가 됐습니다.
[운영 메모]
'사진 장수가 적혀 있지 않다'를 짚을 것. 없는 것을 적어 두는 습관이 나중에 자기 논문을 쓸 때 돌아온다. 오른쪽 넷째 줄에서 '여기가 내 자리'를 분명히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정리표를 채우실 때 두 가지 방식이 있습니다.
왼쪽이 옮겨 적기, 오른쪽이 읽고 적기입니다.
첫 줄. 왼쪽은 논문 문장을 그대로 붙여 넣습니다. 편하죠. 그런데 나중에 이게 내 말인지 남의 말인지 구분이 안 됩니다. 그대로 논문에 들어가면 표절이 돼요.
오른쪽은 내 말로 바꿔 쓰고 출처를 붙입니다.
둘째 줄. 쪽수입니다. 왼쪽은 '김○○(2019) 참조'로 끝냈어요. 오른쪽은 45쪽까지 적었습니다.
쪽수를 지금 안 적으면 나중에 논문 전체를 다시 뒤지셔야 합니다. 이게 정말 고통스러운 일이에요.
셋째 줄. 왼쪽은 '~라고 하였다'로 끝납니다. 남의 말만 있고 내 판단이 없어요. 오른쪽은 '~라고 했으나 업종은 보지 않았다'로 내 판단을 붙였습니다.
넷째 줄. 왼쪽은 요약만 있고 그걸 어디에 쓸지가 없습니다. 오른쪽은 '이 방법을 내 연구에 빌린다'고 적었어요.
이 한 줄이 있으면 나중에 방법 절을 쓸 때 바로 꺼내 쓸 수 있습니다.
[운영 메모]
둘째 줄(쪽수)을 강조할 것. 이 한 칸이 나중에 집필 시간을 가장 많이 줄인다. 넷째 줄은 2회차 정리표의 다섯째 칸과 같은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두 번째입니다.
꺼낸 네 가지를 어디에 넣느냐.
많이들 선행연구 절에만 쓴다고 생각하십니다. 아닙니다. 여섯 절 중 네 절에 들어갑니다.
[운영 메모]
20분. 지난 회차 여섯 절을 다시 띄워 놓고 설명하면 연결이 분명해진다.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하나씩 보겠습니다.
'무엇이 남았나'는 문제 세우기로 갑니다. 남이 못 한 것에서 내 문제가 나오니까요.
'무엇을 물었나'는 연구 질문으로 갑니다. 남의 질문 옆에 내 질문을 놓는 거예요. 그래야 내 질문이 새로운지 보입니다.
꺼낸 것 전부가 선행연구 절로 갑니다. 여기는 뒤에서 따로 보겠습니다.
'무엇으로 쟀나'와 '몇 개를 봤나'는 연구 방법으로 갑니다.
지난 과제에서 표본을 몇 개로 할지, 검증을 누가 할지 정하기 어려우셨지요. 선행연구에 답이 있습니다.
남들이 40점을 봤으면 나도 그 정도면 됩니다. 남들이 전문가 다섯 명에게 물었으면 나도 그렇게 하면 돼요.
혼자 정하려니까 못 정하시는 겁니다. 혼자 정하는 게 아닙니다.
[운영 메모]
넷째 줄이 지난 과제의 막힘을 푸는 자리다. '표본 수를 혼자 정하려니 못 정하는 것'을 분명히 말할 것. 선행연구가 근거가 된다는 것을 알면 과제가 풀린다.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선행연구 절을 쓸 때입니다.
왼쪽이 흔한 방식, 오른쪽이 쓰는 방식입니다.
첫 줄. 왼쪽은 김, 이, 박 순서로 한 편씩 씁니다. 다섯 편이면 다섯 문단이 되겠죠. 읽는 사람은 '그래서?'라고 묻게 됩니다.
오른쪽은 묶었습니다. 무엇을 쟀는지로 두 묶음으로 나눴어요.
둘째 줄. 왼쪽은 연도순입니다. 2019년부터 2024년까지 차례로. 연도순은 아무것도 설명하지 않아요.
오른쪽은 글자를 본 넷과 색을 본 하나로 나눴습니다. 숫자가 들어갔지요. 셌다는 뜻입니다.
셋째 줄. 왼쪽은 다섯 편을 다 소개하고 끝냅니다. 오른쪽은 '다섯 편 모두 업종은 보지 않았다'로 빠진 것을 짚었어요.
묶지 않으면 이 문장을 쓸 수가 없습니다. 한 편씩 보면 빠진 것이 안 보이거든요.
넷째 줄이 마지막입니다. '그래서 이 연구는 색과 업종을 본다.'
이 문장이 없으면 선행연구 절이 떠 있게 됩니다.
[운영 메모]
7회차 EX-4 와 같은 자리지만 각도가 다르다. 거기서는 선행연구 절의 모양을, 여기서는 묶는 기준을 다룬다. '연도순은 아무것도 설명하지 않는다'를 분명히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세 번째입니다.
인용이요. 형식 이야기부터 하면 지루하니까 쓰임부터 보겠습니다.
인용은 세 가지 일을 합니다.
그다음에 표절 이야기를 하겠습니다. 모르고 넘는 분들이 계세요.
[운영 메모]
25분. 인용의 쓰임 10분, 표절 경계 15분. 표절은 서두르지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인용은 세 가지 일을 합니다.
첫째, 근거로 씁니다. 내 주장을 받쳐 주는 자리예요. '간판의 글자 크기가 가독성에 영향을 준다고 알려져 있다. 괄호 김, 2019.' 이런 식입니다.
둘째, 빌려서 씁니다. 남이 쓴 재는 방법을 가져오는 거예요. '이 연구는 김의 측정 방법을 따른다.' 이게 제일 쓸모가 많습니다.
셋째, 반대해서 씁니다. 남과 다르게 보는 자리예요. '김은 글자만 보았으나 이 연구는 색을 함께 본다.'
세 번째가 중요합니다. 이게 없으면 내 연구를 왜 하는지 말할 수가 없어요.
많은 분들이 첫 번째만 씁니다. 근거로만 쓰면 내 글이 남의 말 모음이 됩니다.
[운영 메모]
'근거로만 쓰면 남의 말 모음이 된다'를 말할 것. 세 번째가 비어 있는 것이 두 분 과제의 공통점이다.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표절 이야기입니다.
불편한 주제인데 반드시 하고 넘어가야 합니다. 모르고 넘는 분들이 계세요.
첫 줄. 남의 문장을 출처 없이 쓰면 표절입니다. 문장 끝에 저자와 연도를 붙이면 인용이고요. 이건 다 아실 겁니다.
둘째 줄. 원문 그대로 가져왔는데 따옴표가 없는 경우. 출처는 붙였어도 그대로 가져온 표시가 없으면 문제가 됩니다. 그대로 쓰실 거면 따옴표와 쪽수를 넣으세요.
셋째 줄이 많이 걸리는 자리입니다. 짜깁기요.
여러 논문에서 한 문장씩 가져와 이어 붙이면 한 문단이 되죠. 각각 출처를 붙여도 이건 내 글이 아닙니다. 묶은 다음에 내 문장으로 다시 쓰셔야 합니다.
넷째 줄. 번역입니다.
외국 논문을 번역해서 내 글로 쓰면 표절입니다. 번역했으니 내 문장이라고 생각하시면 안 돼요. 번역이어도 출처를 밝히셔야 합니다.
요즘은 검사 프로그램으로 다 잡힙니다. 번역도 잡혀요.
그런데 겁주려고 드리는 말씀이 아닙니다. 출처만 제대로 붙이면 되는 일이에요. 어려운 일이 아닙니다.
[운영 메모]
넷째 줄(번역)을 반드시 다룰 것. 외국에서 공부하신 분들은 기준이 다를 수 있고, 번역하면 내 문장이 된다고 생각하는 경우가 있다. 마지막에 '겁주려는 것이 아니다'를 꼭 붙여 위축되지 않게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마지막입니다.
지금까지 본 것을 한 문단으로 만들겠습니다.
네 문장이면 됩니다. 길게 쓰는 게 목적이 아니에요.
[운영 메모]
20분. 순서를 보이고 과제 틀로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네 단계입니다.
먼저 다섯 편을 두세 묶음으로 나눕니다. 무엇을 쟀는지로 나누는 거예요. 연도로 나누지 않습니다.
다음 묶음마다 한 문장을 씁니다. 몇 편이 무엇을 다뤘는지. 숫자를 꼭 넣으세요. '여러 연구가'가 아니라 '네 편이'라고 쓰시는 겁니다.
다음 빠진 것을 한 문장으로 씁니다. 다섯 편 모두 다루지 않은 것이 무엇인지.
이 문장을 쓰려면 아까 말씀드린 '무엇이 남았나' 칸이 채워져 있어야 합니다.
마지막으로 내 연구를 한 문장 붙입니다. '그래서 이 연구는'으로 시작하세요.
네 문장이면 한 문단이 됩니다. 이게 선행연구 절의 첫 문단이에요.
나중에 편수가 늘면 묶음이 늘어날 뿐 쓰는 법은 같습니다.
[운영 메모]
셋째 단계에서 막히는 학생이 나온다. '무엇이 남았나' 칸이 비어 있기 때문이다. 그 경우 논문의 한계 문단을 다시 보라고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과제입니다.
왼쪽 네 칸을 채우시면 한 문단이 됩니다. 방금 본 순서 그대로예요.
묶음 하나, 묶음 둘, 빠진 것, 내 연구.
오른쪽은 함께 내실 것입니다.
정리표는 2회차에 만드신 것에 쪽수 칸을 더하세요. 그리고 '무엇이 남았나' 칸을 채우시고요.
인용 문장 다섯 개는 편마다 하나씩입니다. 쪽수를 꼭 붙이세요.
한 가지 말씀드릴게요. 다섯 편이 다 안 모이셨으면 세 편으로 먼저 해 보세요.
세 편으로 한 문단을 써 보시면 나머지 두 편을 왜 찾아야 하는지 알게 됩니다. 아무것도 안 내시는 것보다 낫습니다.
[운영 메모]
오른쪽 마지막 줄을 꼭 읽어 줄 것. 두 차례 연속 미룬 분들이라 완결을 요구하면 또 백지로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과제 내시기 전에 이 여덟 줄을 보세요.
특히 첫 줄, 쪽수요. 지금 안 적으면 나중에 논문 전체를 다시 뒤지셔야 합니다.
셋째 줄도 보세요. 연도순으로 묶으셨으면 다시 하셔야 합니다.
다섯째 줄, '그래서 이 연구는'이 있는지. 이 문장이 없으면 선행연구를 왜 썼는지 알 수 없습니다.
마지막 줄도 중요합니다. 본문에서 말한 논문이 참고문헌에 다 있는지. 이게 안 맞으면 심사에서 바로 지적받습니다.
[운영 메모]
마지막 줄은 기계적인 확인이지만 심사에서 가장 자주 지적되는 자리다. 다음 회차 시작할 때 이 목록으로 한 번 훑으면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정리하겠습니다.
과제 세 가지입니다.
먼저 선행연구 한 문단. 오늘 본 네 칸을 이으시면 됩니다. 묶음 하나, 묶음 둘, 빠진 것, 내 연구.
열 줄 안쪽이면 충분합니다. 길게 쓰려고 하지 마세요.
둘째, 인용 문장 다섯 개. 편마다 하나씩이고 쪽수를 꼭 붙이세요.
나중에 논문 쓸 때 쪽수를 다시 찾는 일이 제일 고통스럽습니다. 지금 적어 두시면 그 일을 안 하셔도 됩니다.
셋째, 정리표 보완입니다. 2회차에 만드신 표에 쪽수 칸을 더하시고, '무엇이 남았나' 칸을 채우세요.
이 칸을 꼭 채우셔야 합니다. 여기가 비어 있으면 내가 무엇을 할지 찾을 수 없어요.
한 가지 말씀드릴게요.
다섯 편이 다 안 모이셨어도 세 편으로 먼저 해 보세요. 세 편으로 한 문단을 써 보면 나머지 두 편을 왜 찾아야 하는지 알게 됩니다.
아무것도 안 내시는 것보다 세 편이 낫습니다.
2주 뒤에 뵙겠습니다.
[운영 메모]
'다섯 편이 안 모였으면 세 편으로'를 반드시 말할 것. 두 차례 연속 선행연구를 미룬 분들이라, 완결을 요구하면 또 백지로 온다. 쪽수 칸을 강조할 것 — 이 칸이 나중에 본문 집필 시간을 가장 많이 줄인다.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3 정립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선행연구 쓰는 법 — 다섯 편을 한 문단으로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논문 한 편에서 무엇을 꺼낼지 보고,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다섯 편을 한 문단으로 묶는 데까지 갑니다.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대학원 박사과정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2026-11-04(수)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선행연구 한 문단 · 인용 문장 다섯 개 · 정리표 고친 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972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작성일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645920" y="57972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2026-10-20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다섯 편을 찾으셨는데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글에는 왜 한 편도 없습니까.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과제에 '관련 문헌을 근거로 검토한다'는 문장은 있고, 그 문헌은 없습니다. 찾은 논문이 글로 넘어오지 않은 것입니다. 이것은 성실함의 문제가 아니라 순서를 배운 적이 없는 문제입니다. 찾는 일은 검색으로 끝나지만, 쓰는 일은 한 편에서 무엇을 꺼내 어디에 넣을지 정해야 끝납니다. 오늘 그 순서를 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WEEK 04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어디까지 가셨습니까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두 번째에서 멈춥니다. 표는 논문이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3401568"/>
            <a:ext cx="262524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검색해서 논문을 모읍니다. 2회차에 한 일입니다.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4553712"/>
            <a:ext cx="26252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멈추면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24128" y="4773168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제목만 아는 상태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99178" y="1737360"/>
            <a:ext cx="3393338" cy="362102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83226" y="2505456"/>
            <a:ext cx="262524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읽기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783226" y="3401568"/>
            <a:ext cx="262524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읽고 정리표를 채웁니다. 논문 정보 · 문제 · 방법 · 결과.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83226" y="4553712"/>
            <a:ext cx="26252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멈추면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83226" y="4773168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표만 있는 상태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8277" y="1737360"/>
            <a:ext cx="339333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42325" y="2505456"/>
            <a:ext cx="262524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쓰기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542325" y="3401568"/>
            <a:ext cx="262524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표의 내용이 내 글의 문장이 됩니다. 오늘 하는 일입니다.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42325" y="4553712"/>
            <a:ext cx="26252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여기까지 가야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542325" y="4773168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논문이 됩니다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논문에서 무엇을 꺼내나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요약하지 않습니다. 꺼낼 것이 넷으로 정해져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EXTRACT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논문에서 꺼내는 네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요약하지 않습니다. 이 넷만 꺼냅니다.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물었나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논문의 연구 질문입니다. 초록에 있고 서론 끝에 다시 나옵니다.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42616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3405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무엇으로 쟀나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34056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사람이 어떤 방법으로 쟀는지입니다. 이건 빌려 쓸 수 있습니다. 여러 연구가 써 온 설문 문항이면 그대로 가져다 써도 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6576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몇 개를 봤나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657600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개를 봤고 누구한테 물었는지입니다. 내 연구에서 몇 개를 볼지 정할 때 이걸 보고 정합니다.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489704"/>
            <a:ext cx="10911535" cy="777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58114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무엇이 남았나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581144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논문이 못 한 것입니다. 결론 끝의 한계 문단에 적혀 있습니다.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57784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68756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넷째가 제일 중요합니다. 남이 못 한 것이 내가 할 것입니다.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 한 편 뜯어보기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논문인데 왼쪽은 소개이고 오른쪽은 재료입니다.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논문에 쓰여 있는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— 전통시장 간판의 가독성에 관한 연구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— 방문객 40명에게 간판 사진을 보여 주고 읽는 데 걸린 시간을 쟀다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글자가 클수록 읽는 시간이 짧았다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업종을 구분하는 문제는 다루지 못했다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내가 꺼내는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물었나 — 글자가 크면 더 빨리 읽나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쟀나 — 사진을 보여 주고 읽을 때까지 걸린 시간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봤나 — 방문객 40명. 사진이 몇 장인지는 안 적혀 있음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남았나 — 업종 구별. 내가 할 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EX-2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옮겨 적기와 읽고 적기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정리표를 채울 때 이미 글이 시작됩니다. 옮겨 적으면 나중에 다시 써야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12724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옮겨 적기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97016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읽고 적기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붙이기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논문 문장을 그대로 옮겨 적는다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붙이기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말로 바꿔 쓰고 출처를 적는다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298094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298094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035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쪽수 없음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27355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김○○(2019) 참조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035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쪽수 없음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27355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김○○(2019, 45쪽)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생각 없음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3858768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~라고 하였다 로 끝낸다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생각 없음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3858768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~라고 했으나 업종은 안 봤다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42416" y="415137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99352" y="415137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 쓸지 없음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2416" y="4443984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요약만 적고 끝낸다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99352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 쓸지 없음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99352" y="4443984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방법을 내 연구에 빌린다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109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1206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말로 바꿔 쓰고 출처를 붙이면 인용이고, 그대로 붙여 넣고 출처를 빼면 표절입니다.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꺼낸 것을 어디에 쓰나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선행연구는 선행연구 절에만 쓰는 것이 아닙니다.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네 가지를 쓰는 곳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선행연구는 선행연구 절에만 쓰지 않습니다. 네 군데에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무엇이 남았나 → 문제 세우기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남이 못 한 것에서 내 문제가 나옵니다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물었나 → 연구 질문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남의 질문 옆에 내 질문을 놓아야 새로운지 보입니다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꺼낸 것 전부 → 선행연구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편을 한 문단으로 묶어 넣습니다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무엇으로 쟀나 · 몇 개를 봤나 → 연구 방법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재는 방법과 개수를 여기서 빌립니다. 혼자 정하지 않습니다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EX-3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다섯 편을 묶는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연도로 묶지 않습니다. 무엇을 쟀는지로 묶습니다.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12724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편마다 한 문단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97016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기준으로 묶기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묶지 않음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김, 이, 박 순서로 한 편씩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묶지 않음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쟀는지로 두 묶음으로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298094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298094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035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연도순 나열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27355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2019년부터 2024년까지 차례로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035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연도순 나열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27355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글자를 본 넷과 색을 본 하나로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빠진 것이 안 보임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3858768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편을 다 소개하고 끝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빠진 것이 안 보임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3858768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편 모두 업종은 보지 않았다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42416" y="415137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99352" y="415137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연구 없음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2416" y="4443984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선행연구만 쓰고 넘어감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99352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연구 없음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99352" y="4443984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이 연구는 색과 업종을 본다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109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1206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묶어야 빠진 것이 보입니다. 한 편씩 보면 무엇이 빠졌는지 알 수 없습니다.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인용하는 법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어디까지가 남의 말이고 어디부터가 내 말인지 표시합니다.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인용이 하는 세 가지 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번째가 없으면 내 연구를 왜 하는지 말할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근거로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3401568"/>
            <a:ext cx="262524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말을 받쳐 줍니다. 이미 알려진 것을 가져옵니다.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4553712"/>
            <a:ext cx="26252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말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24128" y="4773168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~로 알려져 있다(김, 2019)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99178" y="1737360"/>
            <a:ext cx="339333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83226" y="2505456"/>
            <a:ext cx="262524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빌려서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783226" y="3401568"/>
            <a:ext cx="262524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남이 쓴 재는 방법을 가져옵니다. 제일 쓸모가 많습니다.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83226" y="4553712"/>
            <a:ext cx="26252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말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83226" y="4773168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김(2019)이 쓴 방법을 따른다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8277" y="1737360"/>
            <a:ext cx="3393338" cy="362102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42325" y="2505456"/>
            <a:ext cx="262524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반대해서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542325" y="3401568"/>
            <a:ext cx="262524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남과 다르게 봅니다. 내 연구를 왜 하는지가 여기서 나옵니다.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42325" y="4553712"/>
            <a:ext cx="26252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말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542325" y="4773168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김(2019)은 ~했으나 이 연구는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EX-4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인용과 표절의 차이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쓰면 따옴표와 쪽수, 내 말로 바꾸면 출처만. 둘 다 출처는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12724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표절이 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97016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인용이 됩니다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없음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남의 문장을 출처 없이 쓴다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없음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끝에 (저자, 연도)를 붙인다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298094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298094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035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따옴표 없음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27355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옮겼는데 표시가 없다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035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따옴표 없음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27355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따옴표와 쪽수를 함께 넣는다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이어 붙이기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3858768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논문을 이어 붙여 한 문단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이어 붙이기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3858768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묶은 뒤 내 말로 다시 쓴다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42416" y="415137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99352" y="415137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번역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2416" y="4443984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 논문을 번역해 내 글로 쓴다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99352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번역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99352" y="4443984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번역이어도 출처를 밝힌다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109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1206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겁내실 일이 아닙니다. 출처를 붙이면 되는 일입니다.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04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문단으로 쓰기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네 문장이면 선행연구 절의 첫 문단이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문단 만드는 순서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문장이면 한 문단이 됩니다. 길게 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다섯 편을 두세 묶음으로 나눈다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쟀는지로 나눕니다. 연도로 나누지 않습니다.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42616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3405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묶음마다 한 문장을 쓴다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34056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편이 무엇을 다뤘는지 숫자를 넣습니다. '여러 연구가'가 아니라 '네 편이'라고 씁니다.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6576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빠진 것을 한 문장으로 쓴다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657600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편 모두 다루지 않은 것이 무엇인지 적습니다.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489704"/>
            <a:ext cx="10911535" cy="777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58114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연구를 한 문장 붙인다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581144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'그래서 이 연구는'으로 시작합니다. 이 문장이 없으면 선행연구를 왜 썼는지 알 수 없습니다.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57784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68756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편수가 늘면 묶음이 늘어날 뿐 쓰는 법은 같습니다. 지금 네 문장을 만들어 두십시오.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 — 한 문단 채우기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과제로 씁니다. 오늘은 채우는 법만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채울 네 칸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1 — 몇 편이 무엇을 다뤘는지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2 — 몇 편이 무엇을 다뤘는지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빠진 것 — 다섯 편 모두 다루지 않은 것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연구 — 그래서 나는 무엇을 보는지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내는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정리표 — 2회차 여섯 칸에 쪽수 칸을 더합니다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 문장 다섯 개 — 편마다 하나씩, 쪽수를 붙여서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문단 — 왼쪽 네 칸을 이은 것. 열 줄 안쪽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편이 안 모였으면 세 편으로 먼저 하십시오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과제를 내기 전에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여덟 줄을 보고 내십시오.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편의 논문 정보에 쪽수가 들어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편마다 '무엇이 남았나'를 한 줄로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편을 연도가 아니라 '무엇을 쟀는지'로 묶었다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몇 편인지 숫자를 넣었다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'그래서 이 연구는'으로 시작하는 문장이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인용한 문장마다 저자와 연도가 붙어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옮긴 문장에는 따옴표와 쪽수가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본문에서 언급한 논문이 참고문헌 목록에 모두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정립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5회차에는 각자 쓴 한 문단을 놓고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선행연구 한 문단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본 네 칸을 이어 한 문단으로 만듭니다. 묶음 1 · 묶음 2 · 빠진 것 · 내 연구. 열 줄 안쪽이면 됩니다. 길게 쓰는 것이 목적이 아닙니다.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인용 문장 다섯 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편마다 하나씩, 쪽수를 붙여서 적습니다. 그대로 옮긴 것은 따옴표를, 내 말로 바꾼 것은 출처만 붙입니다.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정리표 고치기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2회차 여섯 칸에 쪽수 칸을 더합니다. 그리고 '무엇이 남았나' 칸을 편마다 한 줄로 채웁니다. 이 칸이 비어 있으면 빠진 것을 찾을 수 없습니다.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5회차 세션 48시간 전까지 · 공유 폴더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방법 고르기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질문에 맞는 방법은 무엇인가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선행연구에서 방법을 빌리는 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양적과 질적 — 고르는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각자 쓴 한 문단 함께 보기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선행연구 한 문단 · 인용 문장 다섯 개 · 정리표 고친 것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컨셉트와 프로세스 · 4주차 선행연구 쓰는 법 — 다섯 편을 한 문단으로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컨셉트와 프로세스 · 4주차 선행연구 쓰는 법 — 다섯 편을 한 문단으로</dc:title>
  <dc:subject>원광대학교 2026-2 · 대학원 박사과정 · 주 3시간 × 15주 · 세미나형 · 연구 프로포절</dc:subject>
  <dc:creator>MIN.D</dc:creator>
  <cp:lastModifiedBy>MIN.D</cp:lastModifiedBy>
  <cp:revision>1</cp:revision>
  <dcterms:created xsi:type="dcterms:W3CDTF">2026-10-20T22:55:29Z</dcterms:created>
  <dcterms:modified xsi:type="dcterms:W3CDTF">2026-10-20T22:55:29Z</dcterms:modified>
</cp:coreProperties>
</file>