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일곱 번째 시간입니다. 다음이 마지막이에요.
지금까지 우리는 계보를 따라왔습니다. 컨셉이라는 말이 어디서 갈라지는지, 남의 연구를 어떻게 찾는지, 디자인을 절차로 적으려던 시도가 어떻게 되었는지, 풀리지 않는 문제가 무엇인지, 그리고 그 문제를 다루는 사고의 기제까지.
오늘은 그 바깥입니다.
여러분이 논문에 가장 많이 그리실 그림이 더블 다이아몬드일 겁니다. 발산하고 수렴하고 다시 발산하고 수렴하는 그 마름모 두 개요.
오늘 그걸 한번 의심해 보겠습니다. 쓰지 말라는 게 아닙니다. 그 도식이 무엇을 보여 주고 무엇을 가리는지 알고 쓰자는 겁니다.
그리고 그 도식이 설명하지 못하는 자리에서 자란 것들을 보겠습니다. 참여디자인, 스페큘러티브 디자인, 그리고 생성 도구가 들어온 뒤의 상황까지.
원래 두 번으로 잡았던 구간을 한 번으로 줄였습니다. 그래서 오늘 리딩이 가장 많습니다. 다 못 읽고 오신 분도 계실 텐데, 토론은 하실 수 있게 짜 놓았습니다.
그리고 오늘 뒤쪽에 한 구간을 더 두었습니다. 2회차에 선행연구를 하셨지요. 그때 찾으신 다섯 편이 다음 회차 프로포절의 뼈대가 됩니다. 재료를 모은 일로만 두시면 아까워요. 거기까지 하고 마치겠습니다.
[운영 메모]
확장 구간을 한 회차로 압축한 자리다. 넓게 훑되 각 갈래마다 '내 연구와 무슨 상관인가'를 반드시 붙일 것. 리딩을 다 못 읽고 오는 학생이 나오므로 강의에서 핵심 주장을 요약해 주고 토론은 자기 연구 쪽으로 돌릴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 번째입니다.
마름모 두 개짜리 그림이요. 발산하고 수렴하고 또 발산하고 수렴하는.
이게 어디서 왔고 왜 그렇게 퍼졌는지부터 보겠습니다.
[운영 메모]
25분 구간. 학생 대부분이 이 도식을 무비판적으로 쓰고 있다. 출처와 목적을 먼저 밝히면 비판이 자연스럽게 따라온다.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출처입니다.
2005년 영국 디자인 카운슬이 내놓은 그림입니다. 열한 개 기업의 디자인 과정을 조사해서 공통점을 뽑은 거예요. 연구 결과를 요약한 도식이었습니다.
네 단계로 되어 있습니다. 디스커버, 디파인, 디벨롭, 딜리버. 발견하고 정의하고 발전시키고 전달한다.
앞의 마름모가 문제를 다루고 뒤의 마름모가 해결을 다룹니다. 각 마름모 안에서 넓혔다가 좁힙니다.
왜 그렇게 퍼졌을까요. 세 가지라고 봅니다.
하나, 외우기 쉽습니다. 한 번 보면 잊히지 않아요.
둘, 디자인이 하는 일을 비전문가에게 설명해 줍니다. 디자인 카운슬의 목적이 사실 그거였어요. 정부와 기업에 디자인의 가치를 설명하려던 겁니다.
셋, 발주처가 좋아합니다. 언제 무엇이 끝나는지 그릴 수 있으니까요.
여기서 중요한 걸 보셔야 합니다. 이 도식은 **설명하려고** 만든 겁니다. 어떻게 하라고 만든 게 아니에요.
2019년에 디자인 카운슬이 이걸 개정합니다. 원칙과 방법 뱅크를 붙이고 '혁신을 위한 프레임워크'로 이름을 바꿔요. 2021년에는 시스테믹 디자인 프레임워크를 따로 내놓습니다.
만든 쪽에서도 네 단계만으로는 부족하다고 본 겁니다. 그런데 우리는 아직 2005년 그림을 그리고 있죠.
[운영 메모]
'설명용으로 만든 것을 방법으로 쓰고 있다'가 이 장표의 핵심이다. 2019년 개정 사실을 아는 학생이 거의 없으므로 반드시 짚을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한 문장으로 정리하면 이겁니다.
도식은 설명이지 방법이 아닙니다.
설명을 방법으로 바꿔 쓰면 어떻게 되느냐. 연구가 도식을 따라가게 됩니다.
여러분 논문에서 자주 보이는 모습이 있어요. 3장 제목이 '디스커버', 4장이 '디파인', 5장이 '디벨롭'. 그리고 각 장에 뭘 채울지를 도식을 보며 정합니다.
그러면 순서가 뒤집힌 겁니다. 연구 질문이 방법을 정해야 하는데, 도식이 방법을 정하고 질문이 거기 맞춰지는 거죠.
도식을 쓰지 말라는 게 아닙니다. 쓰시되, 내 연구 질문이 먼저 있고 그걸 설명하려고 도식을 빌려 쓴다는 순서를 지키시라는 겁니다.
심사에서 물어봅니다. 왜 이 절차를 택했습니까. '더블 다이아몬드라서'는 답이 아닙니다.
[운영 메모]
심사 질문('왜 이 절차를 택했습니까')으로 연결하면 학생들이 진지해진다. 이 장표가 오늘 강의의 축이다.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비판을 네 줄로 정리했습니다. 왼쪽이 도식이 말하는 것, 오른쪽이 실제 연구가 보여 준 것입니다.
첫 줄, 순서. 도식은 네 단계를 차례로 지난다고 말합니다. 그런데 실제 과정을 관찰한 연구들은 앞뒤로 계속 오간다고 보고합니다. 디벨롭하다가 문제 정의로 돌아가는 일이 정상이에요.
둘째 줄, 문제와 해결. 도식은 앞 마름모에서 문제를 정하고 뒤에서 푼다고 합니다. 그런데 5회차와 6회차에 보신 것처럼, 문제와 해결은 함께 움직입니다. 해결안을 그려 봐야 문제가 무엇이었는지 알게 되죠. 리텔의 wicked problem 이야기와 같은 자리입니다.
셋째 줄, 끝나는 지점. 도식은 전달하면 끝이라고 그려 놓습니다. 실제로는 전달한 뒤가 시작이에요. 쓰이면서 바뀌고, 쓰는 사람이 다시 만듭니다.
넷째 줄, 누가 하는가. 도식에는 사람이 안 보입니다. 디자이너 한 명이 네 단계를 지나는 것처럼 보이죠. 실제로는 여러 이해관계자가 얽혀 있고, 누가 결정권을 갖느냐가 결과를 가릅니다. 이게 다음 파트의 참여디자인 이야기로 이어집니다.
정리하면, 도식은 깨끗하고 과정은 지저분합니다. 지저분한 걸 그대로 쓰시라는 게 아니라, 깨끗한 그림을 그려 놓고 지저분한 걸 숨기지 마시라는 겁니다.
[운영 메모]
둘째 줄은 5~6회차(wicked problem · co-evolution)와 직접 이어진다. 넷째 줄은 PART 2 의 참여디자인으로 넘기는 다리다.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발제로 넘어가겠습니다. 오늘이 마지막 발제입니다.
왼쪽이 오늘 텍스트입니다.
킴벨의 '디자인 씽킹 다시 생각하기' 2부가 필수입니다. 디자인 씽킹이라는 말이 실무와 연구에서 어떻게 다르게 쓰이는지, 그리고 그 말이 무엇을 가리는지 다룹니다. 오늘 앞에서 한 이야기의 학술적 판본이라고 보시면 됩니다.
샌더스와 스태퍼스의 공동창작 논문도 필수입니다. 2008년 코디자인 창간호에 실린 글인데, 사용자를 대상에서 파트너로 옮기는 전환을 정리한 글입니다. 인용이 대단히 많이 되는 글이에요.
함께 읽을 것으로 던과 레이비의 스페큘러티브 에브리싱 서문, 그리고 베르간티 팀의 인공지능 시대의 혁신과 디자인 논문을 넣었습니다. 뒤의 것은 PART 3 에서 다룹니다.
오른쪽이 발제에서 다룰 세 가지입니다. 늘 같습니다. 논점 추출, 비판적 재구성, 내 연구로 가져오기.
오늘은 세 번째에 시간을 더 쓰겠습니다. 다음이 프로포절 발표니까요. 발제자가 자기 연구에 어떻게 걸리는지 말씀하시면, 듣는 분들도 각자 자기 걸로 생각해 보십시오.
[운영 메모]
리딩이 가장 많은 회차다. 다 읽지 못한 학생을 배제하지 않도록 필수 두 편의 핵심 주장을 강의에서 반드시 요약할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아까 비판 네 줄 중 마지막 줄을 기억하십시오. 도식에는 사람이 안 보인다고 했지요.
그 자리에서 자란 것들이 있습니다. 세 갈래를 보겠습니다.
[운영 메모]
25분 구간. 세 갈래를 각각 8분씩. 깊이보다 '이런 자리가 있다'를 알게 하는 것이 목적이다.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갈래입니다.
첫째, 참여디자인. 북유럽에서 1970년대에 시작됐습니다. 원래는 노동조합 운동과 붙어 있었어요. 작업장에 컴퓨터가 들어올 때 그걸 쓰는 노동자가 설계에 참여해야 한다는 주장이었습니다.
그래서 참여디자인의 뿌리에는 정치적 질문이 있습니다. 누가 결정하는가. 샌더스와 스태퍼스가 정리한 공동창작은 그 흐름이 산업으로 들어온 판본이고요.
여기서 중요한 건 사용자의 자리가 바뀐다는 겁니다. 리서치의 대상에서 설계의 파트너로요. 리서치를 '사용자에게서 정보를 캐는 일'로 쓰시는 분은 이 지점을 보셔야 합니다.
둘째, 스페큘러티브 디자인. 던과 레이비가 정리한 겁니다. 문제를 푸는 디자인이 아니라 질문을 던지는 디자인이에요.
만들어지는 건 제품이 아니라 '만약 이렇게 된다면'을 보여 주는 물건입니다. 팔려고 만드는 게 아니라 생각하게 하려고 만드는 거죠.
학위 연구에서 이걸 쓰실 거면 조심하실 게 있습니다. 평가 기준이 다릅니다. 유용성으로 평가할 수 없어요. 무엇을 드러냈는가, 어떤 논의를 열었는가로 평가해야 합니다. 그 기준을 프로포절에 미리 적어 두셔야 심사에서 방어가 됩니다.
셋째, 연구로서의 디자인 그 이후입니다. 6회차에 보신 Research through Design 이요. 만드는 행위 자체가 지식을 생산한다는 입장이지요.
그 뒤에 남은 질문이 있습니다. 그렇게 만든 지식을 어떻게 전달하고 어떻게 검증하느냐. 작품은 남는데 지식은 어디에 남느냐는 물음입니다. 아직 합의가 없고, 그래서 여러분 프로포절에서 이걸 쓰시면 반드시 묻습니다.
세 갈래 다 공통점이 있습니다. 네 단계 도식으로는 그릴 수 없다는 것.
[운영 메모]
02 와 03 은 학생이 택할 경우 심사 위험이 크다. '쓰지 말라'가 아니라 '기준을 먼저 적어 두라'로 안내할 것. 01 은 리서치를 정보 수집으로만 쓰는 학생에게 특히 짚어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번째입니다. 짧게 보겠습니다.
질문 하나로 시작하죠.
더블 다이아몬드의 앞쪽 마름모는 넓히는 구간입니다. 아이디어를 많이 내는 자리요.
그 일을 사람이 하지 않게 되면, 그 마름모는 무엇이 됩니까.
[운영 메모]
15분 구간. 시간이 모자라면 10분으로 줄인다. 유행 이야기가 아니라 '어느 자리가 바뀌는가'로 다룰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네 자리가 바뀝니다.
첫째, 발산의 값이 떨어집니다. 안을 많이 내는 일은 이제 싸졌어요. 그러면 디자이너의 일은 많이 내는 쪽이 아니라 고르는 쪽으로 옮겨 갑니다. 무엇을 고를 것인가, 그리고 왜 그것인가.
베르간티 팀이 말한 게 이겁니다. 인공지능이 가능성의 공간을 넓혀 줄수록 방향을 정하는 일이 더 중요해진다는 거죠. 그 사람들은 그걸 '의미를 정하는 일'이라고 불렀습니다.
둘째, 재료가 통계로 바뀝니다. 생성 도구가 내놓는 건 과거 데이터에서 나온 겁니다. 그러니까 평균으로 수렴해요. 새로워 보이는데 실은 가장 흔한 것일 수 있습니다.
이게 연구에서 문제가 됩니다. 기여가 새로움에 있는데, 도구가 평균을 주면 새로움을 어디서 찾느냐.
셋째, 과정의 기록이 달라집니다. 이게 연구자에게 제일 큽니다.
여러분이 프로세스를 기술할 때 '어떻게 이 안에 도달했는가'를 씁니다. 그런데 도구가 낸 걸 골랐다면, 기술해야 할 것은 생성 과정이 아니라 **판단 과정**이에요. 무엇을 넣었고 무엇이 나왔고 왜 이걸 골랐는가. 프롬프트와 선택 기준이 연구 자료가 됩니다.
넷째, 윤리와 출처 문제. 학습 데이터의 출처, 저작권, 그리고 특정 집단이 과소 대표되는 문제까지. 학위 논문에서는 이걸 안 적고 넘어가면 심사에서 걸립니다.
정리하면, 도구가 바꾼 건 '무엇을 만드는가'가 아니라 '무엇을 근거로 골랐는가'를 기술하는 방식입니다. 연구자에게는 그쪽이 더 중요합니다.
[운영 메모]
유행을 따라가는 이야기로 들리지 않게 할 것. 3번을 중심에 두면 방법론 수업의 내용으로 자리가 잡힌다. 도구를 쓰는 학생에게는 프롬프트 기록을 지금부터 남기라고 일러둘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네 번째입니다. 여기서 앞으로 돌아가겠습니다.
2회차에 선행연구를 하셨지요. 다섯 편을 찾아서 정리표를 채우셨습니다.
그때는 재료를 모으는 일로 보셨을 겁니다. 틀린 건 아닌데, 절반만 보신 거예요.
다음 회차에 프로포절을 쓰셔야 하니까, 이제 나머지 절반을 말씀드릴 때가 됐습니다.
[운영 메모]
교수님 지시로 들어간 구간이다(2026-10-06). 선행연구를 2회차의 작업으로만 두면 프로포절을 쓸 때 다시 쓰이지 않는다. 프로포절 직전인 이 회차에서 '그때 읽은 것이 지금 쓰는 글의 뼈대'로 연결해야 값을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많은 분들이 선행연구를 논문의 한 절로 생각하십니다. 2장이나 3장에 들어가는 그 절이요.
그런데 제대로 하면 여섯 절 전부에 흔적이 남습니다. 왼쪽과 오른쪽을 비교해 보시죠.
연구 배경. 왼쪽은 이 주제가 중요하다고 씁니다. 오른쪽은 다섯 편이 공통으로 전제하고 있는 것과, 아무도 건드리지 않은 자리를 씁니다. 같은 분량인데 설득력이 다릅니다.
연구 질문. 왼쪽은 내 관심에서 나옵니다. 오른쪽은 남들이 한계 절에 적어 둔 데서 나와요.
여기서 잠깐. 논문 끝에 '본 연구는 ~하지 못했다'고 적힌 부분 있지요. 거기가 다음 연구자의 출발점입니다. 본인이 못 했다고 공개적으로 적어 놓은 자리거든요. 그걸 내가 하면 기여가 성립합니다.
연구 방법. 왼쪽은 인터뷰와 설문을 하겠다고 씁니다. 오른쪽은 누구의 절차를 왜 고쳐 쓰는지 밝힙니다. 2회차에 정리표의 방법 칸을 다섯 가지로 쪼개라고 말씀드린 게 여기서 쓰입니다.
예상 기여. 왼쪽은 새로울 것이라고 주장합니다. 오른쪽은 지도 위의 빈 칸을 손가락으로 가리킵니다. 주장과 지시는 다릅니다.
일정도 그래요. 왼쪽은 짐작으로 적고, 오른쪽은 비슷한 연구가 얼마나 걸렸는지 보고 적습니다. 인터뷰 스무 명을 석 달에 하겠다고 쓰셨는데 남들은 반년이 걸렸다면, 그 일정은 심사에서 바로 걸립니다.
정리하면 이렇습니다. 선행연구를 한 절로 쓰면 그 절에서 끝나고, 뼈대로 쓰면 글 전체가 서 있습니다.
[운영 메모]
'한계 절이 다음 연구자의 출발점'을 반드시 말할 것. 학생들이 선행연구를 읽을 때 가장 안 보는 자리이면서 연구 질문이 나오는 자리다. 2회차 정리표의 방법 칸과 연결해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이제 내 논문의 꼴을 정하는 이야기예요.
여러분이 읽으신 다섯 편에는 목차가 있습니다. 그 목차가 그냥 생긴 게 아니에요. 그 분야에서 논문을 이렇게 쓴다는 합의가 쌓인 겁니다.
그러니까 다섯 편을 읽는 동안 두 가지가 같이 들어왔습니다. 이 분야가 무엇을 아는가, 그리고 이 분야에서 글을 어떻게 쓰는가.
앞의 것은 내 논문의 내용이 되고 뒤의 것은 뼈대가 됩니다.
왼쪽을 보시죠. 절마다 하는 일이 다릅니다.
서론은 무엇이 왜 문제인지만 세웁니다. 대개 전체의 열에 하나예요. 여기가 길어지면 할 말이 아직 정리가 안 된 겁니다.
연구 방법은 기준이 분명합니다. 남이 읽고 그대로 해 볼 수 있어야 해요.
결과와 논의를 왜 나누는지 아십니까. 결과에는 나온 것만 적습니다. 해석은 논의에서 해요. 이걸 섞으면 읽는 사람이 사실과 저자의 생각을 구별할 수 없게 됩니다.
결론은 질문에 답하고 멈춥니다. 결론에서 처음 나오는 개념이 있으면 그 논문은 아직 안 끝난 거예요.
자, 그런데 남의 목차를 그대로 쓰시면 안 됩니다. 가져오되 내 것으로 바꾸셔야 해요.
바꾸는 자리마다 이유가 있어야 합니다. 절 제목이 내용을 말하게 바꾸고, 내 연구에 없는 절은 빼고, 남의 논문에 없던 절이 필요하면 더하고, 순서를 바꿨으면 왜 바꿨는지 말할 수 있어야 하고요.
오른쪽이 심사에서 나오는 질문입니다. 왜 이 순서입니까. 이 절은 왜 있습니까. 이 분야에서는 보통 어떻게 씁니까. 그 관습을 따랐습니까, 벗어났습니까.
벗어나셔도 됩니다. 다만 벗어난 걸 알고 벗어나야 하고, 이유를 말할 수 있어야 합니다.
아래 문장을 보십시오. 목차는 글을 쓰기 전에 내리는 판단의 목록입니다. 남의 것을 그대로 쓰면 판단을 남에게 맡긴 거예요.
그러니까 다음 회차 프로포절을 쓰실 때, 여섯 절을 제가 드린 대로 채우지 마시고 왜 이 여섯 절인지를 한 번 생각하고 쓰십시오.
[운영 메모]
다섯 편 중 가장 가까운 한 편의 목차를 띄워 놓고 함께 보면 전달이 빠르다. 결과와 논의를 섞는 문제는 두 학생 모두에게 나타날 가능성이 높다. '벗어나도 되지만 알고 벗어나야 한다'를 반드시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워크숍입니다. 짧습니다.
한 문단을 쓰실 겁니다. 다음 회차 프로포절에 그대로 들어갈 문단이에요.
먼저 2분. 내 연구가 따르는 절차를 한 줄로 적으세요. 더블 다이아몬드든, 자기가 짠 것이든, 아직 없든. 없으면 없다고 적으시면 됩니다.
다음 3분. 오늘 본 비판 네 줄 중에 내 연구에 걸리는 게 무엇인지 고르세요. 순서, 문제와 해결, 끝나는 지점, 누가 하는가. 하나나 둘이면 됩니다.
그다음 3분. 그래서 내 연구는 그 자리를 어떻게 다루는지 적으세요. 그냥 '한계로 인정한다'도 답입니다. 다만 인정했다고 적어야 합니다.
마지막 2분. 네 문장으로 이어 붙이세요. 내 절차는 무엇이고, 그 절차의 어디가 약하고, 나는 그걸 어떻게 다루고, 그래서 이 연구에서 그 선택이 왜 정당한가.
이 네 문장이 프로포절의 연구 방법 절 앞에 들어갑니다. 심사에서 '왜 이 절차입니까'를 물으면 이 문단을 읽으시면 됩니다.
[운영 메모]
10분 안에 끝낸다. 완성이 목적이 아니라 뼈대를 잡는 것이다. 다 못 쓴 학생은 과제로 넘기되 네 문장 틀을 적어 가게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안내입니다.
다음이 마지막 회차고, 프로포절 발표입니다.
왼쪽이 프로포절에 담을 여섯 절입니다.
연구 배경과 문제. 연구 질문과 가설. 선행연구와 내 자리. 연구 방법과 절차. 예상 기여. 일정.
세 번째와 네 번째를 보십시오. 2회차에 선행연구를 하면서 남의 연구 방법을 보라고 말씀드렸지요. 그게 이 두 절로 들어옵니다. 다섯 편 정리표의 방법 칸이 여기서 값을 합니다.
그리고 오늘 쓴 한 문단이 네 번째 절 앞에 들어가고요.
분량은 기획안에 8,000자로 되어 있었는데, 회차가 열다섯에서 여덟으로 줄었으니 조정하겠습니다. 학과와 정리되는 대로 알려 드리겠습니다. 지금은 여섯 절을 다 채우는 걸 목표로 하시면 됩니다.
오른쪽이 진행 방식입니다.
드래프트는 48시간 전까지 올려 주세요. 그래야 서로 읽고 옵니다.
1인 발표와 질의. 그리고 상호 리뷰가 절반입니다. 각자 동료 한 사람당 질문 두 개를 준비해 오셔야 해요. 듣기만 하는 자리가 아닙니다.
제가 보는 건 하나입니다. 연구 질문과 방법과 기여가 서로 맞물리는가. 질문은 큰데 방법이 작거나, 방법은 촘촘한데 그걸로 그 질문에 답할 수 없는 경우가 가장 흔합니다.
마지막으로 학위 일정과 다음 단계를 함께 보겠습니다.
한 학기 동안 쓰신 과제들을 꺼내 이어 붙이시면 뼈대가 나옵니다. 새로 쓰시는 게 아닙니다.
[운영 메모]
프로포절 분량은 학과 확인 후 확정해 공지할 것(기획안 8,000자 → 회차 축소분 반영). 상호 리뷰 질문 두 개는 반드시 받아야 8회차가 굴러간다.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확인하고 가실 것들입니다.
앞 여섯 개가 프로포절이고, 뒤 넷이 발표 준비입니다.
세 번째를 보세요. 선행연구 다섯 편이 본문에 실제로 인용되어 있는가. 목록만 뒤에 붙여 놓으면 안 됩니다. 2회차에 만드신 정리표의 다섯 번째 칸이 여기서 쓰여요.
다섯 번째, 연구 방법 절에 절차뿐 아니라 자료와 판단 기준이 적혀 있는가. 2회차에 본 다섯 가지입니다. 남의 논문에서 보라고 한 걸 이제 본인 글에 쓰시는 겁니다.
여덟 번째, 동료 질문 두 개씩 준비했는가. 이게 없으면 다음 회차의 절반이 비게 됩니다.
열 번째는 매번 같습니다. 48시간 전 제출.
[운영 메모]
3 · 5 · 8 번을 먼저 확인할 것. 2주 간격이라 미루는 패턴이 굳으므로 '이번 주 안에 절반'을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네 가지입니다.
첫째, 프로포절 드래프트. 여섯 절입니다. 연구 배경과 문제, 연구 질문과 가설, 선행연구와 내 자리, 연구 방법과 절차, 예상 기여, 일정.
세 번째 절과 네 번째 절을 특히 보십시오. 2회차에 선행연구 찾는 법을 했고, 거기서 남의 연구 방법을 보라고 말씀드렸지요. 그게 이 두 절로 들어옵니다.
둘째, 내 연구의 입장 한 문단. 오늘 본 것 중에 내가 어디에 서는지요. 더블 다이아몬드를 쓰시겠다면 쓰셔도 됩니다. 다만 오늘 본 한계를 알고 쓴다는 걸 한 문단으로 밝히시면 됩니다.
셋째, 내 프로포절의 목차입니다. 2회차에 찾으신 다섯 편 중에 가장 가까운 한 편을 고르세요. 그 논문의 목차를 절 제목과 쪽수까지 옮겨 적고, 그 옆에 내 목차를 세우시면 됩니다.
뺀 절, 더한 절, 순서를 바꾼 자리마다 이유를 한 줄씩 다십시오. 그 한 줄들이 심사 답변입니다.
한 시간이면 됩니다. 그런데 이게 몇 주를 아껴 줍니다. 목차 없이 쓰기 시작하면 서론만 세 번 고쳐 쓰게 돼요.
넷째, 동료 프로포절을 읽고 질문 두 개씩 준비해 오세요. 다음 회차는 상호 리뷰가 절반입니다. 듣기만 하는 자리가 아닙니다.
드래프트는 48시간 전까지 올려 주셔야 합니다. 그래야 서로 읽고 질문을 만들 수 있어요.
한 학기 동안 하신 걸 한 문서로 모으는 일입니다. 새로 쓰시는 게 아니라, 매 회차 과제로 쓰신 것들을 꺼내 이어 붙이시면 뼈대가 나옵니다.
다음이 마지막입니다.
[운영 메모]
드래프트 분량은 기획안의 8,000자에서 조정이 필요하다 — 회차가 15주에서 8회로 줄었다. 학과와 정리된 뒤 숫자를 명시할 것. '매 회차 과제를 이어 붙이면 뼈대가 나온다'를 반드시 말해 부담을 줄일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07</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07  ·  PHASE 3 확장</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도식의 바깥 — 비판과 확장</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도식이 설명하지 못하는 자리를 짚고,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2회차에 찾은 선행연구를 프로포절의 뼈대로 세웁니다.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프로포절 드래프트 · 내 연구의 입장 한 문단 · 목차 대조표</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더블 다이아몬드를 다시 본다</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여러분이 논문에 가장 많이 그리실 그림입니다.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ORIGIN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어디서 왔고 왜 퍼졌는가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설명하려고 만든 도식입니다. 어떻게 하라고 만든 것이 아닙니다.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2005년 영국 디자인 카운슬</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열한 개 기업의 디자인 과정을 조사해 공통점을 뽑은 요약 도식입니다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출처</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네 단계 — 발견 · 정의 · 발전 · 전달</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앞 마름모가 문제, 뒤 마름모가 해결. 각각 넓혔다가 좁힙니다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구조</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퍼진 이유 — 외우기 쉽고, 설명이 되고, 발주처가 좋아한다</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비전문가에게 디자인의 가치를 설명하려던 것이 원래 목적입니다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확산</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만든 쪽도 2019년에 개정했다</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원칙과 방법을 붙여 '혁신을 위한 프레임워크'로, 2021년에는 시스테믹 프레임워크로</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개정</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우리는 아직 2005년 그림을 그리고 있습니다. 만든 쪽은 네 단계만으로 부족하다고 이미 보았습니다.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도식은 설명이지 방법이 아닙니다.</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설명을 방법으로 쓰면 연구가 도식을 따라가게 됩니다.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논문 3장이 '디스커버', 4장이 '디파인'이 되고, 각 장에 무엇을 채울지를 도식을 보며 정하는 순간 순서가 뒤집힙니다. 연구 질문이 방법을 정해야 하는데 도식이 방법을 정하고 질문이 거기 맞춰집니다. 도식을 쓰지 말라는 것이 아니라, 질문이 먼저 있고 그것을 설명하려고 도식을 빌려 쓴다는 순서를 지키라는 뜻입니다.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컨셉트와 프로세스 · WEEK 07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CRITIQUE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도식이 말하는 것과 연구가 보여 준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도식은 깨끗하고 과정은 지저분합니다.</a:t>
            </a:r>
            <a:endParaRPr lang="en-US" sz="1150" dirty="0"/>
          </a:p>
        </p:txBody>
      </p:sp>
      <p:sp>
        <p:nvSpPr>
          <p:cNvPr id="9" name="Shape 7"/>
          <p:cNvSpPr/>
          <p:nvPr/>
        </p:nvSpPr>
        <p:spPr>
          <a:xfrm>
            <a:off x="640080" y="1627632"/>
            <a:ext cx="5254600" cy="3419856"/>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도식이 말하는 것</a:t>
            </a:r>
            <a:endParaRPr lang="en-US" sz="1700" dirty="0"/>
          </a:p>
        </p:txBody>
      </p:sp>
      <p:sp>
        <p:nvSpPr>
          <p:cNvPr id="11" name="Shape 9"/>
          <p:cNvSpPr/>
          <p:nvPr/>
        </p:nvSpPr>
        <p:spPr>
          <a:xfrm>
            <a:off x="6297016" y="1627632"/>
            <a:ext cx="5254600" cy="3419856"/>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과정을 관찰한 연구가 보여 준 것</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순서</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네 단계를 차례로 지난다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순서</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앞뒤로 계속 오간다 — 되돌아감이 정상이다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문제와 해결</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문제를 정한 뒤에 푼다</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문제와 해결</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함께 움직인다 — 해결안을 그려야 문제가 보인다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끝나는 지점</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전달하면 끝난다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끝나는 지점</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전달한 뒤가 시작이다 — 쓰이면서 바뀐다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누가 하는가</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사람이 보이지 않는다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누가 하는가</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여러 이해관계자가 얽히고 결정권이 결과를 가른다</a:t>
            </a:r>
            <a:endParaRPr lang="en-US" sz="11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발제 · 오늘의 텍스트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오늘이 마지막 발제입니다. 세 번째 부분에 시간을 더 씁니다.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오늘의 텍스트</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필수 — Kimbell, Rethinking Design Thinking: Part II (2012)</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필수 — Sanders &amp; Stappers, Co-creation and the new landscapes of design (2008)</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함께 — Dunne &amp; Raby, Speculative Everything (2013) 서문</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함께 — Verganti, Vendraminelli &amp; Iansiti, Innovation and Design in the Age of AI (2020)</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발제에서 다룰 세 가지</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논점 추출 — 저자가 무엇을 주장하고 무엇을 근거로 삼는가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비판적 재구성 — 동의하지 않는 지점과 그 이유</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연구로 가져오기 — 오늘은 여기에 시간을 더 씁니다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다 읽고 오지 못하셨어도 토론은 하실 수 있게 짰습니다. 필수 두 편의 주장은 강의에서 요약해 드립니다.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확장된 자리 셋</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도식이 설명하지 못하는 자리에서 자란 것들입니다.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EXPAND</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갈래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셋 다 네 단계 도식으로는 그릴 수 없습니다.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참여디자인</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1970년대 북유럽, 노동조합 운동과 함께 시작했습니다.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뿌리에 '누가 결정하는가'라는 정치적 질문이 있습니다.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사용자가 리서치의 대상에서 설계의 파트너로 옮겨 갑니다.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스페큘러티브 디자인</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문제를 푸는 대신 질문을 던집니다.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'만약 이렇게 된다면'을 보여 주는 물건을 만듭니다.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평가 기준이 다릅니다 — 유용성이 아니라 무엇을 드러냈는가로.</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연구로서의 디자인 이후</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만드는 행위가 지식을 생산한다는 입장 다음의 질문입니다.</a:t>
            </a:r>
            <a:endParaRPr lang="en-US" sz="1150" dirty="0"/>
          </a:p>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그 지식을 어떻게 전달하고 검증하는가.</a:t>
            </a:r>
            <a:endParaRPr lang="en-US" sz="1150" dirty="0"/>
          </a:p>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아직 합의가 없고, 쓰시면 심사에서 반드시 묻습니다.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세 갈래 중 하나를 쓰실 거면 평가 기준을 프로포절에 미리 적어 두십시오. 기준이 없으면 심사에서 방어가 되지 않습니다.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생성 도구가 들어온 뒤</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발산을 사람이 하지 않게 되면 도식의 앞쪽 마름모는 무엇이 됩니까.</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SHIFT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바뀌는 자리 넷</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바뀐 것은 무엇을 만드는가가 아니라 무엇을 근거로 골랐는가입니다.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발산의 값이 떨어진다</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많이 내는 일이 싸졌습니다. 디자이너의 일이 고르는 쪽과 방향을 정하는 쪽으로 옮겨 갑니다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선택</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재료가 통계로 바뀐다</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과거 데이터에서 나오므로 평균으로 수렴합니다. 새로워 보이는 것이 가장 흔한 것일 수 있습니다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평균</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기술할 것이 생성에서 판단으로 옮겨 간다</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무엇을 넣었고 무엇이 나왔고 왜 이것을 골랐는가. 프롬프트와 선택 기준이 연구 자료가 됩니다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기록</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출처와 윤리를 적어야 한다</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학습 데이터의 출처 · 저작권 · 과소 대표. 적지 않고 넘어가면 심사에서 걸립니다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윤리</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3번이 연구자에게 가장 큽니다. 도구를 쓰셨다면 프로포절의 연구 방법 절에 판단 과정을 기술하는 방식을 적어 두십시오.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04</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04</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내 논문의 꼴을 정한다</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다음이 프로포절입니다. 그 글의 뼈대가 어디서 오는지 짚고 갑니다.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SKELETON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선행연구를 한 절로 쓸 때와 뼈대로 쓸 때</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제대로 하면 여섯 절 전부에 흔적이 남습니다.</a:t>
            </a:r>
            <a:endParaRPr lang="en-US" sz="1150" dirty="0"/>
          </a:p>
        </p:txBody>
      </p:sp>
      <p:sp>
        <p:nvSpPr>
          <p:cNvPr id="9" name="Shape 7"/>
          <p:cNvSpPr/>
          <p:nvPr/>
        </p:nvSpPr>
        <p:spPr>
          <a:xfrm>
            <a:off x="640080" y="1627632"/>
            <a:ext cx="5254600" cy="4078224"/>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한 절로 쓸 때</a:t>
            </a:r>
            <a:endParaRPr lang="en-US" sz="1700" dirty="0"/>
          </a:p>
        </p:txBody>
      </p:sp>
      <p:sp>
        <p:nvSpPr>
          <p:cNvPr id="11" name="Shape 9"/>
          <p:cNvSpPr/>
          <p:nvPr/>
        </p:nvSpPr>
        <p:spPr>
          <a:xfrm>
            <a:off x="6297016" y="1627632"/>
            <a:ext cx="5254600" cy="4078224"/>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뼈대로 쓸 때</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연구 배경</a:t>
            </a:r>
            <a:endParaRPr lang="en-US" sz="900" dirty="0"/>
          </a:p>
        </p:txBody>
      </p:sp>
      <p:sp>
        <p:nvSpPr>
          <p:cNvPr id="14" name="Text 12"/>
          <p:cNvSpPr/>
          <p:nvPr/>
        </p:nvSpPr>
        <p:spPr>
          <a:xfrm>
            <a:off x="1042416"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이 주제가 중요하다고 쓴다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연구 배경</a:t>
            </a:r>
            <a:endParaRPr lang="en-US" sz="900" dirty="0"/>
          </a:p>
        </p:txBody>
      </p:sp>
      <p:sp>
        <p:nvSpPr>
          <p:cNvPr id="16" name="Text 14"/>
          <p:cNvSpPr/>
          <p:nvPr/>
        </p:nvSpPr>
        <p:spPr>
          <a:xfrm>
            <a:off x="6699352" y="2688336"/>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다섯 편이 공통으로 전제하는 것과 아무도 건드리지 않은 자리를 쓴다</a:t>
            </a:r>
            <a:endParaRPr lang="en-US" sz="1150" dirty="0"/>
          </a:p>
        </p:txBody>
      </p:sp>
      <p:sp>
        <p:nvSpPr>
          <p:cNvPr id="17" name="Shape 15"/>
          <p:cNvSpPr/>
          <p:nvPr/>
        </p:nvSpPr>
        <p:spPr>
          <a:xfrm>
            <a:off x="1042416" y="3054096"/>
            <a:ext cx="4449928" cy="7315"/>
          </a:xfrm>
          <a:prstGeom prst="rect">
            <a:avLst/>
          </a:prstGeom>
          <a:solidFill>
            <a:srgbClr val="D2D2D2"/>
          </a:solidFill>
          <a:ln w="12700">
            <a:solidFill>
              <a:srgbClr val="D2D2D2"/>
            </a:solidFill>
            <a:prstDash val="solid"/>
          </a:ln>
        </p:spPr>
      </p:sp>
      <p:sp>
        <p:nvSpPr>
          <p:cNvPr id="18" name="Shape 16"/>
          <p:cNvSpPr/>
          <p:nvPr/>
        </p:nvSpPr>
        <p:spPr>
          <a:xfrm>
            <a:off x="6699352" y="3054096"/>
            <a:ext cx="4449928" cy="7315"/>
          </a:xfrm>
          <a:prstGeom prst="rect">
            <a:avLst/>
          </a:prstGeom>
          <a:solidFill>
            <a:srgbClr val="DCDCDC"/>
          </a:solidFill>
          <a:ln w="12700">
            <a:solidFill>
              <a:srgbClr val="DCDCDC"/>
            </a:solidFill>
            <a:prstDash val="solid"/>
          </a:ln>
        </p:spPr>
      </p:sp>
      <p:sp>
        <p:nvSpPr>
          <p:cNvPr id="19" name="Text 17"/>
          <p:cNvSpPr/>
          <p:nvPr/>
        </p:nvSpPr>
        <p:spPr>
          <a:xfrm>
            <a:off x="1042416" y="310896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연구 질문</a:t>
            </a:r>
            <a:endParaRPr lang="en-US" sz="900" dirty="0"/>
          </a:p>
        </p:txBody>
      </p:sp>
      <p:sp>
        <p:nvSpPr>
          <p:cNvPr id="20" name="Text 18"/>
          <p:cNvSpPr/>
          <p:nvPr/>
        </p:nvSpPr>
        <p:spPr>
          <a:xfrm>
            <a:off x="1042416"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내 관심에서 나온다</a:t>
            </a:r>
            <a:endParaRPr lang="en-US" sz="1150" dirty="0"/>
          </a:p>
        </p:txBody>
      </p:sp>
      <p:sp>
        <p:nvSpPr>
          <p:cNvPr id="21" name="Text 19"/>
          <p:cNvSpPr/>
          <p:nvPr/>
        </p:nvSpPr>
        <p:spPr>
          <a:xfrm>
            <a:off x="6699352" y="310896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연구 질문</a:t>
            </a:r>
            <a:endParaRPr lang="en-US" sz="900" dirty="0"/>
          </a:p>
        </p:txBody>
      </p:sp>
      <p:sp>
        <p:nvSpPr>
          <p:cNvPr id="22" name="Text 20"/>
          <p:cNvSpPr/>
          <p:nvPr/>
        </p:nvSpPr>
        <p:spPr>
          <a:xfrm>
            <a:off x="6699352" y="3346704"/>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남들이 한계 절에 적어 둔 자리에서 나온다</a:t>
            </a:r>
            <a:endParaRPr lang="en-US" sz="1150" dirty="0"/>
          </a:p>
        </p:txBody>
      </p:sp>
      <p:sp>
        <p:nvSpPr>
          <p:cNvPr id="23" name="Shape 21"/>
          <p:cNvSpPr/>
          <p:nvPr/>
        </p:nvSpPr>
        <p:spPr>
          <a:xfrm>
            <a:off x="1042416" y="3712464"/>
            <a:ext cx="4449928" cy="7315"/>
          </a:xfrm>
          <a:prstGeom prst="rect">
            <a:avLst/>
          </a:prstGeom>
          <a:solidFill>
            <a:srgbClr val="D2D2D2"/>
          </a:solidFill>
          <a:ln w="12700">
            <a:solidFill>
              <a:srgbClr val="D2D2D2"/>
            </a:solidFill>
            <a:prstDash val="solid"/>
          </a:ln>
        </p:spPr>
      </p:sp>
      <p:sp>
        <p:nvSpPr>
          <p:cNvPr id="24" name="Shape 22"/>
          <p:cNvSpPr/>
          <p:nvPr/>
        </p:nvSpPr>
        <p:spPr>
          <a:xfrm>
            <a:off x="6699352" y="3712464"/>
            <a:ext cx="4449928" cy="7315"/>
          </a:xfrm>
          <a:prstGeom prst="rect">
            <a:avLst/>
          </a:prstGeom>
          <a:solidFill>
            <a:srgbClr val="DCDCDC"/>
          </a:solidFill>
          <a:ln w="12700">
            <a:solidFill>
              <a:srgbClr val="DCDCDC"/>
            </a:solidFill>
            <a:prstDash val="solid"/>
          </a:ln>
        </p:spPr>
      </p:sp>
      <p:sp>
        <p:nvSpPr>
          <p:cNvPr id="25" name="Text 23"/>
          <p:cNvSpPr/>
          <p:nvPr/>
        </p:nvSpPr>
        <p:spPr>
          <a:xfrm>
            <a:off x="1042416" y="376732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연구 방법</a:t>
            </a:r>
            <a:endParaRPr lang="en-US" sz="900" dirty="0"/>
          </a:p>
        </p:txBody>
      </p:sp>
      <p:sp>
        <p:nvSpPr>
          <p:cNvPr id="26" name="Text 24"/>
          <p:cNvSpPr/>
          <p:nvPr/>
        </p:nvSpPr>
        <p:spPr>
          <a:xfrm>
            <a:off x="1042416"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인터뷰와 설문을 하겠다고 쓴다</a:t>
            </a:r>
            <a:endParaRPr lang="en-US" sz="1150" dirty="0"/>
          </a:p>
        </p:txBody>
      </p:sp>
      <p:sp>
        <p:nvSpPr>
          <p:cNvPr id="27" name="Text 25"/>
          <p:cNvSpPr/>
          <p:nvPr/>
        </p:nvSpPr>
        <p:spPr>
          <a:xfrm>
            <a:off x="6699352" y="376732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연구 방법</a:t>
            </a:r>
            <a:endParaRPr lang="en-US" sz="900" dirty="0"/>
          </a:p>
        </p:txBody>
      </p:sp>
      <p:sp>
        <p:nvSpPr>
          <p:cNvPr id="28" name="Text 26"/>
          <p:cNvSpPr/>
          <p:nvPr/>
        </p:nvSpPr>
        <p:spPr>
          <a:xfrm>
            <a:off x="6699352" y="4005072"/>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누구의 절차를 왜 고쳐 쓰는지 밝힌다</a:t>
            </a:r>
            <a:endParaRPr lang="en-US" sz="1150" dirty="0"/>
          </a:p>
        </p:txBody>
      </p:sp>
      <p:sp>
        <p:nvSpPr>
          <p:cNvPr id="29" name="Shape 27"/>
          <p:cNvSpPr/>
          <p:nvPr/>
        </p:nvSpPr>
        <p:spPr>
          <a:xfrm>
            <a:off x="1042416" y="4370832"/>
            <a:ext cx="4449928" cy="7315"/>
          </a:xfrm>
          <a:prstGeom prst="rect">
            <a:avLst/>
          </a:prstGeom>
          <a:solidFill>
            <a:srgbClr val="D2D2D2"/>
          </a:solidFill>
          <a:ln w="12700">
            <a:solidFill>
              <a:srgbClr val="D2D2D2"/>
            </a:solidFill>
            <a:prstDash val="solid"/>
          </a:ln>
        </p:spPr>
      </p:sp>
      <p:sp>
        <p:nvSpPr>
          <p:cNvPr id="30" name="Shape 28"/>
          <p:cNvSpPr/>
          <p:nvPr/>
        </p:nvSpPr>
        <p:spPr>
          <a:xfrm>
            <a:off x="6699352" y="4370832"/>
            <a:ext cx="4449928" cy="7315"/>
          </a:xfrm>
          <a:prstGeom prst="rect">
            <a:avLst/>
          </a:prstGeom>
          <a:solidFill>
            <a:srgbClr val="DCDCDC"/>
          </a:solidFill>
          <a:ln w="12700">
            <a:solidFill>
              <a:srgbClr val="DCDCDC"/>
            </a:solidFill>
            <a:prstDash val="solid"/>
          </a:ln>
        </p:spPr>
      </p:sp>
      <p:sp>
        <p:nvSpPr>
          <p:cNvPr id="31" name="Text 29"/>
          <p:cNvSpPr/>
          <p:nvPr/>
        </p:nvSpPr>
        <p:spPr>
          <a:xfrm>
            <a:off x="1042416" y="4425696"/>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예상 기여</a:t>
            </a:r>
            <a:endParaRPr lang="en-US" sz="900" dirty="0"/>
          </a:p>
        </p:txBody>
      </p:sp>
      <p:sp>
        <p:nvSpPr>
          <p:cNvPr id="32" name="Text 30"/>
          <p:cNvSpPr/>
          <p:nvPr/>
        </p:nvSpPr>
        <p:spPr>
          <a:xfrm>
            <a:off x="1042416"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새로울 것이라고 주장한다</a:t>
            </a:r>
            <a:endParaRPr lang="en-US" sz="1150" dirty="0"/>
          </a:p>
        </p:txBody>
      </p:sp>
      <p:sp>
        <p:nvSpPr>
          <p:cNvPr id="33" name="Text 31"/>
          <p:cNvSpPr/>
          <p:nvPr/>
        </p:nvSpPr>
        <p:spPr>
          <a:xfrm>
            <a:off x="6699352" y="4425696"/>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예상 기여</a:t>
            </a:r>
            <a:endParaRPr lang="en-US" sz="900" dirty="0"/>
          </a:p>
        </p:txBody>
      </p:sp>
      <p:sp>
        <p:nvSpPr>
          <p:cNvPr id="34" name="Text 32"/>
          <p:cNvSpPr/>
          <p:nvPr/>
        </p:nvSpPr>
        <p:spPr>
          <a:xfrm>
            <a:off x="6699352" y="4663440"/>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지도 위의 빈 칸을 가리킨다</a:t>
            </a:r>
            <a:endParaRPr lang="en-US" sz="1150" dirty="0"/>
          </a:p>
        </p:txBody>
      </p:sp>
      <p:sp>
        <p:nvSpPr>
          <p:cNvPr id="35" name="Shape 33"/>
          <p:cNvSpPr/>
          <p:nvPr/>
        </p:nvSpPr>
        <p:spPr>
          <a:xfrm>
            <a:off x="1042416" y="5029200"/>
            <a:ext cx="4449928" cy="7315"/>
          </a:xfrm>
          <a:prstGeom prst="rect">
            <a:avLst/>
          </a:prstGeom>
          <a:solidFill>
            <a:srgbClr val="D2D2D2"/>
          </a:solidFill>
          <a:ln w="12700">
            <a:solidFill>
              <a:srgbClr val="D2D2D2"/>
            </a:solidFill>
            <a:prstDash val="solid"/>
          </a:ln>
        </p:spPr>
      </p:sp>
      <p:sp>
        <p:nvSpPr>
          <p:cNvPr id="36" name="Shape 34"/>
          <p:cNvSpPr/>
          <p:nvPr/>
        </p:nvSpPr>
        <p:spPr>
          <a:xfrm>
            <a:off x="6699352" y="5029200"/>
            <a:ext cx="4449928" cy="7315"/>
          </a:xfrm>
          <a:prstGeom prst="rect">
            <a:avLst/>
          </a:prstGeom>
          <a:solidFill>
            <a:srgbClr val="DCDCDC"/>
          </a:solidFill>
          <a:ln w="12700">
            <a:solidFill>
              <a:srgbClr val="DCDCDC"/>
            </a:solidFill>
            <a:prstDash val="solid"/>
          </a:ln>
        </p:spPr>
      </p:sp>
      <p:sp>
        <p:nvSpPr>
          <p:cNvPr id="37" name="Text 35"/>
          <p:cNvSpPr/>
          <p:nvPr/>
        </p:nvSpPr>
        <p:spPr>
          <a:xfrm>
            <a:off x="1042416" y="508406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일정</a:t>
            </a:r>
            <a:endParaRPr lang="en-US" sz="900" dirty="0"/>
          </a:p>
        </p:txBody>
      </p:sp>
      <p:sp>
        <p:nvSpPr>
          <p:cNvPr id="38" name="Text 36"/>
          <p:cNvSpPr/>
          <p:nvPr/>
        </p:nvSpPr>
        <p:spPr>
          <a:xfrm>
            <a:off x="1042416"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짐작으로 적는다</a:t>
            </a:r>
            <a:endParaRPr lang="en-US" sz="1150" dirty="0"/>
          </a:p>
        </p:txBody>
      </p:sp>
      <p:sp>
        <p:nvSpPr>
          <p:cNvPr id="39" name="Text 37"/>
          <p:cNvSpPr/>
          <p:nvPr/>
        </p:nvSpPr>
        <p:spPr>
          <a:xfrm>
            <a:off x="6699352" y="508406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일정</a:t>
            </a:r>
            <a:endParaRPr lang="en-US" sz="900" dirty="0"/>
          </a:p>
        </p:txBody>
      </p:sp>
      <p:sp>
        <p:nvSpPr>
          <p:cNvPr id="40" name="Text 38"/>
          <p:cNvSpPr/>
          <p:nvPr/>
        </p:nvSpPr>
        <p:spPr>
          <a:xfrm>
            <a:off x="6699352" y="5321808"/>
            <a:ext cx="4449928" cy="384048"/>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비슷한 연구가 얼마나 걸렸는지 보고 적는다</a:t>
            </a:r>
            <a:endParaRPr lang="en-US" sz="115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FORM</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목차는 글을 쓰기 전에 내리는 판단</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다섯 편의 목차는 그 분야에서 글을 어떻게 쓰는지에 대한 합의입니다.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절마다 하는 일</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서론 — 무엇이 왜 문제인지만 세웁니다. 대개 전체의 열에 하나</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이론적 배경 — 내가 쓰는 말의 주인을 밝힙니다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방법 — 남이 읽고 그대로 해 볼 수 있을 만큼 적습니다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결과 — 나온 것만. 해석은 아직입니다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논의 — 여기서 해석하고, 못 한 것까지 적습니다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결론 — 질문에 답하고 멈춥니다. 새 개념을 꺼내지 않습니다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심사에서 나오는 질문</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왜 이 순서입니까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절은 왜 있습니까 — 혹은 왜 없습니까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분야에서는 보통 어떻게 씁니까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그 관습을 따랐습니까, 벗어났습니까. 벗어났다면 왜입니까</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목차는 글을 쓰기 전에 내리는 판단의 목록입니다. 남의 것을 그대로 쓰면 판단을 남에게 맡긴 것입니다.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워크숍 · 내 연구가 서는 자리</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회차 프로포절에 그대로 들어갈 한 문단입니다.</a:t>
            </a:r>
            <a:endParaRPr lang="en-US" sz="1150" dirty="0"/>
          </a:p>
        </p:txBody>
      </p:sp>
      <p:sp>
        <p:nvSpPr>
          <p:cNvPr id="9" name="Shape 7"/>
          <p:cNvSpPr/>
          <p:nvPr/>
        </p:nvSpPr>
        <p:spPr>
          <a:xfrm>
            <a:off x="640080" y="1719072"/>
            <a:ext cx="10911535" cy="672998"/>
          </a:xfrm>
          <a:prstGeom prst="rect">
            <a:avLst/>
          </a:prstGeom>
          <a:solidFill>
            <a:srgbClr val="FFFFFF"/>
          </a:solidFill>
          <a:ln w="12700">
            <a:solidFill>
              <a:srgbClr val="DCDCDC"/>
            </a:solidFill>
            <a:prstDash val="solid"/>
          </a:ln>
        </p:spPr>
      </p:sp>
      <p:sp>
        <p:nvSpPr>
          <p:cNvPr id="10" name="Text 8"/>
          <p:cNvSpPr/>
          <p:nvPr/>
        </p:nvSpPr>
        <p:spPr>
          <a:xfrm>
            <a:off x="1097280" y="1810512"/>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내 연구가 따르는 절차를 한 줄로</a:t>
            </a:r>
            <a:endParaRPr lang="en-US" sz="1450" dirty="0"/>
          </a:p>
        </p:txBody>
      </p:sp>
      <p:sp>
        <p:nvSpPr>
          <p:cNvPr id="11" name="Text 9"/>
          <p:cNvSpPr/>
          <p:nvPr/>
        </p:nvSpPr>
        <p:spPr>
          <a:xfrm>
            <a:off x="4480560" y="181051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더블 다이아몬드든 자기가 짠 것이든. 아직 없으면 없다고 적습니다.</a:t>
            </a:r>
            <a:endParaRPr lang="en-US" sz="1150" dirty="0"/>
          </a:p>
        </p:txBody>
      </p:sp>
      <p:sp>
        <p:nvSpPr>
          <p:cNvPr id="12" name="Shape 10"/>
          <p:cNvSpPr/>
          <p:nvPr/>
        </p:nvSpPr>
        <p:spPr>
          <a:xfrm>
            <a:off x="640080" y="2538374"/>
            <a:ext cx="10911535" cy="672998"/>
          </a:xfrm>
          <a:prstGeom prst="rect">
            <a:avLst/>
          </a:prstGeom>
          <a:solidFill>
            <a:srgbClr val="FFFFFF"/>
          </a:solidFill>
          <a:ln w="12700">
            <a:solidFill>
              <a:srgbClr val="DCDCDC"/>
            </a:solidFill>
            <a:prstDash val="solid"/>
          </a:ln>
        </p:spPr>
      </p:sp>
      <p:sp>
        <p:nvSpPr>
          <p:cNvPr id="13" name="Text 11"/>
          <p:cNvSpPr/>
          <p:nvPr/>
        </p:nvSpPr>
        <p:spPr>
          <a:xfrm>
            <a:off x="1097280" y="2629814"/>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비판 네 줄 중 걸리는 것을 고른다</a:t>
            </a:r>
            <a:endParaRPr lang="en-US" sz="1450" dirty="0"/>
          </a:p>
        </p:txBody>
      </p:sp>
      <p:sp>
        <p:nvSpPr>
          <p:cNvPr id="14" name="Text 12"/>
          <p:cNvSpPr/>
          <p:nvPr/>
        </p:nvSpPr>
        <p:spPr>
          <a:xfrm>
            <a:off x="4480560" y="2629814"/>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순서 · 문제와 해결 · 끝나는 지점 · 누가 하는가. 하나나 둘이면 충분합니다.</a:t>
            </a:r>
            <a:endParaRPr lang="en-US" sz="1150" dirty="0"/>
          </a:p>
        </p:txBody>
      </p:sp>
      <p:sp>
        <p:nvSpPr>
          <p:cNvPr id="15" name="Shape 13"/>
          <p:cNvSpPr/>
          <p:nvPr/>
        </p:nvSpPr>
        <p:spPr>
          <a:xfrm>
            <a:off x="640080" y="3357677"/>
            <a:ext cx="10911535" cy="672998"/>
          </a:xfrm>
          <a:prstGeom prst="rect">
            <a:avLst/>
          </a:prstGeom>
          <a:solidFill>
            <a:srgbClr val="FFFFFF"/>
          </a:solidFill>
          <a:ln w="12700">
            <a:solidFill>
              <a:srgbClr val="DCDCDC"/>
            </a:solidFill>
            <a:prstDash val="solid"/>
          </a:ln>
        </p:spPr>
      </p:sp>
      <p:sp>
        <p:nvSpPr>
          <p:cNvPr id="16" name="Text 14"/>
          <p:cNvSpPr/>
          <p:nvPr/>
        </p:nvSpPr>
        <p:spPr>
          <a:xfrm>
            <a:off x="1097280" y="3449117"/>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그 자리를 어떻게 다루는지 적는다</a:t>
            </a:r>
            <a:endParaRPr lang="en-US" sz="1450" dirty="0"/>
          </a:p>
        </p:txBody>
      </p:sp>
      <p:sp>
        <p:nvSpPr>
          <p:cNvPr id="17" name="Text 15"/>
          <p:cNvSpPr/>
          <p:nvPr/>
        </p:nvSpPr>
        <p:spPr>
          <a:xfrm>
            <a:off x="4480560" y="3449117"/>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'한계로 인정한다'도 답입니다. 다만 인정했다고 적어야 합니다.</a:t>
            </a:r>
            <a:endParaRPr lang="en-US" sz="1150" dirty="0"/>
          </a:p>
        </p:txBody>
      </p:sp>
      <p:sp>
        <p:nvSpPr>
          <p:cNvPr id="18" name="Shape 16"/>
          <p:cNvSpPr/>
          <p:nvPr/>
        </p:nvSpPr>
        <p:spPr>
          <a:xfrm>
            <a:off x="640080" y="4176979"/>
            <a:ext cx="10911535" cy="672998"/>
          </a:xfrm>
          <a:prstGeom prst="rect">
            <a:avLst/>
          </a:prstGeom>
          <a:solidFill>
            <a:srgbClr val="FFFFFF"/>
          </a:solidFill>
          <a:ln w="12700">
            <a:solidFill>
              <a:srgbClr val="DCDCDC"/>
            </a:solidFill>
            <a:prstDash val="solid"/>
          </a:ln>
        </p:spPr>
      </p:sp>
      <p:sp>
        <p:nvSpPr>
          <p:cNvPr id="19" name="Text 17"/>
          <p:cNvSpPr/>
          <p:nvPr/>
        </p:nvSpPr>
        <p:spPr>
          <a:xfrm>
            <a:off x="1097280" y="4268419"/>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네 문장으로 이어 붙인다</a:t>
            </a:r>
            <a:endParaRPr lang="en-US" sz="1450" dirty="0"/>
          </a:p>
        </p:txBody>
      </p:sp>
      <p:sp>
        <p:nvSpPr>
          <p:cNvPr id="20" name="Text 18"/>
          <p:cNvSpPr/>
          <p:nvPr/>
        </p:nvSpPr>
        <p:spPr>
          <a:xfrm>
            <a:off x="4480560" y="4268419"/>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내 절차 · 그 절차의 약한 곳 · 내가 다루는 방식 · 그 선택이 정당한 이유.</a:t>
            </a:r>
            <a:endParaRPr lang="en-US" sz="1150" dirty="0"/>
          </a:p>
        </p:txBody>
      </p:sp>
      <p:sp>
        <p:nvSpPr>
          <p:cNvPr id="21" name="Shape 19"/>
          <p:cNvSpPr/>
          <p:nvPr/>
        </p:nvSpPr>
        <p:spPr>
          <a:xfrm>
            <a:off x="640080" y="4996282"/>
            <a:ext cx="10911535" cy="672998"/>
          </a:xfrm>
          <a:prstGeom prst="rect">
            <a:avLst/>
          </a:prstGeom>
          <a:solidFill>
            <a:srgbClr val="111111"/>
          </a:solidFill>
          <a:ln w="12700">
            <a:solidFill>
              <a:srgbClr val="111111"/>
            </a:solidFill>
            <a:prstDash val="solid"/>
          </a:ln>
        </p:spPr>
      </p:sp>
      <p:sp>
        <p:nvSpPr>
          <p:cNvPr id="22" name="Text 20"/>
          <p:cNvSpPr/>
          <p:nvPr/>
        </p:nvSpPr>
        <p:spPr>
          <a:xfrm>
            <a:off x="1097280" y="5087722"/>
            <a:ext cx="3291840" cy="490118"/>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가장 가까운 한 편의 목차를 옮겨 적는다</a:t>
            </a:r>
            <a:endParaRPr lang="en-US" sz="1450" dirty="0"/>
          </a:p>
        </p:txBody>
      </p:sp>
      <p:sp>
        <p:nvSpPr>
          <p:cNvPr id="23" name="Text 21"/>
          <p:cNvSpPr/>
          <p:nvPr/>
        </p:nvSpPr>
        <p:spPr>
          <a:xfrm>
            <a:off x="4480560" y="508772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2회차에 찾은 다섯 편 중 하나를 골라 절 제목과 쪽수를 그대로. 그 아래에 내 논문에서 그 절이 무엇이 될지 한 줄씩 답니다.</a:t>
            </a:r>
            <a:endParaRPr lang="en-US" sz="1150" dirty="0"/>
          </a:p>
        </p:txBody>
      </p:sp>
      <p:sp>
        <p:nvSpPr>
          <p:cNvPr id="24" name="Shape 22"/>
          <p:cNvSpPr/>
          <p:nvPr/>
        </p:nvSpPr>
        <p:spPr>
          <a:xfrm>
            <a:off x="640080" y="6291072"/>
            <a:ext cx="10911535" cy="7315"/>
          </a:xfrm>
          <a:prstGeom prst="rect">
            <a:avLst/>
          </a:prstGeom>
          <a:solidFill>
            <a:srgbClr val="DCDCDC"/>
          </a:solidFill>
          <a:ln w="12700">
            <a:solidFill>
              <a:srgbClr val="DCDCDC"/>
            </a:solidFill>
            <a:prstDash val="solid"/>
          </a:ln>
        </p:spPr>
      </p:sp>
      <p:sp>
        <p:nvSpPr>
          <p:cNvPr id="25" name="Text 2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26" name="Text 2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FINAL</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8회차 — 프로포절 발표와 상호 리뷰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한 학기 동안 쓴 과제를 이어 붙이면 뼈대가 나옵니다.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프로포절 여섯 절</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배경과 문제 — 무엇이 왜 문제인가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질문과 가설 — 무엇을 묻고 무엇을 예상하는가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선행연구와 내 자리 — 2회차 다섯 편 정리표가 여기로 들어옵니다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방법과 절차 — 오늘 쓴 한 문단이 이 절 앞에 들어갑니다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예상 기여 — 무엇이 새로운가, 어디에 보태는가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일정 — 언제 무엇을 하는가</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진행 방식</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드래프트는 세션 48시간 전까지 공유 폴더에</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1인 발표와 질의 — 상호 리뷰가 절반입니다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동료 한 사람당 질문 두 개를 준비해 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보는 것은 하나 — 질문과 방법과 기여가 맞물리는가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마지막에 학위 일정과 다음 단계를 함께 봅니다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가장 흔한 문제는 질문은 큰데 방법이 작거나, 방법은 촘촘한데 그것으로 그 질문에 답할 수 없는 경우입니다.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다음 회차까지 확인할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마지막 회차입니다. 2주가 있습니다.</a:t>
            </a:r>
            <a:endParaRPr lang="en-US" sz="1150" dirty="0"/>
          </a:p>
        </p:txBody>
      </p:sp>
      <p:sp>
        <p:nvSpPr>
          <p:cNvPr id="9" name="Shape 7"/>
          <p:cNvSpPr/>
          <p:nvPr/>
        </p:nvSpPr>
        <p:spPr>
          <a:xfrm>
            <a:off x="640080" y="1755648"/>
            <a:ext cx="5254600" cy="389273"/>
          </a:xfrm>
          <a:prstGeom prst="rect">
            <a:avLst/>
          </a:prstGeom>
          <a:solidFill>
            <a:srgbClr val="F2F2F2"/>
          </a:solidFill>
          <a:ln w="12700">
            <a:solidFill>
              <a:srgbClr val="F2F2F2"/>
            </a:solidFill>
            <a:prstDash val="solid"/>
          </a:ln>
        </p:spPr>
      </p:sp>
      <p:sp>
        <p:nvSpPr>
          <p:cNvPr id="10" name="Shape 8"/>
          <p:cNvSpPr/>
          <p:nvPr/>
        </p:nvSpPr>
        <p:spPr>
          <a:xfrm>
            <a:off x="914400" y="1822269"/>
            <a:ext cx="256032" cy="256032"/>
          </a:xfrm>
          <a:prstGeom prst="ellipse">
            <a:avLst/>
          </a:prstGeom>
          <a:solidFill>
            <a:srgbClr val="F2F2F2"/>
          </a:solidFill>
          <a:ln w="12700">
            <a:solidFill>
              <a:srgbClr val="111111"/>
            </a:solidFill>
            <a:prstDash val="solid"/>
          </a:ln>
        </p:spPr>
      </p:sp>
      <p:sp>
        <p:nvSpPr>
          <p:cNvPr id="11" name="Text 9"/>
          <p:cNvSpPr/>
          <p:nvPr/>
        </p:nvSpPr>
        <p:spPr>
          <a:xfrm>
            <a:off x="914400" y="1822269"/>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1298448" y="1755648"/>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프로포절이 여섯 절로 되어 있다</a:t>
            </a:r>
            <a:endParaRPr lang="en-US" sz="1050" dirty="0"/>
          </a:p>
        </p:txBody>
      </p:sp>
      <p:sp>
        <p:nvSpPr>
          <p:cNvPr id="13" name="Shape 11"/>
          <p:cNvSpPr/>
          <p:nvPr/>
        </p:nvSpPr>
        <p:spPr>
          <a:xfrm>
            <a:off x="640080" y="2291225"/>
            <a:ext cx="5254600" cy="389273"/>
          </a:xfrm>
          <a:prstGeom prst="rect">
            <a:avLst/>
          </a:prstGeom>
          <a:solidFill>
            <a:srgbClr val="F2F2F2"/>
          </a:solidFill>
          <a:ln w="12700">
            <a:solidFill>
              <a:srgbClr val="F2F2F2"/>
            </a:solidFill>
            <a:prstDash val="solid"/>
          </a:ln>
        </p:spPr>
      </p:sp>
      <p:sp>
        <p:nvSpPr>
          <p:cNvPr id="14" name="Shape 12"/>
          <p:cNvSpPr/>
          <p:nvPr/>
        </p:nvSpPr>
        <p:spPr>
          <a:xfrm>
            <a:off x="914400" y="2357846"/>
            <a:ext cx="256032" cy="256032"/>
          </a:xfrm>
          <a:prstGeom prst="ellipse">
            <a:avLst/>
          </a:prstGeom>
          <a:solidFill>
            <a:srgbClr val="F2F2F2"/>
          </a:solidFill>
          <a:ln w="12700">
            <a:solidFill>
              <a:srgbClr val="111111"/>
            </a:solidFill>
            <a:prstDash val="solid"/>
          </a:ln>
        </p:spPr>
      </p:sp>
      <p:sp>
        <p:nvSpPr>
          <p:cNvPr id="15" name="Text 13"/>
          <p:cNvSpPr/>
          <p:nvPr/>
        </p:nvSpPr>
        <p:spPr>
          <a:xfrm>
            <a:off x="914400" y="2357846"/>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02</a:t>
            </a:r>
            <a:endParaRPr lang="en-US" sz="800" dirty="0"/>
          </a:p>
        </p:txBody>
      </p:sp>
      <p:sp>
        <p:nvSpPr>
          <p:cNvPr id="16" name="Text 14"/>
          <p:cNvSpPr/>
          <p:nvPr/>
        </p:nvSpPr>
        <p:spPr>
          <a:xfrm>
            <a:off x="1298448" y="2291225"/>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연구 질문이 한 문장으로 적혀 있다</a:t>
            </a:r>
            <a:endParaRPr lang="en-US" sz="1050" dirty="0"/>
          </a:p>
        </p:txBody>
      </p:sp>
      <p:sp>
        <p:nvSpPr>
          <p:cNvPr id="17" name="Shape 15"/>
          <p:cNvSpPr/>
          <p:nvPr/>
        </p:nvSpPr>
        <p:spPr>
          <a:xfrm>
            <a:off x="640080" y="2826802"/>
            <a:ext cx="5254600" cy="389273"/>
          </a:xfrm>
          <a:prstGeom prst="rect">
            <a:avLst/>
          </a:prstGeom>
          <a:solidFill>
            <a:srgbClr val="F2F2F2"/>
          </a:solidFill>
          <a:ln w="12700">
            <a:solidFill>
              <a:srgbClr val="F2F2F2"/>
            </a:solidFill>
            <a:prstDash val="solid"/>
          </a:ln>
        </p:spPr>
      </p:sp>
      <p:sp>
        <p:nvSpPr>
          <p:cNvPr id="18" name="Shape 16"/>
          <p:cNvSpPr/>
          <p:nvPr/>
        </p:nvSpPr>
        <p:spPr>
          <a:xfrm>
            <a:off x="914400" y="2893423"/>
            <a:ext cx="256032" cy="256032"/>
          </a:xfrm>
          <a:prstGeom prst="ellipse">
            <a:avLst/>
          </a:prstGeom>
          <a:solidFill>
            <a:srgbClr val="F2F2F2"/>
          </a:solidFill>
          <a:ln w="12700">
            <a:solidFill>
              <a:srgbClr val="111111"/>
            </a:solidFill>
            <a:prstDash val="solid"/>
          </a:ln>
        </p:spPr>
      </p:sp>
      <p:sp>
        <p:nvSpPr>
          <p:cNvPr id="19" name="Text 17"/>
          <p:cNvSpPr/>
          <p:nvPr/>
        </p:nvSpPr>
        <p:spPr>
          <a:xfrm>
            <a:off x="914400" y="2893423"/>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03</a:t>
            </a:r>
            <a:endParaRPr lang="en-US" sz="800" dirty="0"/>
          </a:p>
        </p:txBody>
      </p:sp>
      <p:sp>
        <p:nvSpPr>
          <p:cNvPr id="20" name="Text 18"/>
          <p:cNvSpPr/>
          <p:nvPr/>
        </p:nvSpPr>
        <p:spPr>
          <a:xfrm>
            <a:off x="1298448" y="2826802"/>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선행연구 다섯 편이 목록이 아니라 본문에 인용되어 있다</a:t>
            </a:r>
            <a:endParaRPr lang="en-US" sz="1050" dirty="0"/>
          </a:p>
        </p:txBody>
      </p:sp>
      <p:sp>
        <p:nvSpPr>
          <p:cNvPr id="21" name="Shape 19"/>
          <p:cNvSpPr/>
          <p:nvPr/>
        </p:nvSpPr>
        <p:spPr>
          <a:xfrm>
            <a:off x="640080" y="3362379"/>
            <a:ext cx="5254600" cy="389273"/>
          </a:xfrm>
          <a:prstGeom prst="rect">
            <a:avLst/>
          </a:prstGeom>
          <a:solidFill>
            <a:srgbClr val="F2F2F2"/>
          </a:solidFill>
          <a:ln w="12700">
            <a:solidFill>
              <a:srgbClr val="F2F2F2"/>
            </a:solidFill>
            <a:prstDash val="solid"/>
          </a:ln>
        </p:spPr>
      </p:sp>
      <p:sp>
        <p:nvSpPr>
          <p:cNvPr id="22" name="Shape 20"/>
          <p:cNvSpPr/>
          <p:nvPr/>
        </p:nvSpPr>
        <p:spPr>
          <a:xfrm>
            <a:off x="914400" y="3429000"/>
            <a:ext cx="256032" cy="256032"/>
          </a:xfrm>
          <a:prstGeom prst="ellipse">
            <a:avLst/>
          </a:prstGeom>
          <a:solidFill>
            <a:srgbClr val="F2F2F2"/>
          </a:solidFill>
          <a:ln w="12700">
            <a:solidFill>
              <a:srgbClr val="111111"/>
            </a:solidFill>
            <a:prstDash val="solid"/>
          </a:ln>
        </p:spPr>
      </p:sp>
      <p:sp>
        <p:nvSpPr>
          <p:cNvPr id="23" name="Text 21"/>
          <p:cNvSpPr/>
          <p:nvPr/>
        </p:nvSpPr>
        <p:spPr>
          <a:xfrm>
            <a:off x="914400"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04</a:t>
            </a:r>
            <a:endParaRPr lang="en-US" sz="800" dirty="0"/>
          </a:p>
        </p:txBody>
      </p:sp>
      <p:sp>
        <p:nvSpPr>
          <p:cNvPr id="24" name="Text 22"/>
          <p:cNvSpPr/>
          <p:nvPr/>
        </p:nvSpPr>
        <p:spPr>
          <a:xfrm>
            <a:off x="1298448" y="3362379"/>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다섯 편이 배경 · 질문 · 방법 · 기여 네 절에 각각 흔적을 남겼다</a:t>
            </a:r>
            <a:endParaRPr lang="en-US" sz="1050" dirty="0"/>
          </a:p>
        </p:txBody>
      </p:sp>
      <p:sp>
        <p:nvSpPr>
          <p:cNvPr id="25" name="Shape 23"/>
          <p:cNvSpPr/>
          <p:nvPr/>
        </p:nvSpPr>
        <p:spPr>
          <a:xfrm>
            <a:off x="640080" y="3897957"/>
            <a:ext cx="5254600" cy="389273"/>
          </a:xfrm>
          <a:prstGeom prst="rect">
            <a:avLst/>
          </a:prstGeom>
          <a:solidFill>
            <a:srgbClr val="F2F2F2"/>
          </a:solidFill>
          <a:ln w="12700">
            <a:solidFill>
              <a:srgbClr val="F2F2F2"/>
            </a:solidFill>
            <a:prstDash val="solid"/>
          </a:ln>
        </p:spPr>
      </p:sp>
      <p:sp>
        <p:nvSpPr>
          <p:cNvPr id="26" name="Shape 24"/>
          <p:cNvSpPr/>
          <p:nvPr/>
        </p:nvSpPr>
        <p:spPr>
          <a:xfrm>
            <a:off x="914400" y="3964577"/>
            <a:ext cx="256032" cy="256032"/>
          </a:xfrm>
          <a:prstGeom prst="ellipse">
            <a:avLst/>
          </a:prstGeom>
          <a:solidFill>
            <a:srgbClr val="F2F2F2"/>
          </a:solidFill>
          <a:ln w="12700">
            <a:solidFill>
              <a:srgbClr val="111111"/>
            </a:solidFill>
            <a:prstDash val="solid"/>
          </a:ln>
        </p:spPr>
      </p:sp>
      <p:sp>
        <p:nvSpPr>
          <p:cNvPr id="27" name="Text 25"/>
          <p:cNvSpPr/>
          <p:nvPr/>
        </p:nvSpPr>
        <p:spPr>
          <a:xfrm>
            <a:off x="914400" y="3964577"/>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05</a:t>
            </a:r>
            <a:endParaRPr lang="en-US" sz="800" dirty="0"/>
          </a:p>
        </p:txBody>
      </p:sp>
      <p:sp>
        <p:nvSpPr>
          <p:cNvPr id="28" name="Text 26"/>
          <p:cNvSpPr/>
          <p:nvPr/>
        </p:nvSpPr>
        <p:spPr>
          <a:xfrm>
            <a:off x="1298448" y="3897957"/>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가장 가까운 한 편의 목차와 내 목차를 나란히 놓았다</a:t>
            </a:r>
            <a:endParaRPr lang="en-US" sz="1050" dirty="0"/>
          </a:p>
        </p:txBody>
      </p:sp>
      <p:sp>
        <p:nvSpPr>
          <p:cNvPr id="29" name="Shape 27"/>
          <p:cNvSpPr/>
          <p:nvPr/>
        </p:nvSpPr>
        <p:spPr>
          <a:xfrm>
            <a:off x="640080" y="4433534"/>
            <a:ext cx="5254600" cy="389273"/>
          </a:xfrm>
          <a:prstGeom prst="rect">
            <a:avLst/>
          </a:prstGeom>
          <a:solidFill>
            <a:srgbClr val="F2F2F2"/>
          </a:solidFill>
          <a:ln w="12700">
            <a:solidFill>
              <a:srgbClr val="F2F2F2"/>
            </a:solidFill>
            <a:prstDash val="solid"/>
          </a:ln>
        </p:spPr>
      </p:sp>
      <p:sp>
        <p:nvSpPr>
          <p:cNvPr id="30" name="Shape 28"/>
          <p:cNvSpPr/>
          <p:nvPr/>
        </p:nvSpPr>
        <p:spPr>
          <a:xfrm>
            <a:off x="914400" y="4500154"/>
            <a:ext cx="256032" cy="256032"/>
          </a:xfrm>
          <a:prstGeom prst="ellipse">
            <a:avLst/>
          </a:prstGeom>
          <a:solidFill>
            <a:srgbClr val="F2F2F2"/>
          </a:solidFill>
          <a:ln w="12700">
            <a:solidFill>
              <a:srgbClr val="111111"/>
            </a:solidFill>
            <a:prstDash val="solid"/>
          </a:ln>
        </p:spPr>
      </p:sp>
      <p:sp>
        <p:nvSpPr>
          <p:cNvPr id="31" name="Text 29"/>
          <p:cNvSpPr/>
          <p:nvPr/>
        </p:nvSpPr>
        <p:spPr>
          <a:xfrm>
            <a:off x="914400" y="4500154"/>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06</a:t>
            </a:r>
            <a:endParaRPr lang="en-US" sz="800" dirty="0"/>
          </a:p>
        </p:txBody>
      </p:sp>
      <p:sp>
        <p:nvSpPr>
          <p:cNvPr id="32" name="Text 30"/>
          <p:cNvSpPr/>
          <p:nvPr/>
        </p:nvSpPr>
        <p:spPr>
          <a:xfrm>
            <a:off x="1298448" y="4433534"/>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뺀 절 · 더한 절 · 순서를 바꾼 자리에 이유가 한 줄씩 적혀 있다</a:t>
            </a:r>
            <a:endParaRPr lang="en-US" sz="1050" dirty="0"/>
          </a:p>
        </p:txBody>
      </p:sp>
      <p:sp>
        <p:nvSpPr>
          <p:cNvPr id="33" name="Shape 31"/>
          <p:cNvSpPr/>
          <p:nvPr/>
        </p:nvSpPr>
        <p:spPr>
          <a:xfrm>
            <a:off x="640080" y="4969111"/>
            <a:ext cx="5254600" cy="389273"/>
          </a:xfrm>
          <a:prstGeom prst="rect">
            <a:avLst/>
          </a:prstGeom>
          <a:solidFill>
            <a:srgbClr val="F2F2F2"/>
          </a:solidFill>
          <a:ln w="12700">
            <a:solidFill>
              <a:srgbClr val="F2F2F2"/>
            </a:solidFill>
            <a:prstDash val="solid"/>
          </a:ln>
        </p:spPr>
      </p:sp>
      <p:sp>
        <p:nvSpPr>
          <p:cNvPr id="34" name="Shape 32"/>
          <p:cNvSpPr/>
          <p:nvPr/>
        </p:nvSpPr>
        <p:spPr>
          <a:xfrm>
            <a:off x="914400" y="5035731"/>
            <a:ext cx="256032" cy="256032"/>
          </a:xfrm>
          <a:prstGeom prst="ellipse">
            <a:avLst/>
          </a:prstGeom>
          <a:solidFill>
            <a:srgbClr val="F2F2F2"/>
          </a:solidFill>
          <a:ln w="12700">
            <a:solidFill>
              <a:srgbClr val="111111"/>
            </a:solidFill>
            <a:prstDash val="solid"/>
          </a:ln>
        </p:spPr>
      </p:sp>
      <p:sp>
        <p:nvSpPr>
          <p:cNvPr id="35" name="Text 33"/>
          <p:cNvSpPr/>
          <p:nvPr/>
        </p:nvSpPr>
        <p:spPr>
          <a:xfrm>
            <a:off x="914400" y="5035731"/>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07</a:t>
            </a:r>
            <a:endParaRPr lang="en-US" sz="800" dirty="0"/>
          </a:p>
        </p:txBody>
      </p:sp>
      <p:sp>
        <p:nvSpPr>
          <p:cNvPr id="36" name="Text 34"/>
          <p:cNvSpPr/>
          <p:nvPr/>
        </p:nvSpPr>
        <p:spPr>
          <a:xfrm>
            <a:off x="1298448" y="4969111"/>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내 연구의 자리가 선행연구와의 관계로 설명되어 있다</a:t>
            </a:r>
            <a:endParaRPr lang="en-US" sz="1050" dirty="0"/>
          </a:p>
        </p:txBody>
      </p:sp>
      <p:sp>
        <p:nvSpPr>
          <p:cNvPr id="37" name="Shape 35"/>
          <p:cNvSpPr/>
          <p:nvPr/>
        </p:nvSpPr>
        <p:spPr>
          <a:xfrm>
            <a:off x="6297016" y="1755648"/>
            <a:ext cx="5254600" cy="389273"/>
          </a:xfrm>
          <a:prstGeom prst="rect">
            <a:avLst/>
          </a:prstGeom>
          <a:solidFill>
            <a:srgbClr val="F2F2F2"/>
          </a:solidFill>
          <a:ln w="12700">
            <a:solidFill>
              <a:srgbClr val="F2F2F2"/>
            </a:solidFill>
            <a:prstDash val="solid"/>
          </a:ln>
        </p:spPr>
      </p:sp>
      <p:sp>
        <p:nvSpPr>
          <p:cNvPr id="38" name="Shape 36"/>
          <p:cNvSpPr/>
          <p:nvPr/>
        </p:nvSpPr>
        <p:spPr>
          <a:xfrm>
            <a:off x="6571336" y="1822269"/>
            <a:ext cx="256032" cy="256032"/>
          </a:xfrm>
          <a:prstGeom prst="ellipse">
            <a:avLst/>
          </a:prstGeom>
          <a:solidFill>
            <a:srgbClr val="F2F2F2"/>
          </a:solidFill>
          <a:ln w="12700">
            <a:solidFill>
              <a:srgbClr val="111111"/>
            </a:solidFill>
            <a:prstDash val="solid"/>
          </a:ln>
        </p:spPr>
      </p:sp>
      <p:sp>
        <p:nvSpPr>
          <p:cNvPr id="39" name="Text 37"/>
          <p:cNvSpPr/>
          <p:nvPr/>
        </p:nvSpPr>
        <p:spPr>
          <a:xfrm>
            <a:off x="6571336" y="1822269"/>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08</a:t>
            </a:r>
            <a:endParaRPr lang="en-US" sz="800" dirty="0"/>
          </a:p>
        </p:txBody>
      </p:sp>
      <p:sp>
        <p:nvSpPr>
          <p:cNvPr id="40" name="Text 38"/>
          <p:cNvSpPr/>
          <p:nvPr/>
        </p:nvSpPr>
        <p:spPr>
          <a:xfrm>
            <a:off x="6955384" y="1755648"/>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연구 방법 절에 자료 · 절차 · 판단 기준이 적혀 있다</a:t>
            </a:r>
            <a:endParaRPr lang="en-US" sz="1050" dirty="0"/>
          </a:p>
        </p:txBody>
      </p:sp>
      <p:sp>
        <p:nvSpPr>
          <p:cNvPr id="41" name="Shape 39"/>
          <p:cNvSpPr/>
          <p:nvPr/>
        </p:nvSpPr>
        <p:spPr>
          <a:xfrm>
            <a:off x="6297016" y="2291225"/>
            <a:ext cx="5254600" cy="389273"/>
          </a:xfrm>
          <a:prstGeom prst="rect">
            <a:avLst/>
          </a:prstGeom>
          <a:solidFill>
            <a:srgbClr val="F2F2F2"/>
          </a:solidFill>
          <a:ln w="12700">
            <a:solidFill>
              <a:srgbClr val="F2F2F2"/>
            </a:solidFill>
            <a:prstDash val="solid"/>
          </a:ln>
        </p:spPr>
      </p:sp>
      <p:sp>
        <p:nvSpPr>
          <p:cNvPr id="42" name="Shape 40"/>
          <p:cNvSpPr/>
          <p:nvPr/>
        </p:nvSpPr>
        <p:spPr>
          <a:xfrm>
            <a:off x="6571336" y="2357846"/>
            <a:ext cx="256032" cy="256032"/>
          </a:xfrm>
          <a:prstGeom prst="ellipse">
            <a:avLst/>
          </a:prstGeom>
          <a:solidFill>
            <a:srgbClr val="F2F2F2"/>
          </a:solidFill>
          <a:ln w="12700">
            <a:solidFill>
              <a:srgbClr val="111111"/>
            </a:solidFill>
            <a:prstDash val="solid"/>
          </a:ln>
        </p:spPr>
      </p:sp>
      <p:sp>
        <p:nvSpPr>
          <p:cNvPr id="43" name="Text 41"/>
          <p:cNvSpPr/>
          <p:nvPr/>
        </p:nvSpPr>
        <p:spPr>
          <a:xfrm>
            <a:off x="6571336" y="2357846"/>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09</a:t>
            </a:r>
            <a:endParaRPr lang="en-US" sz="800" dirty="0"/>
          </a:p>
        </p:txBody>
      </p:sp>
      <p:sp>
        <p:nvSpPr>
          <p:cNvPr id="44" name="Text 42"/>
          <p:cNvSpPr/>
          <p:nvPr/>
        </p:nvSpPr>
        <p:spPr>
          <a:xfrm>
            <a:off x="6955384" y="2291225"/>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오늘 쓴 입장 한 문단이 연구 방법 절 앞에 들어 있다</a:t>
            </a:r>
            <a:endParaRPr lang="en-US" sz="1050" dirty="0"/>
          </a:p>
        </p:txBody>
      </p:sp>
      <p:sp>
        <p:nvSpPr>
          <p:cNvPr id="45" name="Shape 43"/>
          <p:cNvSpPr/>
          <p:nvPr/>
        </p:nvSpPr>
        <p:spPr>
          <a:xfrm>
            <a:off x="6297016" y="2826802"/>
            <a:ext cx="5254600" cy="389273"/>
          </a:xfrm>
          <a:prstGeom prst="rect">
            <a:avLst/>
          </a:prstGeom>
          <a:solidFill>
            <a:srgbClr val="F2F2F2"/>
          </a:solidFill>
          <a:ln w="12700">
            <a:solidFill>
              <a:srgbClr val="F2F2F2"/>
            </a:solidFill>
            <a:prstDash val="solid"/>
          </a:ln>
        </p:spPr>
      </p:sp>
      <p:sp>
        <p:nvSpPr>
          <p:cNvPr id="46" name="Shape 44"/>
          <p:cNvSpPr/>
          <p:nvPr/>
        </p:nvSpPr>
        <p:spPr>
          <a:xfrm>
            <a:off x="6571336" y="2893423"/>
            <a:ext cx="256032" cy="256032"/>
          </a:xfrm>
          <a:prstGeom prst="ellipse">
            <a:avLst/>
          </a:prstGeom>
          <a:solidFill>
            <a:srgbClr val="F2F2F2"/>
          </a:solidFill>
          <a:ln w="12700">
            <a:solidFill>
              <a:srgbClr val="111111"/>
            </a:solidFill>
            <a:prstDash val="solid"/>
          </a:ln>
        </p:spPr>
      </p:sp>
      <p:sp>
        <p:nvSpPr>
          <p:cNvPr id="47" name="Text 45"/>
          <p:cNvSpPr/>
          <p:nvPr/>
        </p:nvSpPr>
        <p:spPr>
          <a:xfrm>
            <a:off x="6571336" y="2893423"/>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10</a:t>
            </a:r>
            <a:endParaRPr lang="en-US" sz="800" dirty="0"/>
          </a:p>
        </p:txBody>
      </p:sp>
      <p:sp>
        <p:nvSpPr>
          <p:cNvPr id="48" name="Text 46"/>
          <p:cNvSpPr/>
          <p:nvPr/>
        </p:nvSpPr>
        <p:spPr>
          <a:xfrm>
            <a:off x="6955384" y="2826802"/>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생성 도구를 썼다면 판단 과정을 기술하는 방식이 적혀 있다</a:t>
            </a:r>
            <a:endParaRPr lang="en-US" sz="1050" dirty="0"/>
          </a:p>
        </p:txBody>
      </p:sp>
      <p:sp>
        <p:nvSpPr>
          <p:cNvPr id="49" name="Shape 47"/>
          <p:cNvSpPr/>
          <p:nvPr/>
        </p:nvSpPr>
        <p:spPr>
          <a:xfrm>
            <a:off x="6297016" y="3362379"/>
            <a:ext cx="5254600" cy="389273"/>
          </a:xfrm>
          <a:prstGeom prst="rect">
            <a:avLst/>
          </a:prstGeom>
          <a:solidFill>
            <a:srgbClr val="F2F2F2"/>
          </a:solidFill>
          <a:ln w="12700">
            <a:solidFill>
              <a:srgbClr val="F2F2F2"/>
            </a:solidFill>
            <a:prstDash val="solid"/>
          </a:ln>
        </p:spPr>
      </p:sp>
      <p:sp>
        <p:nvSpPr>
          <p:cNvPr id="50" name="Shape 48"/>
          <p:cNvSpPr/>
          <p:nvPr/>
        </p:nvSpPr>
        <p:spPr>
          <a:xfrm>
            <a:off x="6571336" y="3429000"/>
            <a:ext cx="256032" cy="256032"/>
          </a:xfrm>
          <a:prstGeom prst="ellipse">
            <a:avLst/>
          </a:prstGeom>
          <a:solidFill>
            <a:srgbClr val="F2F2F2"/>
          </a:solidFill>
          <a:ln w="12700">
            <a:solidFill>
              <a:srgbClr val="111111"/>
            </a:solidFill>
            <a:prstDash val="solid"/>
          </a:ln>
        </p:spPr>
      </p:sp>
      <p:sp>
        <p:nvSpPr>
          <p:cNvPr id="51" name="Text 49"/>
          <p:cNvSpPr/>
          <p:nvPr/>
        </p:nvSpPr>
        <p:spPr>
          <a:xfrm>
            <a:off x="6571336"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11</a:t>
            </a:r>
            <a:endParaRPr lang="en-US" sz="800" dirty="0"/>
          </a:p>
        </p:txBody>
      </p:sp>
      <p:sp>
        <p:nvSpPr>
          <p:cNvPr id="52" name="Text 50"/>
          <p:cNvSpPr/>
          <p:nvPr/>
        </p:nvSpPr>
        <p:spPr>
          <a:xfrm>
            <a:off x="6955384" y="3362379"/>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동료 한 사람당 질문 두 개를 준비했다</a:t>
            </a:r>
            <a:endParaRPr lang="en-US" sz="1050" dirty="0"/>
          </a:p>
        </p:txBody>
      </p:sp>
      <p:sp>
        <p:nvSpPr>
          <p:cNvPr id="53" name="Shape 51"/>
          <p:cNvSpPr/>
          <p:nvPr/>
        </p:nvSpPr>
        <p:spPr>
          <a:xfrm>
            <a:off x="6297016" y="3897957"/>
            <a:ext cx="5254600" cy="389273"/>
          </a:xfrm>
          <a:prstGeom prst="rect">
            <a:avLst/>
          </a:prstGeom>
          <a:solidFill>
            <a:srgbClr val="F2F2F2"/>
          </a:solidFill>
          <a:ln w="12700">
            <a:solidFill>
              <a:srgbClr val="F2F2F2"/>
            </a:solidFill>
            <a:prstDash val="solid"/>
          </a:ln>
        </p:spPr>
      </p:sp>
      <p:sp>
        <p:nvSpPr>
          <p:cNvPr id="54" name="Shape 52"/>
          <p:cNvSpPr/>
          <p:nvPr/>
        </p:nvSpPr>
        <p:spPr>
          <a:xfrm>
            <a:off x="6571336" y="3964577"/>
            <a:ext cx="256032" cy="256032"/>
          </a:xfrm>
          <a:prstGeom prst="ellipse">
            <a:avLst/>
          </a:prstGeom>
          <a:solidFill>
            <a:srgbClr val="F2F2F2"/>
          </a:solidFill>
          <a:ln w="12700">
            <a:solidFill>
              <a:srgbClr val="111111"/>
            </a:solidFill>
            <a:prstDash val="solid"/>
          </a:ln>
        </p:spPr>
      </p:sp>
      <p:sp>
        <p:nvSpPr>
          <p:cNvPr id="55" name="Text 53"/>
          <p:cNvSpPr/>
          <p:nvPr/>
        </p:nvSpPr>
        <p:spPr>
          <a:xfrm>
            <a:off x="6571336" y="3964577"/>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12</a:t>
            </a:r>
            <a:endParaRPr lang="en-US" sz="800" dirty="0"/>
          </a:p>
        </p:txBody>
      </p:sp>
      <p:sp>
        <p:nvSpPr>
          <p:cNvPr id="56" name="Text 54"/>
          <p:cNvSpPr/>
          <p:nvPr/>
        </p:nvSpPr>
        <p:spPr>
          <a:xfrm>
            <a:off x="6955384" y="3897957"/>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질문 · 방법 · 기여가 서로 맞물리는지 소리 내어 확인했다</a:t>
            </a:r>
            <a:endParaRPr lang="en-US" sz="1050" dirty="0"/>
          </a:p>
        </p:txBody>
      </p:sp>
      <p:sp>
        <p:nvSpPr>
          <p:cNvPr id="57" name="Shape 55"/>
          <p:cNvSpPr/>
          <p:nvPr/>
        </p:nvSpPr>
        <p:spPr>
          <a:xfrm>
            <a:off x="6297016" y="4433534"/>
            <a:ext cx="5254600" cy="389273"/>
          </a:xfrm>
          <a:prstGeom prst="rect">
            <a:avLst/>
          </a:prstGeom>
          <a:solidFill>
            <a:srgbClr val="F2F2F2"/>
          </a:solidFill>
          <a:ln w="12700">
            <a:solidFill>
              <a:srgbClr val="F2F2F2"/>
            </a:solidFill>
            <a:prstDash val="solid"/>
          </a:ln>
        </p:spPr>
      </p:sp>
      <p:sp>
        <p:nvSpPr>
          <p:cNvPr id="58" name="Shape 56"/>
          <p:cNvSpPr/>
          <p:nvPr/>
        </p:nvSpPr>
        <p:spPr>
          <a:xfrm>
            <a:off x="6571336" y="4500154"/>
            <a:ext cx="256032" cy="256032"/>
          </a:xfrm>
          <a:prstGeom prst="ellipse">
            <a:avLst/>
          </a:prstGeom>
          <a:solidFill>
            <a:srgbClr val="F2F2F2"/>
          </a:solidFill>
          <a:ln w="12700">
            <a:solidFill>
              <a:srgbClr val="111111"/>
            </a:solidFill>
            <a:prstDash val="solid"/>
          </a:ln>
        </p:spPr>
      </p:sp>
      <p:sp>
        <p:nvSpPr>
          <p:cNvPr id="59" name="Text 57"/>
          <p:cNvSpPr/>
          <p:nvPr/>
        </p:nvSpPr>
        <p:spPr>
          <a:xfrm>
            <a:off x="6571336" y="4500154"/>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13</a:t>
            </a:r>
            <a:endParaRPr lang="en-US" sz="800" dirty="0"/>
          </a:p>
        </p:txBody>
      </p:sp>
      <p:sp>
        <p:nvSpPr>
          <p:cNvPr id="60" name="Text 58"/>
          <p:cNvSpPr/>
          <p:nvPr/>
        </p:nvSpPr>
        <p:spPr>
          <a:xfrm>
            <a:off x="6955384" y="4433534"/>
            <a:ext cx="4321912" cy="389273"/>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드래프트를 세션 48시간 전까지 올렸다</a:t>
            </a:r>
            <a:endParaRPr lang="en-US" sz="1050" dirty="0"/>
          </a:p>
        </p:txBody>
      </p:sp>
      <p:sp>
        <p:nvSpPr>
          <p:cNvPr id="61" name="Shape 59"/>
          <p:cNvSpPr/>
          <p:nvPr/>
        </p:nvSpPr>
        <p:spPr>
          <a:xfrm>
            <a:off x="640080" y="5559552"/>
            <a:ext cx="10911535" cy="7315"/>
          </a:xfrm>
          <a:prstGeom prst="rect">
            <a:avLst/>
          </a:prstGeom>
          <a:solidFill>
            <a:srgbClr val="111111"/>
          </a:solidFill>
          <a:ln w="12700">
            <a:solidFill>
              <a:srgbClr val="111111"/>
            </a:solidFill>
            <a:prstDash val="solid"/>
          </a:ln>
        </p:spPr>
      </p:sp>
      <p:sp>
        <p:nvSpPr>
          <p:cNvPr id="62" name="Text 60"/>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3~6번이 이번 학기의 실질입니다. 선행연구를 목록으로만 붙이면 2회차에 한 일이 사라집니다.</a:t>
            </a:r>
            <a:endParaRPr lang="en-US" sz="1250" dirty="0"/>
          </a:p>
        </p:txBody>
      </p:sp>
      <p:sp>
        <p:nvSpPr>
          <p:cNvPr id="63" name="Shape 61"/>
          <p:cNvSpPr/>
          <p:nvPr/>
        </p:nvSpPr>
        <p:spPr>
          <a:xfrm>
            <a:off x="640080" y="6291072"/>
            <a:ext cx="10911535" cy="7315"/>
          </a:xfrm>
          <a:prstGeom prst="rect">
            <a:avLst/>
          </a:prstGeom>
          <a:solidFill>
            <a:srgbClr val="DCDCDC"/>
          </a:solidFill>
          <a:ln w="12700">
            <a:solidFill>
              <a:srgbClr val="DCDCDC"/>
            </a:solidFill>
            <a:prstDash val="solid"/>
          </a:ln>
        </p:spPr>
      </p:sp>
      <p:sp>
        <p:nvSpPr>
          <p:cNvPr id="64" name="Text 6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65" name="Text 6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확장</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8회차는 프로포절 발표와 상호 리뷰입니다. 마지막 회차입니다.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프로포절 드래프트</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여섯 절로 씁니다. 연구 배경과 문제 · 연구 질문과 가설 · 선행연구와 내 자리 · 연구 방법과 절차 · 예상 기여 · 일정. 분량은 회차가 줄어든 만큼 조정했습니다. 8회차 48시간 전까지 올립니다.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내 연구의 입장 한 문단</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본 비판과 확장 중 내 연구가 어느 자리에 서는지 한 문단으로 씁니다. 프로포절의 연구 방법 절 앞에 들어갑니다.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내 프로포절의 목차</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2회차에 찾은 다섯 편 중 내 연구와 가장 가까운 한 편의 목차를 절 제목과 쪽수까지 옮겨 적고, 그 옆에 내 목차를 세웁니다. 뺀 절 · 더한 절 · 순서를 바꾼 자리마다 이유를 한 줄씩 답니다.</a:t>
            </a:r>
            <a:endParaRPr lang="en-US" sz="1100" dirty="0"/>
          </a:p>
        </p:txBody>
      </p:sp>
      <p:sp>
        <p:nvSpPr>
          <p:cNvPr id="24" name="Shape 22"/>
          <p:cNvSpPr/>
          <p:nvPr/>
        </p:nvSpPr>
        <p:spPr>
          <a:xfrm>
            <a:off x="640080" y="4791456"/>
            <a:ext cx="6309360" cy="896112"/>
          </a:xfrm>
          <a:prstGeom prst="rect">
            <a:avLst/>
          </a:prstGeom>
          <a:solidFill>
            <a:srgbClr val="FFFFFF"/>
          </a:solidFill>
          <a:ln w="12700">
            <a:solidFill>
              <a:srgbClr val="DCDCDC"/>
            </a:solidFill>
            <a:prstDash val="solid"/>
          </a:ln>
        </p:spPr>
      </p:sp>
      <p:sp>
        <p:nvSpPr>
          <p:cNvPr id="25" name="Shape 23"/>
          <p:cNvSpPr/>
          <p:nvPr/>
        </p:nvSpPr>
        <p:spPr>
          <a:xfrm>
            <a:off x="969264" y="5065776"/>
            <a:ext cx="329184" cy="329184"/>
          </a:xfrm>
          <a:prstGeom prst="ellipse">
            <a:avLst/>
          </a:prstGeom>
          <a:solidFill>
            <a:srgbClr val="111111"/>
          </a:solidFill>
          <a:ln w="12700">
            <a:solidFill>
              <a:srgbClr val="111111"/>
            </a:solidFill>
            <a:prstDash val="solid"/>
          </a:ln>
        </p:spPr>
      </p:sp>
      <p:sp>
        <p:nvSpPr>
          <p:cNvPr id="26" name="Text 24"/>
          <p:cNvSpPr/>
          <p:nvPr/>
        </p:nvSpPr>
        <p:spPr>
          <a:xfrm>
            <a:off x="969264" y="506577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4</a:t>
            </a:r>
            <a:endParaRPr lang="en-US" sz="1100" dirty="0"/>
          </a:p>
        </p:txBody>
      </p:sp>
      <p:sp>
        <p:nvSpPr>
          <p:cNvPr id="27" name="Text 25"/>
          <p:cNvSpPr/>
          <p:nvPr/>
        </p:nvSpPr>
        <p:spPr>
          <a:xfrm>
            <a:off x="1426464" y="4882896"/>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동료 프로포절 읽고 질문 두 개</a:t>
            </a:r>
            <a:endParaRPr lang="en-US" sz="1400" dirty="0"/>
          </a:p>
        </p:txBody>
      </p:sp>
      <p:sp>
        <p:nvSpPr>
          <p:cNvPr id="28" name="Text 26"/>
          <p:cNvSpPr/>
          <p:nvPr/>
        </p:nvSpPr>
        <p:spPr>
          <a:xfrm>
            <a:off x="1426464" y="5193792"/>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올라온 드래프트를 읽고 각 사람에게 질문을 두 개씩 준비해 옵니다. 8회차는 상호 리뷰가 절반입니다.</a:t>
            </a:r>
            <a:endParaRPr lang="en-US" sz="1100" dirty="0"/>
          </a:p>
        </p:txBody>
      </p:sp>
      <p:sp>
        <p:nvSpPr>
          <p:cNvPr id="29" name="Shape 27"/>
          <p:cNvSpPr/>
          <p:nvPr/>
        </p:nvSpPr>
        <p:spPr>
          <a:xfrm>
            <a:off x="640080" y="5833872"/>
            <a:ext cx="6309360" cy="7315"/>
          </a:xfrm>
          <a:prstGeom prst="rect">
            <a:avLst/>
          </a:prstGeom>
          <a:solidFill>
            <a:srgbClr val="111111"/>
          </a:solidFill>
          <a:ln w="12700">
            <a:solidFill>
              <a:srgbClr val="111111"/>
            </a:solidFill>
            <a:prstDash val="solid"/>
          </a:ln>
        </p:spPr>
      </p:sp>
      <p:sp>
        <p:nvSpPr>
          <p:cNvPr id="30" name="Text 28"/>
          <p:cNvSpPr/>
          <p:nvPr/>
        </p:nvSpPr>
        <p:spPr>
          <a:xfrm>
            <a:off x="640080" y="5925312"/>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8회차 세션 48시간 전까지 · 공유 폴더 업로드</a:t>
            </a:r>
            <a:endParaRPr lang="en-US" sz="1200" dirty="0"/>
          </a:p>
        </p:txBody>
      </p:sp>
      <p:sp>
        <p:nvSpPr>
          <p:cNvPr id="31" name="Shape 29"/>
          <p:cNvSpPr/>
          <p:nvPr/>
        </p:nvSpPr>
        <p:spPr>
          <a:xfrm>
            <a:off x="7351776" y="1719072"/>
            <a:ext cx="4199839" cy="3803904"/>
          </a:xfrm>
          <a:prstGeom prst="rect">
            <a:avLst/>
          </a:prstGeom>
          <a:solidFill>
            <a:srgbClr val="111111"/>
          </a:solidFill>
          <a:ln w="12700">
            <a:solidFill>
              <a:srgbClr val="111111"/>
            </a:solidFill>
            <a:prstDash val="solid"/>
          </a:ln>
        </p:spPr>
      </p:sp>
      <p:sp>
        <p:nvSpPr>
          <p:cNvPr id="32" name="Text 30"/>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33" name="Text 31"/>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08주차</a:t>
            </a:r>
            <a:endParaRPr lang="en-US" sz="2600" dirty="0"/>
          </a:p>
        </p:txBody>
      </p:sp>
      <p:sp>
        <p:nvSpPr>
          <p:cNvPr id="34" name="Text 32"/>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프로포절 발표와 상호 리뷰</a:t>
            </a:r>
            <a:endParaRPr lang="en-US" sz="1700" dirty="0"/>
          </a:p>
        </p:txBody>
      </p:sp>
      <p:sp>
        <p:nvSpPr>
          <p:cNvPr id="35" name="Shape 33"/>
          <p:cNvSpPr/>
          <p:nvPr/>
        </p:nvSpPr>
        <p:spPr>
          <a:xfrm>
            <a:off x="7735824" y="3346704"/>
            <a:ext cx="3431743" cy="7315"/>
          </a:xfrm>
          <a:prstGeom prst="rect">
            <a:avLst/>
          </a:prstGeom>
          <a:solidFill>
            <a:srgbClr val="333333"/>
          </a:solidFill>
          <a:ln w="12700">
            <a:solidFill>
              <a:srgbClr val="333333"/>
            </a:solidFill>
            <a:prstDash val="solid"/>
          </a:ln>
        </p:spPr>
      </p:sp>
      <p:sp>
        <p:nvSpPr>
          <p:cNvPr id="36" name="Text 34"/>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1인 발표와 질의</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동료 리뷰 — 질문 두 개씩</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연구 질문–방법–기여의 정합성</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학위 일정과 다음 단계</a:t>
            </a:r>
            <a:endParaRPr lang="en-US" sz="1150" dirty="0"/>
          </a:p>
        </p:txBody>
      </p:sp>
      <p:sp>
        <p:nvSpPr>
          <p:cNvPr id="37" name="Shape 35"/>
          <p:cNvSpPr/>
          <p:nvPr/>
        </p:nvSpPr>
        <p:spPr>
          <a:xfrm>
            <a:off x="7735824" y="4700016"/>
            <a:ext cx="3431743" cy="7315"/>
          </a:xfrm>
          <a:prstGeom prst="rect">
            <a:avLst/>
          </a:prstGeom>
          <a:solidFill>
            <a:srgbClr val="333333"/>
          </a:solidFill>
          <a:ln w="12700">
            <a:solidFill>
              <a:srgbClr val="333333"/>
            </a:solidFill>
            <a:prstDash val="solid"/>
          </a:ln>
        </p:spPr>
      </p:sp>
      <p:sp>
        <p:nvSpPr>
          <p:cNvPr id="38" name="Text 36"/>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9" name="Text 37"/>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프로포절 드래프트 48시간 전 공유 · 동료 질문 두 개씩 · 입장 한 문단 · 목차 대조표</a:t>
            </a:r>
            <a:endParaRPr lang="en-US" sz="1100" dirty="0"/>
          </a:p>
        </p:txBody>
      </p:sp>
      <p:sp>
        <p:nvSpPr>
          <p:cNvPr id="40" name="Shape 38"/>
          <p:cNvSpPr/>
          <p:nvPr/>
        </p:nvSpPr>
        <p:spPr>
          <a:xfrm>
            <a:off x="640080" y="6291072"/>
            <a:ext cx="10911535" cy="7315"/>
          </a:xfrm>
          <a:prstGeom prst="rect">
            <a:avLst/>
          </a:prstGeom>
          <a:solidFill>
            <a:srgbClr val="DCDCDC"/>
          </a:solidFill>
          <a:ln w="12700">
            <a:solidFill>
              <a:srgbClr val="DCDCDC"/>
            </a:solidFill>
            <a:prstDash val="solid"/>
          </a:ln>
        </p:spPr>
      </p:sp>
      <p:sp>
        <p:nvSpPr>
          <p:cNvPr id="41" name="Text 3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도식의 바깥 — 비판과 확장</a:t>
            </a:r>
            <a:endParaRPr lang="en-US" sz="850" dirty="0"/>
          </a:p>
        </p:txBody>
      </p:sp>
      <p:sp>
        <p:nvSpPr>
          <p:cNvPr id="42" name="Text 4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7주차 도식의 바깥 — 비판과 확장</dc:title>
  <dc:subject>원광대학교 2026-2 · 대학원 박사과정 · 주 3시간 × 15주 · 세미나형 · 연구 프로포절</dc:subject>
  <dc:creator>MIN.D</dc:creator>
  <cp:lastModifiedBy>MIN.D</cp:lastModifiedBy>
  <cp:revision>1</cp:revision>
  <dcterms:created xsi:type="dcterms:W3CDTF">2026-10-06T11:33:05Z</dcterms:created>
  <dcterms:modified xsi:type="dcterms:W3CDTF">2026-10-06T11:33:05Z</dcterms:modified>
</cp:coreProperties>
</file>