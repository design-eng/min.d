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[운영 메모]
25분 구간. 다섯 가지를 다 말하되 1번과 5번에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일을 다섯 가지로 적어 왔습니다. 빠르게 보겠습니다.
제일 큰 건 내 자리를 정하는 일입니다. 남들이 어디까지 갔는지 알아야 내가 어디서 시작하는지 말할 수 있어요. 기여 진술이라는 게 결국 이겁니다.
겹치지 않게 해 주는 것도 있고요. 삼 년을 쓰고 나서 같은 걸 누가 2015년에 했다는 걸 알게 되면 어떻겠습니까. 실제로 일어나는 일입니다.
방법도 빌려 옵니다. 연구 방법을 처음부터 혼자 설계하는 사람은 없어요. 비슷한 문제를 다룬 사람이 쓴 걸 가져다 고쳐 씁니다. 그게 정상입니다.
개념도 마찬가지고요. 지난 회차 이야기와 이어집니다. 동반감이니 문화적 정체성이니 하는 말에는 이미 주인이 있어요. 누가 어떻게 정의했는지 알고 쓰셔야 합니다.
마지막은 심사입니다. 첫 질문이 대개 이겁니다. 이 분야를 얼마나 아십니까. 여기서 막히면 그다음 이야기가 진행되지 않아요.
1번과 4번이 지난 회차와 이어진다고 적어 뒀는데, 내 개념이 어느 층위인지는 남의 개념을 알아야 정해지기 때문입니다.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정리표의 세 번째 칸을 조금 더 보겠습니다. 방법 칸입니다.
여기를 한 줄로 적고 넘어가는 분이 많습니다. '인터뷰 연구' 이렇게요. 그러면 아무 쓸모가 없습니다.
논문을 읽을 때 무엇을 알아냈는가보다 어떻게 알아냈는가를 보셔야 합니다. 결과는 그 사람 것이지만 방법은 내가 가져다 쓸 수 있거든요.
다섯 가지를 적으세요.
첫째, 무엇을 자료로 삼았는가. 몇 명인지, 어떤 사람인지, 어떻게 골랐는지. 스무 명이면 왜 스무 명인지가 적혀 있을 겁니다.
둘째, 어떻게 모았는가. 인터뷰면 한 번에 몇 분씩 몇 회를 어디서 했는지. 실험이면 조건이 무엇이고 순서가 어떻게 되는지.
셋째 — 이게 가장 안 보시는 겁니다 — 본 조사 전에 무엇을 했는가. 예비조사요. 파일럿이라고도 하지요.
좋은 논문에는 이게 적혀 있습니다. 처음에 이렇게 해 봤더니 이런 문제가 있어서 이렇게 고쳤다. 그 대목이 제일 값집니다. 그 사람이 미리 실패해 준 거니까요.
여러분이 앞으로 할 사전 리서치를 거기서 설계하시면 됩니다. 처음부터 혼자 만드실 필요가 없어요.
넷째, 무엇을 기준으로 판단했는가. 분석 틀이 무엇이고 코딩 기준이 무엇이고 무엇을 측정했는지.
다섯째, 무엇이 안 됐다고 적었는가. 한계 절입니다. 대충 읽고 넘기는 데인데 사실 여기가 내가 들어갈 자리예요. 본인이 못 했다고 적어 놓은 것을 내가 하면 되는 겁니다.
정리하면 이렇습니다. 남의 논문에서 결론만 가져오면 인용 한 줄이 남고, 과정을 가져오면 내 연구 설계가 남습니다.
[운영 메모]
교수님 지시로 넣은 장표다(2026-10-02). 학생들이 선행연구를 '내용 요약'으로만 읽는 것이 문제의 핵심이다. 3번(예비조사)을 특히 강조할 것 — 자기 사전 리서치를 설계할 때 그대로 쓰인다. 5번은 연구 질문을 세우는 자리와 직결된다.
수업에서는 한 편을 띄워 놓고 방법 절을 함께 읽으며 다섯 가지를 짚어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먼저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 지도 초안. 다섯 편을 축 두 개 위에 놓고 내 자리에 점을 찍으세요. 손으로 그려서 사진 찍으셔도 됩니다. 예쁘게 그리는 게 목적이 아닙니다.
셋째,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내가 정의한다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새롭다고 주장한다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왼쪽이 틀린 글은 아닙니다. 다만 물어보면 답이 없어서 심사에서 방어가 되지 않습니다.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592531"/>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457907"/>
            <a:ext cx="10911535" cy="592531"/>
          </a:xfrm>
          <a:prstGeom prst="rect">
            <a:avLst/>
          </a:prstGeom>
          <a:solidFill>
            <a:srgbClr val="FFFFFF"/>
          </a:solidFill>
          <a:ln w="12700">
            <a:solidFill>
              <a:srgbClr val="DCDCDC"/>
            </a:solidFill>
            <a:prstDash val="solid"/>
          </a:ln>
        </p:spPr>
      </p:sp>
      <p:sp>
        <p:nvSpPr>
          <p:cNvPr id="13" name="Text 11"/>
          <p:cNvSpPr/>
          <p:nvPr/>
        </p:nvSpPr>
        <p:spPr>
          <a:xfrm>
            <a:off x="1097280" y="2549347"/>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549347"/>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196742"/>
            <a:ext cx="10911535" cy="592531"/>
          </a:xfrm>
          <a:prstGeom prst="rect">
            <a:avLst/>
          </a:prstGeom>
          <a:solidFill>
            <a:srgbClr val="FFFFFF"/>
          </a:solidFill>
          <a:ln w="12700">
            <a:solidFill>
              <a:srgbClr val="DCDCDC"/>
            </a:solidFill>
            <a:prstDash val="solid"/>
          </a:ln>
        </p:spPr>
      </p:sp>
      <p:sp>
        <p:nvSpPr>
          <p:cNvPr id="16" name="Text 14"/>
          <p:cNvSpPr/>
          <p:nvPr/>
        </p:nvSpPr>
        <p:spPr>
          <a:xfrm>
            <a:off x="1097280" y="3288182"/>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288182"/>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3935578"/>
            <a:ext cx="10911535" cy="592531"/>
          </a:xfrm>
          <a:prstGeom prst="rect">
            <a:avLst/>
          </a:prstGeom>
          <a:solidFill>
            <a:srgbClr val="FFFFFF"/>
          </a:solidFill>
          <a:ln w="12700">
            <a:solidFill>
              <a:srgbClr val="DCDCDC"/>
            </a:solidFill>
            <a:prstDash val="solid"/>
          </a:ln>
        </p:spPr>
      </p:sp>
      <p:sp>
        <p:nvSpPr>
          <p:cNvPr id="19" name="Text 17"/>
          <p:cNvSpPr/>
          <p:nvPr/>
        </p:nvSpPr>
        <p:spPr>
          <a:xfrm>
            <a:off x="1097280" y="4027018"/>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027018"/>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674413"/>
            <a:ext cx="10911535" cy="592531"/>
          </a:xfrm>
          <a:prstGeom prst="rect">
            <a:avLst/>
          </a:prstGeom>
          <a:solidFill>
            <a:srgbClr val="111111"/>
          </a:solidFill>
          <a:ln w="12700">
            <a:solidFill>
              <a:srgbClr val="111111"/>
            </a:solidFill>
            <a:prstDash val="solid"/>
          </a:ln>
        </p:spPr>
      </p:sp>
      <p:sp>
        <p:nvSpPr>
          <p:cNvPr id="22" name="Text 20"/>
          <p:cNvSpPr/>
          <p:nvPr/>
        </p:nvSpPr>
        <p:spPr>
          <a:xfrm>
            <a:off x="1097280" y="4765853"/>
            <a:ext cx="3291840" cy="409651"/>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4765853"/>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5577840"/>
            <a:ext cx="10911535" cy="7315"/>
          </a:xfrm>
          <a:prstGeom prst="rect">
            <a:avLst/>
          </a:prstGeom>
          <a:solidFill>
            <a:srgbClr val="111111"/>
          </a:solidFill>
          <a:ln w="12700">
            <a:solidFill>
              <a:srgbClr val="111111"/>
            </a:solidFill>
            <a:prstDash val="solid"/>
          </a:ln>
        </p:spPr>
      </p:sp>
      <p:sp>
        <p:nvSpPr>
          <p:cNvPr id="25" name="Text 23"/>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2번에서 대부분 막힙니다. 한국어 주제어를 그대로 옮기지 말고, 그 분야가 쓰는 말을 빌려 오세요.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방법 칸에 적을 다섯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알아냈는가보다 어떻게 알아냈는가를 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자료로 삼았는가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명인지, 어떤 사람인지, 어떻게 골랐는지. 수와 선정 기준까지 적습니다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자료</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모았는가</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인터뷰면 한 번에 몇 분씩 몇 회를 어디서. 실험이면 조건과 순서</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 조사 전에 무엇을 했는가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예비조사에서 무엇을 고쳤는지 적힌 논문이 가장 값집니다. 내 사전 리서치를 거기서 설계합니다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사전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기준으로 판단했는가</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분석 틀 · 코딩 기준 · 측정 지표. 같은 자료를 봐도 기준이 다르면 결론이 달라집니다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무엇이 안 됐다고 적었는가</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한계 절입니다. 본인이 못 했다고 적어 둔 자리가 내가 들어갈 자리입니다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한계</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결론만 가져오면 인용 한 줄이 남고, 과정을 가져오면 내 연구 설계가 남습니다.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여기까지 하면 과제의 절반이 끝납니다. 검색어가 안 나오면 혼자 고민하지 말고 손을 드세요.</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한 편을 열어 방법 절에서 다섯 가지를 찾아봤다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45" name="Shape 43"/>
          <p:cNvSpPr/>
          <p:nvPr/>
        </p:nvSpPr>
        <p:spPr>
          <a:xfrm>
            <a:off x="640080" y="5468112"/>
            <a:ext cx="10911535" cy="7315"/>
          </a:xfrm>
          <a:prstGeom prst="rect">
            <a:avLst/>
          </a:prstGeom>
          <a:solidFill>
            <a:srgbClr val="111111"/>
          </a:solidFill>
          <a:ln w="12700">
            <a:solidFill>
              <a:srgbClr val="111111"/>
            </a:solidFill>
            <a:prstDash val="solid"/>
          </a:ln>
        </p:spPr>
      </p:sp>
      <p:sp>
        <p:nvSpPr>
          <p:cNvPr id="46" name="Text 44"/>
          <p:cNvSpPr/>
          <p:nvPr/>
        </p:nvSpPr>
        <p:spPr>
          <a:xfrm>
            <a:off x="640080" y="557784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방법 칸은 오늘 본 다섯 가지로 쪼개 적습니다 — 자료 · 절차 · 예비조사 · 판단 기준 · 한계.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지도 초안 · 3회차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2026-10-06T13:04:15Z</dcterms:created>
  <dcterms:modified xsi:type="dcterms:W3CDTF">2026-10-06T13:04:15Z</dcterms:modified>
</cp:coreProperties>
</file>