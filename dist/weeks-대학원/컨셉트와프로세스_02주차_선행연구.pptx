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쓸모를 먼저 보고, 그다음에 조금 다른 이야기를 하나 하겠습니다. 선행연구를 읽는 일이 왜 논문 쓰는 법을 배우는 일이기도 한지요.
[운영 메모]
35분 구간. 쓸모 다섯 가지를 빠르게 지나고 '논문의 생김새' 두 장에 시간을 더 쓸 것 — 2026-10-06 교수님 지시로 들어간 자리다.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일을 다섯 가지로 적어 왔습니다. 빠르게 보겠습니다.
제일 큰 건 내 자리를 정하는 일입니다. 남들이 어디까지 갔는지 알아야 내가 어디서 시작하는지 말할 수 있어요. 기여 진술이라는 게 결국 이겁니다.
겹치지 않게 해 주는 것도 있고요. 삼 년을 쓰고 나서 같은 걸 누가 2015년에 했다는 걸 알게 되면 어떻겠습니까. 실제로 일어나는 일입니다.
방법도 빌려 옵니다. 연구 방법을 처음부터 혼자 설계하는 사람은 없어요. 비슷한 문제를 다룬 사람이 쓴 걸 가져다 고쳐 씁니다. 그게 정상입니다.
개념도 마찬가지고요. 지난 회차 이야기와 이어집니다. 동반감이니 문화적 정체성이니 하는 말에는 이미 주인이 있어요. 누가 어떻게 정의했는지 알고 쓰셔야 합니다.
마지막은 심사입니다. 첫 질문이 대개 이겁니다. 이 분야를 얼마나 아십니까. 여기서 막히면 그다음 이야기가 진행되지 않아요.
1번과 4번이 지난 회차와 이어진다고 적어 뒀는데, 내 개념이 어느 층위인지는 남의 개념을 알아야 정해지기 때문입니다.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잠깐 다른 이야기를 하겠습니다.
논문을 처음부터 끝까지 읽어 보신 게 몇 편이나 되십니까.
박사과정에 들어와서 가장 당황스러운 게 이겁니다. 논문을 써야 하는데, 논문이 어떻게 생긴 글인지를 배운 적이 없어요.
학부에서 리포트를 쓰셨고 석사에서 한 편을 쓰셨겠지만, 대개는 지도교수가 고쳐 준 걸 따라간 겁니다. 구조를 익힌 게 아니고요.
그런데 그걸 가르치는 과목이 따로 없습니다. 있다면 이 수업이겠지만 저도 다 못 가르칩니다.
방법이 하나 있긴 해요. 남의 논문을 다섯 편 제대로 읽는 겁니다.
읽는 동안 두 가지가 같이 들어옵니다.
하나는 이 분야가 지금 무엇을 아는가. 내용이지요. 이건 다들 그렇게 읽으십니다.
다른 하나가 오늘 말씀드리려는 겁니다. 이 분야에서 논문이 어떻게 생겼는가. 어느 절이 어떤 일을 하고, 분량을 어떻게 나누고, 주장을 어디까지 밀었다가 어디서 멈추는가.
앞의 것은 내 논문의 내용이 되고, 뒤의 것은 내 논문의 뼈대가 됩니다.
뼈대를 안 배우면 어떻게 되느냐. 쓸 말은 있는데 어디에 써야 할지를 모르게 됩니다. 쓰다 보면 서론이 열 쪽이 되고 연구 방법이 한 쪽이 돼요. 그런 원고를 매년 봅니다.
그러니까 선행연구는 재료를 모으는 일이면서, 동시에 글의 꼴을 배우는 일입니다.
[운영 메모]
학생들이 '논문 쓰는 법'을 정식으로 배운 적이 없다는 전제에서 시작할 것. 이 장표가 교수님이 2026-10-06 에 지시하신 내용의 자리다 — 선행연구를 재료 수집으로만 다루면 글의 꼴을 배우는 기회를 놓친다.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편을 해부해 보겠습니다. 왼쪽입니다.
서론이 하는 일은 하나예요. 무엇이 왜 문제인지 세우는 겁니다. 분량은 대개 전체의 열에 하나고요. 여기가 길어지면 할 말이 아직 정리가 안 됐다는 뜻입니다.
이론적 배경은 내가 쓰는 말의 주인을 밝히는 자리입니다. 선행연구가 여기 들어갑니다.
연구 방법은 기준이 분명해요. 남이 이걸 읽고 그대로 해 볼 수 있어야 합니다. 그 정도로 적는 겁니다.
결과와 논의를 왜 나누는지 아십니까.
결과에는 나온 것만 적습니다. 해석을 안 해요. 해석은 논의에서 합니다.
이 둘을 섞는 원고가 정말 많습니다. 결과를 적으면서 '이는 ~를 의미한다'를 바로 붙이는 거죠. 그러면 읽는 사람이 사실과 저자의 생각을 구별할 수가 없습니다.
결론은 질문에 답하고 멈춥니다. 새 이야기를 꺼내지 않아요. 결론에서 처음 나오는 개념이 있으면 그 논문은 아직 안 끝난 겁니다.
오른쪽은 읽으면서 자로 재듯 세어 두실 것들입니다.
절마다 몇 쪽인지 세어 보세요. 그 비율이 이 분야의 관습입니다. 분야마다 달라요. 공학 쪽은 방법이 길고 인문 쪽은 배경이 깁니다.
인용이 어디에 몰려 있는지도 보십시오. 보통 배경 절에 몰리는데, 좋은 논문은 논의에서도 인용이 나옵니다. 자기 결과를 남의 결과와 견주는 거예요.
세 번째가 미묘한데 중요합니다. 저자가 '~일 것이다'와 '~이다'를 어디서 갈라 쓰는지 보세요. 연구자는 자기가 보여 준 것과 짐작한 것을 문장으로 구별합니다. 이게 안 되면 논문 전체가 추측처럼 읽힙니다.
그림과 표는 글로 쓴 걸 다시 그리지 않습니다. 겹치면 둘 중 하나를 빼야 해요.
마지막으로 한계를 몇 줄 적었는지 보십시오. 너무 짧으면 자신이 없는 거고, 적당하면 자기 연구의 범위를 아는 겁니다.
그래서 오늘 과제가 하나 늘었습니다.
다섯 편 중에 내 연구와 가장 가까운 한 편을 고르세요. 그리고 그 논문의 목차를 그대로 옮겨 적으십시오. 절 제목과 쪽수까지요.
베끼라는 게 아닙니다. 뼈대를 가져오는 겁니다. 내용은 내 걸로 채우시고요.
그게 여러분 논문의 첫 목차가 됩니다.
[운영 메모]
목차를 옮겨 적는 과제가 이 장표의 실질이다. '체계를 이해하라'는 추상적 조언 대신 손에 잡히는 작업으로 준다. 결과와 논의를 섞는 문제는 두 학생 모두에게 나타날 가능성이 높으므로 사례를 하나 띄워 놓고 함께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정리표의 세 번째 칸을 조금 더 보겠습니다. 방법 칸입니다.
여기를 한 줄로 적고 넘어가는 분이 많습니다. '인터뷰 연구' 이렇게요. 그러면 아무 쓸모가 없습니다.
논문을 읽을 때 무엇을 알아냈는가보다 어떻게 알아냈는가를 보셔야 합니다. 결과는 그 사람 것이지만 방법은 내가 가져다 쓸 수 있거든요.
다섯 가지를 적으세요.
첫째, 무엇을 자료로 삼았는가. 몇 명인지, 어떤 사람인지, 어떻게 골랐는지. 스무 명이면 왜 스무 명인지가 적혀 있을 겁니다.
둘째, 어떻게 모았는가. 인터뷰면 한 번에 몇 분씩 몇 회를 어디서 했는지. 실험이면 조건이 무엇이고 순서가 어떻게 되는지.
셋째 — 이게 가장 안 보시는 겁니다 — 본 조사 전에 무엇을 했는가. 예비조사요. 파일럿이라고도 하지요.
좋은 논문에는 이게 적혀 있습니다. 처음에 이렇게 해 봤더니 이런 문제가 있어서 이렇게 고쳤다. 그 대목이 제일 값집니다. 그 사람이 미리 실패해 준 거니까요.
여러분이 앞으로 할 사전 리서치를 거기서 설계하시면 됩니다. 처음부터 혼자 만드실 필요가 없어요.
넷째, 무엇을 기준으로 판단했는가. 분석 틀이 무엇이고 코딩 기준이 무엇이고 무엇을 측정했는지.
다섯째, 무엇이 안 됐다고 적었는가. 한계 절입니다. 대충 읽고 넘기는 데인데 사실 여기가 내가 들어갈 자리예요. 본인이 못 했다고 적어 놓은 것을 내가 하면 되는 겁니다.
정리하면 이렇습니다. 남의 논문에서 결론만 가져오면 인용 한 줄이 남고, 과정을 가져오면 내 연구 설계가 남습니다.
[운영 메모]
교수님 지시로 넣은 장표다(2026-10-02). 학생들이 선행연구를 '내용 요약'으로만 읽는 것이 문제의 핵심이다. 3번(예비조사)을 특히 강조할 것 — 자기 사전 리서치를 설계할 때 그대로 쓰인다. 5번은 연구 질문을 세우는 자리와 직결된다.
수업에서는 한 편을 띄워 놓고 방법 절을 함께 읽으며 다섯 가지를 짚어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과제가 네 가지입니다. 하나가 늘었어요.
먼저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둘째가 오늘 늘어난 겁니다. 다섯 편 중에 내 연구와 가장 가까운 한 편을 고르세요. 그리고 그 논문의 목차를 절 제목과 쪽수까지 그대로 옮겨 적으십시오. 그 아래에 내 논문에서 그 절이 뭐가 될지 한 줄씩 다시고요.
한 시간이면 됩니다. 그런데 이게 나중에 몇 주를 아껴 줍니다. 목차 없이 쓰기 시작하면 서론만 세 번 고쳐 쓰게 돼요.
셋째, 지도 초안. 다섯 편을 축 두 개 위에 놓고 내 자리에 점을 찍으세요. 손으로 그려서 사진 찍으셔도 됩니다. 예쁘게 그리는 게 목적이 아닙니다.
마지막으로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가장 가까운 한 편의 목차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SYSTEM</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쓸 말이 있는 것과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어디에 쓸지 아는 것은 다릅니다.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다섯 편을 읽는 동안 두 가지가 같이 들어옵니다. 이 분야가 지금 무엇을 아는가, 그리고 이 분야에서 논문이 어떻게 생겼는가. 앞의 것은 내 논문의 내용이 되고, 뒤의 것은 내 논문의 뼈대가 됩니다. 뼈대를 배우지 않으면 서론이 열 쪽이 되고 연구 방법이 한 쪽이 되는 원고가 나옵니다.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ANATOMY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논문 한 편을 해부하면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내용과 함께 생김새를 재어 둡니다.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절이 맡은 일</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서론 — 무엇이 왜 문제인지 세웁니다. 대개 전체의 열에 하나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이론적 배경 — 내가 쓰는 말의 주인을 밝힙니다. 선행연구가 여기 들어갑니다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방법 — 남이 읽고 그대로 해 볼 수 있을 만큼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나온 것만 적습니다. 해석은 아직입니다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논의 — 여기서 해석하고, 못 한 것까지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결론 — 질문에 답하고 멈춥니다. 새 이야기를 꺼내지 않습니다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읽으면서 재어 둘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절마다 몇 쪽인가 — 그 비율이 이 분야의 관습입니다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인용이 어디에 몰려 있는가 — 좋은 논문은 논의에서도 인용합니다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'~일 것이다'와 '~이다'를 어디서 갈라 쓰는가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표가 맡은 일 — 글로 쓴 것을 다시 그리지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한계를 몇 줄 적었는가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다섯 편 중 내 연구와 가장 가까운 한 편을 골라 목차를 그대로 옮겨 적으십시오. 절 제목과 쪽수까지. 그것이 내 논문의 첫 뼈대입니다.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내가 정의한다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새롭다고 주장한다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방법 칸에 적을 다섯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알아냈는가보다 어떻게 알아냈는가를 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자료로 삼았는가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명인지, 어떤 사람인지, 어떻게 골랐는지. 수와 선정 기준까지 적습니다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자료</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모았는가</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인터뷰면 한 번에 몇 분씩 몇 회를 어디서. 실험이면 조건과 순서</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 조사 전에 무엇을 했는가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예비조사에서 무엇을 고쳤는지 적힌 논문이 가장 값집니다. 내 사전 리서치를 거기서 설계합니다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사전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기준으로 판단했는가</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분석 틀 · 코딩 기준 · 측정 지표. 같은 자료를 봐도 기준이 다르면 결론이 달라집니다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무엇이 안 됐다고 적었는가</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한계 절입니다. 본인이 못 했다고 적어 둔 자리가 내가 들어갈 자리입니다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한계</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결론만 가져오면 인용 한 줄이 남고, 과정을 가져오면 내 연구 설계가 남습니다.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한 편을 열어 방법 절에서 다섯 가지를 찾아봤다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내 연구와 가장 가까운 한 편을 정했다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한 편의 절 제목과 쪽수를 어디에 적을지 정했다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53" name="Shape 51"/>
          <p:cNvSpPr/>
          <p:nvPr/>
        </p:nvSpPr>
        <p:spPr>
          <a:xfrm>
            <a:off x="640080" y="5559552"/>
            <a:ext cx="10911535" cy="7315"/>
          </a:xfrm>
          <a:prstGeom prst="rect">
            <a:avLst/>
          </a:prstGeom>
          <a:solidFill>
            <a:srgbClr val="111111"/>
          </a:solidFill>
          <a:ln w="12700">
            <a:solidFill>
              <a:srgbClr val="111111"/>
            </a:solidFill>
            <a:prstDash val="solid"/>
          </a:ln>
        </p:spPr>
      </p:sp>
      <p:sp>
        <p:nvSpPr>
          <p:cNvPr id="54" name="Text 52"/>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55" name="Shape 53"/>
          <p:cNvSpPr/>
          <p:nvPr/>
        </p:nvSpPr>
        <p:spPr>
          <a:xfrm>
            <a:off x="640080" y="6291072"/>
            <a:ext cx="10911535" cy="7315"/>
          </a:xfrm>
          <a:prstGeom prst="rect">
            <a:avLst/>
          </a:prstGeom>
          <a:solidFill>
            <a:srgbClr val="DCDCDC"/>
          </a:solidFill>
          <a:ln w="12700">
            <a:solidFill>
              <a:srgbClr val="DCDCDC"/>
            </a:solidFill>
            <a:prstDash val="solid"/>
          </a:ln>
        </p:spPr>
      </p:sp>
      <p:sp>
        <p:nvSpPr>
          <p:cNvPr id="56" name="Text 5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57" name="Text 5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방법 칸은 오늘 본 다섯 가지로 쪼개 적습니다 — 자료 · 절차 · 예비조사 · 판단 기준 · 한계.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가장 가까운 한 편의 목차</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 중 내 연구와 가장 가까운 한 편을 골라 절 제목과 쪽수를 그대로 옮겨 적습니다. 그 아래에 내 논문에서 그 절이 무엇이 될지 한 줄씩 답니다. 이것이 내 목차의 출발점입니다.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24" name="Shape 22"/>
          <p:cNvSpPr/>
          <p:nvPr/>
        </p:nvSpPr>
        <p:spPr>
          <a:xfrm>
            <a:off x="640080" y="4791456"/>
            <a:ext cx="6309360" cy="896112"/>
          </a:xfrm>
          <a:prstGeom prst="rect">
            <a:avLst/>
          </a:prstGeom>
          <a:solidFill>
            <a:srgbClr val="FFFFFF"/>
          </a:solidFill>
          <a:ln w="12700">
            <a:solidFill>
              <a:srgbClr val="DCDCDC"/>
            </a:solidFill>
            <a:prstDash val="solid"/>
          </a:ln>
        </p:spPr>
      </p:sp>
      <p:sp>
        <p:nvSpPr>
          <p:cNvPr id="25" name="Shape 23"/>
          <p:cNvSpPr/>
          <p:nvPr/>
        </p:nvSpPr>
        <p:spPr>
          <a:xfrm>
            <a:off x="969264" y="5065776"/>
            <a:ext cx="329184" cy="329184"/>
          </a:xfrm>
          <a:prstGeom prst="ellipse">
            <a:avLst/>
          </a:prstGeom>
          <a:solidFill>
            <a:srgbClr val="111111"/>
          </a:solidFill>
          <a:ln w="12700">
            <a:solidFill>
              <a:srgbClr val="111111"/>
            </a:solidFill>
            <a:prstDash val="solid"/>
          </a:ln>
        </p:spPr>
      </p:sp>
      <p:sp>
        <p:nvSpPr>
          <p:cNvPr id="26" name="Text 24"/>
          <p:cNvSpPr/>
          <p:nvPr/>
        </p:nvSpPr>
        <p:spPr>
          <a:xfrm>
            <a:off x="969264" y="50657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4</a:t>
            </a:r>
            <a:endParaRPr lang="en-US" sz="1100" dirty="0"/>
          </a:p>
        </p:txBody>
      </p:sp>
      <p:sp>
        <p:nvSpPr>
          <p:cNvPr id="27" name="Text 25"/>
          <p:cNvSpPr/>
          <p:nvPr/>
        </p:nvSpPr>
        <p:spPr>
          <a:xfrm>
            <a:off x="1426464" y="4882896"/>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8" name="Text 26"/>
          <p:cNvSpPr/>
          <p:nvPr/>
        </p:nvSpPr>
        <p:spPr>
          <a:xfrm>
            <a:off x="1426464" y="5193792"/>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9" name="Shape 27"/>
          <p:cNvSpPr/>
          <p:nvPr/>
        </p:nvSpPr>
        <p:spPr>
          <a:xfrm>
            <a:off x="640080" y="5833872"/>
            <a:ext cx="6309360" cy="7315"/>
          </a:xfrm>
          <a:prstGeom prst="rect">
            <a:avLst/>
          </a:prstGeom>
          <a:solidFill>
            <a:srgbClr val="111111"/>
          </a:solidFill>
          <a:ln w="12700">
            <a:solidFill>
              <a:srgbClr val="111111"/>
            </a:solidFill>
            <a:prstDash val="solid"/>
          </a:ln>
        </p:spPr>
      </p:sp>
      <p:sp>
        <p:nvSpPr>
          <p:cNvPr id="30" name="Text 28"/>
          <p:cNvSpPr/>
          <p:nvPr/>
        </p:nvSpPr>
        <p:spPr>
          <a:xfrm>
            <a:off x="640080" y="5925312"/>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31" name="Shape 29"/>
          <p:cNvSpPr/>
          <p:nvPr/>
        </p:nvSpPr>
        <p:spPr>
          <a:xfrm>
            <a:off x="7351776" y="1719072"/>
            <a:ext cx="4199839" cy="3803904"/>
          </a:xfrm>
          <a:prstGeom prst="rect">
            <a:avLst/>
          </a:prstGeom>
          <a:solidFill>
            <a:srgbClr val="111111"/>
          </a:solidFill>
          <a:ln w="12700">
            <a:solidFill>
              <a:srgbClr val="111111"/>
            </a:solidFill>
            <a:prstDash val="solid"/>
          </a:ln>
        </p:spPr>
      </p:sp>
      <p:sp>
        <p:nvSpPr>
          <p:cNvPr id="32" name="Text 3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33" name="Text 3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34" name="Text 3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5" name="Shape 33"/>
          <p:cNvSpPr/>
          <p:nvPr/>
        </p:nvSpPr>
        <p:spPr>
          <a:xfrm>
            <a:off x="7735824" y="3346704"/>
            <a:ext cx="3431743" cy="7315"/>
          </a:xfrm>
          <a:prstGeom prst="rect">
            <a:avLst/>
          </a:prstGeom>
          <a:solidFill>
            <a:srgbClr val="333333"/>
          </a:solidFill>
          <a:ln w="12700">
            <a:solidFill>
              <a:srgbClr val="333333"/>
            </a:solidFill>
            <a:prstDash val="solid"/>
          </a:ln>
        </p:spPr>
      </p:sp>
      <p:sp>
        <p:nvSpPr>
          <p:cNvPr id="36" name="Text 3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7" name="Shape 35"/>
          <p:cNvSpPr/>
          <p:nvPr/>
        </p:nvSpPr>
        <p:spPr>
          <a:xfrm>
            <a:off x="7735824" y="4700016"/>
            <a:ext cx="3431743" cy="7315"/>
          </a:xfrm>
          <a:prstGeom prst="rect">
            <a:avLst/>
          </a:prstGeom>
          <a:solidFill>
            <a:srgbClr val="333333"/>
          </a:solidFill>
          <a:ln w="12700">
            <a:solidFill>
              <a:srgbClr val="333333"/>
            </a:solidFill>
            <a:prstDash val="solid"/>
          </a:ln>
        </p:spPr>
      </p:sp>
      <p:sp>
        <p:nvSpPr>
          <p:cNvPr id="38" name="Text 3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9" name="Text 3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한 편의 목차 · 지도 초안 · 3회차 리딩</a:t>
            </a:r>
            <a:endParaRPr lang="en-US" sz="1100" dirty="0"/>
          </a:p>
        </p:txBody>
      </p:sp>
      <p:sp>
        <p:nvSpPr>
          <p:cNvPr id="40" name="Shape 38"/>
          <p:cNvSpPr/>
          <p:nvPr/>
        </p:nvSpPr>
        <p:spPr>
          <a:xfrm>
            <a:off x="640080" y="6291072"/>
            <a:ext cx="10911535" cy="7315"/>
          </a:xfrm>
          <a:prstGeom prst="rect">
            <a:avLst/>
          </a:prstGeom>
          <a:solidFill>
            <a:srgbClr val="DCDCDC"/>
          </a:solidFill>
          <a:ln w="12700">
            <a:solidFill>
              <a:srgbClr val="DCDCDC"/>
            </a:solidFill>
            <a:prstDash val="solid"/>
          </a:ln>
        </p:spPr>
      </p:sp>
      <p:sp>
        <p:nvSpPr>
          <p:cNvPr id="41" name="Text 3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2" name="Text 4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2026-10-06T11:27:12Z</dcterms:created>
  <dcterms:modified xsi:type="dcterms:W3CDTF">2026-10-06T11:27:12Z</dcterms:modified>
</cp:coreProperties>
</file>