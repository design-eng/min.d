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[운영 메모]
25분 구간. 다섯 가지를 다 말하되 1번과 5번에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일이 다섯 가지입니다.
첫째, 내 자리를 정합니다. 이게 제일 중요해요. 남들이 어디까지 갔는지 알아야 내가 어디서 시작하는지 말할 수 있습니다. 기여 진술이라는 게 결국 이겁니다.
둘째, 이미 푼 문제를 다시 풀지 않게 합니다. 삼 년을 쓰고 나서 같은 걸 누가 2015년에 했다는 걸 알게 되면 어떻겠습니까. 실제로 일어나는 일입니다.
셋째, 방법을 빌려옵니다. 연구 방법을 처음부터 설계하는 사람은 없습니다. 비슷한 문제를 다룬 사람이 쓴 방법을 가져다 고쳐 씁니다. 그게 정상이에요.
넷째, 개념을 빌려옵니다. 지난 회차에 이야기한 것과 이어집니다. 동반감이니 문화적 정체성이니 하는 말에는 이미 주인이 있습니다. 누가 어떻게 정의했는지 알고 써야 합니다.
다섯째, 심사에 대비합니다. 심사에서 처음 나오는 질문이 대개 이겁니다. 이 분야를 얼마나 아십니까. 대답이 안 되면 그다음 이야기가 진행되지 않습니다.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정리표의 세 번째 칸을 조금 더 보겠습니다. 방법 칸입니다.
여기를 한 줄로 적고 넘어가는 분이 많습니다. '인터뷰 연구' 이렇게요. 그러면 아무 쓸모가 없습니다.
논문을 읽을 때 무엇을 알아냈는가보다 어떻게 알아냈는가를 보셔야 합니다. 결과는 그 사람 것이지만 방법은 내가 가져다 쓸 수 있거든요.
다섯 가지를 적으세요.
첫째, 무엇을 자료로 삼았는가. 몇 명인지, 어떤 사람인지, 어떻게 골랐는지. 스무 명이면 왜 스무 명인지가 적혀 있을 겁니다.
둘째, 어떻게 모았는가. 인터뷰면 한 번에 몇 분씩 몇 회를 어디서 했는지. 실험이면 조건이 무엇이고 순서가 어떻게 되는지.
셋째 — 이게 가장 안 보시는 겁니다 — 본 조사 전에 무엇을 했는가. 예비조사요. 파일럿이라고도 하지요.
좋은 논문에는 이게 적혀 있습니다. 처음에 이렇게 해 봤더니 이런 문제가 있어서 이렇게 고쳤다. 그 대목이 제일 값집니다. 그 사람이 미리 실패해 준 거니까요.
여러분이 앞으로 할 사전 리서치를 거기서 설계하시면 됩니다. 처음부터 혼자 만드실 필요가 없어요.
넷째, 무엇을 기준으로 판단했는가. 분석 틀이 무엇이고 코딩 기준이 무엇이고 무엇을 측정했는지.
다섯째, 무엇이 안 됐다고 적었는가. 한계 절입니다. 대충 읽고 넘기는 데인데 사실 여기가 내가 들어갈 자리예요. 본인이 못 했다고 적어 놓은 것을 내가 하면 되는 겁니다.
정리하면 이렇습니다. 남의 논문에서 결론만 가져오면 인용 한 줄이 남고, 과정을 가져오면 내 연구 설계가 남습니다.
[운영 메모]
교수님 지시로 넣은 장표다(2026-10-02). 학생들이 선행연구를 '내용 요약'으로만 읽는 것이 문제의 핵심이다. 3번(예비조사)을 특히 강조할 것 — 자기 사전 리서치를 설계할 때 그대로 쓰인다. 5번은 연구 질문을 세우는 자리와 직결된다.
수업에서는 한 편을 띄워 놓고 방법 절을 함께 읽으며 다섯 가지를 짚어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첫째,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 지도 초안. 다섯 편을 축 두 개 위에 놓고 내 자리에 점을 찍으세요. 손으로 그려서 사진 찍으셔도 됩니다. 예쁘게 그리는 게 목적이 아닙니다.
셋째,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내가 정의한다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새롭다고 주장한다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방법 칸에 적을 다섯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알아냈는가보다 어떻게 알아냈는가를 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자료로 삼았는가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명인지, 어떤 사람인지, 어떻게 골랐는지. 수와 선정 기준까지 적습니다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자료</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모았는가</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인터뷰면 한 번에 몇 분씩 몇 회를 어디서. 실험이면 조건과 순서</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 조사 전에 무엇을 했는가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예비조사에서 무엇을 고쳤는지 적힌 논문이 가장 값집니다. 내 사전 리서치를 거기서 설계합니다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사전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기준으로 판단했는가</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분석 틀 · 코딩 기준 · 측정 지표. 같은 자료를 봐도 기준이 다르면 결론이 달라집니다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무엇이 안 됐다고 적었는가</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한계 절입니다. 본인이 못 했다고 적어 둔 자리가 내가 들어갈 자리입니다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한계</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결론만 가져오면 인용 한 줄이 남고, 과정을 가져오면 내 연구 설계가 남습니다.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한 편을 열어 방법 절에서 다섯 가지를 찾아봤다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45" name="Shape 43"/>
          <p:cNvSpPr/>
          <p:nvPr/>
        </p:nvSpPr>
        <p:spPr>
          <a:xfrm>
            <a:off x="640080" y="5468112"/>
            <a:ext cx="10911535" cy="7315"/>
          </a:xfrm>
          <a:prstGeom prst="rect">
            <a:avLst/>
          </a:prstGeom>
          <a:solidFill>
            <a:srgbClr val="111111"/>
          </a:solidFill>
          <a:ln w="12700">
            <a:solidFill>
              <a:srgbClr val="111111"/>
            </a:solidFill>
            <a:prstDash val="solid"/>
          </a:ln>
        </p:spPr>
      </p:sp>
      <p:sp>
        <p:nvSpPr>
          <p:cNvPr id="46" name="Text 44"/>
          <p:cNvSpPr/>
          <p:nvPr/>
        </p:nvSpPr>
        <p:spPr>
          <a:xfrm>
            <a:off x="640080" y="557784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방법 칸은 오늘 본 다섯 가지로 쪼개 적습니다 — 자료 · 절차 · 예비조사 · 판단 기준 · 한계.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지도 초안 · 3회차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2026-10-06T10:57:46Z</dcterms:created>
  <dcterms:modified xsi:type="dcterms:W3CDTF">2026-10-06T10:57:46Z</dcterms:modified>
</cp:coreProperties>
</file>