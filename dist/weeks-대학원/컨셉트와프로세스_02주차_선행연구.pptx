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 시간입니다.
원래 오늘은 디자인 방법론의 계보를 읽기로 했는데 바꿨습니다. 한 주 미루고 오늘은 선행연구를 다루겠습니다.
이유를 말씀드리는 게 맞겠네요.
지난주 연구 주제 1페이지를 받아서 읽었습니다. 각자 자기 연구를 성실하게 쓰셨어요. 그런데 공통으로 빠진 것이 하나 있었습니다. 선행연구가 한 편도 없었습니다.
이게 글을 덜 쓴 문제가 아닙니다. 남이 이미 무엇을 해 놓았는지 모르면 내 연구가 새로운지 알 수 없어요. 새롭다고 주장할 수도 없고요.
박사과정에서 이건 미루면 안 되는 일입니다. 그래서 오늘 한 회차를 씁니다.
오늘이 끝나면 각자 다섯 편을 찾아서 정리표에 채워 넣은 상태가 됩니다. 노트북을 열어 두세요. 오늘은 계속 검색하실 겁니다.
[운영 메모]
학생들을 나무라는 자리로 만들지 말 것. '몰라서 못 한 것'으로 다루고 방법을 주는 데 집중한다. 1회차 과제를 돌려주며 시작하면 자연스럽다. 도서관 전자저널 접근을 수업 전에 확인해 둘 것 — 검색은 되는데 원문이 안 열리면 워크숍이 멈춘다.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본론 전에 일정을 정리하겠습니다.
격주라 전체가 여덟 번입니다. 오늘 선행연구를 넣으면서 뒤가 한 주씩 밀렸습니다.
계보 구간은 오늘과 다음 두 번. 3회차에 방법론 운동의 계보, 4회차에 Wicked Problems 입니다.
기제 구간은 5회차와 6회차. 리서치 패러다임과 Research through Design, 그리고 abduction 과 frame creation. 5회차에 각자의 컨셉 진술을 발표하십니다.
확장은 7회차 한 번으로 묶었습니다. 더블 다이아몬드 비판, 참여디자인, 스페큘러티브, 데이터와 AI 환경까지. 리딩이 가장 많은 회차가 될 겁니다.
8회차가 프로포절 발표와 상호 리뷰입니다.
오늘 한 회차를 쓰는 대신 확장 구간을 줄였습니다. 선행연구를 모르고 가면 5회차 컨셉 진술에서 같은 문제가 또 나오기 때문입니다.
[운영 메모]
9/29 에 다시 짠 배치다. 2회차 선행연구를 넣고 확장 구간(원래 6·7회)을 7회 한 번으로 합쳤다. 프로포절 분량은 아직 8,000자인데 회차가 준 만큼 조정할지 오늘 학생들과 정할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질문 하나로 시작하겠습니다.
당신의 연구가 새롭다는 것을 누가 압니까.
본인은 압니다. 새롭다고 생각하니까 시작하셨겠지요.
그런데 심사위원은 모릅니다. 그분들이 아는 건 이 분야에 이미 무엇이 있는지예요. 그 위에 당신 연구를 올려놓고 새로운지 판단합니다.
그러니까 새롭다는 것은 혼자 주장할 수 있는 게 아닙니다. 이미 있는 것들을 늘어놓고, 그 사이에 빈자리를 가리키면서, 내가 여기 선다고 말해야 성립합니다.
선행연구는 그 늘어놓는 작업입니다.
지난주에 받은 두 편의 연구 주제를 읽으면서 이 생각을 했습니다. 두 분 다 자기 연구는 성실하게 쓰셨는데, 늘어놓는 작업이 없었어요. 그래서 새로운지 아닌지를 판단할 방법이 없었습니다.
[운영 메모]
이 장표에서 학생 과제를 익명으로 언급하되 비교하지 말 것. '두 분 다'로 묶어서 말하면 지적이 아니라 공통 과제가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왜 하는지부터 봅니다.
왜 하는지를 모르면 형식만 채우게 됩니다. 논문 앞에 남의 연구를 나열해 두고 뒤에서는 한 번도 안 쓰는 절이 되는 거죠. 그런 선행연구는 없느니만 못합니다.
[운영 메모]
25분 구간. 다섯 가지를 다 말하되 1번과 5번에 시간을 더 쓸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선행연구가 하는 일을 다섯 가지로 적어 왔습니다. 빠르게 보겠습니다.
제일 큰 건 내 자리를 정하는 일입니다. 남들이 어디까지 갔는지 알아야 내가 어디서 시작하는지 말할 수 있어요. 기여 진술이라는 게 결국 이겁니다.
겹치지 않게 해 주는 것도 있고요. 삼 년을 쓰고 나서 같은 걸 누가 2015년에 했다는 걸 알게 되면 어떻겠습니까. 실제로 일어나는 일입니다.
방법도 빌려 옵니다. 연구 방법을 처음부터 혼자 설계하는 사람은 없어요. 비슷한 문제를 다룬 사람이 쓴 걸 가져다 고쳐 씁니다. 그게 정상입니다.
개념도 마찬가지고요. 지난 회차 이야기와 이어집니다. 동반감이니 문화적 정체성이니 하는 말에는 이미 주인이 있어요. 누가 어떻게 정의했는지 알고 쓰셔야 합니다.
마지막은 심사입니다. 첫 질문이 대개 이겁니다. 이 분야를 얼마나 아십니까. 여기서 막히면 그다음 이야기가 진행되지 않아요.
1번과 4번이 지난 회차와 이어진다고 적어 뒀는데, 내 개념이 어느 층위인지는 남의 개념을 알아야 정해지기 때문입니다.
[운영 메모]
4번에서 1회차 concept / conception 구분을 다시 꺼낼 것. 두 학생 과제 모두 빌려온 개념을 자기 뜻으로 재정의하고 있었다.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같은 연구인데 쓰기에 따라 이렇게 달라집니다.
왼쪽이 선행연구가 없는 서술, 오른쪽이 있는 서술입니다.
첫 줄. 왼쪽은 이 문제가 중요하다고 말합니다. 오른쪽은 누가 이 문제를 어디까지 다뤘고 무엇이 남았는지 말합니다.
둘째 줄, 방법입니다. 왼쪽은 인터뷰와 설문을 하겠다고 합니다. 오른쪽은 누가 쓴 방법을 왜 고쳐 쓰는지 말합니다.
셋째 줄, 개념이요. 왼쪽은 자기가 정의합니다. 오른쪽은 누구의 정의를 따르고 어디를 바꾸는지 밝힙니다.
넷째 줄이 결과입니다. 왼쪽은 새롭다고 주장만 합니다. 오른쪽은 새로움이 어디에 있는지 가리킬 수 있어요.
왼쪽이 틀린 글은 아닙니다. 다만 심사에서 방어가 안 됩니다. 물어보면 답이 없거든요.
[운영 메모]
두 학생 과제가 모두 왼쪽 열에 해당한다. 직접 지목하지 말고 이 표로 대신할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방법입니다.
여기서부터는 제가 화면을 공유해서 직접 검색해 보이겠습니다. 말로 들으면 다 아는 것 같은데 막상 앉으면 검색창에 무엇을 칠지 모르거든요.
[운영 메모]
25분 구간. 반드시 화면 공유로 실제 검색을 보여 줄 것. 학생 주제 하나를 즉석에서 받아 시연하면 가장 좋다.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다섯 단계로 가시면 됩니다.
첫째, 주제를 개념 단위로 쪼갭니다. 한 문장을 통째로 검색창에 넣으면 아무것도 안 나옵니다. 예를 들어 장거리 연애 커플의 동반감을 원격 인터랙션으로 높인다, 이걸 쪼개면 장거리 관계, 친밀감 매개, 원격 인터랙션, 이렇게 셋입니다.
둘째, 각 개념의 영어 학술 용어를 찾습니다. 여기가 제일 어렵습니다. 직역하면 안 나와요. 방법은 하나입니다. 비슷한 논문 한 편을 어떻게든 찾아서 그 논문의 키워드 목록을 봅니다. 거기 적힌 말이 그 분야에서 쓰는 말입니다.
셋째, 리뷰 논문을 먼저 찾습니다. review 나 survey 를 검색어에 붙이세요. 한 편이 그 분야를 정리해 놓았기 때문에 지형이 한 번에 보입니다. 이걸 건너뛰고 개별 논문부터 읽으면 오래 걸립니다.
넷째, 눈덩이를 굴립니다. 좋은 논문 한 편을 찾으면 뒤로 가고 앞으로 갑니다. 뒤로는 그 논문의 참고문헌, 앞으로는 그 논문을 인용한 논문들. 구글 스칼라에서 인용됨을 누르시면 됩니다.
다섯째, 반복해서 나오는 것을 고릅니다. 여러 논문의 참고문헌에 계속 같은 이름이 나오면 그게 그 분야의 기둥입니다. 그건 반드시 읽어야 합니다.
[운영 메모]
2번 시연이 핵심이다. 학생 주제를 하나 받아 구글 스칼라에서 키워드를 찾아 가는 과정을 그대로 보여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어디서 찾는지도 말씀드리겠습니다.
먼저 구글 스칼라. 여기서 시작하세요. 다 나옵니다. 그리고 인용됨 기능이 있어서 눈덩이 굴리기가 쉽습니다. 학교 계정을 연결해 두면 원문 링크가 바로 뜹니다.
디자인과 HCI 쪽이면 ACM 디지털 라이브러리입니다. CHI, DIS, CSCW 같은 학회 논문이 여기 있습니다. 디자인 연구는 Design Studies, Design Issues, International Journal of Design 이 주요 학술지고요.
국내 연구는 RISS 와 DBpia, KCI 를 보시면 됩니다. 한국디자인학회와 한국기초조형학회 논문들이 여기 있습니다.
그리고 도서관 전자저널. 학교 계정으로 들어가야 원문이 열립니다. 교외에서는 프록시 접속을 설정하셔야 해요. 오늘 안 되시는 분은 말씀해 주세요.
한 가지 더. 찾은 것을 그때그때 저장해 두세요. 조테로 같은 무료 도구를 쓰시면 서지 정보가 자동으로 정리됩니다. 나중에 참고문헌 목록을 손으로 만들지 않아도 됩니다.
[운영 메모]
도서관 접근이 안 되는 학생이 반드시 있다. 수업 중에 각자 로그인을 확인시킬 것. 프록시 설정은 도서관 홈페이지 안내를 띄워 보여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찾았으면 읽어야 합니다.
그런데 논문을 처음부터 끝까지 읽으면 한 편에 며칠이 갑니다. 그렇게 읽으면 다섯 편도 못 봅니다.
읽는 순서가 따로 있습니다.
[운영 메모]
20분 구간. 정리표 양식을 미리 만들어 공유 폴더에 올려 두고 화면에 띄울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읽는 순서부터요.
처음에는 초록과 결론만 봅니다. 이것만 봐도 내 연구에 쓸모가 있는지 없는지 대개 갈립니다. 쓸모없으면 거기서 덮으세요. 아까워하지 마시고요.
남은 것은 그림과 표를 봅니다. 논문에서 제일 밀도가 높은 데가 여깁니다.
그다음 방법 부분. 무엇을 어떻게 했는지. 내가 빌려 올 수 있는지 여기서 판단합니다.
전체를 다 읽는 건 마지막입니다. 다섯 편 중에 두세 편만 이 단계까지 가면 충분합니다.
스무 편을 10분씩 훑고 다섯 편을 정독하는 편이, 다섯 편을 처음부터 끝까지 읽는 것보다 낫습니다.
오른쪽이 정리표입니다. 여섯 칸이에요. 서지, 문제, 방법, 결과, 내 연구와의 관계, 그리고 인용할 문장 하나.
다섯 번째 칸이 핵심입니다. 이 논문이 내 연구에 무엇인가. 방법을 빌릴 것인지, 반대편에 세울 것인지, 개념을 가져올 것인지.
여섯 번째 칸도 꼭 채우세요. 나중에 논문 쓸 때 이 문장들이 그대로 들어갑니다. 지금 모아 두면 다시 찾지 않아도 돼요.
[운영 메모]
여섯 번째 칸이 학기 후반에 값을 한다. 이 칸이 쌓이면 이론적 배경 절이 절반은 써진다는 것을 말해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정리표의 세 번째 칸을 조금 더 보겠습니다. 방법 칸입니다.
여기를 한 줄로 적고 넘어가는 분이 많습니다. '인터뷰 연구' 이렇게요. 그러면 아무 쓸모가 없습니다.
논문을 읽을 때 무엇을 알아냈는가보다 어떻게 알아냈는가를 보셔야 합니다. 결과는 그 사람 것이지만 방법은 내가 가져다 쓸 수 있거든요.
다섯 가지를 적으세요.
첫째, 무엇을 자료로 삼았는가. 몇 명인지, 어떤 사람인지, 어떻게 골랐는지. 스무 명이면 왜 스무 명인지가 적혀 있을 겁니다.
둘째, 어떻게 모았는가. 인터뷰면 한 번에 몇 분씩 몇 회를 어디서 했는지. 실험이면 조건이 무엇이고 순서가 어떻게 되는지.
셋째 — 이게 가장 안 보시는 겁니다 — 본 조사 전에 무엇을 했는가. 예비조사요. 파일럿이라고도 하지요.
좋은 논문에는 이게 적혀 있습니다. 처음에 이렇게 해 봤더니 이런 문제가 있어서 이렇게 고쳤다. 그 대목이 제일 값집니다. 그 사람이 미리 실패해 준 거니까요.
여러분이 앞으로 할 사전 리서치를 거기서 설계하시면 됩니다. 처음부터 혼자 만드실 필요가 없어요.
넷째, 무엇을 기준으로 판단했는가. 분석 틀이 무엇이고 코딩 기준이 무엇이고 무엇을 측정했는지.
다섯째, 무엇이 안 됐다고 적었는가. 한계 절입니다. 대충 읽고 넘기는 데인데 사실 여기가 내가 들어갈 자리예요. 본인이 못 했다고 적어 놓은 것을 내가 하면 되는 겁니다.
정리하면 이렇습니다. 남의 논문에서 결론만 가져오면 인용 한 줄이 남고, 과정을 가져오면 내 연구 설계가 남습니다.
[운영 메모]
교수님 지시로 넣은 장표다(2026-10-02). 학생들이 선행연구를 '내용 요약'으로만 읽는 것이 문제의 핵심이다. 3번(예비조사)을 특히 강조할 것 — 자기 사전 리서치를 설계할 때 그대로 쓰인다. 5번은 연구 질문을 세우는 자리와 직결된다.
수업에서는 한 편을 띄워 놓고 방법 절을 함께 읽으며 다섯 가지를 짚어 보는 편이 빠르다.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정리표까지 하면 목록이 생깁니다. 목록은 아직 지도가 아니에요.
세 단계로 지도를 만듭니다.
첫째, 묶습니다. 비슷한 것끼리 모으세요. 같은 방법을 쓴 것, 같은 문제를 본 것, 같은 결론에 간 것. 묶다 보면 이 분야에 몇 개의 흐름이 있는지 보입니다.
둘째, 축을 찾습니다. 묶음들을 갈라놓는 기준이 뭔지 보세요. 대개 두 개면 됩니다. 그 두 축으로 판을 만들고 논문들을 올려놓습니다.
셋째, 빈칸을 찾습니다. 판 위에 아무도 없는 칸이 있을 겁니다. 그 자리가 후보입니다.
다만 조심하실 게 있어요. 비어 있는 데는 이유가 있을 수 있습니다. 아무도 안 해서 빈 게 아니라 할 필요가 없어서 빈 거일 수도 있어요. 그래서 빈칸을 찾으면 왜 비어 있는지도 같이 생각하셔야 합니다.
지난 회차에 계보도를 그렸지요. 같은 작업입니다. 그때는 이론의 계보였고 이번엔 내 주제의 지도입니다.
[운영 메모]
'빈칸에는 이유가 있을 수 있다'를 반드시 말할 것. 빈 곳을 찾았다고 바로 달려가는 것이 박사 초기의 전형적인 실수다.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직접 하시겠습니다. 30분입니다.
처음 5분. 자기 주제를 개념 두세 개로 쪼개서 적으세요. 한국어로 먼저 적으시면 됩니다.
다음 10분. 영어 학술 용어를 찾습니다. 아까 말씀드린 방법으로요. 비슷한 논문 한 편을 찾아서 그 키워드를 봅니다. 여기서 막히시는 분이 많을 거예요. 손 드시면 같이 보겠습니다.
다음 10분. 리뷰 논문을 찾고 눈덩이를 굴립니다. 목표는 후보 열 편입니다. 아직 읽지 마시고 목록만 만드세요.
마지막 5분. 열 편에서 다섯 편으로 줄입니다. 초록만 보고 고르세요.
오늘 여기까지 하시면 과제의 절반이 끝난 겁니다. 집에 가서 정리표를 채우시면 돼요.
제가 계속 돌아다니겠습니다. 검색어가 안 나오면 그냥 손 드세요. 혼자 30분 고민하는 것보다 물어보는 게 빠릅니다.
[운영 메모]
유학생은 영어 용어 단계에서 오래 걸린다. 10분 지점에서 한 명씩 확인하고, 안 되는 학생은 교수가 직접 용어를 한두 개 던져 줄 것. 그래야 다음 단계로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확인하고 가는 것들입니다.
앞의 넷은 오늘 수업 안에서 되었는지 보시는 것이고, 뒤의 넷은 다음 회차 준비입니다.
세 번째를 특히 보세요. 도서관 원문 접근이 되는가. 이게 안 되면 다음 2주 동안 아무것도 못 합니다. 지금 확인하고 가세요. 안 되시는 분은 끝나고 남아 주세요.
다음은 2주 뒤입니다. 미루면 전날에 몰립니다.
[운영 메모]
도서관 접근 확인은 반드시 수업 안에서 시킬 것. 집에 가서 하라고 하면 2주 뒤에 '안 되더라'로 돌아온다.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먼저 선행연구 다섯 편 정리표. 오늘 찾은 것을 여섯 칸으로 채우세요. 서지, 문제, 방법, 결과, 내 연구와의 관계, 그리고 인용할 문장 하나.
마지막 칸을 빼먹지 마세요. 나중에 논문 쓸 때 이 문장들이 그대로 들어갑니다. 지금 모아 두면 나중에 다시 찾지 않아도 됩니다.
둘째, 지도 초안. 다섯 편을 축 두 개 위에 놓고 내 자리에 점을 찍으세요. 손으로 그려서 사진 찍으셔도 됩니다. 예쁘게 그리는 게 목적이 아닙니다.
셋째, 3회차 리딩입니다. 오늘 미룬 계보 이야기를 다음에 합니다. 존스의 『디자인 방법』 서문과 1장, 알렉산더의 『형태 합성에 관한 노트』 1971년 개정판 서문. 둘 다 짧습니다.
다섯 편이 적다고 생각하실 수 있는데, 제대로 읽고 정리하면 다섯 편도 만만치 않습니다. 대신 대충 스무 편 모으는 것보다 다섯 편을 정확히 아는 쪽이 낫습니다.
2주 뒤에 뵙겠습니다.
[운영 메모]
'인용할 문장 하나' 칸이 실질이다. 이 칸이 쌓이면 나중에 이론적 배경 절이 절반은 써진다. 다섯 편은 적어 보이지만 제대로 하면 충분한 양이다 — 편수를 늘리라는 요구는 하지 말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02</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02  ·  PHASE 1 계보</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선행연구 — 찾고, 읽고, 지도 그리기</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내 연구가 어디에 서 있는지 남의 연구로 확인하고,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다섯 편을 찾아 정리하는 데까지 오늘 갑니다.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컨셉트와 프로세스 · 대학원 박사과정</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선행연구 다섯 편 정리표 · 지도 초안</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SEMESTER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학기 운영 — 여덟 번</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오늘 선행연구를 넣으면서 뒤가 한 주씩 밀렸습니다. 확장 구간을 한 번으로 줄였습니다.</a:t>
            </a:r>
            <a:endParaRPr lang="en-US" sz="1150" dirty="0"/>
          </a:p>
        </p:txBody>
      </p:sp>
      <p:sp>
        <p:nvSpPr>
          <p:cNvPr id="9" name="Shape 7"/>
          <p:cNvSpPr/>
          <p:nvPr/>
        </p:nvSpPr>
        <p:spPr>
          <a:xfrm>
            <a:off x="640080" y="1700784"/>
            <a:ext cx="2480996" cy="3529584"/>
          </a:xfrm>
          <a:prstGeom prst="rect">
            <a:avLst/>
          </a:prstGeom>
          <a:solidFill>
            <a:srgbClr val="111111"/>
          </a:solidFill>
          <a:ln w="12700">
            <a:solidFill>
              <a:srgbClr val="111111"/>
            </a:solidFill>
            <a:prstDash val="solid"/>
          </a:ln>
        </p:spPr>
      </p:sp>
      <p:sp>
        <p:nvSpPr>
          <p:cNvPr id="10" name="Text 8"/>
          <p:cNvSpPr/>
          <p:nvPr/>
        </p:nvSpPr>
        <p:spPr>
          <a:xfrm>
            <a:off x="987552" y="1956816"/>
            <a:ext cx="1786052" cy="420624"/>
          </a:xfrm>
          <a:prstGeom prst="rect">
            <a:avLst/>
          </a:prstGeom>
          <a:noFill/>
          <a:ln/>
        </p:spPr>
        <p:txBody>
          <a:bodyPr wrap="square" lIns="0" tIns="0" rIns="0" bIns="0" rtlCol="0" anchor="ctr"/>
          <a:lstStyle/>
          <a:p>
            <a:pPr indent="0" marL="0">
              <a:buNone/>
            </a:pPr>
            <a:r>
              <a:rPr lang="en-US" sz="1700" dirty="0">
                <a:solidFill>
                  <a:srgbClr val="FFFFFF"/>
                </a:solidFill>
                <a:latin typeface="Pretendard SemiBold" pitchFamily="34" charset="0"/>
                <a:ea typeface="Pretendard SemiBold" pitchFamily="34" charset="-122"/>
                <a:cs typeface="Pretendard SemiBold" pitchFamily="34" charset="-120"/>
              </a:rPr>
              <a:t>계보 · 1–4회</a:t>
            </a:r>
            <a:endParaRPr lang="en-US" sz="1700" dirty="0"/>
          </a:p>
        </p:txBody>
      </p:sp>
      <p:sp>
        <p:nvSpPr>
          <p:cNvPr id="11" name="Text 9"/>
          <p:cNvSpPr/>
          <p:nvPr/>
        </p:nvSpPr>
        <p:spPr>
          <a:xfrm>
            <a:off x="98755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9A9A9A"/>
                </a:solidFill>
                <a:latin typeface="Pretendard" pitchFamily="34" charset="0"/>
                <a:ea typeface="Pretendard" pitchFamily="34" charset="-122"/>
                <a:cs typeface="Pretendard" pitchFamily="34" charset="-120"/>
              </a:rPr>
              <a:t>어디서 왔는가</a:t>
            </a:r>
            <a:endParaRPr lang="en-US" sz="1000" dirty="0"/>
          </a:p>
        </p:txBody>
      </p:sp>
      <p:sp>
        <p:nvSpPr>
          <p:cNvPr id="12" name="Shape 10"/>
          <p:cNvSpPr/>
          <p:nvPr/>
        </p:nvSpPr>
        <p:spPr>
          <a:xfrm>
            <a:off x="987552" y="2798064"/>
            <a:ext cx="1786052" cy="7315"/>
          </a:xfrm>
          <a:prstGeom prst="rect">
            <a:avLst/>
          </a:prstGeom>
          <a:solidFill>
            <a:srgbClr val="333333"/>
          </a:solidFill>
          <a:ln w="12700">
            <a:solidFill>
              <a:srgbClr val="333333"/>
            </a:solidFill>
            <a:prstDash val="solid"/>
          </a:ln>
        </p:spPr>
      </p:sp>
      <p:sp>
        <p:nvSpPr>
          <p:cNvPr id="13" name="Text 11"/>
          <p:cNvSpPr/>
          <p:nvPr/>
        </p:nvSpPr>
        <p:spPr>
          <a:xfrm>
            <a:off x="98755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1회 — 컨셉트의 층위</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2회 — 선행연구 (오늘)</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3회 — 프로세스의 계보</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4회 — Wicked Problems</a:t>
            </a:r>
            <a:endParaRPr lang="en-US" sz="1150" dirty="0"/>
          </a:p>
        </p:txBody>
      </p:sp>
      <p:sp>
        <p:nvSpPr>
          <p:cNvPr id="14" name="Shape 12"/>
          <p:cNvSpPr/>
          <p:nvPr/>
        </p:nvSpPr>
        <p:spPr>
          <a:xfrm>
            <a:off x="3450260" y="1700784"/>
            <a:ext cx="2480996" cy="3529584"/>
          </a:xfrm>
          <a:prstGeom prst="rect">
            <a:avLst/>
          </a:prstGeom>
          <a:solidFill>
            <a:srgbClr val="FFFFFF"/>
          </a:solidFill>
          <a:ln w="12700">
            <a:solidFill>
              <a:srgbClr val="DCDCDC"/>
            </a:solidFill>
            <a:prstDash val="solid"/>
          </a:ln>
        </p:spPr>
      </p:sp>
      <p:sp>
        <p:nvSpPr>
          <p:cNvPr id="15" name="Text 13"/>
          <p:cNvSpPr/>
          <p:nvPr/>
        </p:nvSpPr>
        <p:spPr>
          <a:xfrm>
            <a:off x="379773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기제 · 5–6회</a:t>
            </a:r>
            <a:endParaRPr lang="en-US" sz="1700" dirty="0"/>
          </a:p>
        </p:txBody>
      </p:sp>
      <p:sp>
        <p:nvSpPr>
          <p:cNvPr id="16" name="Text 14"/>
          <p:cNvSpPr/>
          <p:nvPr/>
        </p:nvSpPr>
        <p:spPr>
          <a:xfrm>
            <a:off x="379773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어떻게 만들어지는가</a:t>
            </a:r>
            <a:endParaRPr lang="en-US" sz="1000" dirty="0"/>
          </a:p>
        </p:txBody>
      </p:sp>
      <p:sp>
        <p:nvSpPr>
          <p:cNvPr id="17" name="Shape 15"/>
          <p:cNvSpPr/>
          <p:nvPr/>
        </p:nvSpPr>
        <p:spPr>
          <a:xfrm>
            <a:off x="3797732" y="2798064"/>
            <a:ext cx="1786052" cy="7315"/>
          </a:xfrm>
          <a:prstGeom prst="rect">
            <a:avLst/>
          </a:prstGeom>
          <a:solidFill>
            <a:srgbClr val="111111"/>
          </a:solidFill>
          <a:ln w="12700">
            <a:solidFill>
              <a:srgbClr val="111111"/>
            </a:solidFill>
            <a:prstDash val="solid"/>
          </a:ln>
        </p:spPr>
      </p:sp>
      <p:sp>
        <p:nvSpPr>
          <p:cNvPr id="18" name="Text 16"/>
          <p:cNvSpPr/>
          <p:nvPr/>
        </p:nvSpPr>
        <p:spPr>
          <a:xfrm>
            <a:off x="379773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5회 — 패러다임 정위 · RtD</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5회에 컨셉 진술 발표</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6회 — Abduction · frame creation</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첫 번째 분기점</a:t>
            </a:r>
            <a:endParaRPr lang="en-US" sz="1150" dirty="0"/>
          </a:p>
        </p:txBody>
      </p:sp>
      <p:sp>
        <p:nvSpPr>
          <p:cNvPr id="19" name="Shape 17"/>
          <p:cNvSpPr/>
          <p:nvPr/>
        </p:nvSpPr>
        <p:spPr>
          <a:xfrm>
            <a:off x="6260440" y="1700784"/>
            <a:ext cx="2480996" cy="3529584"/>
          </a:xfrm>
          <a:prstGeom prst="rect">
            <a:avLst/>
          </a:prstGeom>
          <a:solidFill>
            <a:srgbClr val="FFFFFF"/>
          </a:solidFill>
          <a:ln w="12700">
            <a:solidFill>
              <a:srgbClr val="DCDCDC"/>
            </a:solidFill>
            <a:prstDash val="solid"/>
          </a:ln>
        </p:spPr>
      </p:sp>
      <p:sp>
        <p:nvSpPr>
          <p:cNvPr id="20" name="Text 18"/>
          <p:cNvSpPr/>
          <p:nvPr/>
        </p:nvSpPr>
        <p:spPr>
          <a:xfrm>
            <a:off x="6607912"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확장 · 7회</a:t>
            </a:r>
            <a:endParaRPr lang="en-US" sz="1700" dirty="0"/>
          </a:p>
        </p:txBody>
      </p:sp>
      <p:sp>
        <p:nvSpPr>
          <p:cNvPr id="21" name="Text 19"/>
          <p:cNvSpPr/>
          <p:nvPr/>
        </p:nvSpPr>
        <p:spPr>
          <a:xfrm>
            <a:off x="6607912"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어디까지 가는가</a:t>
            </a:r>
            <a:endParaRPr lang="en-US" sz="1000" dirty="0"/>
          </a:p>
        </p:txBody>
      </p:sp>
      <p:sp>
        <p:nvSpPr>
          <p:cNvPr id="22" name="Shape 20"/>
          <p:cNvSpPr/>
          <p:nvPr/>
        </p:nvSpPr>
        <p:spPr>
          <a:xfrm>
            <a:off x="6607912" y="2798064"/>
            <a:ext cx="1786052" cy="7315"/>
          </a:xfrm>
          <a:prstGeom prst="rect">
            <a:avLst/>
          </a:prstGeom>
          <a:solidFill>
            <a:srgbClr val="111111"/>
          </a:solidFill>
          <a:ln w="12700">
            <a:solidFill>
              <a:srgbClr val="111111"/>
            </a:solidFill>
            <a:prstDash val="solid"/>
          </a:ln>
        </p:spPr>
      </p:sp>
      <p:sp>
        <p:nvSpPr>
          <p:cNvPr id="23" name="Text 21"/>
          <p:cNvSpPr/>
          <p:nvPr/>
        </p:nvSpPr>
        <p:spPr>
          <a:xfrm>
            <a:off x="6607912"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더블 다이아몬드 비판</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참여디자인 · 스페큘러티브</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데이터와 AI 환경</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리딩이 가장 많습니다</a:t>
            </a:r>
            <a:endParaRPr lang="en-US" sz="1150" dirty="0"/>
          </a:p>
        </p:txBody>
      </p:sp>
      <p:sp>
        <p:nvSpPr>
          <p:cNvPr id="24" name="Shape 22"/>
          <p:cNvSpPr/>
          <p:nvPr/>
        </p:nvSpPr>
        <p:spPr>
          <a:xfrm>
            <a:off x="9070619" y="1700784"/>
            <a:ext cx="2480996" cy="3529584"/>
          </a:xfrm>
          <a:prstGeom prst="rect">
            <a:avLst/>
          </a:prstGeom>
          <a:solidFill>
            <a:srgbClr val="FFFFFF"/>
          </a:solidFill>
          <a:ln w="12700">
            <a:solidFill>
              <a:srgbClr val="DCDCDC"/>
            </a:solidFill>
            <a:prstDash val="solid"/>
          </a:ln>
        </p:spPr>
      </p:sp>
      <p:sp>
        <p:nvSpPr>
          <p:cNvPr id="25" name="Text 23"/>
          <p:cNvSpPr/>
          <p:nvPr/>
        </p:nvSpPr>
        <p:spPr>
          <a:xfrm>
            <a:off x="9418091" y="1956816"/>
            <a:ext cx="1786052"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정립 · 8회</a:t>
            </a:r>
            <a:endParaRPr lang="en-US" sz="1700" dirty="0"/>
          </a:p>
        </p:txBody>
      </p:sp>
      <p:sp>
        <p:nvSpPr>
          <p:cNvPr id="26" name="Text 24"/>
          <p:cNvSpPr/>
          <p:nvPr/>
        </p:nvSpPr>
        <p:spPr>
          <a:xfrm>
            <a:off x="9418091" y="2395728"/>
            <a:ext cx="1786052"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내 것으로</a:t>
            </a:r>
            <a:endParaRPr lang="en-US" sz="1000" dirty="0"/>
          </a:p>
        </p:txBody>
      </p:sp>
      <p:sp>
        <p:nvSpPr>
          <p:cNvPr id="27" name="Shape 25"/>
          <p:cNvSpPr/>
          <p:nvPr/>
        </p:nvSpPr>
        <p:spPr>
          <a:xfrm>
            <a:off x="9418091" y="2798064"/>
            <a:ext cx="1786052" cy="7315"/>
          </a:xfrm>
          <a:prstGeom prst="rect">
            <a:avLst/>
          </a:prstGeom>
          <a:solidFill>
            <a:srgbClr val="111111"/>
          </a:solidFill>
          <a:ln w="12700">
            <a:solidFill>
              <a:srgbClr val="111111"/>
            </a:solidFill>
            <a:prstDash val="solid"/>
          </a:ln>
        </p:spPr>
      </p:sp>
      <p:sp>
        <p:nvSpPr>
          <p:cNvPr id="28" name="Text 26"/>
          <p:cNvSpPr/>
          <p:nvPr/>
        </p:nvSpPr>
        <p:spPr>
          <a:xfrm>
            <a:off x="9418091" y="2944368"/>
            <a:ext cx="1786052"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프로포절 발표와 상호 리뷰</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연구질문–방법–기여의 정합성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드래프트는 세션 전 제출</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두 번째 분기점</a:t>
            </a:r>
            <a:endParaRPr lang="en-US" sz="1150" dirty="0"/>
          </a:p>
        </p:txBody>
      </p:sp>
      <p:sp>
        <p:nvSpPr>
          <p:cNvPr id="29" name="Shape 27"/>
          <p:cNvSpPr/>
          <p:nvPr/>
        </p:nvSpPr>
        <p:spPr>
          <a:xfrm>
            <a:off x="640080" y="5504688"/>
            <a:ext cx="10911535" cy="7315"/>
          </a:xfrm>
          <a:prstGeom prst="rect">
            <a:avLst/>
          </a:prstGeom>
          <a:solidFill>
            <a:srgbClr val="111111"/>
          </a:solidFill>
          <a:ln w="12700">
            <a:solidFill>
              <a:srgbClr val="111111"/>
            </a:solidFill>
            <a:prstDash val="solid"/>
          </a:ln>
        </p:spPr>
      </p:sp>
      <p:sp>
        <p:nvSpPr>
          <p:cNvPr id="30" name="Text 28"/>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오늘 한 회차를 쓰는 대신 확장 구간을 줄였습니다. 선행연구를 모르고 가면 5회차 컨셉 진술에서 같은 문제가 또 나옵니다.</a:t>
            </a:r>
            <a:endParaRPr lang="en-US" sz="1250" dirty="0"/>
          </a:p>
        </p:txBody>
      </p:sp>
      <p:sp>
        <p:nvSpPr>
          <p:cNvPr id="31" name="Shape 29"/>
          <p:cNvSpPr/>
          <p:nvPr/>
        </p:nvSpPr>
        <p:spPr>
          <a:xfrm>
            <a:off x="640080" y="6291072"/>
            <a:ext cx="10911535" cy="7315"/>
          </a:xfrm>
          <a:prstGeom prst="rect">
            <a:avLst/>
          </a:prstGeom>
          <a:solidFill>
            <a:srgbClr val="DCDCDC"/>
          </a:solidFill>
          <a:ln w="12700">
            <a:solidFill>
              <a:srgbClr val="DCDCDC"/>
            </a:solidFill>
            <a:prstDash val="solid"/>
          </a:ln>
        </p:spPr>
      </p:sp>
      <p:sp>
        <p:nvSpPr>
          <p:cNvPr id="32" name="Text 3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33" name="Text 3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당신의 연구가 새롭다는 것을</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누가 압니까.</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본인은 압니다. 심사위원은 모릅니다. 그분들이 아는 것은 이 분야에 이미 무엇이 있는가입니다. 새롭다는 것은 혼자 주장해서 성립하지 않습니다. 이미 있는 것들을 늘어놓고, 그 사이의 빈자리를 가리키고, 내가 거기 선다고 말해야 성립합니다. 선행연구는 그 늘어놓는 작업입니다.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컨셉트와 프로세스 · WEEK 02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선행연구는 왜 하는가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왜 하는지를 모르면 형식만 채우게 됩니다. 나열해 두고 뒤에서 한 번도 쓰지 않는 절이 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PURPOSE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선행연구가 하는 다섯 가지 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형식을 채우는 일이 아니라 다섯 가지 실제 쓸모가 있습니다.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내 자리를 정한다</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남들이 어디까지 갔는지 알아야 내가 어디서 시작하는지 말할 수 있습니다. 기여 진술이 여기서 나옵니다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위치</a:t>
            </a:r>
            <a:endParaRPr lang="en-US" sz="1050" dirty="0"/>
          </a:p>
        </p:txBody>
      </p:sp>
      <p:sp>
        <p:nvSpPr>
          <p:cNvPr id="15" name="Shape 13"/>
          <p:cNvSpPr/>
          <p:nvPr/>
        </p:nvSpPr>
        <p:spPr>
          <a:xfrm>
            <a:off x="640080" y="2406701"/>
            <a:ext cx="10911535" cy="7315"/>
          </a:xfrm>
          <a:prstGeom prst="rect">
            <a:avLst/>
          </a:prstGeom>
          <a:solidFill>
            <a:srgbClr val="DCDCDC"/>
          </a:solidFill>
          <a:ln w="12700">
            <a:solidFill>
              <a:srgbClr val="DCDCDC"/>
            </a:solidFill>
            <a:prstDash val="solid"/>
          </a:ln>
        </p:spPr>
      </p:sp>
      <p:sp>
        <p:nvSpPr>
          <p:cNvPr id="16" name="Shape 14"/>
          <p:cNvSpPr/>
          <p:nvPr/>
        </p:nvSpPr>
        <p:spPr>
          <a:xfrm>
            <a:off x="640080" y="2571293"/>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571293"/>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479853"/>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이미 푼 문제를 다시 풀지 않는다</a:t>
            </a:r>
            <a:endParaRPr lang="en-US" sz="1450" dirty="0"/>
          </a:p>
        </p:txBody>
      </p:sp>
      <p:sp>
        <p:nvSpPr>
          <p:cNvPr id="19" name="Text 17"/>
          <p:cNvSpPr/>
          <p:nvPr/>
        </p:nvSpPr>
        <p:spPr>
          <a:xfrm>
            <a:off x="1188720" y="2790749"/>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삼 년을 쓰고 나서 같은 연구가 이미 있다는 것을 알게 되는 일이 실제로 일어납니다</a:t>
            </a:r>
            <a:endParaRPr lang="en-US" sz="1100" dirty="0"/>
          </a:p>
        </p:txBody>
      </p:sp>
      <p:sp>
        <p:nvSpPr>
          <p:cNvPr id="20" name="Text 18"/>
          <p:cNvSpPr/>
          <p:nvPr/>
        </p:nvSpPr>
        <p:spPr>
          <a:xfrm>
            <a:off x="9357055" y="2571293"/>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중복</a:t>
            </a:r>
            <a:endParaRPr lang="en-US" sz="1050" dirty="0"/>
          </a:p>
        </p:txBody>
      </p:sp>
      <p:sp>
        <p:nvSpPr>
          <p:cNvPr id="21" name="Shape 19"/>
          <p:cNvSpPr/>
          <p:nvPr/>
        </p:nvSpPr>
        <p:spPr>
          <a:xfrm>
            <a:off x="640080" y="316748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33207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33207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24063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방법을 빌려온다</a:t>
            </a:r>
            <a:endParaRPr lang="en-US" sz="1450" dirty="0"/>
          </a:p>
        </p:txBody>
      </p:sp>
      <p:sp>
        <p:nvSpPr>
          <p:cNvPr id="25" name="Text 23"/>
          <p:cNvSpPr/>
          <p:nvPr/>
        </p:nvSpPr>
        <p:spPr>
          <a:xfrm>
            <a:off x="1188720" y="355153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연구 방법을 처음부터 설계하지 않습니다. 비슷한 문제를 다룬 사람의 방법을 가져다 고쳐 씁니다</a:t>
            </a:r>
            <a:endParaRPr lang="en-US" sz="1100" dirty="0"/>
          </a:p>
        </p:txBody>
      </p:sp>
      <p:sp>
        <p:nvSpPr>
          <p:cNvPr id="26" name="Text 24"/>
          <p:cNvSpPr/>
          <p:nvPr/>
        </p:nvSpPr>
        <p:spPr>
          <a:xfrm>
            <a:off x="9357055" y="333207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방법</a:t>
            </a:r>
            <a:endParaRPr lang="en-US" sz="1050" dirty="0"/>
          </a:p>
        </p:txBody>
      </p:sp>
      <p:sp>
        <p:nvSpPr>
          <p:cNvPr id="27" name="Shape 25"/>
          <p:cNvSpPr/>
          <p:nvPr/>
        </p:nvSpPr>
        <p:spPr>
          <a:xfrm>
            <a:off x="640080" y="3928262"/>
            <a:ext cx="10911535" cy="7315"/>
          </a:xfrm>
          <a:prstGeom prst="rect">
            <a:avLst/>
          </a:prstGeom>
          <a:solidFill>
            <a:srgbClr val="DCDCDC"/>
          </a:solidFill>
          <a:ln w="12700">
            <a:solidFill>
              <a:srgbClr val="DCDCDC"/>
            </a:solidFill>
            <a:prstDash val="solid"/>
          </a:ln>
        </p:spPr>
      </p:sp>
      <p:sp>
        <p:nvSpPr>
          <p:cNvPr id="28" name="Shape 26"/>
          <p:cNvSpPr/>
          <p:nvPr/>
        </p:nvSpPr>
        <p:spPr>
          <a:xfrm>
            <a:off x="640080" y="409285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09285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00141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개념을 빌려온다</a:t>
            </a:r>
            <a:endParaRPr lang="en-US" sz="1450" dirty="0"/>
          </a:p>
        </p:txBody>
      </p:sp>
      <p:sp>
        <p:nvSpPr>
          <p:cNvPr id="31" name="Text 29"/>
          <p:cNvSpPr/>
          <p:nvPr/>
        </p:nvSpPr>
        <p:spPr>
          <a:xfrm>
            <a:off x="1188720" y="431231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내가 쓰는 말에는 이미 주인이 있습니다. 누가 어떻게 정의했는지 알고 써야 합니다</a:t>
            </a:r>
            <a:endParaRPr lang="en-US" sz="1100" dirty="0"/>
          </a:p>
        </p:txBody>
      </p:sp>
      <p:sp>
        <p:nvSpPr>
          <p:cNvPr id="32" name="Text 30"/>
          <p:cNvSpPr/>
          <p:nvPr/>
        </p:nvSpPr>
        <p:spPr>
          <a:xfrm>
            <a:off x="9357055" y="409285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개념</a:t>
            </a:r>
            <a:endParaRPr lang="en-US" sz="1050" dirty="0"/>
          </a:p>
        </p:txBody>
      </p:sp>
      <p:sp>
        <p:nvSpPr>
          <p:cNvPr id="33" name="Shape 31"/>
          <p:cNvSpPr/>
          <p:nvPr/>
        </p:nvSpPr>
        <p:spPr>
          <a:xfrm>
            <a:off x="640080" y="4689043"/>
            <a:ext cx="10911535" cy="7315"/>
          </a:xfrm>
          <a:prstGeom prst="rect">
            <a:avLst/>
          </a:prstGeom>
          <a:solidFill>
            <a:srgbClr val="DCDCDC"/>
          </a:solidFill>
          <a:ln w="12700">
            <a:solidFill>
              <a:srgbClr val="DCDCDC"/>
            </a:solidFill>
            <a:prstDash val="solid"/>
          </a:ln>
        </p:spPr>
      </p:sp>
      <p:sp>
        <p:nvSpPr>
          <p:cNvPr id="34" name="Shape 32"/>
          <p:cNvSpPr/>
          <p:nvPr/>
        </p:nvSpPr>
        <p:spPr>
          <a:xfrm>
            <a:off x="640080" y="4853635"/>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853635"/>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5</a:t>
            </a:r>
            <a:endParaRPr lang="en-US" sz="1000" dirty="0"/>
          </a:p>
        </p:txBody>
      </p:sp>
      <p:sp>
        <p:nvSpPr>
          <p:cNvPr id="36" name="Text 34"/>
          <p:cNvSpPr/>
          <p:nvPr/>
        </p:nvSpPr>
        <p:spPr>
          <a:xfrm>
            <a:off x="1188720" y="4762195"/>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심사에 대비한다</a:t>
            </a:r>
            <a:endParaRPr lang="en-US" sz="1450" dirty="0"/>
          </a:p>
        </p:txBody>
      </p:sp>
      <p:sp>
        <p:nvSpPr>
          <p:cNvPr id="37" name="Text 35"/>
          <p:cNvSpPr/>
          <p:nvPr/>
        </p:nvSpPr>
        <p:spPr>
          <a:xfrm>
            <a:off x="1188720" y="5073091"/>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첫 질문은 대개 '이 분야를 얼마나 아십니까'입니다. 대답이 안 되면 그다음이 진행되지 않습니다</a:t>
            </a:r>
            <a:endParaRPr lang="en-US" sz="1100" dirty="0"/>
          </a:p>
        </p:txBody>
      </p:sp>
      <p:sp>
        <p:nvSpPr>
          <p:cNvPr id="38" name="Text 36"/>
          <p:cNvSpPr/>
          <p:nvPr/>
        </p:nvSpPr>
        <p:spPr>
          <a:xfrm>
            <a:off x="9357055" y="4853635"/>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심사</a:t>
            </a:r>
            <a:endParaRPr lang="en-US" sz="1050" dirty="0"/>
          </a:p>
        </p:txBody>
      </p:sp>
      <p:sp>
        <p:nvSpPr>
          <p:cNvPr id="39" name="Shape 37"/>
          <p:cNvSpPr/>
          <p:nvPr/>
        </p:nvSpPr>
        <p:spPr>
          <a:xfrm>
            <a:off x="640080" y="5522976"/>
            <a:ext cx="10911535" cy="7315"/>
          </a:xfrm>
          <a:prstGeom prst="rect">
            <a:avLst/>
          </a:prstGeom>
          <a:solidFill>
            <a:srgbClr val="111111"/>
          </a:solidFill>
          <a:ln w="12700">
            <a:solidFill>
              <a:srgbClr val="111111"/>
            </a:solidFill>
            <a:prstDash val="solid"/>
          </a:ln>
        </p:spPr>
      </p:sp>
      <p:sp>
        <p:nvSpPr>
          <p:cNvPr id="40" name="Text 38"/>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1번과 4번이 지난 회차 이야기와 이어집니다. 내 개념이 어느 층위인지는 남의 개념을 알아야 정해집니다.</a:t>
            </a:r>
            <a:endParaRPr lang="en-US" sz="12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CONTRAST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같은 연구, 두 가지 서술</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내용이 같아도 방어할 수 있는 글과 없는 글로 갈립니다.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선행연구가 없는 글</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선행연구가 있는 글</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문제</a:t>
            </a:r>
            <a:endParaRPr lang="en-US" sz="900" dirty="0"/>
          </a:p>
        </p:txBody>
      </p:sp>
      <p:sp>
        <p:nvSpPr>
          <p:cNvPr id="14" name="Text 12"/>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이 문제가 중요하다고 말한다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문제</a:t>
            </a:r>
            <a:endParaRPr lang="en-US" sz="900" dirty="0"/>
          </a:p>
        </p:txBody>
      </p:sp>
      <p:sp>
        <p:nvSpPr>
          <p:cNvPr id="16" name="Text 14"/>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누가 어디까지 다뤘고 무엇이 남았는지 말한다</a:t>
            </a:r>
            <a:endParaRPr lang="en-US" sz="1150" dirty="0"/>
          </a:p>
        </p:txBody>
      </p:sp>
      <p:sp>
        <p:nvSpPr>
          <p:cNvPr id="17" name="Shape 15"/>
          <p:cNvSpPr/>
          <p:nvPr/>
        </p:nvSpPr>
        <p:spPr>
          <a:xfrm>
            <a:off x="1042416" y="2980944"/>
            <a:ext cx="4449928" cy="7315"/>
          </a:xfrm>
          <a:prstGeom prst="rect">
            <a:avLst/>
          </a:prstGeom>
          <a:solidFill>
            <a:srgbClr val="D2D2D2"/>
          </a:solidFill>
          <a:ln w="12700">
            <a:solidFill>
              <a:srgbClr val="D2D2D2"/>
            </a:solidFill>
            <a:prstDash val="solid"/>
          </a:ln>
        </p:spPr>
      </p:sp>
      <p:sp>
        <p:nvSpPr>
          <p:cNvPr id="18" name="Shape 16"/>
          <p:cNvSpPr/>
          <p:nvPr/>
        </p:nvSpPr>
        <p:spPr>
          <a:xfrm>
            <a:off x="6699352" y="2980944"/>
            <a:ext cx="4449928" cy="7315"/>
          </a:xfrm>
          <a:prstGeom prst="rect">
            <a:avLst/>
          </a:prstGeom>
          <a:solidFill>
            <a:srgbClr val="DCDCDC"/>
          </a:solidFill>
          <a:ln w="12700">
            <a:solidFill>
              <a:srgbClr val="DCDCDC"/>
            </a:solidFill>
            <a:prstDash val="solid"/>
          </a:ln>
        </p:spPr>
      </p:sp>
      <p:sp>
        <p:nvSpPr>
          <p:cNvPr id="19" name="Text 17"/>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방법</a:t>
            </a:r>
            <a:endParaRPr lang="en-US" sz="900" dirty="0"/>
          </a:p>
        </p:txBody>
      </p:sp>
      <p:sp>
        <p:nvSpPr>
          <p:cNvPr id="20" name="Text 18"/>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인터뷰와 설문을 하겠다고 쓴다</a:t>
            </a:r>
            <a:endParaRPr lang="en-US" sz="1150" dirty="0"/>
          </a:p>
        </p:txBody>
      </p:sp>
      <p:sp>
        <p:nvSpPr>
          <p:cNvPr id="21" name="Text 19"/>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방법</a:t>
            </a:r>
            <a:endParaRPr lang="en-US" sz="900" dirty="0"/>
          </a:p>
        </p:txBody>
      </p:sp>
      <p:sp>
        <p:nvSpPr>
          <p:cNvPr id="22" name="Text 20"/>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누구의 방법을 왜 고쳐 쓰는지 밝힌다</a:t>
            </a:r>
            <a:endParaRPr lang="en-US" sz="1150" dirty="0"/>
          </a:p>
        </p:txBody>
      </p:sp>
      <p:sp>
        <p:nvSpPr>
          <p:cNvPr id="23" name="Shape 21"/>
          <p:cNvSpPr/>
          <p:nvPr/>
        </p:nvSpPr>
        <p:spPr>
          <a:xfrm>
            <a:off x="1042416" y="3566160"/>
            <a:ext cx="4449928" cy="7315"/>
          </a:xfrm>
          <a:prstGeom prst="rect">
            <a:avLst/>
          </a:prstGeom>
          <a:solidFill>
            <a:srgbClr val="D2D2D2"/>
          </a:solidFill>
          <a:ln w="12700">
            <a:solidFill>
              <a:srgbClr val="D2D2D2"/>
            </a:solidFill>
            <a:prstDash val="solid"/>
          </a:ln>
        </p:spPr>
      </p:sp>
      <p:sp>
        <p:nvSpPr>
          <p:cNvPr id="24" name="Shape 22"/>
          <p:cNvSpPr/>
          <p:nvPr/>
        </p:nvSpPr>
        <p:spPr>
          <a:xfrm>
            <a:off x="6699352" y="3566160"/>
            <a:ext cx="4449928" cy="7315"/>
          </a:xfrm>
          <a:prstGeom prst="rect">
            <a:avLst/>
          </a:prstGeom>
          <a:solidFill>
            <a:srgbClr val="DCDCDC"/>
          </a:solidFill>
          <a:ln w="12700">
            <a:solidFill>
              <a:srgbClr val="DCDCDC"/>
            </a:solidFill>
            <a:prstDash val="solid"/>
          </a:ln>
        </p:spPr>
      </p:sp>
      <p:sp>
        <p:nvSpPr>
          <p:cNvPr id="25" name="Text 23"/>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개념</a:t>
            </a:r>
            <a:endParaRPr lang="en-US" sz="900" dirty="0"/>
          </a:p>
        </p:txBody>
      </p:sp>
      <p:sp>
        <p:nvSpPr>
          <p:cNvPr id="26" name="Text 24"/>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내가 정의한다</a:t>
            </a:r>
            <a:endParaRPr lang="en-US" sz="1150" dirty="0"/>
          </a:p>
        </p:txBody>
      </p:sp>
      <p:sp>
        <p:nvSpPr>
          <p:cNvPr id="27" name="Text 25"/>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개념</a:t>
            </a:r>
            <a:endParaRPr lang="en-US" sz="900" dirty="0"/>
          </a:p>
        </p:txBody>
      </p:sp>
      <p:sp>
        <p:nvSpPr>
          <p:cNvPr id="28" name="Text 26"/>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누구의 정의를 따르고 어디를 바꾸는지 밝힌다</a:t>
            </a:r>
            <a:endParaRPr lang="en-US" sz="1150" dirty="0"/>
          </a:p>
        </p:txBody>
      </p:sp>
      <p:sp>
        <p:nvSpPr>
          <p:cNvPr id="29" name="Shape 27"/>
          <p:cNvSpPr/>
          <p:nvPr/>
        </p:nvSpPr>
        <p:spPr>
          <a:xfrm>
            <a:off x="1042416" y="4151376"/>
            <a:ext cx="4449928" cy="7315"/>
          </a:xfrm>
          <a:prstGeom prst="rect">
            <a:avLst/>
          </a:prstGeom>
          <a:solidFill>
            <a:srgbClr val="D2D2D2"/>
          </a:solidFill>
          <a:ln w="12700">
            <a:solidFill>
              <a:srgbClr val="D2D2D2"/>
            </a:solidFill>
            <a:prstDash val="solid"/>
          </a:ln>
        </p:spPr>
      </p:sp>
      <p:sp>
        <p:nvSpPr>
          <p:cNvPr id="30" name="Shape 28"/>
          <p:cNvSpPr/>
          <p:nvPr/>
        </p:nvSpPr>
        <p:spPr>
          <a:xfrm>
            <a:off x="6699352" y="4151376"/>
            <a:ext cx="4449928" cy="7315"/>
          </a:xfrm>
          <a:prstGeom prst="rect">
            <a:avLst/>
          </a:prstGeom>
          <a:solidFill>
            <a:srgbClr val="DCDCDC"/>
          </a:solidFill>
          <a:ln w="12700">
            <a:solidFill>
              <a:srgbClr val="DCDCDC"/>
            </a:solidFill>
            <a:prstDash val="solid"/>
          </a:ln>
        </p:spPr>
      </p:sp>
      <p:sp>
        <p:nvSpPr>
          <p:cNvPr id="31" name="Text 29"/>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새로움</a:t>
            </a:r>
            <a:endParaRPr lang="en-US" sz="900" dirty="0"/>
          </a:p>
        </p:txBody>
      </p:sp>
      <p:sp>
        <p:nvSpPr>
          <p:cNvPr id="32" name="Text 30"/>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새롭다고 주장한다</a:t>
            </a:r>
            <a:endParaRPr lang="en-US" sz="1150" dirty="0"/>
          </a:p>
        </p:txBody>
      </p:sp>
      <p:sp>
        <p:nvSpPr>
          <p:cNvPr id="33" name="Text 31"/>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새로움</a:t>
            </a:r>
            <a:endParaRPr lang="en-US" sz="900" dirty="0"/>
          </a:p>
        </p:txBody>
      </p:sp>
      <p:sp>
        <p:nvSpPr>
          <p:cNvPr id="34" name="Text 32"/>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새로움이 어디에 있는지 가리킨다</a:t>
            </a:r>
            <a:endParaRPr lang="en-US" sz="1150" dirty="0"/>
          </a:p>
        </p:txBody>
      </p:sp>
      <p:sp>
        <p:nvSpPr>
          <p:cNvPr id="35" name="Shape 33"/>
          <p:cNvSpPr/>
          <p:nvPr/>
        </p:nvSpPr>
        <p:spPr>
          <a:xfrm>
            <a:off x="640080" y="5010912"/>
            <a:ext cx="10911535" cy="7315"/>
          </a:xfrm>
          <a:prstGeom prst="rect">
            <a:avLst/>
          </a:prstGeom>
          <a:solidFill>
            <a:srgbClr val="111111"/>
          </a:solidFill>
          <a:ln w="12700">
            <a:solidFill>
              <a:srgbClr val="111111"/>
            </a:solidFill>
            <a:prstDash val="solid"/>
          </a:ln>
        </p:spPr>
      </p:sp>
      <p:sp>
        <p:nvSpPr>
          <p:cNvPr id="36" name="Text 34"/>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왼쪽이 틀린 글은 아닙니다. 다만 물어보면 답이 없어서 심사에서 방어가 되지 않습니다.</a:t>
            </a:r>
            <a:endParaRPr lang="en-US" sz="1300" dirty="0"/>
          </a:p>
        </p:txBody>
      </p:sp>
      <p:sp>
        <p:nvSpPr>
          <p:cNvPr id="37" name="Shape 35"/>
          <p:cNvSpPr/>
          <p:nvPr/>
        </p:nvSpPr>
        <p:spPr>
          <a:xfrm>
            <a:off x="640080" y="6291072"/>
            <a:ext cx="10911535" cy="7315"/>
          </a:xfrm>
          <a:prstGeom prst="rect">
            <a:avLst/>
          </a:prstGeom>
          <a:solidFill>
            <a:srgbClr val="DCDCDC"/>
          </a:solidFill>
          <a:ln w="12700">
            <a:solidFill>
              <a:srgbClr val="DCDCDC"/>
            </a:solidFill>
            <a:prstDash val="solid"/>
          </a:ln>
        </p:spPr>
      </p:sp>
      <p:sp>
        <p:nvSpPr>
          <p:cNvPr id="38" name="Text 3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39" name="Text 3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어떻게 찾는가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검색창에 무엇을 칠 것인가. 여기서 대부분 막힙니다.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SEARCH</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찾는 순서 다섯 단계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한 문장을 통째로 검색창에 넣으면 아무것도 나오지 않습니다.</a:t>
            </a:r>
            <a:endParaRPr lang="en-US" sz="1150" dirty="0"/>
          </a:p>
        </p:txBody>
      </p:sp>
      <p:sp>
        <p:nvSpPr>
          <p:cNvPr id="9" name="Shape 7"/>
          <p:cNvSpPr/>
          <p:nvPr/>
        </p:nvSpPr>
        <p:spPr>
          <a:xfrm>
            <a:off x="640080" y="1719072"/>
            <a:ext cx="10911535" cy="672998"/>
          </a:xfrm>
          <a:prstGeom prst="rect">
            <a:avLst/>
          </a:prstGeom>
          <a:solidFill>
            <a:srgbClr val="FFFFFF"/>
          </a:solidFill>
          <a:ln w="12700">
            <a:solidFill>
              <a:srgbClr val="DCDCDC"/>
            </a:solidFill>
            <a:prstDash val="solid"/>
          </a:ln>
        </p:spPr>
      </p:sp>
      <p:sp>
        <p:nvSpPr>
          <p:cNvPr id="10" name="Text 8"/>
          <p:cNvSpPr/>
          <p:nvPr/>
        </p:nvSpPr>
        <p:spPr>
          <a:xfrm>
            <a:off x="1097280" y="1810512"/>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주제를 개념 단위로 쪼갠다</a:t>
            </a:r>
            <a:endParaRPr lang="en-US" sz="1450" dirty="0"/>
          </a:p>
        </p:txBody>
      </p:sp>
      <p:sp>
        <p:nvSpPr>
          <p:cNvPr id="11" name="Text 9"/>
          <p:cNvSpPr/>
          <p:nvPr/>
        </p:nvSpPr>
        <p:spPr>
          <a:xfrm>
            <a:off x="4480560" y="1810512"/>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한 문장이 아니라 두세 개의 개념으로 나눕니다. 그 조합이 검색어가 됩니다.</a:t>
            </a:r>
            <a:endParaRPr lang="en-US" sz="1150" dirty="0"/>
          </a:p>
        </p:txBody>
      </p:sp>
      <p:sp>
        <p:nvSpPr>
          <p:cNvPr id="12" name="Shape 10"/>
          <p:cNvSpPr/>
          <p:nvPr/>
        </p:nvSpPr>
        <p:spPr>
          <a:xfrm>
            <a:off x="640080" y="2538374"/>
            <a:ext cx="10911535" cy="672998"/>
          </a:xfrm>
          <a:prstGeom prst="rect">
            <a:avLst/>
          </a:prstGeom>
          <a:solidFill>
            <a:srgbClr val="FFFFFF"/>
          </a:solidFill>
          <a:ln w="12700">
            <a:solidFill>
              <a:srgbClr val="DCDCDC"/>
            </a:solidFill>
            <a:prstDash val="solid"/>
          </a:ln>
        </p:spPr>
      </p:sp>
      <p:sp>
        <p:nvSpPr>
          <p:cNvPr id="13" name="Text 11"/>
          <p:cNvSpPr/>
          <p:nvPr/>
        </p:nvSpPr>
        <p:spPr>
          <a:xfrm>
            <a:off x="1097280" y="2629814"/>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영어 학술 용어를 찾는다</a:t>
            </a:r>
            <a:endParaRPr lang="en-US" sz="1450" dirty="0"/>
          </a:p>
        </p:txBody>
      </p:sp>
      <p:sp>
        <p:nvSpPr>
          <p:cNvPr id="14" name="Text 12"/>
          <p:cNvSpPr/>
          <p:nvPr/>
        </p:nvSpPr>
        <p:spPr>
          <a:xfrm>
            <a:off x="4480560" y="2629814"/>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직역하면 나오지 않습니다. 비슷한 논문 한 편을 찾아 그 논문의 키워드 목록에서 빌려 옵니다.</a:t>
            </a:r>
            <a:endParaRPr lang="en-US" sz="1150" dirty="0"/>
          </a:p>
        </p:txBody>
      </p:sp>
      <p:sp>
        <p:nvSpPr>
          <p:cNvPr id="15" name="Shape 13"/>
          <p:cNvSpPr/>
          <p:nvPr/>
        </p:nvSpPr>
        <p:spPr>
          <a:xfrm>
            <a:off x="640080" y="3357677"/>
            <a:ext cx="10911535" cy="672998"/>
          </a:xfrm>
          <a:prstGeom prst="rect">
            <a:avLst/>
          </a:prstGeom>
          <a:solidFill>
            <a:srgbClr val="FFFFFF"/>
          </a:solidFill>
          <a:ln w="12700">
            <a:solidFill>
              <a:srgbClr val="DCDCDC"/>
            </a:solidFill>
            <a:prstDash val="solid"/>
          </a:ln>
        </p:spPr>
      </p:sp>
      <p:sp>
        <p:nvSpPr>
          <p:cNvPr id="16" name="Text 14"/>
          <p:cNvSpPr/>
          <p:nvPr/>
        </p:nvSpPr>
        <p:spPr>
          <a:xfrm>
            <a:off x="1097280" y="3449117"/>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리뷰 논문을 먼저 읽는다</a:t>
            </a:r>
            <a:endParaRPr lang="en-US" sz="1450" dirty="0"/>
          </a:p>
        </p:txBody>
      </p:sp>
      <p:sp>
        <p:nvSpPr>
          <p:cNvPr id="17" name="Text 15"/>
          <p:cNvSpPr/>
          <p:nvPr/>
        </p:nvSpPr>
        <p:spPr>
          <a:xfrm>
            <a:off x="4480560" y="3449117"/>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검색어에 review 나 survey 를 붙입니다. 한 편이 그 분야를 정리해 두었으므로 지형이 한 번에 보입니다.</a:t>
            </a:r>
            <a:endParaRPr lang="en-US" sz="1150" dirty="0"/>
          </a:p>
        </p:txBody>
      </p:sp>
      <p:sp>
        <p:nvSpPr>
          <p:cNvPr id="18" name="Shape 16"/>
          <p:cNvSpPr/>
          <p:nvPr/>
        </p:nvSpPr>
        <p:spPr>
          <a:xfrm>
            <a:off x="640080" y="4176979"/>
            <a:ext cx="10911535" cy="672998"/>
          </a:xfrm>
          <a:prstGeom prst="rect">
            <a:avLst/>
          </a:prstGeom>
          <a:solidFill>
            <a:srgbClr val="FFFFFF"/>
          </a:solidFill>
          <a:ln w="12700">
            <a:solidFill>
              <a:srgbClr val="DCDCDC"/>
            </a:solidFill>
            <a:prstDash val="solid"/>
          </a:ln>
        </p:spPr>
      </p:sp>
      <p:sp>
        <p:nvSpPr>
          <p:cNvPr id="19" name="Text 17"/>
          <p:cNvSpPr/>
          <p:nvPr/>
        </p:nvSpPr>
        <p:spPr>
          <a:xfrm>
            <a:off x="1097280" y="4268419"/>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눈덩이를 굴린다</a:t>
            </a:r>
            <a:endParaRPr lang="en-US" sz="1450" dirty="0"/>
          </a:p>
        </p:txBody>
      </p:sp>
      <p:sp>
        <p:nvSpPr>
          <p:cNvPr id="20" name="Text 18"/>
          <p:cNvSpPr/>
          <p:nvPr/>
        </p:nvSpPr>
        <p:spPr>
          <a:xfrm>
            <a:off x="4480560" y="4268419"/>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좋은 논문 한 편에서 뒤로(참고문헌) 가고 앞으로(그 논문을 인용한 논문) 갑니다.</a:t>
            </a:r>
            <a:endParaRPr lang="en-US" sz="1150" dirty="0"/>
          </a:p>
        </p:txBody>
      </p:sp>
      <p:sp>
        <p:nvSpPr>
          <p:cNvPr id="21" name="Shape 19"/>
          <p:cNvSpPr/>
          <p:nvPr/>
        </p:nvSpPr>
        <p:spPr>
          <a:xfrm>
            <a:off x="640080" y="4996282"/>
            <a:ext cx="10911535" cy="672998"/>
          </a:xfrm>
          <a:prstGeom prst="rect">
            <a:avLst/>
          </a:prstGeom>
          <a:solidFill>
            <a:srgbClr val="111111"/>
          </a:solidFill>
          <a:ln w="12700">
            <a:solidFill>
              <a:srgbClr val="111111"/>
            </a:solidFill>
            <a:prstDash val="solid"/>
          </a:ln>
        </p:spPr>
      </p:sp>
      <p:sp>
        <p:nvSpPr>
          <p:cNvPr id="22" name="Text 20"/>
          <p:cNvSpPr/>
          <p:nvPr/>
        </p:nvSpPr>
        <p:spPr>
          <a:xfrm>
            <a:off x="1097280" y="5087722"/>
            <a:ext cx="3291840" cy="490118"/>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반복해서 나오는 것을 고른다</a:t>
            </a:r>
            <a:endParaRPr lang="en-US" sz="1450" dirty="0"/>
          </a:p>
        </p:txBody>
      </p:sp>
      <p:sp>
        <p:nvSpPr>
          <p:cNvPr id="23" name="Text 21"/>
          <p:cNvSpPr/>
          <p:nvPr/>
        </p:nvSpPr>
        <p:spPr>
          <a:xfrm>
            <a:off x="4480560" y="5087722"/>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여러 논문의 참고문헌에 계속 같은 이름이 나오면 그것이 이 분야의 기둥입니다.</a:t>
            </a:r>
            <a:endParaRPr lang="en-US" sz="1150" dirty="0"/>
          </a:p>
        </p:txBody>
      </p:sp>
      <p:sp>
        <p:nvSpPr>
          <p:cNvPr id="24" name="Shape 22"/>
          <p:cNvSpPr/>
          <p:nvPr/>
        </p:nvSpPr>
        <p:spPr>
          <a:xfrm>
            <a:off x="640080" y="6291072"/>
            <a:ext cx="10911535" cy="7315"/>
          </a:xfrm>
          <a:prstGeom prst="rect">
            <a:avLst/>
          </a:prstGeom>
          <a:solidFill>
            <a:srgbClr val="DCDCDC"/>
          </a:solidFill>
          <a:ln w="12700">
            <a:solidFill>
              <a:srgbClr val="DCDCDC"/>
            </a:solidFill>
            <a:prstDash val="solid"/>
          </a:ln>
        </p:spPr>
      </p:sp>
      <p:sp>
        <p:nvSpPr>
          <p:cNvPr id="25" name="Text 23"/>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26" name="Text 24"/>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WHERE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어디서 찾는가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구글 스칼라에서 시작해 분야별 DB 로 좁혀 갑니다.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구글 스칼라</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여기서 시작합니다. '인용됨'으로 눈덩이를 굴리기 쉽습니다. 학교 계정을 연결하면 원문 링크가 바로 뜹니다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시작</a:t>
            </a:r>
            <a:endParaRPr lang="en-US" sz="1050" dirty="0"/>
          </a:p>
        </p:txBody>
      </p:sp>
      <p:sp>
        <p:nvSpPr>
          <p:cNvPr id="15" name="Shape 13"/>
          <p:cNvSpPr/>
          <p:nvPr/>
        </p:nvSpPr>
        <p:spPr>
          <a:xfrm>
            <a:off x="640080" y="2406701"/>
            <a:ext cx="10911535" cy="7315"/>
          </a:xfrm>
          <a:prstGeom prst="rect">
            <a:avLst/>
          </a:prstGeom>
          <a:solidFill>
            <a:srgbClr val="DCDCDC"/>
          </a:solidFill>
          <a:ln w="12700">
            <a:solidFill>
              <a:srgbClr val="DCDCDC"/>
            </a:solidFill>
            <a:prstDash val="solid"/>
          </a:ln>
        </p:spPr>
      </p:sp>
      <p:sp>
        <p:nvSpPr>
          <p:cNvPr id="16" name="Shape 14"/>
          <p:cNvSpPr/>
          <p:nvPr/>
        </p:nvSpPr>
        <p:spPr>
          <a:xfrm>
            <a:off x="640080" y="2571293"/>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571293"/>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479853"/>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ACM 디지털 라이브러리</a:t>
            </a:r>
            <a:endParaRPr lang="en-US" sz="1450" dirty="0"/>
          </a:p>
        </p:txBody>
      </p:sp>
      <p:sp>
        <p:nvSpPr>
          <p:cNvPr id="19" name="Text 17"/>
          <p:cNvSpPr/>
          <p:nvPr/>
        </p:nvSpPr>
        <p:spPr>
          <a:xfrm>
            <a:off x="1188720" y="2790749"/>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디자인과 HCI. CHI · DIS · CSCW 학회 논문이 모여 있습니다</a:t>
            </a:r>
            <a:endParaRPr lang="en-US" sz="1100" dirty="0"/>
          </a:p>
        </p:txBody>
      </p:sp>
      <p:sp>
        <p:nvSpPr>
          <p:cNvPr id="20" name="Text 18"/>
          <p:cNvSpPr/>
          <p:nvPr/>
        </p:nvSpPr>
        <p:spPr>
          <a:xfrm>
            <a:off x="9357055" y="2571293"/>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HCI</a:t>
            </a:r>
            <a:endParaRPr lang="en-US" sz="1050" dirty="0"/>
          </a:p>
        </p:txBody>
      </p:sp>
      <p:sp>
        <p:nvSpPr>
          <p:cNvPr id="21" name="Shape 19"/>
          <p:cNvSpPr/>
          <p:nvPr/>
        </p:nvSpPr>
        <p:spPr>
          <a:xfrm>
            <a:off x="640080" y="316748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33207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33207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24063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디자인 학술지</a:t>
            </a:r>
            <a:endParaRPr lang="en-US" sz="1450" dirty="0"/>
          </a:p>
        </p:txBody>
      </p:sp>
      <p:sp>
        <p:nvSpPr>
          <p:cNvPr id="25" name="Text 23"/>
          <p:cNvSpPr/>
          <p:nvPr/>
        </p:nvSpPr>
        <p:spPr>
          <a:xfrm>
            <a:off x="1188720" y="355153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Design Studies · Design Issues · International Journal of Design. 이 분야의 주요 지면입니다</a:t>
            </a:r>
            <a:endParaRPr lang="en-US" sz="1100" dirty="0"/>
          </a:p>
        </p:txBody>
      </p:sp>
      <p:sp>
        <p:nvSpPr>
          <p:cNvPr id="26" name="Text 24"/>
          <p:cNvSpPr/>
          <p:nvPr/>
        </p:nvSpPr>
        <p:spPr>
          <a:xfrm>
            <a:off x="9357055" y="333207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디자인</a:t>
            </a:r>
            <a:endParaRPr lang="en-US" sz="1050" dirty="0"/>
          </a:p>
        </p:txBody>
      </p:sp>
      <p:sp>
        <p:nvSpPr>
          <p:cNvPr id="27" name="Shape 25"/>
          <p:cNvSpPr/>
          <p:nvPr/>
        </p:nvSpPr>
        <p:spPr>
          <a:xfrm>
            <a:off x="640080" y="3928262"/>
            <a:ext cx="10911535" cy="7315"/>
          </a:xfrm>
          <a:prstGeom prst="rect">
            <a:avLst/>
          </a:prstGeom>
          <a:solidFill>
            <a:srgbClr val="DCDCDC"/>
          </a:solidFill>
          <a:ln w="12700">
            <a:solidFill>
              <a:srgbClr val="DCDCDC"/>
            </a:solidFill>
            <a:prstDash val="solid"/>
          </a:ln>
        </p:spPr>
      </p:sp>
      <p:sp>
        <p:nvSpPr>
          <p:cNvPr id="28" name="Shape 26"/>
          <p:cNvSpPr/>
          <p:nvPr/>
        </p:nvSpPr>
        <p:spPr>
          <a:xfrm>
            <a:off x="640080" y="409285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09285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00141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RISS · DBpia · KCI</a:t>
            </a:r>
            <a:endParaRPr lang="en-US" sz="1450" dirty="0"/>
          </a:p>
        </p:txBody>
      </p:sp>
      <p:sp>
        <p:nvSpPr>
          <p:cNvPr id="31" name="Text 29"/>
          <p:cNvSpPr/>
          <p:nvPr/>
        </p:nvSpPr>
        <p:spPr>
          <a:xfrm>
            <a:off x="1188720" y="431231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국내 연구. 한국디자인학회 · 한국기초조형학회 논문을 여기서 찾습니다</a:t>
            </a:r>
            <a:endParaRPr lang="en-US" sz="1100" dirty="0"/>
          </a:p>
        </p:txBody>
      </p:sp>
      <p:sp>
        <p:nvSpPr>
          <p:cNvPr id="32" name="Text 30"/>
          <p:cNvSpPr/>
          <p:nvPr/>
        </p:nvSpPr>
        <p:spPr>
          <a:xfrm>
            <a:off x="9357055" y="409285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국내</a:t>
            </a:r>
            <a:endParaRPr lang="en-US" sz="1050" dirty="0"/>
          </a:p>
        </p:txBody>
      </p:sp>
      <p:sp>
        <p:nvSpPr>
          <p:cNvPr id="33" name="Shape 31"/>
          <p:cNvSpPr/>
          <p:nvPr/>
        </p:nvSpPr>
        <p:spPr>
          <a:xfrm>
            <a:off x="640080" y="4689043"/>
            <a:ext cx="10911535" cy="7315"/>
          </a:xfrm>
          <a:prstGeom prst="rect">
            <a:avLst/>
          </a:prstGeom>
          <a:solidFill>
            <a:srgbClr val="DCDCDC"/>
          </a:solidFill>
          <a:ln w="12700">
            <a:solidFill>
              <a:srgbClr val="DCDCDC"/>
            </a:solidFill>
            <a:prstDash val="solid"/>
          </a:ln>
        </p:spPr>
      </p:sp>
      <p:sp>
        <p:nvSpPr>
          <p:cNvPr id="34" name="Shape 32"/>
          <p:cNvSpPr/>
          <p:nvPr/>
        </p:nvSpPr>
        <p:spPr>
          <a:xfrm>
            <a:off x="640080" y="4853635"/>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853635"/>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5</a:t>
            </a:r>
            <a:endParaRPr lang="en-US" sz="1000" dirty="0"/>
          </a:p>
        </p:txBody>
      </p:sp>
      <p:sp>
        <p:nvSpPr>
          <p:cNvPr id="36" name="Text 34"/>
          <p:cNvSpPr/>
          <p:nvPr/>
        </p:nvSpPr>
        <p:spPr>
          <a:xfrm>
            <a:off x="1188720" y="4762195"/>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도서관 전자저널</a:t>
            </a:r>
            <a:endParaRPr lang="en-US" sz="1450" dirty="0"/>
          </a:p>
        </p:txBody>
      </p:sp>
      <p:sp>
        <p:nvSpPr>
          <p:cNvPr id="37" name="Text 35"/>
          <p:cNvSpPr/>
          <p:nvPr/>
        </p:nvSpPr>
        <p:spPr>
          <a:xfrm>
            <a:off x="1188720" y="5073091"/>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학교 계정으로 들어가야 원문이 열립니다. 교외에서는 프록시 접속을 설정해야 합니다</a:t>
            </a:r>
            <a:endParaRPr lang="en-US" sz="1100" dirty="0"/>
          </a:p>
        </p:txBody>
      </p:sp>
      <p:sp>
        <p:nvSpPr>
          <p:cNvPr id="38" name="Text 36"/>
          <p:cNvSpPr/>
          <p:nvPr/>
        </p:nvSpPr>
        <p:spPr>
          <a:xfrm>
            <a:off x="9357055" y="4853635"/>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원문</a:t>
            </a:r>
            <a:endParaRPr lang="en-US" sz="1050" dirty="0"/>
          </a:p>
        </p:txBody>
      </p:sp>
      <p:sp>
        <p:nvSpPr>
          <p:cNvPr id="39" name="Shape 37"/>
          <p:cNvSpPr/>
          <p:nvPr/>
        </p:nvSpPr>
        <p:spPr>
          <a:xfrm>
            <a:off x="640080" y="5522976"/>
            <a:ext cx="10911535" cy="7315"/>
          </a:xfrm>
          <a:prstGeom prst="rect">
            <a:avLst/>
          </a:prstGeom>
          <a:solidFill>
            <a:srgbClr val="111111"/>
          </a:solidFill>
          <a:ln w="12700">
            <a:solidFill>
              <a:srgbClr val="111111"/>
            </a:solidFill>
            <a:prstDash val="solid"/>
          </a:ln>
        </p:spPr>
      </p:sp>
      <p:sp>
        <p:nvSpPr>
          <p:cNvPr id="40" name="Text 38"/>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찾은 것은 그때그때 저장하세요. Zotero 같은 무료 도구를 쓰면 참고문헌 목록을 손으로 만들지 않아도 됩니다.</a:t>
            </a:r>
            <a:endParaRPr lang="en-US" sz="12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어떻게 읽고 정리하는가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처음부터 끝까지 읽지 않습니다. 순서가 따로 있습니다.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READ</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읽는 순서와 정리표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처음부터 끝까지 읽지 말고, 순서대로 걸러 가며 읽습니다.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읽는 순서</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초록과 결론 — 쓸모가 있는지 여기서 갈립니다. 없으면 덮습니다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그림과 표 — 논문에서 밀도가 가장 높은 곳입니다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방법 — 내가 빌려 올 수 있는지 판단합니다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전체 정독 — 다섯 편 중 두세 편이면 충분합니다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정리표 여섯 칸</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서지 — 저자 · 연도 · 제목 · 게재지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문제 — 이 논문이 풀려고 한 것</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방법 — 무엇을 어떻게 했는가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결과 — 무엇을 알아냈는가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 연구와의 관계 — 빌릴 것인가, 반대편에 세울 것인가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인용할 문장 하나 — 쪽수와 함께</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스무 편을 10분씩 훑고 다섯 편을 정독하는 편이, 다섯 편을 처음부터 끝까지 읽는 것보다 낫습니다.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METHOD</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방법 칸에 적을 다섯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무엇을 알아냈는가보다 어떻게 알아냈는가를 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무엇을 자료로 삼았는가</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몇 명인지, 어떤 사람인지, 어떻게 골랐는지. 수와 선정 기준까지 적습니다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자료</a:t>
            </a:r>
            <a:endParaRPr lang="en-US" sz="1050" dirty="0"/>
          </a:p>
        </p:txBody>
      </p:sp>
      <p:sp>
        <p:nvSpPr>
          <p:cNvPr id="15" name="Shape 13"/>
          <p:cNvSpPr/>
          <p:nvPr/>
        </p:nvSpPr>
        <p:spPr>
          <a:xfrm>
            <a:off x="640080" y="2406701"/>
            <a:ext cx="10911535" cy="7315"/>
          </a:xfrm>
          <a:prstGeom prst="rect">
            <a:avLst/>
          </a:prstGeom>
          <a:solidFill>
            <a:srgbClr val="DCDCDC"/>
          </a:solidFill>
          <a:ln w="12700">
            <a:solidFill>
              <a:srgbClr val="DCDCDC"/>
            </a:solidFill>
            <a:prstDash val="solid"/>
          </a:ln>
        </p:spPr>
      </p:sp>
      <p:sp>
        <p:nvSpPr>
          <p:cNvPr id="16" name="Shape 14"/>
          <p:cNvSpPr/>
          <p:nvPr/>
        </p:nvSpPr>
        <p:spPr>
          <a:xfrm>
            <a:off x="640080" y="2571293"/>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571293"/>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479853"/>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어떻게 모았는가</a:t>
            </a:r>
            <a:endParaRPr lang="en-US" sz="1450" dirty="0"/>
          </a:p>
        </p:txBody>
      </p:sp>
      <p:sp>
        <p:nvSpPr>
          <p:cNvPr id="19" name="Text 17"/>
          <p:cNvSpPr/>
          <p:nvPr/>
        </p:nvSpPr>
        <p:spPr>
          <a:xfrm>
            <a:off x="1188720" y="2790749"/>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인터뷰면 한 번에 몇 분씩 몇 회를 어디서. 실험이면 조건과 순서</a:t>
            </a:r>
            <a:endParaRPr lang="en-US" sz="1100" dirty="0"/>
          </a:p>
        </p:txBody>
      </p:sp>
      <p:sp>
        <p:nvSpPr>
          <p:cNvPr id="20" name="Text 18"/>
          <p:cNvSpPr/>
          <p:nvPr/>
        </p:nvSpPr>
        <p:spPr>
          <a:xfrm>
            <a:off x="9357055" y="2571293"/>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절차</a:t>
            </a:r>
            <a:endParaRPr lang="en-US" sz="1050" dirty="0"/>
          </a:p>
        </p:txBody>
      </p:sp>
      <p:sp>
        <p:nvSpPr>
          <p:cNvPr id="21" name="Shape 19"/>
          <p:cNvSpPr/>
          <p:nvPr/>
        </p:nvSpPr>
        <p:spPr>
          <a:xfrm>
            <a:off x="640080" y="316748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33207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33207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24063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본 조사 전에 무엇을 했는가</a:t>
            </a:r>
            <a:endParaRPr lang="en-US" sz="1450" dirty="0"/>
          </a:p>
        </p:txBody>
      </p:sp>
      <p:sp>
        <p:nvSpPr>
          <p:cNvPr id="25" name="Text 23"/>
          <p:cNvSpPr/>
          <p:nvPr/>
        </p:nvSpPr>
        <p:spPr>
          <a:xfrm>
            <a:off x="1188720" y="355153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예비조사에서 무엇을 고쳤는지 적힌 논문이 가장 값집니다. 내 사전 리서치를 거기서 설계합니다</a:t>
            </a:r>
            <a:endParaRPr lang="en-US" sz="1100" dirty="0"/>
          </a:p>
        </p:txBody>
      </p:sp>
      <p:sp>
        <p:nvSpPr>
          <p:cNvPr id="26" name="Text 24"/>
          <p:cNvSpPr/>
          <p:nvPr/>
        </p:nvSpPr>
        <p:spPr>
          <a:xfrm>
            <a:off x="9357055" y="333207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사전</a:t>
            </a:r>
            <a:endParaRPr lang="en-US" sz="1050" dirty="0"/>
          </a:p>
        </p:txBody>
      </p:sp>
      <p:sp>
        <p:nvSpPr>
          <p:cNvPr id="27" name="Shape 25"/>
          <p:cNvSpPr/>
          <p:nvPr/>
        </p:nvSpPr>
        <p:spPr>
          <a:xfrm>
            <a:off x="640080" y="3928262"/>
            <a:ext cx="10911535" cy="7315"/>
          </a:xfrm>
          <a:prstGeom prst="rect">
            <a:avLst/>
          </a:prstGeom>
          <a:solidFill>
            <a:srgbClr val="DCDCDC"/>
          </a:solidFill>
          <a:ln w="12700">
            <a:solidFill>
              <a:srgbClr val="DCDCDC"/>
            </a:solidFill>
            <a:prstDash val="solid"/>
          </a:ln>
        </p:spPr>
      </p:sp>
      <p:sp>
        <p:nvSpPr>
          <p:cNvPr id="28" name="Shape 26"/>
          <p:cNvSpPr/>
          <p:nvPr/>
        </p:nvSpPr>
        <p:spPr>
          <a:xfrm>
            <a:off x="640080" y="409285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09285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00141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무엇을 기준으로 판단했는가</a:t>
            </a:r>
            <a:endParaRPr lang="en-US" sz="1450" dirty="0"/>
          </a:p>
        </p:txBody>
      </p:sp>
      <p:sp>
        <p:nvSpPr>
          <p:cNvPr id="31" name="Text 29"/>
          <p:cNvSpPr/>
          <p:nvPr/>
        </p:nvSpPr>
        <p:spPr>
          <a:xfrm>
            <a:off x="1188720" y="431231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분석 틀 · 코딩 기준 · 측정 지표. 같은 자료를 봐도 기준이 다르면 결론이 달라집니다</a:t>
            </a:r>
            <a:endParaRPr lang="en-US" sz="1100" dirty="0"/>
          </a:p>
        </p:txBody>
      </p:sp>
      <p:sp>
        <p:nvSpPr>
          <p:cNvPr id="32" name="Text 30"/>
          <p:cNvSpPr/>
          <p:nvPr/>
        </p:nvSpPr>
        <p:spPr>
          <a:xfrm>
            <a:off x="9357055" y="409285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분석</a:t>
            </a:r>
            <a:endParaRPr lang="en-US" sz="1050" dirty="0"/>
          </a:p>
        </p:txBody>
      </p:sp>
      <p:sp>
        <p:nvSpPr>
          <p:cNvPr id="33" name="Shape 31"/>
          <p:cNvSpPr/>
          <p:nvPr/>
        </p:nvSpPr>
        <p:spPr>
          <a:xfrm>
            <a:off x="640080" y="4689043"/>
            <a:ext cx="10911535" cy="7315"/>
          </a:xfrm>
          <a:prstGeom prst="rect">
            <a:avLst/>
          </a:prstGeom>
          <a:solidFill>
            <a:srgbClr val="DCDCDC"/>
          </a:solidFill>
          <a:ln w="12700">
            <a:solidFill>
              <a:srgbClr val="DCDCDC"/>
            </a:solidFill>
            <a:prstDash val="solid"/>
          </a:ln>
        </p:spPr>
      </p:sp>
      <p:sp>
        <p:nvSpPr>
          <p:cNvPr id="34" name="Shape 32"/>
          <p:cNvSpPr/>
          <p:nvPr/>
        </p:nvSpPr>
        <p:spPr>
          <a:xfrm>
            <a:off x="640080" y="4853635"/>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853635"/>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5</a:t>
            </a:r>
            <a:endParaRPr lang="en-US" sz="1000" dirty="0"/>
          </a:p>
        </p:txBody>
      </p:sp>
      <p:sp>
        <p:nvSpPr>
          <p:cNvPr id="36" name="Text 34"/>
          <p:cNvSpPr/>
          <p:nvPr/>
        </p:nvSpPr>
        <p:spPr>
          <a:xfrm>
            <a:off x="1188720" y="4762195"/>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무엇이 안 됐다고 적었는가</a:t>
            </a:r>
            <a:endParaRPr lang="en-US" sz="1450" dirty="0"/>
          </a:p>
        </p:txBody>
      </p:sp>
      <p:sp>
        <p:nvSpPr>
          <p:cNvPr id="37" name="Text 35"/>
          <p:cNvSpPr/>
          <p:nvPr/>
        </p:nvSpPr>
        <p:spPr>
          <a:xfrm>
            <a:off x="1188720" y="5073091"/>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한계 절입니다. 본인이 못 했다고 적어 둔 자리가 내가 들어갈 자리입니다</a:t>
            </a:r>
            <a:endParaRPr lang="en-US" sz="1100" dirty="0"/>
          </a:p>
        </p:txBody>
      </p:sp>
      <p:sp>
        <p:nvSpPr>
          <p:cNvPr id="38" name="Text 36"/>
          <p:cNvSpPr/>
          <p:nvPr/>
        </p:nvSpPr>
        <p:spPr>
          <a:xfrm>
            <a:off x="9357055" y="4853635"/>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한계</a:t>
            </a:r>
            <a:endParaRPr lang="en-US" sz="1050" dirty="0"/>
          </a:p>
        </p:txBody>
      </p:sp>
      <p:sp>
        <p:nvSpPr>
          <p:cNvPr id="39" name="Shape 37"/>
          <p:cNvSpPr/>
          <p:nvPr/>
        </p:nvSpPr>
        <p:spPr>
          <a:xfrm>
            <a:off x="640080" y="5522976"/>
            <a:ext cx="10911535" cy="7315"/>
          </a:xfrm>
          <a:prstGeom prst="rect">
            <a:avLst/>
          </a:prstGeom>
          <a:solidFill>
            <a:srgbClr val="111111"/>
          </a:solidFill>
          <a:ln w="12700">
            <a:solidFill>
              <a:srgbClr val="111111"/>
            </a:solidFill>
            <a:prstDash val="solid"/>
          </a:ln>
        </p:spPr>
      </p:sp>
      <p:sp>
        <p:nvSpPr>
          <p:cNvPr id="40" name="Text 38"/>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결론만 가져오면 인용 한 줄이 남고, 과정을 가져오면 내 연구 설계가 남습니다.</a:t>
            </a:r>
            <a:endParaRPr lang="en-US" sz="12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MAP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지도 그리기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목록은 아직 지도가 아닙니다. 세 단계로 지도가 됩니다.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묶는다</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비슷한 것끼리 모읍니다. 같은 방법 · 같은 문제 · 같은 결론.</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묶다 보면 이 분야에 몇 개의 흐름이 있는지 보입니다.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축을 찾는다</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묶음들을 갈라놓는 기준을 찾습니다. 대개 두 개면 충분합니다.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그 두 축으로 판을 만들고 논문들을 올려놓습니다.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빈칸을 찾는다</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아무도 없는 칸이 내 자리의 후보입니다.</a:t>
            </a:r>
            <a:endParaRPr lang="en-US" sz="1150" dirty="0"/>
          </a:p>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다만 왜 비어 있는지도 생각하세요 — 할 필요가 없어서 빈 자리일 수도 있습니다.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지난 회차의 계보도와 같은 작업입니다. 그때는 이론의 계보였고, 이번에는 내 주제의 지도입니다.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워크숍 · 내 주제로 다섯 편 찾기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개인 작업 — 오늘 안에 후보 목록까지 만들고 갑니다.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개념으로 쪼개기</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자기 주제를 개념 두세 개로 나눠 적습니다. 한국어로 먼저 적어도 됩니다.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영어 학술 용어 찾기</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비슷한 논문 한 편을 찾아 그 논문의 키워드 목록에서 빌려 옵니다. 막히면 손을 듭니다.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리뷰 논문과 눈덩이</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review · survey 를 붙여 검색하고, 참고문헌과 인용 논문으로 후보 열 편을 모읍니다.</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다섯 편으로 줄이기</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초록만 보고 고릅니다. 정리표는 집에서 채웁니다.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오늘 확인하고 가는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회차까지 2주가 있습니다.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내 주제를 개념 두세 개로 쪼갰다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각 개념의 영어 학술 용어를 찾았다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도서관 전자저널에서 원문이 열리는 것을 확인했다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후보 논문 다섯 편의 목록을 만들었다</a:t>
            </a:r>
            <a:endParaRPr lang="en-US" sz="1200" dirty="0"/>
          </a:p>
        </p:txBody>
      </p:sp>
      <p:sp>
        <p:nvSpPr>
          <p:cNvPr id="25" name="Shape 23"/>
          <p:cNvSpPr/>
          <p:nvPr/>
        </p:nvSpPr>
        <p:spPr>
          <a:xfrm>
            <a:off x="640080" y="4681728"/>
            <a:ext cx="5254600" cy="585216"/>
          </a:xfrm>
          <a:prstGeom prst="rect">
            <a:avLst/>
          </a:prstGeom>
          <a:solidFill>
            <a:srgbClr val="F2F2F2"/>
          </a:solidFill>
          <a:ln w="12700">
            <a:solidFill>
              <a:srgbClr val="F2F2F2"/>
            </a:solidFill>
            <a:prstDash val="solid"/>
          </a:ln>
        </p:spPr>
      </p:sp>
      <p:sp>
        <p:nvSpPr>
          <p:cNvPr id="26" name="Shape 24"/>
          <p:cNvSpPr/>
          <p:nvPr/>
        </p:nvSpPr>
        <p:spPr>
          <a:xfrm>
            <a:off x="914400" y="4818888"/>
            <a:ext cx="310896" cy="310896"/>
          </a:xfrm>
          <a:prstGeom prst="ellipse">
            <a:avLst/>
          </a:prstGeom>
          <a:solidFill>
            <a:srgbClr val="F2F2F2"/>
          </a:solidFill>
          <a:ln w="12700">
            <a:solidFill>
              <a:srgbClr val="111111"/>
            </a:solidFill>
            <a:prstDash val="solid"/>
          </a:ln>
        </p:spPr>
      </p:sp>
      <p:sp>
        <p:nvSpPr>
          <p:cNvPr id="27" name="Text 25"/>
          <p:cNvSpPr/>
          <p:nvPr/>
        </p:nvSpPr>
        <p:spPr>
          <a:xfrm>
            <a:off x="914400" y="481888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1353312" y="468172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한 편을 열어 방법 절에서 다섯 가지를 찾아봤다</a:t>
            </a:r>
            <a:endParaRPr lang="en-US" sz="1200" dirty="0"/>
          </a:p>
        </p:txBody>
      </p:sp>
      <p:sp>
        <p:nvSpPr>
          <p:cNvPr id="29" name="Shape 27"/>
          <p:cNvSpPr/>
          <p:nvPr/>
        </p:nvSpPr>
        <p:spPr>
          <a:xfrm>
            <a:off x="6297016" y="175564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189280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정리표 양식을 내려받았다</a:t>
            </a:r>
            <a:endParaRPr lang="en-US" sz="1200" dirty="0"/>
          </a:p>
        </p:txBody>
      </p:sp>
      <p:sp>
        <p:nvSpPr>
          <p:cNvPr id="33" name="Shape 31"/>
          <p:cNvSpPr/>
          <p:nvPr/>
        </p:nvSpPr>
        <p:spPr>
          <a:xfrm>
            <a:off x="6297016" y="248716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262432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3회차 리딩 두 편의 접근 경로를 확인했다</a:t>
            </a:r>
            <a:endParaRPr lang="en-US" sz="1200" dirty="0"/>
          </a:p>
        </p:txBody>
      </p:sp>
      <p:sp>
        <p:nvSpPr>
          <p:cNvPr id="37" name="Shape 35"/>
          <p:cNvSpPr/>
          <p:nvPr/>
        </p:nvSpPr>
        <p:spPr>
          <a:xfrm>
            <a:off x="6297016" y="321868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335584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지도를 언제 그릴지 정했다</a:t>
            </a:r>
            <a:endParaRPr lang="en-US" sz="1200" dirty="0"/>
          </a:p>
        </p:txBody>
      </p:sp>
      <p:sp>
        <p:nvSpPr>
          <p:cNvPr id="41" name="Shape 39"/>
          <p:cNvSpPr/>
          <p:nvPr/>
        </p:nvSpPr>
        <p:spPr>
          <a:xfrm>
            <a:off x="6297016" y="3950208"/>
            <a:ext cx="5254600" cy="585216"/>
          </a:xfrm>
          <a:prstGeom prst="rect">
            <a:avLst/>
          </a:prstGeom>
          <a:solidFill>
            <a:srgbClr val="F2F2F2"/>
          </a:solidFill>
          <a:ln w="12700">
            <a:solidFill>
              <a:srgbClr val="F2F2F2"/>
            </a:solidFill>
            <a:prstDash val="solid"/>
          </a:ln>
        </p:spPr>
      </p:sp>
      <p:sp>
        <p:nvSpPr>
          <p:cNvPr id="42" name="Shape 40"/>
          <p:cNvSpPr/>
          <p:nvPr/>
        </p:nvSpPr>
        <p:spPr>
          <a:xfrm>
            <a:off x="6571336" y="4087368"/>
            <a:ext cx="310896" cy="310896"/>
          </a:xfrm>
          <a:prstGeom prst="ellipse">
            <a:avLst/>
          </a:prstGeom>
          <a:solidFill>
            <a:srgbClr val="F2F2F2"/>
          </a:solidFill>
          <a:ln w="12700">
            <a:solidFill>
              <a:srgbClr val="111111"/>
            </a:solidFill>
            <a:prstDash val="solid"/>
          </a:ln>
        </p:spPr>
      </p:sp>
      <p:sp>
        <p:nvSpPr>
          <p:cNvPr id="43" name="Text 41"/>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09</a:t>
            </a:r>
            <a:endParaRPr lang="en-US" sz="900" dirty="0"/>
          </a:p>
        </p:txBody>
      </p:sp>
      <p:sp>
        <p:nvSpPr>
          <p:cNvPr id="44" name="Text 42"/>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공유 폴더에 올리는 방법을 확인했다</a:t>
            </a:r>
            <a:endParaRPr lang="en-US" sz="1200" dirty="0"/>
          </a:p>
        </p:txBody>
      </p:sp>
      <p:sp>
        <p:nvSpPr>
          <p:cNvPr id="45" name="Shape 43"/>
          <p:cNvSpPr/>
          <p:nvPr/>
        </p:nvSpPr>
        <p:spPr>
          <a:xfrm>
            <a:off x="640080" y="5468112"/>
            <a:ext cx="10911535" cy="7315"/>
          </a:xfrm>
          <a:prstGeom prst="rect">
            <a:avLst/>
          </a:prstGeom>
          <a:solidFill>
            <a:srgbClr val="111111"/>
          </a:solidFill>
          <a:ln w="12700">
            <a:solidFill>
              <a:srgbClr val="111111"/>
            </a:solidFill>
            <a:prstDash val="solid"/>
          </a:ln>
        </p:spPr>
      </p:sp>
      <p:sp>
        <p:nvSpPr>
          <p:cNvPr id="46" name="Text 44"/>
          <p:cNvSpPr/>
          <p:nvPr/>
        </p:nvSpPr>
        <p:spPr>
          <a:xfrm>
            <a:off x="640080" y="557784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세 번째가 안 되면 다음 2주 동안 아무것도 할 수 없습니다. 오늘 확인하고 가세요.</a:t>
            </a:r>
            <a:endParaRPr lang="en-US" sz="1250" dirty="0"/>
          </a:p>
        </p:txBody>
      </p:sp>
      <p:sp>
        <p:nvSpPr>
          <p:cNvPr id="47" name="Shape 45"/>
          <p:cNvSpPr/>
          <p:nvPr/>
        </p:nvSpPr>
        <p:spPr>
          <a:xfrm>
            <a:off x="640080" y="6291072"/>
            <a:ext cx="10911535" cy="7315"/>
          </a:xfrm>
          <a:prstGeom prst="rect">
            <a:avLst/>
          </a:prstGeom>
          <a:solidFill>
            <a:srgbClr val="DCDCDC"/>
          </a:solidFill>
          <a:ln w="12700">
            <a:solidFill>
              <a:srgbClr val="DCDCDC"/>
            </a:solidFill>
            <a:prstDash val="solid"/>
          </a:ln>
        </p:spPr>
      </p:sp>
      <p:sp>
        <p:nvSpPr>
          <p:cNvPr id="48" name="Text 4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49" name="Text 4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계보</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3회차는 미뤄 둔 디자인 프로세스의 계보를 읽습니다.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선행연구 다섯 편 정리표</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찾은 것을 여섯 칸으로 채웁니다. 서지 · 문제 · 방법 · 결과 · 내 연구와의 관계 · 인용할 문장 하나. 방법 칸은 오늘 본 다섯 가지로 쪼개 적습니다 — 자료 · 절차 · 예비조사 · 판단 기준 · 한계. 공유 폴더에 올리고 파일 이름은 이름_선행연구05.</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지도 초안</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다섯 편을 축 두 개 위에 놓고 내 연구 자리에 점을 찍습니다. 손으로 그려 사진을 찍어도 됩니다.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3회차 리딩</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Jones 『Design Methods』 (1970) 서문과 1장, Alexander 『Notes on the Synthesis of Form』 (1964) 1971년 개정판 서문. 짧습니다. 리딩 노트는 다음 회차에 함께 안내합니다.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3회차 세션 전까지 · 공유 폴더 업로드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03주차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디자인 프로세스의 계보</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Design Methods Movement (1960s)</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Jones · Archer의 체계적 방법론</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방법론 운동의 좌초와 그 이후</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계보도 공동 작성</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선행연구 다섯 편 정리표 · 지도 초안 · 3회차 리딩</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2주차 선행연구 — 찾고, 읽고, 지도 그리기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컨셉트와 프로세스 · 2주차 선행연구 — 찾고, 읽고, 지도 그리기</dc:title>
  <dc:subject>원광대학교 2026-2 · 대학원 박사과정 · 주 3시간 × 15주 · 세미나형 · 연구 프로포절</dc:subject>
  <dc:creator>MIN.D</dc:creator>
  <cp:lastModifiedBy>MIN.D</cp:lastModifiedBy>
  <cp:revision>1</cp:revision>
  <dcterms:created xsi:type="dcterms:W3CDTF">2026-10-06T11:49:33Z</dcterms:created>
  <dcterms:modified xsi:type="dcterms:W3CDTF">2026-10-06T11:49:33Z</dcterms:modified>
</cp:coreProperties>
</file>