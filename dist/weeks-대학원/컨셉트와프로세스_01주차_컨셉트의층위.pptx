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「컨셉트와 프로세스」 첫 시간입니다.
이 수업은 15주 동안 디자인의 컨셉과 프로세스를 이론적 계보 위에서 읽고, 그 위에 각자의 연구를 세워서, 학기 말에 연구 프로포절 드래프트를 내놓는 과목입니다.
오늘은 두 가지를 합니다. 하나는 '컨셉'이라는 말이 대체 무엇을 가리키는지 갈라 놓는 것. 다른 하나는 각자가 지금 어디에 서 있는지 서로 확인하는 것입니다.
그리고 마지막에 운영 방식을 함께 정하겠습니다. 매주 할지 격주로 묶을지, 발제 순서를 어떻게 할지 — 오늘 정해야 다음 주가 굴러갑니다.
[운영 메모]
세미나형 첫 시간이다. 학부 수업처럼 강의를 길게 끌면 학기 내내 그 모드로 굳는다. 첫날부터 토론 지분을 실제로 넘겨 주는 것이 중요하다. 강의 50분 뒤에는 반드시 말이 오가게 만들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운영 방식부터 짚고 가겠습니다.
이 수업은 강의가 아니라 세미나입니다. 시간의 주인이 다릅니다. 발제자와 토론자가 시간을 쓰고, 저는 논점을 좁히고 되묻는 역할을 합니다.
그래서 읽고 오셔야 시작됩니다. 강의는 안 읽어도 들으면 따라갈 수 있지만, 세미나는 안 읽으면 그 시간에 할 일이 없습니다.
발제도 다릅니다. 요약이 아니라 논점 추출과 비판적 재구성입니다. 뒤에서 자세히 말씀드리겠습니다.
마지막 줄이 중요합니다. 리딩을 소화하지 못한 주에도 오세요. 다만 '이번 주 못 읽었습니다'를 먼저 말하고 듣는 자리로 참여하시면 됩니다. 안 읽었다고 결석하는 게 세미나에서 제일 나쁜 패턴입니다.
[운영 메모]
마지막 문장을 반드시 말할 것. 안 읽었다는 이유로 결석하는 것이 세미나에서 가장 나쁜 패턴이다.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15주를 네 구간으로 나눴습니다.
1~4주는 계보입니다. 이 논의가 어디서 왔는지 읽습니다. 오늘의 컨셉트 층위에서 시작해서, 1960년대 방법론 운동, Wicked Problems, 그리고 디자인 리서치 패러다임까지.
5~8주는 기제입니다. 컨셉이 어떻게 만들어지는가. Research through Design, abduction, frame creation을 다루고 8주차에 각자의 컨셉 진술을 발표합니다.
9~12주는 확장입니다. 더블 다이아몬드를 비판적으로 검토하고, 참여디자인, 스페큘러티브 디자인, 그리고 데이터와 AI 환경에서 프로세스가 어떻게 변형되는지 봅니다.
13~15주는 정립입니다. 자기 프레임으로 프로포절을 완성합니다.
8주차 컨셉 진술과 14주차 상호 리뷰가 두 개의 분기점입니다.
[운영 메모]
네 구간의 이름(계보·기제·확장·정립)을 외우게 할 것. 매주 '지금 어느 구간인지'로 위치를 잡아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본론입니다.
컨셉트라는 말이 최소 세 층위에서 쓰입니다. 어휘 정리처럼 들리겠지만, 실제로는 연구 설계의 문제입니다.
[운영 메모]
30분 구간. 어휘 정리처럼 보이지만 실제로는 연구 설계의 문제다. 마지막에 반드시 '그래서 네 연구는?'으로 착지시킬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질문 하나 드리겠습니다.
"컨셉을 도출했다"는 문장은 무엇을 했다는 뜻입니까.
아이디어를 냈다는 뜻일 수도 있고, 제품의 성격을 규정했다는 뜻일 수도 있고, 문제를 보는 틀을 바꿨다는 뜻일 수도 있고, 측정 가능한 구성물을 정의했다는 뜻일 수도 있습니다.
이 넷은 서로 다른 작업입니다. 서로 다른 방법을 요구하고, 서로 다른 기여 진술로 이어집니다.
이 문장이 흐린 채로 쓰인 논문은 심사에서 반드시 그 지점을 맞습니다. '그래서 무엇을 하신 겁니까'라는 질문으로요.
[운영 메모]
이 슬라이드에서 실제 학위논문 초록 한두 개를 예로 띄우면 효과가 크다. 익명 처리한 사례를 미리 준비할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영어권 논의에서는 세 단어가 층위가 다릅니다. 한국어로 옮기면서 뭉개집니다.
concept은 개념입니다. 대상을 묶는 안정된 범주고, 여럿이 공유하기 때문에 논쟁의 무대가 됩니다.
conception은 그 개념을 특정 주체가 어떻게 붙잡고 있는가입니다.
롤스가 「정의론」 1절에서 이 둘을 구분합니다. 'the concept of justice'는 모두가 같은 자리를 가리키는 그 자리고, 'conceptions of justice'는 그 자리를 두고 경합하는 서로 다른 파악들입니다.
여러분 연구가 다투는 자리는 대개 두 번째입니다. 개념 자체를 새로 만드는 게 아니라, 그 개념을 다르게 붙잡겠다는 주장이지요.
conceptual은 형용사입니다. 개념 수준에서 작동한다는 뜻인데, 이것도 용법이 둘로 갈립니다. conceptual design은 구현 전 단계를 가리키고, conceptual art는 물질보다 개념이 작품이라는 주장을 가리킵니다.
한국어로는 셋 다 '개념' 아니면 '컨셉'이 됩니다. 논문에서 원어를 병기하거나 조작적 정의를 붙이는 이유가 여기 있습니다.
[운영 메모]
Rawls의 concept/conception 구분(「정의론」 §1)은 이 분야 밖에서 온 예시라 오히려 잘 박힌다. 디자인 문헌으로 바로 들어가면 용법 혼란이 그대로 재생산된다.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디자인 안으로 들어와 보겠습니다.
'컨셉'이 앉는 자리가 최소 다섯입니다.
하나, 발산의 산출물. '컨셉 스케치 20안'의 그 컨셉입니다. 아이디어와 사실상 같은 말로 쓰입니다.
둘, 대상의 성격 규정. '이 서비스의 컨셉은 무엇이다'라고 할 때요.
셋, 문제를 보는 틀. 무엇을 문제로 볼지 정하는 프레임입니다. Dorst의 frame과 겹치고, 6주차에 본격적으로 다룹니다.
넷, 포지셔닝 진술. 마케팅 문헌의 컨셉 테스트가 여기 속합니다.
다섯, 연구의 구성물. construct요. 측정하고 조작적으로 정의하는 대상입니다.
다섯 자리에서 '컨셉을 만들었다'가 각각 다른 일을 뜻합니다.
그래서 묻겠습니다. 여러분의 연구는 이 중 어디에서 기여를 주장합니까. 손을 들어 보시죠. 1번이신 분? 2번? …
[운영 메모]
이 표가 오늘 토론의 재료다. 학생들에게 자기 연구가 몇 번인지 손을 들게 하면 대개 갈리고, 그 갈림에서 논의가 시작된다.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30분 토론입니다.
먼저 5분 각자 준비하시겠습니다. 자기 연구에서 '컨셉'이라는 말을 쓰는 문장을 하나 적으세요. 그리고 그 문장의 컨셉이 방금 본 다섯 자리 중 어디인지 표시하십시오.
둘 이상에 걸쳐 있으면 둘 다 표시하세요. 그게 오늘의 발견입니다.
그다음 한 사람씩 자기 문장을 읽습니다. 듣는 분들은 '어느 층위로 들렸는지'만 말해 주세요.
규칙이 하나 있습니다. 연구의 가치를 평가하지 않습니다. 좋은 주제다, 어렵겠다 같은 말은 하지 않습니다. 층위만 봅니다.
본인이 생각한 층위와 남이 들은 층위가 어긋나는 것 — 그게 오늘 가장 중요한 수확입니다. 어긋난 지점을 꼭 적어 두세요.
[운영 메모]
'평가하지 않는다'는 규칙을 먼저 세우지 않으면 첫 주부터 서로의 연구를 심사하기 시작한다. 층위 판별만으로 제한할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각자의 연구를 꺼내 놓겠습니다.
1인 8분입니다. 완성된 계획을 발표하는 자리가 아닙니다. 지금 서 있는 자리를 말하는 자리입니다.
[운영 메모]
50분 구간. 인원에 따라 1인 시간을 조정한다. 6명 기준 8분이며, 10명이면 5분으로 줄이거나 절반을 2주차로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A4 한 장에 네 가지를 담아 주세요.
무엇에 관한 연구인지 한 문장. 왜 그것이 아직 해결되지 않았다고 보는지. 어떤 방법을 생각하고 있는지 — 미정이면 미정이라고 쓰시면 됩니다. 그리고 지금 가장 막혀 있는 지점 하나.
듣는 분들은 이 연구가 무엇을 주장하려는지 한 줄로 적어 보세요. 안 적히면 그 사실을 질문으로 돌려주시면 됩니다.
그리고 해결책을 제안하지 마세요. 아직 그럴 때가 아닙니다. 오늘은 서로가 어디 있는지 확인하는 자리입니다.
네 번째 칸 — 가장 막혀 있는 지점 — 을 비워 두고 오시는 분이 매년 있습니다. 그 칸이 이 세미나가 실제로 쓸모 있어지는 자리입니다. 박사과정일수록 미완성을 드러내기 어려운 거 압니다. 그래도 쓰세요.
[운영 메모]
박사과정 학생일수록 미완성을 드러내기 어려워한다. 교수가 먼저 자기 연구에서 막혔던 지점을 짧게 말해 주면 분위기가 달라진다.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마지막으로 운영을 정하겠습니다.
오늘 정하지 못하면 다음 주가 통째로 밀립니다. 25분 안에 세 가지를 끝내겠습니다.
[운영 메모]
25분 구간. 세 가지(진행 주기·발제 순서·리딩 배포)를 반드시 오늘 확정할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첫째, 진행 주기입니다.
학사 일정은 매주 3시간입니다. 다만 리딩 분량과 각자의 연구 일정을 고려하면 격주로 묶어 운영하는 방안도 생각해 볼 수 있습니다. 격주로 가면 회차당 리딩이 두 배가 되고 발제 부담도 커집니다. 어느 쪽이 나을지 오늘 이야기해 보겠습니다.
둘째, 발제 순서입니다. 학기 중 1인 2회고, 2주차에서 13주차 사이에서 배정합니다. 자기 연구와 가까운 주차를 먼저 고르시는 편이 유리합니다. 발제문이 그대로 프로포절의 이론적 배경으로 가니까요.
셋째, 리딩 배포입니다. 도서관 DB 접근 범위를 확인해야 원문을 어떻게 나눠 드릴지 정해집니다. 확인 전까지는 서지사항과 접근 경로를 공유하고 각자 내려받으시는 방식으로 시작하겠습니다. 저작권 문제가 있어서 임의로 배포하지는 않습니다.
[운영 메모]
격주 결정은 학사 규정상 가능한 범위인지 학과에 먼저 확인할 것. 학생 협의만으로 정할 수 없는 사안일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평가는 다섯 항목입니다.
과정에 55퍼센트가 있습니다. 토론 참여 20, 발제 25, 리딩 노트 10. 읽지 않으면 이 세 항목이 동시에 무너집니다.
중간 컨셉 진술이 20퍼센트, 8주차입니다. 최종 프로포절이 25퍼센트고요.
토론 참여는 발언 횟수가 아니라 질문의 질로 봅니다. 좋은 질문 하나가 스무 번 맞장구보다 낫습니다.
그리고 발제 — 논문 요약이 아니라 '이 텍스트가 내 연구에 무엇을 요구하는가'를 논증하는 자리로 운영하겠습니다.
[운영 메모]
기획안 표지에는 '과정 45% + 결과 55%'로 적혀 있으나 항목 배점(20·25·10·20·25)을 더하면 과정 55 / 결과 45다. 여기서는 항목 배점을 기준으로 바로잡아 표기했다. 학과 제출 문서와 숫자를 맞출 필요가 있으면 이 슬라이드를 먼저 수정할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발제를 어떻게 하는지 조금 더 말씀드리겠습니다. 학기 중 두 번 하십니다.
첫째, 논점 추출. 텍스트가 무엇을 주장하고 무엇에 반대하는지 골라냅니다. 저자가 싸우고 있는 상대를 찾으면 논점이 보입니다. 전체 요약은 하지 마세요.
둘째, 비판적 재구성. 그 주장이 어디까지 버티고 어디서 무너지는지 봅니다. 반박이 아니라 경계를 그리는 일입니다. 텍스트가 말하지 않고 전제하고 있는 것을 드러내면 대개 여기가 열립니다.
셋째, 내 연구로 가져오기. 이 텍스트가 내 연구에 무엇을 요구하는가. 방법을 바꾸라는 요구인지, 개념을 다시 정의하라는 요구인지, 아니면 이 텍스트를 반대편에 세워야 하는지.
발제문은 A4 세 장 내외고, 세미나 48시간 전에 공유해 주세요. 다른 분들이 읽고 와야 토론이 됩니다. 늦게 올리면 발제자 혼자 말하는 시간이 됩니다.
[운영 메모]
48시간 전 공유 규칙을 첫 주에 못 박아야 지켜진다. 늦게 올리면 토론이 발제자 독백이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확정하고 가는 것들입니다.
앞의 네 개는 각자 정리하실 것이고, 뒤의 네 개는 이 자리에서 끝내야 합니다.
특히 발제 배정이요. 지금 공유 문서를 띄울 테니 그 자리에서 채워 주세요. 나중에 메일로 보내겠다고 하시면 절반은 안 옵니다.
그리고 2주차 리딩 접근 경로를 오늘 확인하고 가세요. 다음 주에 못 읽고 오시면 그 시간에 하실 일이 없습니다.
[운영 메모]
발제 배정표를 공유 문서로 만들어 화면에 띄우고 그 자리에서 채우게 할 것. 나중에 메일로 받겠다고 하면 절반이 안 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리딩 노트 1회차, 연구 주제 1페이지 수정본, 그리고 배정받은 발제 주차의 리딩 확보.
리딩 노트는 A4 한 장인데, 요약이 아닙니다. '이 텍스트가 내 연구에 무엇을 요구하는가'를 쓰시는 겁니다. 이 문장을 학기 내내 반복하게 될 겁니다.
다음 주는 디자인 방법론의 계보를 읽습니다. 1960년대 Design Methods Movement가 무엇을 하려 했고 왜 좌초했는지, 그리고 그 실패가 지금 우리에게 무엇을 남겼는지.
질문 있으신가요?
[운영 메모]
리딩 노트를 요약으로 써 오는 것이 첫 3주의 공통 현상이다. 1주차에 '요구'라는 단어를 반복해 강조하고, 2주차에 잘 쓴 노트 한 편을 익명으로 공유하면 빠르게 교정된다.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01</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01  ·  PHASE 1 계보</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과목 개관 · 컨셉트의 층위</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'컨셉'이라는 말이 무엇을 가리키는지 갈라 놓고,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각자의 연구를 그 위에 올려 놓습니다.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자기 연구 주제 1페이지 · 발제 순서 확정</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SEMINAR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 수업은 강의가 아닙니다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운영 방식이 다르면 준비하는 방식도 달라집니다.</a:t>
            </a:r>
            <a:endParaRPr lang="en-US" sz="1150" dirty="0"/>
          </a:p>
        </p:txBody>
      </p:sp>
      <p:sp>
        <p:nvSpPr>
          <p:cNvPr id="9" name="Shape 7"/>
          <p:cNvSpPr/>
          <p:nvPr/>
        </p:nvSpPr>
        <p:spPr>
          <a:xfrm>
            <a:off x="640080" y="1627632"/>
            <a:ext cx="5254600" cy="3127248"/>
          </a:xfrm>
          <a:prstGeom prst="rect">
            <a:avLst/>
          </a:prstGeom>
          <a:solidFill>
            <a:srgbClr val="FFFFFF"/>
          </a:solidFill>
          <a:ln w="12700">
            <a:solidFill>
              <a:srgbClr val="111111"/>
            </a:solidFill>
            <a:prstDash val="solid"/>
          </a:ln>
        </p:spPr>
      </p:sp>
      <p:sp>
        <p:nvSpPr>
          <p:cNvPr id="10" name="Shape 8"/>
          <p:cNvSpPr/>
          <p:nvPr/>
        </p:nvSpPr>
        <p:spPr>
          <a:xfrm>
            <a:off x="640080" y="1627632"/>
            <a:ext cx="5254600" cy="64008"/>
          </a:xfrm>
          <a:prstGeom prst="rect">
            <a:avLst/>
          </a:prstGeom>
          <a:solidFill>
            <a:srgbClr val="111111"/>
          </a:solidFill>
          <a:ln w="12700">
            <a:solidFill>
              <a:srgbClr val="111111"/>
            </a:solidFill>
            <a:prstDash val="solid"/>
          </a:ln>
        </p:spPr>
      </p:sp>
      <p:sp>
        <p:nvSpPr>
          <p:cNvPr id="11" name="Text 9"/>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세미나 — 이 수업</a:t>
            </a:r>
            <a:endParaRPr lang="en-US" sz="1700" dirty="0"/>
          </a:p>
        </p:txBody>
      </p:sp>
      <p:sp>
        <p:nvSpPr>
          <p:cNvPr id="12" name="Shape 10"/>
          <p:cNvSpPr/>
          <p:nvPr/>
        </p:nvSpPr>
        <p:spPr>
          <a:xfrm>
            <a:off x="6297016" y="1627632"/>
            <a:ext cx="5254600" cy="3127248"/>
          </a:xfrm>
          <a:prstGeom prst="rect">
            <a:avLst/>
          </a:prstGeom>
          <a:solidFill>
            <a:srgbClr val="F2F2F2"/>
          </a:solidFill>
          <a:ln w="12700">
            <a:solidFill>
              <a:srgbClr val="DCDCDC"/>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강의 — 익숙한 방식</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시간의 주인</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발제자와 토론자. 교수는 논점을 좁히고 되묻는 역할</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시간의 주인</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교수가 말하고 학생이 받아 적는다</a:t>
            </a:r>
            <a:endParaRPr lang="en-US" sz="1150" dirty="0"/>
          </a:p>
        </p:txBody>
      </p:sp>
      <p:sp>
        <p:nvSpPr>
          <p:cNvPr id="18" name="Shape 16"/>
          <p:cNvSpPr/>
          <p:nvPr/>
        </p:nvSpPr>
        <p:spPr>
          <a:xfrm>
            <a:off x="1042416" y="2980944"/>
            <a:ext cx="4449928" cy="7315"/>
          </a:xfrm>
          <a:prstGeom prst="rect">
            <a:avLst/>
          </a:prstGeom>
          <a:solidFill>
            <a:srgbClr val="D2D2D2"/>
          </a:solidFill>
          <a:ln w="12700">
            <a:solidFill>
              <a:srgbClr val="D2D2D2"/>
            </a:solidFill>
            <a:prstDash val="solid"/>
          </a:ln>
        </p:spPr>
      </p:sp>
      <p:sp>
        <p:nvSpPr>
          <p:cNvPr id="19" name="Shape 17"/>
          <p:cNvSpPr/>
          <p:nvPr/>
        </p:nvSpPr>
        <p:spPr>
          <a:xfrm>
            <a:off x="6699352" y="2980944"/>
            <a:ext cx="4449928" cy="7315"/>
          </a:xfrm>
          <a:prstGeom prst="rect">
            <a:avLst/>
          </a:prstGeom>
          <a:solidFill>
            <a:srgbClr val="DCDCDC"/>
          </a:solidFill>
          <a:ln w="12700">
            <a:solidFill>
              <a:srgbClr val="DCDCDC"/>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준비</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읽고 와야 시작된다. 안 읽으면 그 시간에 할 일이 없다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준비</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안 읽어도 들으면 따라갈 수 있다</a:t>
            </a:r>
            <a:endParaRPr lang="en-US" sz="1150" dirty="0"/>
          </a:p>
        </p:txBody>
      </p:sp>
      <p:sp>
        <p:nvSpPr>
          <p:cNvPr id="24" name="Shape 22"/>
          <p:cNvSpPr/>
          <p:nvPr/>
        </p:nvSpPr>
        <p:spPr>
          <a:xfrm>
            <a:off x="1042416" y="3566160"/>
            <a:ext cx="4449928" cy="7315"/>
          </a:xfrm>
          <a:prstGeom prst="rect">
            <a:avLst/>
          </a:prstGeom>
          <a:solidFill>
            <a:srgbClr val="D2D2D2"/>
          </a:solidFill>
          <a:ln w="12700">
            <a:solidFill>
              <a:srgbClr val="D2D2D2"/>
            </a:solidFill>
            <a:prstDash val="solid"/>
          </a:ln>
        </p:spPr>
      </p:sp>
      <p:sp>
        <p:nvSpPr>
          <p:cNvPr id="25" name="Shape 23"/>
          <p:cNvSpPr/>
          <p:nvPr/>
        </p:nvSpPr>
        <p:spPr>
          <a:xfrm>
            <a:off x="6699352" y="3566160"/>
            <a:ext cx="4449928" cy="7315"/>
          </a:xfrm>
          <a:prstGeom prst="rect">
            <a:avLst/>
          </a:prstGeom>
          <a:solidFill>
            <a:srgbClr val="DCDCDC"/>
          </a:solidFill>
          <a:ln w="12700">
            <a:solidFill>
              <a:srgbClr val="DCDCDC"/>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발제</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요약이 아니라 논점 추출과 비판적 재구성</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발제</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내용 정리와 전달</a:t>
            </a:r>
            <a:endParaRPr lang="en-US" sz="1150" dirty="0"/>
          </a:p>
        </p:txBody>
      </p:sp>
      <p:sp>
        <p:nvSpPr>
          <p:cNvPr id="30" name="Shape 28"/>
          <p:cNvSpPr/>
          <p:nvPr/>
        </p:nvSpPr>
        <p:spPr>
          <a:xfrm>
            <a:off x="1042416" y="4151376"/>
            <a:ext cx="4449928" cy="7315"/>
          </a:xfrm>
          <a:prstGeom prst="rect">
            <a:avLst/>
          </a:prstGeom>
          <a:solidFill>
            <a:srgbClr val="D2D2D2"/>
          </a:solidFill>
          <a:ln w="12700">
            <a:solidFill>
              <a:srgbClr val="D2D2D2"/>
            </a:solidFill>
            <a:prstDash val="solid"/>
          </a:ln>
        </p:spPr>
      </p:sp>
      <p:sp>
        <p:nvSpPr>
          <p:cNvPr id="31" name="Shape 29"/>
          <p:cNvSpPr/>
          <p:nvPr/>
        </p:nvSpPr>
        <p:spPr>
          <a:xfrm>
            <a:off x="6699352" y="4151376"/>
            <a:ext cx="4449928" cy="7315"/>
          </a:xfrm>
          <a:prstGeom prst="rect">
            <a:avLst/>
          </a:prstGeom>
          <a:solidFill>
            <a:srgbClr val="DCDCDC"/>
          </a:solidFill>
          <a:ln w="12700">
            <a:solidFill>
              <a:srgbClr val="DCDCDC"/>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평가</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질문의 질과 논점의 독자성</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평가</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이해도와 산출물</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리딩을 소화하지 못한 주에도 오세요. 다만 '못 읽었다'를 먼저 말하고 듣는 자리로 참여하시면 됩니다.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15주 — 네 구간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계보를 읽고, 기제를 익히고, 확장해 보고, 자기 프레임으로 정립합니다.</a:t>
            </a:r>
            <a:endParaRPr lang="en-US" sz="1150" dirty="0"/>
          </a:p>
        </p:txBody>
      </p:sp>
      <p:sp>
        <p:nvSpPr>
          <p:cNvPr id="9" name="Shape 7"/>
          <p:cNvSpPr/>
          <p:nvPr/>
        </p:nvSpPr>
        <p:spPr>
          <a:xfrm>
            <a:off x="640080" y="1700784"/>
            <a:ext cx="2480996" cy="3529584"/>
          </a:xfrm>
          <a:prstGeom prst="rect">
            <a:avLst/>
          </a:prstGeom>
          <a:solidFill>
            <a:srgbClr val="FFFFFF"/>
          </a:solidFill>
          <a:ln w="12700">
            <a:solidFill>
              <a:srgbClr val="DCDCDC"/>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계보 · 1–4주</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어디서 왔는가</a:t>
            </a:r>
            <a:endParaRPr lang="en-US" sz="1000" dirty="0"/>
          </a:p>
        </p:txBody>
      </p:sp>
      <p:sp>
        <p:nvSpPr>
          <p:cNvPr id="12" name="Shape 10"/>
          <p:cNvSpPr/>
          <p:nvPr/>
        </p:nvSpPr>
        <p:spPr>
          <a:xfrm>
            <a:off x="987552" y="2798064"/>
            <a:ext cx="1786052" cy="7315"/>
          </a:xfrm>
          <a:prstGeom prst="rect">
            <a:avLst/>
          </a:prstGeom>
          <a:solidFill>
            <a:srgbClr val="111111"/>
          </a:solidFill>
          <a:ln w="12700">
            <a:solidFill>
              <a:srgbClr val="111111"/>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컨셉트의 층위</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Design Methods Movement와 그 좌초</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Wicked Problems</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리서치 패러다임 정위</a:t>
            </a:r>
            <a:endParaRPr lang="en-US" sz="1150" dirty="0"/>
          </a:p>
        </p:txBody>
      </p:sp>
      <p:sp>
        <p:nvSpPr>
          <p:cNvPr id="14" name="Shape 12"/>
          <p:cNvSpPr/>
          <p:nvPr/>
        </p:nvSpPr>
        <p:spPr>
          <a:xfrm>
            <a:off x="3450260" y="1700784"/>
            <a:ext cx="2480996" cy="3529584"/>
          </a:xfrm>
          <a:prstGeom prst="rect">
            <a:avLst/>
          </a:prstGeom>
          <a:solidFill>
            <a:srgbClr val="FFFFFF"/>
          </a:solidFill>
          <a:ln w="12700">
            <a:solidFill>
              <a:srgbClr val="DCDCDC"/>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기제 · 5–8주</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어떻게 만들어지는가</a:t>
            </a:r>
            <a:endParaRPr lang="en-US" sz="1000" dirty="0"/>
          </a:p>
        </p:txBody>
      </p:sp>
      <p:sp>
        <p:nvSpPr>
          <p:cNvPr id="17" name="Shape 15"/>
          <p:cNvSpPr/>
          <p:nvPr/>
        </p:nvSpPr>
        <p:spPr>
          <a:xfrm>
            <a:off x="3797732" y="2798064"/>
            <a:ext cx="1786052" cy="7315"/>
          </a:xfrm>
          <a:prstGeom prst="rect">
            <a:avLst/>
          </a:prstGeom>
          <a:solidFill>
            <a:srgbClr val="111111"/>
          </a:solidFill>
          <a:ln w="12700">
            <a:solidFill>
              <a:srgbClr val="111111"/>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Research through Design</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Abduction과 frame creation</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프레이밍 실습</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8주 컨셉 진술 발표</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확장 · 9–12주</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어디까지 가는가</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더블 다이아몬드 비판적 검토</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참여디자인 · 코디자인</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스페큘러티브 · 담론적 디자인</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데이터 · AI · 연결환경</a:t>
            </a:r>
            <a:endParaRPr lang="en-US" sz="1150" dirty="0"/>
          </a:p>
        </p:txBody>
      </p:sp>
      <p:sp>
        <p:nvSpPr>
          <p:cNvPr id="24" name="Shape 22"/>
          <p:cNvSpPr/>
          <p:nvPr/>
        </p:nvSpPr>
        <p:spPr>
          <a:xfrm>
            <a:off x="9070619" y="1700784"/>
            <a:ext cx="2480996" cy="3529584"/>
          </a:xfrm>
          <a:prstGeom prst="rect">
            <a:avLst/>
          </a:prstGeom>
          <a:solidFill>
            <a:srgbClr val="111111"/>
          </a:solidFill>
          <a:ln w="12700">
            <a:solidFill>
              <a:srgbClr val="111111"/>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정립 · 13–15주</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내 것으로</a:t>
            </a:r>
            <a:endParaRPr lang="en-US" sz="1000" dirty="0"/>
          </a:p>
        </p:txBody>
      </p:sp>
      <p:sp>
        <p:nvSpPr>
          <p:cNvPr id="27" name="Shape 25"/>
          <p:cNvSpPr/>
          <p:nvPr/>
        </p:nvSpPr>
        <p:spPr>
          <a:xfrm>
            <a:off x="9418091" y="2798064"/>
            <a:ext cx="1786052" cy="7315"/>
          </a:xfrm>
          <a:prstGeom prst="rect">
            <a:avLst/>
          </a:prstGeom>
          <a:solidFill>
            <a:srgbClr val="333333"/>
          </a:solidFill>
          <a:ln w="12700">
            <a:solidFill>
              <a:srgbClr val="333333"/>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연구질문–방법–기여의 정합성</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프로포절 워크숍</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15주 최종 발표</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프로포절 드래프트 8,000자</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8주차 컨셉 진술 검증과 14주차 프로포절 상호 리뷰가 두 개의 분기점입니다.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컨셉트의 층위</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같은 단어가 최소 세 층위에서 쓰입니다. 갈라 놓지 않으면 자기 연구가 무엇을 주장하는지 말할 수 없습니다.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"컨셉을 도출했다"는 문장은</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무엇을 했다는 뜻입니까.</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아이디어를 냈다는 뜻일 수도, 제품의 성격을 규정했다는 뜻일 수도, 문제를 보는 틀을 바꿨다는 뜻일 수도, 측정 가능한 구성물을 정의했다는 뜻일 수도 있습니다. 넷은 서로 다른 작업이고, 서로 다른 방법과 서로 다른 기여 진술을 요구합니다. 이 문장이 흐린 채로 쓰인 논문은 심사에서 반드시 그 지점을 맞습니다.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LAYER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concept · conception · conceptual</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영어권 논의에서 세 단어는 층위가 다릅니다. 한국어로 옮기면서 뭉개집니다.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concept — 개념</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대상을 묶는 안정된 범주. 여럿이 공유하기에 논쟁의 무대가 됩니다. Rawls가 「정의론」에서 'the concept of justice'라고 부른 것 — 모두가 같은 자리를 가리키는 그 자리.</a:t>
            </a:r>
            <a:endParaRPr lang="en-US" sz="1150" dirty="0"/>
          </a:p>
        </p:txBody>
      </p:sp>
      <p:sp>
        <p:nvSpPr>
          <p:cNvPr id="14" name="Shape 12"/>
          <p:cNvSpPr/>
          <p:nvPr/>
        </p:nvSpPr>
        <p:spPr>
          <a:xfrm>
            <a:off x="4399178" y="1737360"/>
            <a:ext cx="3393338" cy="3035808"/>
          </a:xfrm>
          <a:prstGeom prst="rect">
            <a:avLst/>
          </a:prstGeom>
          <a:solidFill>
            <a:srgbClr val="111111"/>
          </a:solidFill>
          <a:ln w="12700">
            <a:solidFill>
              <a:srgbClr val="111111"/>
            </a:solidFill>
            <a:prstDash val="solid"/>
          </a:ln>
        </p:spPr>
      </p:sp>
      <p:sp>
        <p:nvSpPr>
          <p:cNvPr id="15" name="Shape 13"/>
          <p:cNvSpPr/>
          <p:nvPr/>
        </p:nvSpPr>
        <p:spPr>
          <a:xfrm>
            <a:off x="4783226" y="2011680"/>
            <a:ext cx="365760" cy="365760"/>
          </a:xfrm>
          <a:prstGeom prst="ellipse">
            <a:avLst/>
          </a:prstGeom>
          <a:solidFill>
            <a:srgbClr val="111111"/>
          </a:solidFill>
          <a:ln w="12700">
            <a:solidFill>
              <a:srgbClr val="FFFFFF"/>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conception — 파악 방식</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그 개념을 특정 주체가 어떻게 붙잡고 있는가. Rawls의 'conceptions of justice'가 이것입니다. 같은 개념을 두고 서로 다른 conception이 경합합니다. 여러분 연구가 다투는 자리는 대개 여기입니다.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conceptual — 개념 수준의</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형용사입니다. 물질·형태 이전 단계에서 작동한다는 뜻이지요. 'conceptual design'은 구현 전 단계를, 'conceptual art'는 물질보다 개념이 작품이라는 주장을 가리킵니다. 두 용법이 또 다릅니다.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한국어로는 셋 다 '개념' 또는 '컨셉'이 됩니다. 논문을 쓸 때 원어를 병기하거나 조작적 정의를 붙이는 이유입니다.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USAGE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디자인에서 '컨셉'이 앉는 다섯 자리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실무와 논문에서 이 다섯이 구분 없이 섞여 쓰입니다.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발산의 산출물</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아이디에이션 결과물로서의 컨셉. '컨셉 스케치 20안'의 그 컨셉입니다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아이디어</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대상의 성격 규정</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 서비스의 컨셉은 ~다'. 제품·브랜드의 지배적 성격을 한 문장으로 묶은 것</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규정</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문제를 보는 틀</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무엇을 문제로 볼지 정하는 프레임. Dorst의 frame과 겹칩니다. 6주차에 다룹니다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프레임</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포지셔닝 진술</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시장과 수용자를 향한 언어. 마케팅 문헌에서의 컨셉 테스트가 여기 속합니다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포지셔닝</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연구의 구성물</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construct. 측정·조작적 정의의 대상이 되는 개념. 양적 연구가 다루는 층위입니다</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구성물</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다섯 자리에서 '컨셉을 만들었다'가 각각 다른 일을 뜻합니다. 여러분의 연구는 이 중 어디에서 기여를 주장합니까.</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DISCUSS</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토론 1 · 내 연구에서 '컨셉'은 무엇을 가리키나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30분 · 전체. 앞의 다섯 자리를 자기 연구 위에 올려 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각자 준비 — 5분</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연구에서 '컨셉'이라는 말을 쓰는 문장을 하나 적습니다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그 문장의 컨셉이 다섯 자리 중 어디인지 표시합니다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둘 이상이면 둘 다 표시합니다 — 그게 오늘의 발견입니다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그 층위에서 무엇을 주장하려는지 한 줄로 씁니다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함께 — 25분</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한 사람씩 자기 문장을 읽습니다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듣는 사람은 '어느 층위로 들렸는지'만 말합니다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본인 표시와 다르게 들렸다면 그 자리가 문제입니다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규칙 — 연구의 가치를 평가하지 않습니다. 층위만 봅니다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본인이 생각한 층위와 남이 들은 층위가 어긋나는 것이 오늘 가장 중요한 수확입니다. 어긋난 지점을 적어 두세요.</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각자의 연구를 꺼내 놓습니다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1인 8분. 완성된 계획이 아니라 지금 서 있는 자리를 말합니다.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연구 주제 1페이지 — 무엇을 담나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A4 한 장. 완성도가 아니라 정직함이 기준입니다.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담을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무엇에 관한 연구인가 — 한 문장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왜 그것이 아직 해결되지 않았다고 보는가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어떤 방법을 생각하고 있는가 (미정도 씁니다)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지금 가장 막혀 있는 지점 하나</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듣는 사람이 할 일</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연구가 무엇을 주장하려는지 한 줄로 적어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적히지 않으면 그 사실을 질문으로 돌려줍니다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'컨셉'이 어느 층위로 들렸는지 함께 말해 줍니다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해결책을 제안하지 않습니다 — 아직 그럴 때가 아닙니다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'가장 막혀 있는 지점'을 비워 두고 오는 분이 매년 있습니다. 그 칸이 이 세미나가 실제로 쓸모 있어지는 자리입니다.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운영 협의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오늘 정하지 못하면 2주차가 통째로 밀립니다.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DECIDE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정할 세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협의 사항입니다. 강의계획서에 반영해 다음 주에 공지합니다.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진행 주기 — 매주냐 격주냐</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학사 일정은 매주 3시간입니다. 다만 리딩 분량과 각자의 연구 일정에 따라 격주로 묶어 운영하는 방안도 가능합니다. 격주로 가면 회차당 리딩이 두 배가 되고 발제 부담이 커집니다. 오늘 합의합니다.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발제 순서</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학기 중 1인 2회입니다. 2~13주 사이에서 배정합니다. 자기 연구와 가까운 주차를 먼저 고르는 편이 유리합니다 — 발제문이 프로포절의 이론적 배경으로 그대로 갑니다.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리딩 배포</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도서관 DB 접근 범위를 확인해야 원문 배포 방식이 정해집니다. 확인 전까지는 서지사항과 접근 경로를 공유하고, 각자 내려받는 방식으로 시작합니다.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3번은 저작권 문제가 걸려 있어 임의로 배포하지 않습니다. 확인되는 대로 공지합니다.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GRADING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평가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다섯 항목입니다. 과정에 55%, 결과에 45%가 배정되어 있습니다.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과정 55%</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매주 쌓입니다</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토론 참여 20% — 질문의 질 중심</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발제 25% — 학기 중 2회</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리딩 노트 10% — 12회 중 10회 이상</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읽지 않으면 세 항목이 동시에 무너집니다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중간 20%</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8주차</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연구 컨셉의 명료성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프레임의 타당성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선행연구와의 관계</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20분 발표 + 질의</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최종 25%</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15주차</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연구질문–방법–기여의 정합성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이론적 근거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프로세스 프레임워크의 독자성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프로포절 드래프트 8,000자</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발제는 논문 요약이 아니라 '이 텍스트가 내 연구에 무엇을 요구하는가'를 논증하는 자리로 운영합니다.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METHOD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발제는 이렇게 합니다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학기 중 두 번. 요약을 가져오면 그 자리에서 다시 시작해야 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논점 추출</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텍스트가 무엇을 주장하고 무엇에 반대하는지 골라냅니다. 저자가 싸우고 있는 상대를 찾으면 논점이 보입니다. 전체 요약은 하지 않습니다.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비판적 재구성</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그 주장이 어디까지 버티는지, 어디서 무너지는지 봅니다. 반박이 아니라 경계를 그리는 일입니다. 텍스트가 전제하고 있는 것을 드러내면 대개 여기가 열립니다.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내 연구로 가져오기</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이 텍스트가 내 연구에 무엇을 요구하는가. 방법을 바꾸라는 요구인지, 개념을 다시 정의하라는 요구인지, 아니면 이 텍스트를 반대편에 세워야 하는지.</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발제문은 A4 3매 내외. 세미나 48시간 전에 공유해 다른 사람이 읽고 올 수 있게 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확정하고 가는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여기까지 정해져야 2주차가 굴러갑니다.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연구 주제 1페이지를 발표했다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'가장 막혀 있는 지점'을 비우지 않고 썼다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내 연구의 '컨셉'이 다섯 자리 중 어디인지 표시했다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본인 표시와 남이 들은 층위가 어긋난 지점을 적었다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진행 주기(매주 / 격주)에 합의했다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발제 2회의 주차를 배정받았다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발제 주차의 리딩 서지사항을 확보했다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2주차 리딩 접근 경로를 확인했다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발제 배정이 비어 있으면 학기 운영이 시작되지 않습니다. 오늘 자리에서 끝냅니다.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2주차는 디자인 방법론의 계보를 읽습니다.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리딩 노트 1회차</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2주차 리딩에 대해 A4 1매. 요약이 아니라 '이 텍스트가 내 연구에 무엇을 요구하는가'를 씁니다. 학기 중 10회 이상 제출이 기준입니다.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연구 주제 1페이지 수정본</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받은 질문을 반영해 다시 씁니다. 무엇을 바꿨고 왜 바꿨는지 각주로 남기세요.</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발제 일정 확인</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배정받은 두 번의 발제 주차를 캘린더에 넣고, 해당 주 리딩을 미리 확보해 두세요.</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2주차 세션 전까지 · 리딩 노트 1회차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02주차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디자인 프로세스의 계보  (9/23 · 격주 120분)</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Design Methods Movement (1960s)</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Jones · Archer의 체계적 방법론</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방법론 운동의 좌초와 그 이후</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계보도 공동 작성</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리딩 노트 1회차 · 연구 주제 수정본 · 1주차 발제자 리딩</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1주차 과목 개관 · 컨셉트의 층위</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1주차 과목 개관 · 컨셉트의 층위</dc:title>
  <dc:subject>원광대학교 2026-2 · 대학원 박사과정 · 주 3시간 × 15주 · 세미나형 · 연구 프로포절</dc:subject>
  <dc:creator>MIN.D</dc:creator>
  <cp:lastModifiedBy>MIN.D</cp:lastModifiedBy>
  <cp:revision>1</cp:revision>
  <dcterms:created xsi:type="dcterms:W3CDTF">2026-10-06T13:04:15Z</dcterms:created>
  <dcterms:modified xsi:type="dcterms:W3CDTF">2026-10-06T13:04:15Z</dcterms:modified>
</cp:coreProperties>
</file>