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 시간입니다.
지난 회차에 '컨셉'이라는 말이 몇 자리에서 다르게 쓰이는지 갈라 놓았습니다. 오늘은 옆자리 단어인 '프로세스'로 갑니다.
디자인을 절차로 적어 두려는 시도는 1960년대에 한 번 크게 있었습니다. 그리고 십 년 만에 그 시도를 시작한 사람들 본인이 등을 돌렸습니다.
오늘 읽는 것은 그 십 년입니다. 무엇을 하려 했고, 무엇이 되지 않았고, 무너진 자리에서 무엇이 남았는지.
지금 우리가 당연하게 쓰는 더블 다이아몬드나 디자인 씽킹 단계도 이 계보 위에 있습니다. 출처를 모르고 쓰면 그 한계도 모르고 쓰게 됩니다.
[운영 메모]
학생들이 '옛날 이야기'로 받아들이면 오늘 수업은 실패다. 첫 10분 안에 '지금 쓰는 프로세스 도식이 어디서 왔는가'로 연결해 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본론 전에 운영을 정리하겠습니다.
1회차에 협의한 대로 격주로 갑니다. 그래서 학기 전체가 여덟 번입니다. 지난 회차에 보여 드린 열다섯 주 구성을 그대로 담을 수는 없습니다.
네 구간은 그대로 둡니다. 계보, 기제, 확장, 정립. 대신 구간마다 두 번씩입니다.
합친 것을 말씀드리면, 계보 구간은 오늘 방법론 운동과 다음 회차 Wicked Problems 로 묶었고, 디자인 리서치 패러다임 정위는 기제 구간 앞머리로 넘겼습니다. 확장 구간의 네 주제는 두 번에 나눠 담고, 참여디자인과 스페큘러티브를 한 회차에 붙였습니다.
빠진 것은 없고 밀도가 올라갔습니다. 회차당 리딩이 두 배가 된다는 뜻이기도 합니다.
분기점 두 개는 유지합니다. 5회차 컨셉 진술, 8회차 최종 발표입니다.
이 배치에 이견 있으시면 오늘 말씀해 주세요. 다음 회차부터는 이대로 갑니다.
[운영 메모]
8회 재배치안이다. 총 시수가 45시간에서 16시간으로 줄어드는 문제는 학과 확인이 필요하고, 프로포절 분량(8,000자)도 회차가 줄어든 만큼 조정할지 정해야 한다. 이 장표를 띄우기 전에 학과 협의 결과를 반영할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본론입니다.
1960년대에 디자인을 방법으로 세우려는 큰 시도가 있었습니다. 지금 보면 소박해 보이지만, 그때는 진지한 기획이었습니다.
[운영 메모]
25분 구간. 연대기를 늘어놓지 말고 '무엇을 풀려 했는가'로 묶을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질문 하나 드리겠습니다.
절차를 정해 두면 좋은 디자인이 나옵니까.
1960년대 사람들은 나온다고 봤습니다. 정확히는, 나올 수 있게 만들어야 한다고 봤습니다.
왜냐하면 그때 디자인이 감당해야 할 대상이 갑자기 커졌기 때문입니다. 전후 재건, 대량생산, 도시계획, 무기체계. 한 사람의 머릿속에서 끝나지 않는 문제들이었어요.
여럿이 나눠서 하려면 절차가 있어야 합니다. 절차가 있어야 가르칠 수 있고, 검증할 수 있고, 예산을 붙일 수 있습니다.
그러니까 방법론 운동은 디자인을 기계로 만들려던 시도가 아니라, 혼자 감당할 수 없게 커진 일을 나눠 지려던 시도였습니다. 여기서 시작해야 그들이 무엇을 놓쳤는지도 보입니다.
[운영 메모]
이 각도로 열어야 학생들이 방법론 운동을 조롱하지 않는다. 실패를 먼저 알고 읽으면 누구나 뒤에서 비웃게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십 년 사이에 일어난 일을 짚겠습니다.
1962년 런던에서 회의가 하나 열립니다. 정식 이름은 길지만 보통 디자인 방법 회의라고 부릅니다. 공학, 산업디자인, 건축, 커뮤니케이션 사람들이 모여서 '체계적 방법과 직관적 방법'을 놓고 이야기했습니다. 이 회의를 이 분야의 출발점으로 봅니다.
1964년, 크리스토퍼 알렉산더가 『형태 합성에 관한 노트』를 냅니다. 문제를 잘게 쪼개서 구조를 찾으면 형태가 따라 나온다는 기획이었어요.
1965년, 브루스 아처가 『디자이너를 위한 체계적 방법』을 냅니다. 이건 더 실무적입니다. 단계와 산출물을 아주 촘촘하게 적어 놨습니다.
1966년에 디자인 리서치 소사이어티가 생깁니다. 학회가 생겼다는 건 분야로 인정받기 시작했다는 뜻이지요.
1969년, 허버트 사이먼이 『인공의 과학』을 냅니다. 디자인을 '있는 상태를 원하는 상태로 바꾸는 일'로 정의하고, 이걸 과학으로 다룰 수 있다고 주장합니다.
1970년, 존스가 『디자인 방법』을 냅니다. 이 운동의 교과서 같은 책입니다.
여기까지가 상승 곡선입니다. 그리고 바로 다음 해에 금이 갑니다.
[운영 메모]
연도를 외우게 할 필요는 없다. '십 년도 안 걸렸다'는 속도와 '다음 해에 무너진다'는 낙차만 남으면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운동 안에서도 겨냥한 곳이 달랐습니다. 셋으로 갈라 보겠습니다.
알렉산더는 문제의 구조를 봤습니다. 요구사항들 사이의 얽힘을 계산해서 덩어리로 나누면, 그 덩어리가 형태의 단위가 된다는 생각이었어요. 형태를 사람이 고르는 게 아니라 구조에서 나온다고 본 겁니다.
아처는 일의 순서를 봤습니다. 훨씬 실무적입니다. 단계를 나누고 각 단계의 산출물을 정하고 되돌아가는 지점을 표시했습니다. 지금 여러분이 회사에서 보는 프로세스 도표와 생김새가 거의 같습니다.
사이먼은 아예 학문의 자리를 봤습니다. 디자인을 '있는 상태를 원하는 상태로 바꾸는 일'로 정의하고, 이것을 다루는 과학이 있어야 한다고 했습니다. 다만 사이먼의 그림에서는 문제가 이미 주어져 있습니다. 목표가 정해져 있고 그걸 만족시키는 수단을 찾는 문제죠. 여기가 나중에 가장 크게 공격받는 자리입니다.
세 사람의 공통점이 하나 있습니다. 문제가 먼저 있고 해답이 나중에 온다고 본 겁니다. 이 순서가 뒤집히는 게 다음 시간 이야기입니다.
[운영 메모]
Simon 의 well-defined problem 전제가 Rittel 비판의 과녁이다. 오늘 여기에 표시해 두면 3회차가 자연스럽게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첫 발제입니다.
발제자는 세 부분으로 가시면 됩니다. 논점 추출, 비판적 재구성, 내 연구로 가져오기. 지난 회차에 말씀드린 그대로입니다.
한 가지만 덧붙이면, 오늘 텍스트는 예순 해 전 글입니다. 지금 기준으로 틀린 곳을 찾기는 쉽습니다. 그건 발제가 아닙니다. 그때 그 사람들이 무엇을 풀려고 했는지를 먼저 복원하고, 그다음에 무엇이 안 되었는지로 가세요.
듣는 분들은 두 가지만 준비해 주십시오. 발제자의 재구성에 동의하는지, 그리고 이 텍스트가 내 연구에 걸리는 지점이 있는지.
질문할 때는 어느 쪽인지 밝히고 시작해 주세요. 텍스트에 대한 질문인지, 발제자의 해석에 대한 질문인지. 이게 섞이면 토론이 흐려집니다.
[운영 메모]
첫 발제라 시간이 밀리기 쉽다. 발제 12분 · 질의 13분으로 끊고, 남은 논점은 워크숍 때 이어 붙일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쉬셨으면 이어가겠습니다.
이제 무너지는 부분입니다. 그리고 무너진 자리에서 무엇이 남았는지.
[운영 메모]
25분 구간. 실패담으로 끝내지 말고 '남은 것'에 시간을 더 쓸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1971년, 알렉산더가 『형태 합성에 관한 노트』 개정판 서문에 이렇게 씁니다. 자기가 디자인 방법론의 대표 주자로 불리는 것이 유감이고, 이 분야를 연구 주제로 삼는 생각 자체를 거부한다고요. 시작한 사람이 칠 년 만에 등을 돌린 겁니다.
존스도 1970년대를 지나며 비슷한 말을 합니다. 자기가 정리한 방법들이 기계적으로 적용되는 것을 보고, 합리성이 구속복이 되었다는 취지로 반성합니다.
왜 그랬을까요. 오른쪽을 보시죠.
첫째, 문제가 주어져 있지 않았습니다. 방법론은 문제를 받아서 푸는 절차인데, 실제 일에서는 무엇이 문제인지가 다툼의 대상입니다.
둘째, 절차를 지키는 것 자체가 목적이 되어 버렸습니다. 산출물은 다 나오는데 좋은 결과는 안 나오는 상태요.
셋째, 실무자들이 실제로 그렇게 일하지 않았습니다. 관찰해 보면 문제와 해답을 동시에 만지고 있었어요.
넷째, 누가 이 절차를 돌리는가라는 정치적 질문이 빠져 있었습니다. 도시계획에서 특히 심하게 터졌습니다.
다만 여기서 끝나지 않습니다. 무너진 것은 '절차를 정하면 답이 나온다'는 믿음이고, 절차를 적어 두려던 노력 자체는 남았습니다.
[운영 메모]
Alexander 의 1971년 서문은 원문을 한 문단 띄워 읽어 주면 효과가 크다. 번역문만 보여 주면 세기가 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무너진 자리에서 무엇이 나왔는지 봅시다. 세 갈래입니다.
첫째, 2세대 방법론입니다. 리텔이 1970년대 초에 내놓은 방향인데, 절차를 정하는 대신 논쟁을 설계하자는 겁니다. 문제 규정 자체가 다툼이라면, 그 다툼을 다루는 구조를 만들자는 거죠. 이해당사자들이 논점을 걸고 서로 반박하는 구조 — IBIS 같은 것이 여기서 나옵니다.
둘째, 실천을 다시 본 쪽입니다. 쇤이 1983년에 『성찰적 실천가』를 냅니다. 전문가는 이론을 현장에 적용하는 사람이 아니라, 상황과 대화하면서 행위 중에 성찰하는 사람이라고 봤어요. 기술적 합리성이라는 모형 자체를 겨냥한 책입니다.
셋째, 디자인 고유의 앎을 주장한 쪽입니다. 크로스가 1982년에 '디자이너답게 아는 방식'이라는 글을 씁니다. 디자인을 과학으로 만들려 하지 말고, 디자인이 가진 다른 종류의 앎을 인정하고 그것을 연구하자는 주장입니다.
이 세 갈래가 지금 우리가 쓰는 말들의 출처입니다. 프레이밍, 성찰, 디자이너의 사고. 다 여기서 내려옵니다.
[운영 메모]
세 갈래를 각각 어느 회차에서 다시 만나는지 표시해 두면 학기 전체의 지도가 생긴다.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시간입니다. 함께 계보도를 그리겠습니다.
화면에 빈 판을 띄우겠습니다. 가로축은 1960년부터 지금까지, 세로축은 위가 '절차로 정할 수 있다', 아래가 '상황에서 나온다' 입니다.
먼저 오늘 나온 이름들을 각자 올려 주세요. 알렉산더, 아처, 사이먼, 리텔, 쇤, 크로스. 위치는 각자 판단입니다. 어긋나도 괜찮습니다. 어긋난 자리가 토론거리입니다.
그다음 지금 쓰는 도식을 올립니다. 더블 다이아몬드, 디자인 씽킹 다섯 단계, 여러분 회사나 연구실의 프로세스 도표. 어디에 붙습니까.
그리고 자기 연구를 올리세요. 점 하나 찍고 이름 쓰시면 됩니다.
마지막으로 한 사람씩 왜 거기에 놓았는지 한 줄로 말합니다. 오늘 과제가 이 판을 각자 다시 그려 오는 겁니다.
판은 수업 후에 공유 문서로 남기겠습니다.
[운영 메모]
좌표축을 미리 그려 둔 판을 준비할 것. 빈 화면에서 시작하면 축을 그리는 데 시간이 다 간다. 자기 연구를 올리기 싫어하는 학생이 있으면 교수가 먼저 자기 연구를 올려 보일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확인하고 가는 것들입니다.
앞의 네 개는 오늘 수업 안에서 되었는지 보시는 것이고, 뒤의 네 개는 다음 회차 준비입니다.
특히 세 번째 — 지금 쓰는 도식이 어디서 내려왔는지 — 이게 오늘 가장 중요합니다. 출처를 모르고 쓰는 도식은 한계도 모르고 씁니다.
다음은 2주 뒤입니다. 간격이 있으니 미루지 마세요.
[운영 메모]
격주라 다음 회차까지 2주다. 체크리스트 마지막 줄처럼 '언제 할지'를 정하게 하는 항목을 넣어야 미루지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과제를 구체적으로 말씀드리겠습니다.
읽을 것은 두 편입니다.
하나는 리텔과 웨버가 1973년에 쓴 「계획의 일반이론에서의 딜레마」입니다. Policy Sciences 4권 2호, 155쪽부터 169쪽. 열다섯 쪽입니다. 이게 필수예요.
다른 하나는 뷰캐넌이 1992년에 쓴 「디자인 씽킹에서의 난제」입니다. Design Issues 8권 2호, 5쪽부터 21쪽. 앞의 글을 디자인 쪽으로 옮겨 온 논문이에요. 둘 다 못 읽으시면 앞의 것만 읽고 오세요. 뒤의 것은 세션에서 함께 보겠습니다.
둘 다 도서관 전자저널에서 받으실 수 있습니다. 접근이 안 되는 분은 오늘 수업 끝나고 알려 주세요.
쓸 것은 A4 한 장입니다. 네 칸을 채우시면 됩니다.
첫째, 저자가 무엇에 반대하고 있는가. 한 문단.
둘째, 내가 동의하지 않는 지점. 한 문단이요. 이게 없으면 그냥 읽은 겁니다.
셋째, 이 텍스트가 내 연구에 무엇을 요구하는가. 방법을 바꾸라는 건지, 개념을 다시 정의하라는 건지, 내 연구의 위치를 옮기라는 건지. 셋 중 어디인지 밝혀 주세요.
넷째, 세션에 가져올 질문 하나.
네 칸이 채워지면 A4 한 장이 됩니다. 요약은 받지 않습니다.
제출은 공유 폴더에 올려 주시고, 파일 이름은 이름 밑줄 리딩노트02 로 해 주세요.
[운영 메모]
리딩팩 배포 경로가 1회차부터 미정이다. 도서관 전자저널 접근 범위를 확인해 오늘 안에 정할 것. 제출 폴더도 오늘 링크를 공유해야 과제가 굴러간다. 3회차 날짜가 정해지면 '48시간 전'이 언제인지 칠판이나 채팅에 적어 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리딩 노트 2회차, 계보도 개인본, 그리고 다음 발제자는 발제문.
리딩 노트는 방금 보신 네 칸입니다. 읽을 것 두 편, 쓸 것 A4 한 장. 공유 폴더에 올려 주세요.
계보도 개인본은 어렵지 않습니다. 오늘 함께 그린 판을 내려받아서 자기 연구 자리에 점 찍고 이유 한 줄 쓰시면 됩니다. 잘 그릴 필요 없습니다. 어디에 서 있는지를 정하는 게 목적입니다. 이미지든 PDF 든 한 장이면 돼요.
발제자는 세션 48시간 전까지 올려 주셔야 합니다. 다른 분들이 읽고 와야 토론이 되니까요.
다음 회차 날짜를 지금 정하겠습니다. 정해지면 48시간 전이 언제인지도 같이 적어 두세요.
다음은 Wicked Problems 입니다. 오늘 본 방법론 운동이 왜 무너졌는지를 가장 정확하게 설명한 글이기도 합니다. 오늘 이야기의 뒷면이라고 보시면 됩니다.
2주 간격이라 미루기 쉽습니다. 이번 주 안에 읽고 써 두세요.
[운영 메모]
격주로 바뀐 뒤 첫 과제다. 2주가 있으니 미루다가 전날 쓰는 패턴이 굳는다. '이번 주 안에'를 반드시 말할 것. 세 가지가 오늘 안에 정해져야 과제가 굴러간다 — 3회차 날짜, 제출 폴더 링크, 리딩 입수 경로.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02</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02  ·  PHASE 1 계보</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800" dirty="0">
                <a:solidFill>
                  <a:srgbClr val="111111"/>
                </a:solidFill>
                <a:latin typeface="Pretendard SemiBold" pitchFamily="34" charset="0"/>
                <a:ea typeface="Pretendard SemiBold" pitchFamily="34" charset="-122"/>
                <a:cs typeface="Pretendard SemiBold" pitchFamily="34" charset="-120"/>
              </a:rPr>
              <a:t>디자인 프로세스의 계보</a:t>
            </a:r>
            <a:endParaRPr lang="en-US" sz="48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1960년대에 디자인을 방법으로 세우려던 시도가 무엇이었고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왜 무너졌는지 읽고, 그 실패가 지금 무엇을 남겼는지 봅니다.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컨셉트와 프로세스 · 대학원 박사과정</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계보도 초안 (공동) · 리딩 노트 2회차</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SEMESTER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학기 운영 — 여덟 번</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격주로 바뀌면서 열다섯 주가 여덟 번이 되었습니다. 네 구간은 그대로 두고 밀도를 올렸습니다.</a:t>
            </a:r>
            <a:endParaRPr lang="en-US" sz="1150" dirty="0"/>
          </a:p>
        </p:txBody>
      </p:sp>
      <p:sp>
        <p:nvSpPr>
          <p:cNvPr id="9" name="Shape 7"/>
          <p:cNvSpPr/>
          <p:nvPr/>
        </p:nvSpPr>
        <p:spPr>
          <a:xfrm>
            <a:off x="640080" y="1700784"/>
            <a:ext cx="2480996" cy="3529584"/>
          </a:xfrm>
          <a:prstGeom prst="rect">
            <a:avLst/>
          </a:prstGeom>
          <a:solidFill>
            <a:srgbClr val="FFFFFF"/>
          </a:solidFill>
          <a:ln w="12700">
            <a:solidFill>
              <a:srgbClr val="DCDCDC"/>
            </a:solidFill>
            <a:prstDash val="solid"/>
          </a:ln>
        </p:spPr>
      </p:sp>
      <p:sp>
        <p:nvSpPr>
          <p:cNvPr id="10" name="Text 8"/>
          <p:cNvSpPr/>
          <p:nvPr/>
        </p:nvSpPr>
        <p:spPr>
          <a:xfrm>
            <a:off x="98755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계보 · 1–3회</a:t>
            </a:r>
            <a:endParaRPr lang="en-US" sz="1700" dirty="0"/>
          </a:p>
        </p:txBody>
      </p:sp>
      <p:sp>
        <p:nvSpPr>
          <p:cNvPr id="11" name="Text 9"/>
          <p:cNvSpPr/>
          <p:nvPr/>
        </p:nvSpPr>
        <p:spPr>
          <a:xfrm>
            <a:off x="98755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어디서 왔는가</a:t>
            </a:r>
            <a:endParaRPr lang="en-US" sz="1000" dirty="0"/>
          </a:p>
        </p:txBody>
      </p:sp>
      <p:sp>
        <p:nvSpPr>
          <p:cNvPr id="12" name="Shape 10"/>
          <p:cNvSpPr/>
          <p:nvPr/>
        </p:nvSpPr>
        <p:spPr>
          <a:xfrm>
            <a:off x="987552" y="2798064"/>
            <a:ext cx="1786052" cy="7315"/>
          </a:xfrm>
          <a:prstGeom prst="rect">
            <a:avLst/>
          </a:prstGeom>
          <a:solidFill>
            <a:srgbClr val="111111"/>
          </a:solidFill>
          <a:ln w="12700">
            <a:solidFill>
              <a:srgbClr val="111111"/>
            </a:solidFill>
            <a:prstDash val="solid"/>
          </a:ln>
        </p:spPr>
      </p:sp>
      <p:sp>
        <p:nvSpPr>
          <p:cNvPr id="13" name="Text 11"/>
          <p:cNvSpPr/>
          <p:nvPr/>
        </p:nvSpPr>
        <p:spPr>
          <a:xfrm>
            <a:off x="98755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1회 — 컨셉트의 층위</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2회 — 프로세스의 계보 (오늘)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3회 — Wicked Problems</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리서치 패러다임 정위는 4회로</a:t>
            </a:r>
            <a:endParaRPr lang="en-US" sz="1150" dirty="0"/>
          </a:p>
        </p:txBody>
      </p:sp>
      <p:sp>
        <p:nvSpPr>
          <p:cNvPr id="14" name="Shape 12"/>
          <p:cNvSpPr/>
          <p:nvPr/>
        </p:nvSpPr>
        <p:spPr>
          <a:xfrm>
            <a:off x="3450260" y="1700784"/>
            <a:ext cx="2480996" cy="3529584"/>
          </a:xfrm>
          <a:prstGeom prst="rect">
            <a:avLst/>
          </a:prstGeom>
          <a:solidFill>
            <a:srgbClr val="FFFFFF"/>
          </a:solidFill>
          <a:ln w="12700">
            <a:solidFill>
              <a:srgbClr val="DCDCDC"/>
            </a:solidFill>
            <a:prstDash val="solid"/>
          </a:ln>
        </p:spPr>
      </p:sp>
      <p:sp>
        <p:nvSpPr>
          <p:cNvPr id="15" name="Text 13"/>
          <p:cNvSpPr/>
          <p:nvPr/>
        </p:nvSpPr>
        <p:spPr>
          <a:xfrm>
            <a:off x="379773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기제 · 4–5회</a:t>
            </a:r>
            <a:endParaRPr lang="en-US" sz="1700" dirty="0"/>
          </a:p>
        </p:txBody>
      </p:sp>
      <p:sp>
        <p:nvSpPr>
          <p:cNvPr id="16" name="Text 14"/>
          <p:cNvSpPr/>
          <p:nvPr/>
        </p:nvSpPr>
        <p:spPr>
          <a:xfrm>
            <a:off x="379773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어떻게 만들어지는가</a:t>
            </a:r>
            <a:endParaRPr lang="en-US" sz="1000" dirty="0"/>
          </a:p>
        </p:txBody>
      </p:sp>
      <p:sp>
        <p:nvSpPr>
          <p:cNvPr id="17" name="Shape 15"/>
          <p:cNvSpPr/>
          <p:nvPr/>
        </p:nvSpPr>
        <p:spPr>
          <a:xfrm>
            <a:off x="3797732" y="2798064"/>
            <a:ext cx="1786052" cy="7315"/>
          </a:xfrm>
          <a:prstGeom prst="rect">
            <a:avLst/>
          </a:prstGeom>
          <a:solidFill>
            <a:srgbClr val="111111"/>
          </a:solidFill>
          <a:ln w="12700">
            <a:solidFill>
              <a:srgbClr val="111111"/>
            </a:solidFill>
            <a:prstDash val="solid"/>
          </a:ln>
        </p:spPr>
      </p:sp>
      <p:sp>
        <p:nvSpPr>
          <p:cNvPr id="18" name="Text 16"/>
          <p:cNvSpPr/>
          <p:nvPr/>
        </p:nvSpPr>
        <p:spPr>
          <a:xfrm>
            <a:off x="379773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4회 — 패러다임 정위 · Research through Design</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5회 — Abduction 과 frame creation</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5회에 컨셉 진술 발표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첫 번째 분기점</a:t>
            </a:r>
            <a:endParaRPr lang="en-US" sz="1150" dirty="0"/>
          </a:p>
        </p:txBody>
      </p:sp>
      <p:sp>
        <p:nvSpPr>
          <p:cNvPr id="19" name="Shape 17"/>
          <p:cNvSpPr/>
          <p:nvPr/>
        </p:nvSpPr>
        <p:spPr>
          <a:xfrm>
            <a:off x="6260440" y="1700784"/>
            <a:ext cx="2480996" cy="3529584"/>
          </a:xfrm>
          <a:prstGeom prst="rect">
            <a:avLst/>
          </a:prstGeom>
          <a:solidFill>
            <a:srgbClr val="FFFFFF"/>
          </a:solidFill>
          <a:ln w="12700">
            <a:solidFill>
              <a:srgbClr val="DCDCDC"/>
            </a:solidFill>
            <a:prstDash val="solid"/>
          </a:ln>
        </p:spPr>
      </p:sp>
      <p:sp>
        <p:nvSpPr>
          <p:cNvPr id="20" name="Text 18"/>
          <p:cNvSpPr/>
          <p:nvPr/>
        </p:nvSpPr>
        <p:spPr>
          <a:xfrm>
            <a:off x="660791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확장 · 6–7회</a:t>
            </a:r>
            <a:endParaRPr lang="en-US" sz="1700" dirty="0"/>
          </a:p>
        </p:txBody>
      </p:sp>
      <p:sp>
        <p:nvSpPr>
          <p:cNvPr id="21" name="Text 19"/>
          <p:cNvSpPr/>
          <p:nvPr/>
        </p:nvSpPr>
        <p:spPr>
          <a:xfrm>
            <a:off x="660791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어디까지 가는가</a:t>
            </a:r>
            <a:endParaRPr lang="en-US" sz="1000" dirty="0"/>
          </a:p>
        </p:txBody>
      </p:sp>
      <p:sp>
        <p:nvSpPr>
          <p:cNvPr id="22" name="Shape 20"/>
          <p:cNvSpPr/>
          <p:nvPr/>
        </p:nvSpPr>
        <p:spPr>
          <a:xfrm>
            <a:off x="6607912" y="2798064"/>
            <a:ext cx="1786052" cy="7315"/>
          </a:xfrm>
          <a:prstGeom prst="rect">
            <a:avLst/>
          </a:prstGeom>
          <a:solidFill>
            <a:srgbClr val="111111"/>
          </a:solidFill>
          <a:ln w="12700">
            <a:solidFill>
              <a:srgbClr val="111111"/>
            </a:solidFill>
            <a:prstDash val="solid"/>
          </a:ln>
        </p:spPr>
      </p:sp>
      <p:sp>
        <p:nvSpPr>
          <p:cNvPr id="23" name="Text 21"/>
          <p:cNvSpPr/>
          <p:nvPr/>
        </p:nvSpPr>
        <p:spPr>
          <a:xfrm>
            <a:off x="660791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6회 — 더블 다이아몬드 비판 · 참여디자인</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7회 — 스페큘러티브 · 데이터와 AI 환경</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네 주제를 두 번에 담습니다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리딩 분량이 가장 많은 구간</a:t>
            </a:r>
            <a:endParaRPr lang="en-US" sz="1150" dirty="0"/>
          </a:p>
        </p:txBody>
      </p:sp>
      <p:sp>
        <p:nvSpPr>
          <p:cNvPr id="24" name="Shape 22"/>
          <p:cNvSpPr/>
          <p:nvPr/>
        </p:nvSpPr>
        <p:spPr>
          <a:xfrm>
            <a:off x="9070619" y="1700784"/>
            <a:ext cx="2480996" cy="3529584"/>
          </a:xfrm>
          <a:prstGeom prst="rect">
            <a:avLst/>
          </a:prstGeom>
          <a:solidFill>
            <a:srgbClr val="111111"/>
          </a:solidFill>
          <a:ln w="12700">
            <a:solidFill>
              <a:srgbClr val="111111"/>
            </a:solidFill>
            <a:prstDash val="solid"/>
          </a:ln>
        </p:spPr>
      </p:sp>
      <p:sp>
        <p:nvSpPr>
          <p:cNvPr id="25" name="Text 23"/>
          <p:cNvSpPr/>
          <p:nvPr/>
        </p:nvSpPr>
        <p:spPr>
          <a:xfrm>
            <a:off x="9418091" y="1956816"/>
            <a:ext cx="1786052"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정립 · 8회</a:t>
            </a:r>
            <a:endParaRPr lang="en-US" sz="1700" dirty="0"/>
          </a:p>
        </p:txBody>
      </p:sp>
      <p:sp>
        <p:nvSpPr>
          <p:cNvPr id="26" name="Text 24"/>
          <p:cNvSpPr/>
          <p:nvPr/>
        </p:nvSpPr>
        <p:spPr>
          <a:xfrm>
            <a:off x="9418091"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내 것으로</a:t>
            </a:r>
            <a:endParaRPr lang="en-US" sz="1000" dirty="0"/>
          </a:p>
        </p:txBody>
      </p:sp>
      <p:sp>
        <p:nvSpPr>
          <p:cNvPr id="27" name="Shape 25"/>
          <p:cNvSpPr/>
          <p:nvPr/>
        </p:nvSpPr>
        <p:spPr>
          <a:xfrm>
            <a:off x="9418091" y="2798064"/>
            <a:ext cx="1786052" cy="7315"/>
          </a:xfrm>
          <a:prstGeom prst="rect">
            <a:avLst/>
          </a:prstGeom>
          <a:solidFill>
            <a:srgbClr val="333333"/>
          </a:solidFill>
          <a:ln w="12700">
            <a:solidFill>
              <a:srgbClr val="333333"/>
            </a:solidFill>
            <a:prstDash val="solid"/>
          </a:ln>
        </p:spPr>
      </p:sp>
      <p:sp>
        <p:nvSpPr>
          <p:cNvPr id="28" name="Text 26"/>
          <p:cNvSpPr/>
          <p:nvPr/>
        </p:nvSpPr>
        <p:spPr>
          <a:xfrm>
            <a:off x="9418091"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8회 — 프로포절 발표와 상호 리뷰</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연구질문–방법–기여의 정합성</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드래프트는 세션 전 제출</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두 번째 분기점</a:t>
            </a:r>
            <a:endParaRPr lang="en-US" sz="1150" dirty="0"/>
          </a:p>
        </p:txBody>
      </p:sp>
      <p:sp>
        <p:nvSpPr>
          <p:cNvPr id="29" name="Shape 27"/>
          <p:cNvSpPr/>
          <p:nvPr/>
        </p:nvSpPr>
        <p:spPr>
          <a:xfrm>
            <a:off x="640080" y="5504688"/>
            <a:ext cx="10911535" cy="7315"/>
          </a:xfrm>
          <a:prstGeom prst="rect">
            <a:avLst/>
          </a:prstGeom>
          <a:solidFill>
            <a:srgbClr val="111111"/>
          </a:solidFill>
          <a:ln w="12700">
            <a:solidFill>
              <a:srgbClr val="111111"/>
            </a:solidFill>
            <a:prstDash val="solid"/>
          </a:ln>
        </p:spPr>
      </p:sp>
      <p:sp>
        <p:nvSpPr>
          <p:cNvPr id="30" name="Text 28"/>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배치에 이견이 있으시면 오늘 말씀해 주세요. 다음 회차부터는 이대로 갑니다.</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방법을 설계하려던 시도</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1960년대. 디자인을 개인의 감각에서 떼어 내 절차로 적어 두려는 기획이 있었습니다.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절차를 정해 두면</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좋은 디자인이 나옵니까.</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1960년대는 나온다고 봤습니다. 전후 재건 · 대량생산 · 도시계획 · 무기체계 — 한 사람의 머릿속에서 끝나지 않는 규모의 일이 한꺼번에 밀려왔기 때문입니다. 여럿이 나눠 지려면 절차가 있어야 하고, 절차가 있어야 가르치고 검증하고 예산을 붙일 수 있습니다. 방법론 운동은 디자인을 기계로 만들려던 시도가 아니라, 커져 버린 일을 나눠 지려던 시도였습니다.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컨셉트와 프로세스 · WEEK 02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TIMELINE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십 년 사이에 일어난 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학회가 생기고 교과서가 나오기까지 십 년이 채 걸리지 않았습니다.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1962</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런던 디자인 방법 회의</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공학 · 산업디자인 · 건축 · 커뮤니케이션이 모여 '체계적 방법과 직관적 방법'을 논의했습니다. 이 분야의 출발점으로 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출발</a:t>
            </a:r>
            <a:endParaRPr lang="en-US" sz="1050" dirty="0"/>
          </a:p>
        </p:txBody>
      </p:sp>
      <p:sp>
        <p:nvSpPr>
          <p:cNvPr id="15" name="Shape 13"/>
          <p:cNvSpPr/>
          <p:nvPr/>
        </p:nvSpPr>
        <p:spPr>
          <a:xfrm>
            <a:off x="640080" y="2279904"/>
            <a:ext cx="10911535" cy="7315"/>
          </a:xfrm>
          <a:prstGeom prst="rect">
            <a:avLst/>
          </a:prstGeom>
          <a:solidFill>
            <a:srgbClr val="DCDCDC"/>
          </a:solidFill>
          <a:ln w="12700">
            <a:solidFill>
              <a:srgbClr val="DCDCDC"/>
            </a:solidFill>
            <a:prstDash val="solid"/>
          </a:ln>
        </p:spPr>
      </p:sp>
      <p:sp>
        <p:nvSpPr>
          <p:cNvPr id="16" name="Shape 14"/>
          <p:cNvSpPr/>
          <p:nvPr/>
        </p:nvSpPr>
        <p:spPr>
          <a:xfrm>
            <a:off x="640080" y="2444496"/>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444496"/>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1964</a:t>
            </a:r>
            <a:endParaRPr lang="en-US" sz="1000" dirty="0"/>
          </a:p>
        </p:txBody>
      </p:sp>
      <p:sp>
        <p:nvSpPr>
          <p:cNvPr id="18" name="Text 16"/>
          <p:cNvSpPr/>
          <p:nvPr/>
        </p:nvSpPr>
        <p:spPr>
          <a:xfrm>
            <a:off x="1188720" y="2353056"/>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Alexander, 『형태 합성에 관한 노트』</a:t>
            </a:r>
            <a:endParaRPr lang="en-US" sz="1450" dirty="0"/>
          </a:p>
        </p:txBody>
      </p:sp>
      <p:sp>
        <p:nvSpPr>
          <p:cNvPr id="19" name="Text 17"/>
          <p:cNvSpPr/>
          <p:nvPr/>
        </p:nvSpPr>
        <p:spPr>
          <a:xfrm>
            <a:off x="1188720" y="2663952"/>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문제를 잘게 쪼개 구조를 찾으면 형태가 따라 나온다는 기획. 수학적 분해를 디자인에 끌어들였습니다</a:t>
            </a:r>
            <a:endParaRPr lang="en-US" sz="1100" dirty="0"/>
          </a:p>
        </p:txBody>
      </p:sp>
      <p:sp>
        <p:nvSpPr>
          <p:cNvPr id="20" name="Text 18"/>
          <p:cNvSpPr/>
          <p:nvPr/>
        </p:nvSpPr>
        <p:spPr>
          <a:xfrm>
            <a:off x="9357055" y="2444496"/>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분해</a:t>
            </a:r>
            <a:endParaRPr lang="en-US" sz="1050" dirty="0"/>
          </a:p>
        </p:txBody>
      </p:sp>
      <p:sp>
        <p:nvSpPr>
          <p:cNvPr id="21" name="Shape 19"/>
          <p:cNvSpPr/>
          <p:nvPr/>
        </p:nvSpPr>
        <p:spPr>
          <a:xfrm>
            <a:off x="640080" y="2913888"/>
            <a:ext cx="10911535" cy="7315"/>
          </a:xfrm>
          <a:prstGeom prst="rect">
            <a:avLst/>
          </a:prstGeom>
          <a:solidFill>
            <a:srgbClr val="DCDCDC"/>
          </a:solidFill>
          <a:ln w="12700">
            <a:solidFill>
              <a:srgbClr val="DCDCDC"/>
            </a:solidFill>
            <a:prstDash val="solid"/>
          </a:ln>
        </p:spPr>
      </p:sp>
      <p:sp>
        <p:nvSpPr>
          <p:cNvPr id="22" name="Shape 20"/>
          <p:cNvSpPr/>
          <p:nvPr/>
        </p:nvSpPr>
        <p:spPr>
          <a:xfrm>
            <a:off x="640080" y="3078480"/>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07848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1965</a:t>
            </a:r>
            <a:endParaRPr lang="en-US" sz="1000" dirty="0"/>
          </a:p>
        </p:txBody>
      </p:sp>
      <p:sp>
        <p:nvSpPr>
          <p:cNvPr id="24" name="Text 22"/>
          <p:cNvSpPr/>
          <p:nvPr/>
        </p:nvSpPr>
        <p:spPr>
          <a:xfrm>
            <a:off x="1188720" y="298704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Archer, 『디자이너를 위한 체계적 방법』</a:t>
            </a:r>
            <a:endParaRPr lang="en-US" sz="1450" dirty="0"/>
          </a:p>
        </p:txBody>
      </p:sp>
      <p:sp>
        <p:nvSpPr>
          <p:cNvPr id="25" name="Text 23"/>
          <p:cNvSpPr/>
          <p:nvPr/>
        </p:nvSpPr>
        <p:spPr>
          <a:xfrm>
            <a:off x="1188720" y="329793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단계와 산출물을 촘촘하게 적은 실무형 절차. 지금의 프로세스 도식과 생김새가 가장 닮았습니다</a:t>
            </a:r>
            <a:endParaRPr lang="en-US" sz="1100" dirty="0"/>
          </a:p>
        </p:txBody>
      </p:sp>
      <p:sp>
        <p:nvSpPr>
          <p:cNvPr id="26" name="Text 24"/>
          <p:cNvSpPr/>
          <p:nvPr/>
        </p:nvSpPr>
        <p:spPr>
          <a:xfrm>
            <a:off x="9357055" y="307848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절차</a:t>
            </a:r>
            <a:endParaRPr lang="en-US" sz="1050" dirty="0"/>
          </a:p>
        </p:txBody>
      </p:sp>
      <p:sp>
        <p:nvSpPr>
          <p:cNvPr id="27" name="Shape 25"/>
          <p:cNvSpPr/>
          <p:nvPr/>
        </p:nvSpPr>
        <p:spPr>
          <a:xfrm>
            <a:off x="640080" y="3547872"/>
            <a:ext cx="10911535" cy="7315"/>
          </a:xfrm>
          <a:prstGeom prst="rect">
            <a:avLst/>
          </a:prstGeom>
          <a:solidFill>
            <a:srgbClr val="DCDCDC"/>
          </a:solidFill>
          <a:ln w="12700">
            <a:solidFill>
              <a:srgbClr val="DCDCDC"/>
            </a:solidFill>
            <a:prstDash val="solid"/>
          </a:ln>
        </p:spPr>
      </p:sp>
      <p:sp>
        <p:nvSpPr>
          <p:cNvPr id="28" name="Shape 26"/>
          <p:cNvSpPr/>
          <p:nvPr/>
        </p:nvSpPr>
        <p:spPr>
          <a:xfrm>
            <a:off x="640080" y="371246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1966</a:t>
            </a:r>
            <a:endParaRPr lang="en-US" sz="1000" dirty="0"/>
          </a:p>
        </p:txBody>
      </p:sp>
      <p:sp>
        <p:nvSpPr>
          <p:cNvPr id="30" name="Text 28"/>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Design Research Society 창립</a:t>
            </a:r>
            <a:endParaRPr lang="en-US" sz="1450" dirty="0"/>
          </a:p>
        </p:txBody>
      </p:sp>
      <p:sp>
        <p:nvSpPr>
          <p:cNvPr id="31" name="Text 29"/>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학회가 생겼다는 것은 분야로 인정받기 시작했다는 뜻입니다</a:t>
            </a:r>
            <a:endParaRPr lang="en-US" sz="1100" dirty="0"/>
          </a:p>
        </p:txBody>
      </p:sp>
      <p:sp>
        <p:nvSpPr>
          <p:cNvPr id="32" name="Text 30"/>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제도화</a:t>
            </a:r>
            <a:endParaRPr lang="en-US" sz="1050" dirty="0"/>
          </a:p>
        </p:txBody>
      </p:sp>
      <p:sp>
        <p:nvSpPr>
          <p:cNvPr id="33" name="Shape 31"/>
          <p:cNvSpPr/>
          <p:nvPr/>
        </p:nvSpPr>
        <p:spPr>
          <a:xfrm>
            <a:off x="640080" y="4181856"/>
            <a:ext cx="10911535" cy="7315"/>
          </a:xfrm>
          <a:prstGeom prst="rect">
            <a:avLst/>
          </a:prstGeom>
          <a:solidFill>
            <a:srgbClr val="DCDCDC"/>
          </a:solidFill>
          <a:ln w="12700">
            <a:solidFill>
              <a:srgbClr val="DCDCDC"/>
            </a:solidFill>
            <a:prstDash val="solid"/>
          </a:ln>
        </p:spPr>
      </p:sp>
      <p:sp>
        <p:nvSpPr>
          <p:cNvPr id="34" name="Shape 32"/>
          <p:cNvSpPr/>
          <p:nvPr/>
        </p:nvSpPr>
        <p:spPr>
          <a:xfrm>
            <a:off x="640080" y="4346448"/>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34644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1969</a:t>
            </a:r>
            <a:endParaRPr lang="en-US" sz="1000" dirty="0"/>
          </a:p>
        </p:txBody>
      </p:sp>
      <p:sp>
        <p:nvSpPr>
          <p:cNvPr id="36" name="Text 34"/>
          <p:cNvSpPr/>
          <p:nvPr/>
        </p:nvSpPr>
        <p:spPr>
          <a:xfrm>
            <a:off x="1188720" y="425500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Simon, 『인공의 과학』</a:t>
            </a:r>
            <a:endParaRPr lang="en-US" sz="1450" dirty="0"/>
          </a:p>
        </p:txBody>
      </p:sp>
      <p:sp>
        <p:nvSpPr>
          <p:cNvPr id="37" name="Text 35"/>
          <p:cNvSpPr/>
          <p:nvPr/>
        </p:nvSpPr>
        <p:spPr>
          <a:xfrm>
            <a:off x="1188720" y="456590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디자인을 '있는 상태를 원하는 상태로 바꾸는 일'로 정의하고 과학으로 다룰 수 있다고 주장했습니다</a:t>
            </a:r>
            <a:endParaRPr lang="en-US" sz="1100" dirty="0"/>
          </a:p>
        </p:txBody>
      </p:sp>
      <p:sp>
        <p:nvSpPr>
          <p:cNvPr id="38" name="Text 36"/>
          <p:cNvSpPr/>
          <p:nvPr/>
        </p:nvSpPr>
        <p:spPr>
          <a:xfrm>
            <a:off x="9357055" y="434644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과학화</a:t>
            </a:r>
            <a:endParaRPr lang="en-US" sz="1050" dirty="0"/>
          </a:p>
        </p:txBody>
      </p:sp>
      <p:sp>
        <p:nvSpPr>
          <p:cNvPr id="39" name="Shape 37"/>
          <p:cNvSpPr/>
          <p:nvPr/>
        </p:nvSpPr>
        <p:spPr>
          <a:xfrm>
            <a:off x="640080" y="4815840"/>
            <a:ext cx="10911535" cy="7315"/>
          </a:xfrm>
          <a:prstGeom prst="rect">
            <a:avLst/>
          </a:prstGeom>
          <a:solidFill>
            <a:srgbClr val="DCDCDC"/>
          </a:solidFill>
          <a:ln w="12700">
            <a:solidFill>
              <a:srgbClr val="DCDCDC"/>
            </a:solidFill>
            <a:prstDash val="solid"/>
          </a:ln>
        </p:spPr>
      </p:sp>
      <p:sp>
        <p:nvSpPr>
          <p:cNvPr id="40" name="Shape 38"/>
          <p:cNvSpPr/>
          <p:nvPr/>
        </p:nvSpPr>
        <p:spPr>
          <a:xfrm>
            <a:off x="640080" y="4980432"/>
            <a:ext cx="310896" cy="310896"/>
          </a:xfrm>
          <a:prstGeom prst="ellipse">
            <a:avLst/>
          </a:prstGeom>
          <a:solidFill>
            <a:srgbClr val="FFFFFF"/>
          </a:solidFill>
          <a:ln w="12700">
            <a:solidFill>
              <a:srgbClr val="111111"/>
            </a:solidFill>
            <a:prstDash val="solid"/>
          </a:ln>
        </p:spPr>
      </p:sp>
      <p:sp>
        <p:nvSpPr>
          <p:cNvPr id="41" name="Text 39"/>
          <p:cNvSpPr/>
          <p:nvPr/>
        </p:nvSpPr>
        <p:spPr>
          <a:xfrm>
            <a:off x="640080" y="498043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1970</a:t>
            </a:r>
            <a:endParaRPr lang="en-US" sz="1000" dirty="0"/>
          </a:p>
        </p:txBody>
      </p:sp>
      <p:sp>
        <p:nvSpPr>
          <p:cNvPr id="42" name="Text 40"/>
          <p:cNvSpPr/>
          <p:nvPr/>
        </p:nvSpPr>
        <p:spPr>
          <a:xfrm>
            <a:off x="1188720" y="488899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Jones, 『디자인 방법』</a:t>
            </a:r>
            <a:endParaRPr lang="en-US" sz="1450" dirty="0"/>
          </a:p>
        </p:txBody>
      </p:sp>
      <p:sp>
        <p:nvSpPr>
          <p:cNvPr id="43" name="Text 41"/>
          <p:cNvSpPr/>
          <p:nvPr/>
        </p:nvSpPr>
        <p:spPr>
          <a:xfrm>
            <a:off x="1188720" y="519988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이 운동의 교과서. 방법들을 모아 분류하고 언제 무엇을 쓰는지 정리했습니다</a:t>
            </a:r>
            <a:endParaRPr lang="en-US" sz="1100" dirty="0"/>
          </a:p>
        </p:txBody>
      </p:sp>
      <p:sp>
        <p:nvSpPr>
          <p:cNvPr id="44" name="Text 42"/>
          <p:cNvSpPr/>
          <p:nvPr/>
        </p:nvSpPr>
        <p:spPr>
          <a:xfrm>
            <a:off x="9357055" y="498043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집대성</a:t>
            </a:r>
            <a:endParaRPr lang="en-US" sz="1050" dirty="0"/>
          </a:p>
        </p:txBody>
      </p:sp>
      <p:sp>
        <p:nvSpPr>
          <p:cNvPr id="45" name="Shape 43"/>
          <p:cNvSpPr/>
          <p:nvPr/>
        </p:nvSpPr>
        <p:spPr>
          <a:xfrm>
            <a:off x="640080" y="5522976"/>
            <a:ext cx="10911535" cy="7315"/>
          </a:xfrm>
          <a:prstGeom prst="rect">
            <a:avLst/>
          </a:prstGeom>
          <a:solidFill>
            <a:srgbClr val="111111"/>
          </a:solidFill>
          <a:ln w="12700">
            <a:solidFill>
              <a:srgbClr val="111111"/>
            </a:solidFill>
            <a:prstDash val="solid"/>
          </a:ln>
        </p:spPr>
      </p:sp>
      <p:sp>
        <p:nvSpPr>
          <p:cNvPr id="46" name="Text 44"/>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여기까지가 상승 곡선입니다. 그리고 바로 다음 해에 금이 갑니다.</a:t>
            </a:r>
            <a:endParaRPr lang="en-US" sz="1250" dirty="0"/>
          </a:p>
        </p:txBody>
      </p:sp>
      <p:sp>
        <p:nvSpPr>
          <p:cNvPr id="47" name="Shape 45"/>
          <p:cNvSpPr/>
          <p:nvPr/>
        </p:nvSpPr>
        <p:spPr>
          <a:xfrm>
            <a:off x="640080" y="6291072"/>
            <a:ext cx="10911535" cy="7315"/>
          </a:xfrm>
          <a:prstGeom prst="rect">
            <a:avLst/>
          </a:prstGeom>
          <a:solidFill>
            <a:srgbClr val="DCDCDC"/>
          </a:solidFill>
          <a:ln w="12700">
            <a:solidFill>
              <a:srgbClr val="DCDCDC"/>
            </a:solidFill>
            <a:prstDash val="solid"/>
          </a:ln>
        </p:spPr>
      </p:sp>
      <p:sp>
        <p:nvSpPr>
          <p:cNvPr id="48" name="Text 4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49" name="Text 4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PROGRAM</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갈래의 기획</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운동 안에서도 겨냥한 자리가 달랐습니다.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Alexander — 문제의 구조</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요구사항들의 얽힘을 계산해 덩어리로 나누면 그 덩어리가 형태의 단위가 된다. 형태를 사람이 고르는 것이 아니라 구조에서 끌어내려 했습니다.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Archer — 일의 순서</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단계를 나누고 산출물을 정하고 되돌아가는 지점을 표시했습니다. 지금 실무에서 보는 프로세스 도표와 생김새가 거의 같습니다.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Simon — 학문의 자리</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디자인을 '있는 상태를 원하는 상태로 바꾸는 일'로 정의하고 이를 다루는 과학을 요구했습니다. 다만 그의 그림에서 문제는 이미 주어져 있습니다.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셋의 공통점 — 문제가 먼저 있고 해답이 나중에 온다고 보았습니다. 이 순서가 뒤집히는 것이 다음 회차 이야기입니다.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PRESENT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발제 1 · 오늘의 텍스트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첫 발제입니다. 형식을 서로 확인하는 자리로도 씁니다.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발제자</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논점 추출 — 저자가 무엇에 반대하고 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비판적 재구성 — 어디까지 버티고 어디서 무너지는가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연구로 가져오기 — 이 텍스트가 나에게 무엇을 요구하는가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예순 해 전 글입니다. 틀린 곳 찾기가 아니라 복원부터 하세요</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듣는 사람</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발제자의 재구성에 동의하는지 판단해 둡니다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텍스트가 내 연구에 걸리는 지점을 하나 찾습니다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질문할 때 어느 쪽인지 밝힙니다 — 텍스트인지 해석인지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요약을 다시 요약하지 않습니다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텍스트에 대한 질문과 발제자 해석에 대한 질문이 섞이면 토론이 흐려집니다. 밝히고 시작해 주세요.</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무너진 자리와 남은 것</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시작한 사람들이 등을 돌렸습니다. 그 자리에서 지금 우리가 쓰는 말들이 나옵니다.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TURN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십 년 만의 철회</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시작한 사람들이 먼저 등을 돌렸습니다.</a:t>
            </a:r>
            <a:endParaRPr lang="en-US" sz="1150" dirty="0"/>
          </a:p>
        </p:txBody>
      </p:sp>
      <p:sp>
        <p:nvSpPr>
          <p:cNvPr id="9" name="Shape 7"/>
          <p:cNvSpPr/>
          <p:nvPr/>
        </p:nvSpPr>
        <p:spPr>
          <a:xfrm>
            <a:off x="640080" y="1627632"/>
            <a:ext cx="5254600" cy="3419856"/>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철회</a:t>
            </a:r>
            <a:endParaRPr lang="en-US" sz="1700" dirty="0"/>
          </a:p>
        </p:txBody>
      </p:sp>
      <p:sp>
        <p:nvSpPr>
          <p:cNvPr id="11" name="Shape 9"/>
          <p:cNvSpPr/>
          <p:nvPr/>
        </p:nvSpPr>
        <p:spPr>
          <a:xfrm>
            <a:off x="6297016" y="1627632"/>
            <a:ext cx="5254600" cy="3419856"/>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무엇이 걸렸나</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Alexander 1971</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개정판 서문에서 이 분야 자체를 거부한다고 썼다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Alexander 1971</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문제가 주어져 있지 않았다 — 무엇이 문제인지부터 다툰다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Jones 1970년대</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자기가 모은 방법이 기계적으로 쓰이는 것을 보고 반성</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Jones 1970년대</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절차를 지키는 것이 목적이 되었다 — 결과가 없다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실무와의 어긋남</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디자이너는 문제와 해답을 동시에 만지고 있었다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실무와의 어긋남</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순서를 전제한 모형이 실제 작업을 설명하지 못했다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빠진 질문</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누가 절차를 돌리고 누가 결과를 감당하는가</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빠진 질문</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도시계획에서 크게 터졌다 — 다음 회차로 이어집니다</a:t>
            </a:r>
            <a:endParaRPr lang="en-US" sz="11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AFTER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그다음에 온 것들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세 갈래로 갈라져 지금까지 옵니다.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2세대 방법론</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Rittel · 1970년대 초</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절차 대신 논쟁을 설계한다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문제 규정 자체가 다툼이라면</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그 다툼을 다루는 구조를 만든다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3회차 Wicked Problems 로 이어집니다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성찰적 실천</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Schön · 1983</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전문가는 이론을 적용하는 사람이 아니다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상황과 대화하며 행위 중에 성찰한다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기술적 합리성 모형을 겨냥했습니다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'프레이밍' 이라는 말이 여기서 옵니다</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디자이너다운 앎</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Cross · 1982 이후</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디자인을 과학으로 만들려 하지 않는다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 고유의 앎을 인정하고 연구한다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디자인 리서치가 분야로 서는 근거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4회차 패러다임 정위에서 다시 봅니다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프레이밍 · 성찰 · 디자이너의 사고 — 지금 우리가 쓰는 말들이 모두 이 세 갈래에서 내려옵니다.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워크숍 · 계보도 함께 그리기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공동 작업 — 화면 공유로 한 판에 함께 올립니다.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판 만들기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가로는 1960년부터 지금까지. 세로는 위가 '절차로 정할 수 있다', 아래가 '상황에서 나온다'.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오늘의 이름 올리기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Alexander · Archer · Simon · Rittel · Schön · Cross. 위치는 각자 판단입니다. 어긋난 자리가 토론거리입니다.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지금의 도식 올리기</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더블 다이아몬드 · 디자인 씽킹 다섯 단계 · 각자의 연구실이나 회사에서 쓰는 프로세스 도표는 어디에 붙습니까.</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내 연구 올리기</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점 하나 찍고 이름을 씁니다. 한 사람씩 왜 거기에 놓았는지 한 줄로 말합니다.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오늘 확인하고 가는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회차까지 2주가 있습니다. 미루면 전날에 몰립니다.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방법론 운동이 풀려던 문제를 한 문장으로 말할 수 있다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그 시도가 무너진 이유를 네 가지 중 둘 이상 설명할 수 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지금 쓰는 프로세스 도식이 계보의 어디에 붙는지 표시했다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계보도 위에 내 연구의 자리를 찍었다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리딩 노트 2회차의 리딩을 확보했다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8회 재배치안에 이견이 있으면 말했다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다음 발제자는 공유 기한을 확인했다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계보도 개인본을 언제 그릴지 정했다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출처를 모르고 쓰는 도식은 한계도 모르고 씁니다. 세 번째 항목이 오늘의 핵심입니다.</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ASSIGNMENT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이번 과제 — 읽을 것과 쓸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무엇을 읽고 무엇을 써 오는지 여기서 확정합니다.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읽을 것</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Rittel &amp; Webber (1973) 「Dilemmas in a General Theory of Planning」 — Policy Sciences 4(2), 155–169. 필수</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Buchanan (1992) 「Wicked Problems in Design Thinking」 — Design Issues 8(2), 5–21. 함께 읽습니다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도서관 전자저널에서 받습니다. 접근이 안 되면 오늘 수업 끝나고 알려 주세요</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둘 다 어려우면 앞의 것만. 뒤의 것은 세션에서 함께 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쓸 것 — A4 한 장, 네 칸</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저자가 무엇에 반대하고 있는가 — 한 문단</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내가 동의하지 않는 지점 — 한 문단</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텍스트가 내 연구에 요구하는 것 — 방법 · 개념 · 위치 중 어디인지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세션에 가져올 질문 하나</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요약은 받지 않습니다. 제출은 공유 폴더에 · 파일 이름은 이름_리딩노트02.</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3회차는 Wicked Problems 를 읽습니다.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리딩 노트 2회차</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Rittel &amp; Webber (1973) 필수, Buchanan (1992) 함께. A4 1매에 네 칸을 채웁니다. 공유 폴더에 올리고 파일 이름은 이름_리딩노트02.</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계보도 개인본</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판을 내려받아 자기 연구 자리에 점을 찍고 이유를 한 줄 씁니다. 이미지나 PDF 한 장이면 됩니다.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3회차 발제자 — 발제문</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A4 3매 내외. 논점 추출 · 비판적 재구성 · 내 연구로 가져오기 세 부분. 세션 48시간 전까지 공유 폴더에 올립니다.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3회차 세션 전까지 · 공유 폴더 업로드 (발제문은 48시간 전)</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03주차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Wicked Problems — 풀리지 않는 문제</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Rittel &amp; Webber (1973) 의 열 가지 성질</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tame 과 wicked 의 구분</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Buchanan (1992) 의 디자인 씽킹 재해석</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내 연구 문제의 성질 판별</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리딩 노트 2회차 · 계보도 개인본 · 발제자는 발제문 48시간 전 공유</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디자인 프로세스의 계보</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컨셉트와 프로세스 · 2주차 디자인 프로세스의 계보</dc:title>
  <dc:subject>원광대학교 2026-2 · 대학원 박사과정 · 주 3시간 × 15주 · 세미나형 · 연구 프로포절</dc:subject>
  <dc:creator>MIN.D</dc:creator>
  <cp:lastModifiedBy>MIN.D</cp:lastModifiedBy>
  <cp:revision>1</cp:revision>
  <dcterms:created xsi:type="dcterms:W3CDTF">2026-09-29T12:32:57Z</dcterms:created>
  <dcterms:modified xsi:type="dcterms:W3CDTF">2026-09-29T12:32:57Z</dcterms:modified>
</cp:coreProperties>
</file>